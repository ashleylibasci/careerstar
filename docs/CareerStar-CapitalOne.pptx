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Ashley. This summer I built a ratings agency for careers. The site's fine. But the part I actually want to show you is how it got built, because the workflow is more interesting than the product. Quick tour of the thing, then the build.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so the rest makes sense. Every U.S. occupation gets a 0-100 score, same shape as a risk-adjusted return. Stars on a forced curve, moats borrowed from Morningstar, and you can swap the scoring model live — my favorite feature. That's the product. Now the actual talk.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people hear 'AI wrote most of my code' they picture vibe coding: prompt, paste, pray. This is the other school, and it has a name: spec-driven development. You write the contract first, then the AI codes against it. BMAD is the open-source framework I used. First time. It converted me — next two slides are why.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Plan: the PM agent just keeps asking why — my fluffy answers died in that interview, and the PRD that came out was better than anything I'd have written alone. The architect locked seven invariants, and the big one was: the LLM never computes a number. Build: seven epics, every story with acceptance criteria, so 'done' meant something. Attack: next slide.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hooked me. Reviews aren't one agreeable AI saying 'great job' — they're personas with opposite priorities fighting it out, and I judge. Best catch: my own methodology page overclaimed how fit worked. A reviewer caught it, I rebuilt it right, and published the story of the catch — now the strongest section of my case study. And honestly: it's fun, and fun is load-bearing.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won't pretend AI didn't type most of this — that's the point. The difference isn't the tool. It's whether a spec exists before the prompt, tests after it, an adversarial pass before shipping, and a human who can defend every decision at the end.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formula, where it comes from. It's just how you'd size up a stock, asked about a career. What do you get: growth and pay, from BLS. What can kill it: AI, from published exposure research. Does it fit you: real skills data from O*NET. Three questions, three public datasets. The next slide is just these sentences written down.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by line: return is growth plus pay, each as a percentile rank against all 730 — because the real question is 'versus my alternatives.' Risk is mostly AI exposure. Value is return discounted by risk — multiplied, not subtracted, that's how you treat a return. Blend in fit. And the honest part: the exact weights are judgment calls, there's no ground truth to fit them on. So every ranking gets re-scored 729 times with shaken weights plus five rival formulas — including a plain average as the control. Disagreement gets labeled, not hidden.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I pulled the 2014 BLS projections from the Internet Archive, scored 2014's job market with today's formula, and graded it against what happened by 2024 — 647 occupations. It works: decliners flagged at 48% versus 33% by chance. Then volunteer the awkward number before anyone asks: plain BLS beat my full model. And that's the model working — no LLMs existed, the AI term had nothing to price. Held out, never fitted.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to main, Amplify builds, CloudFront serves from the edge, Route 53 holds the domain. The whole pipeline is a git push. I'm studying for Cloud Practitioner, and this is where the flashcard concepts became real things I'd debugged. Speaking of shared responsibility — next slide is my favorite bug of the summer.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favorite bug. I did the textbook thing — trust the last X-Forwarded-For hop. Then production: thirty rapid requests, zero rate limits. Amplify's router was appending CloudFront's own edge IP after the real client IP, so the last hop was never the client. It was Amazon. Fix: second-to-last hop, global backstop, regression test pinning the exact header shapes. Forty seconds of story, a semester of networking.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worth stealing: write the spec before the prompt. Publish what your model gets wrong — the awkward numbers bought me more trust than the good ones. Pick tools that make rigor fun, because fun is load-bearing. And the model says its AI term is a bet about the next decade — so in 2034 I re-run the back-test and publish how my ratings aged. Ratings agencies should eat their own cooking. Thanks.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MAI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HERO-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04672" y="384048"/>
            <a:ext cx="10789920" cy="34747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idx="101" type="title" hasCustomPrompt="1"/>
          </p:nvPr>
        </p:nvSpPr>
        <p:spPr>
          <a:xfrm>
            <a:off x="548640" y="777240"/>
            <a:ext cx="11091672" cy="91440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874520"/>
            <a:ext cx="9144000" cy="114300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idx="101" type="body" hasCustomPrompt="1"/>
          </p:nvPr>
        </p:nvSpPr>
        <p:spPr>
          <a:xfrm>
            <a:off x="1527048" y="3063240"/>
            <a:ext cx="9144000" cy="54864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769864" y="1298448"/>
            <a:ext cx="621792" cy="649224"/>
          </a:xfrm>
          <a:prstGeom prst="rect">
            <a:avLst/>
          </a:prstGeom>
        </p:spPr>
      </p:pic>
      <p:sp>
        <p:nvSpPr>
          <p:cNvPr id="3" name="Text 0"/>
          <p:cNvSpPr/>
          <p:nvPr>
            <p:ph idx="100" type="title" hasCustomPrompt="1"/>
          </p:nvPr>
        </p:nvSpPr>
        <p:spPr>
          <a:xfrm>
            <a:off x="1527048" y="1874520"/>
            <a:ext cx="9144000" cy="1143000"/>
          </a:xfrm>
          <a:prstGeom prst="rect">
            <a:avLst/>
          </a:prstGeom>
          <a:noFill/>
          <a:ln/>
        </p:spPr>
        <p:txBody>
          <a:bodyPr wrap="square" lIns="0" tIns="0" rIns="0" bIns="0" rtlCol="0"/>
          <a:lstStyle/>
          <a:p>
            <a:pPr algn="ctr" indent="0" marL="0">
              <a:buNone/>
            </a:pPr>
            <a:r>
              <a:rPr lang="en-US" sz="6000" b="1" dirty="0">
                <a:solidFill>
                  <a:srgbClr val="FFFFFF"/>
                </a:solidFill>
                <a:latin typeface="Arial" pitchFamily="34" charset="0"/>
                <a:ea typeface="Arial" pitchFamily="34" charset="-122"/>
                <a:cs typeface="Arial" pitchFamily="34" charset="-120"/>
              </a:rPr>
              <a:t>Career</a:t>
            </a:r>
            <a:pPr algn="ctr" indent="0" marL="0">
              <a:buNone/>
            </a:pPr>
            <a:r>
              <a:rPr lang="en-US" sz="6000" b="1" dirty="0">
                <a:solidFill>
                  <a:srgbClr val="4F74F0"/>
                </a:solidFill>
                <a:latin typeface="Arial" pitchFamily="34" charset="0"/>
                <a:ea typeface="Arial" pitchFamily="34" charset="-122"/>
                <a:cs typeface="Arial" pitchFamily="34" charset="-120"/>
              </a:rPr>
              <a:t>Star</a:t>
            </a:r>
            <a:endParaRPr lang="en-US" sz="6000" dirty="0"/>
          </a:p>
        </p:txBody>
      </p:sp>
      <p:sp>
        <p:nvSpPr>
          <p:cNvPr id="4" name="Text 0"/>
          <p:cNvSpPr/>
          <p:nvPr>
            <p:ph idx="101" type="body" hasCustomPrompt="1"/>
          </p:nvPr>
        </p:nvSpPr>
        <p:spPr>
          <a:xfrm>
            <a:off x="1527048" y="3063240"/>
            <a:ext cx="9144000" cy="548640"/>
          </a:xfrm>
          <a:prstGeom prst="rect">
            <a:avLst/>
          </a:prstGeom>
          <a:noFill/>
          <a:ln/>
        </p:spPr>
        <p:txBody>
          <a:bodyPr wrap="square" lIns="0" tIns="0" rIns="0" bIns="0" rtlCol="0"/>
          <a:lstStyle/>
          <a:p>
            <a:pPr algn="ctr" indent="0" marL="0">
              <a:buNone/>
            </a:pPr>
            <a:r>
              <a:rPr lang="en-US" sz="2000" dirty="0">
                <a:solidFill>
                  <a:srgbClr val="9DB0D9"/>
                </a:solidFill>
                <a:latin typeface="Arial" pitchFamily="34" charset="0"/>
                <a:ea typeface="Arial" pitchFamily="34" charset="-122"/>
                <a:cs typeface="Arial" pitchFamily="34" charset="-120"/>
              </a:rPr>
              <a:t>How I spec-built a ratings agency with a team of AI agents.</a:t>
            </a:r>
            <a:endParaRPr lang="en-US" sz="2000" dirty="0"/>
          </a:p>
        </p:txBody>
      </p:sp>
      <p:sp>
        <p:nvSpPr>
          <p:cNvPr id="5" name="Text 2"/>
          <p:cNvSpPr/>
          <p:nvPr/>
        </p:nvSpPr>
        <p:spPr>
          <a:xfrm>
            <a:off x="2898648" y="5029200"/>
            <a:ext cx="6400800" cy="868680"/>
          </a:xfrm>
          <a:prstGeom prst="roundRect">
            <a:avLst>
              <a:gd name="adj" fmla="val 9474"/>
            </a:avLst>
          </a:prstGeom>
          <a:solidFill>
            <a:srgbClr val="0C1530"/>
          </a:solidFill>
          <a:ln w="6350">
            <a:solidFill>
              <a:srgbClr val="24325C"/>
            </a:solidFill>
          </a:ln>
        </p:spPr>
        <p:txBody>
          <a:bodyPr wrap="square" lIns="1270" tIns="1270" rIns="1270" bIns="1270" rtlCol="0" anchor="ctr"/>
          <a:lstStyle/>
          <a:p>
            <a:pPr algn="ctr" indent="0" marL="0">
              <a:lnSpc>
                <a:spcPts val="2200"/>
              </a:lnSpc>
              <a:buNone/>
            </a:pPr>
            <a:r>
              <a:rPr lang="en-US" sz="1400" dirty="0">
                <a:solidFill>
                  <a:srgbClr val="E8EEFC"/>
                </a:solidFill>
                <a:latin typeface="Arial" pitchFamily="34" charset="0"/>
                <a:ea typeface="Arial" pitchFamily="34" charset="-122"/>
                <a:cs typeface="Arial" pitchFamily="34" charset="-120"/>
              </a:rPr>
              <a:t>Ashley Libasci   ·   Math + CS, UIUC ’27   ·   ashleylibasci.com</a:t>
            </a:r>
            <a:endParaRPr lang="en-US" sz="1400" dirty="0"/>
          </a:p>
          <a:p>
            <a:pPr algn="ctr" indent="0" marL="0">
              <a:lnSpc>
                <a:spcPts val="2200"/>
              </a:lnSpc>
              <a:buNone/>
            </a:pPr>
            <a:r>
              <a:rPr lang="en-US" sz="1400" dirty="0">
                <a:solidFill>
                  <a:srgbClr val="E8EEFC"/>
                </a:solidFill>
                <a:latin typeface="Arial" pitchFamily="34" charset="0"/>
                <a:ea typeface="Arial" pitchFamily="34" charset="-122"/>
                <a:cs typeface="Arial" pitchFamily="34" charset="-120"/>
              </a:rPr>
              <a:t>Capital One · August 6,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01 · THE THING ITSELF</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CareerStar rates careers the way you rate assets</a:t>
            </a:r>
            <a:endParaRPr lang="en-US" sz="3000" dirty="0"/>
          </a:p>
        </p:txBody>
      </p:sp>
      <p:sp>
        <p:nvSpPr>
          <p:cNvPr id="5" name="Text 2"/>
          <p:cNvSpPr/>
          <p:nvPr/>
        </p:nvSpPr>
        <p:spPr>
          <a:xfrm>
            <a:off x="548640" y="1874520"/>
            <a:ext cx="5394960" cy="2651760"/>
          </a:xfrm>
          <a:prstGeom prst="roundRect">
            <a:avLst>
              <a:gd name="adj" fmla="val 3103"/>
            </a:avLst>
          </a:prstGeom>
          <a:solidFill>
            <a:srgbClr val="101A38"/>
          </a:solidFill>
          <a:ln w="9525">
            <a:solidFill>
              <a:srgbClr val="24325C"/>
            </a:solidFill>
          </a:ln>
        </p:spPr>
        <p:txBody>
          <a:bodyPr wrap="square" lIns="1778" tIns="1778" rIns="1778" bIns="1778" rtlCol="0" anchor="t"/>
          <a:lstStyle/>
          <a:p>
            <a:pPr algn="l" indent="0" marL="0">
              <a:buNone/>
            </a:pPr>
            <a:r>
              <a:rPr lang="en-US" sz="1400" b="1" dirty="0">
                <a:solidFill>
                  <a:srgbClr val="4F74F0"/>
                </a:solidFill>
                <a:latin typeface="Arial" pitchFamily="34" charset="0"/>
                <a:ea typeface="Arial" pitchFamily="34" charset="-122"/>
                <a:cs typeface="Arial" pitchFamily="34" charset="-120"/>
              </a:rPr>
              <a:t>★ BEST BET   </a:t>
            </a:r>
            <a:pPr algn="l" indent="0" marL="0">
              <a:buNone/>
            </a:pPr>
            <a:r>
              <a:rPr lang="en-US" sz="2000" b="1" dirty="0">
                <a:solidFill>
                  <a:srgbClr val="E8EEFC"/>
                </a:solidFill>
                <a:latin typeface="Arial" pitchFamily="34" charset="0"/>
                <a:ea typeface="Arial" pitchFamily="34" charset="-122"/>
                <a:cs typeface="Arial" pitchFamily="34" charset="-120"/>
              </a:rPr>
              <a:t>Registered nurses</a:t>
            </a:r>
            <a:endParaRPr lang="en-US" sz="1400" dirty="0"/>
          </a:p>
          <a:p>
            <a:pPr algn="l" indent="0" marL="0">
              <a:buNone/>
            </a:pPr>
            <a:r>
              <a:rPr lang="en-US" sz="1400" dirty="0">
                <a:solidFill>
                  <a:srgbClr val="34D399"/>
                </a:solidFill>
                <a:latin typeface="Arial" pitchFamily="34" charset="0"/>
                <a:ea typeface="Arial" pitchFamily="34" charset="-122"/>
                <a:cs typeface="Arial" pitchFamily="34" charset="-120"/>
              </a:rPr>
              <a:t>Top tier · top 10% of careers · 🏰 wide moat</a:t>
            </a:r>
            <a:endParaRPr lang="en-US" sz="1400" dirty="0"/>
          </a:p>
          <a:p>
            <a:pPr algn="l" indent="0" marL="0">
              <a:buNone/>
            </a:pPr>
            <a:r>
              <a:rPr lang="en-US" sz="1400" dirty="0">
                <a:solidFill>
                  <a:srgbClr val="9DB0D9"/>
                </a:solidFill>
                <a:latin typeface="Courier New" pitchFamily="34" charset="0"/>
                <a:ea typeface="Courier New" pitchFamily="34" charset="-122"/>
                <a:cs typeface="Courier New" pitchFamily="34" charset="-120"/>
              </a:rPr>
              <a:t>Return 71 · Resilience 78 · Fit 62</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Bulls: strong growth, wide moat. Bears: pay trails other graduate paths.</a:t>
            </a:r>
            <a:endParaRPr lang="en-US" sz="1400" dirty="0"/>
          </a:p>
        </p:txBody>
      </p:sp>
      <p:pic>
        <p:nvPicPr>
          <p:cNvPr id="6" name="Image 1" descr="preencoded.png">    </p:cNvPr>
          <p:cNvPicPr>
            <a:picLocks noChangeAspect="1"/>
          </p:cNvPicPr>
          <p:nvPr/>
        </p:nvPicPr>
        <p:blipFill>
          <a:blip r:embed="rId2"/>
          <a:stretch>
            <a:fillRect/>
          </a:stretch>
        </p:blipFill>
        <p:spPr>
          <a:xfrm>
            <a:off x="4343400" y="2057400"/>
            <a:ext cx="1325880" cy="1325880"/>
          </a:xfrm>
          <a:prstGeom prst="rect">
            <a:avLst/>
          </a:prstGeom>
        </p:spPr>
      </p:pic>
      <p:sp>
        <p:nvSpPr>
          <p:cNvPr id="7" name="Text 3"/>
          <p:cNvSpPr/>
          <p:nvPr/>
        </p:nvSpPr>
        <p:spPr>
          <a:xfrm>
            <a:off x="6172200" y="1874520"/>
            <a:ext cx="5468112" cy="841248"/>
          </a:xfrm>
          <a:prstGeom prst="roundRect">
            <a:avLst>
              <a:gd name="adj" fmla="val 9783"/>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All 730 U.S. occupations</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one 0–100 risk-adjusted score each</a:t>
            </a:r>
            <a:endParaRPr lang="en-US" sz="1400" dirty="0"/>
          </a:p>
        </p:txBody>
      </p:sp>
      <p:sp>
        <p:nvSpPr>
          <p:cNvPr id="8" name="Text 4"/>
          <p:cNvSpPr/>
          <p:nvPr/>
        </p:nvSpPr>
        <p:spPr>
          <a:xfrm>
            <a:off x="6172200" y="2788920"/>
            <a:ext cx="5468112" cy="841248"/>
          </a:xfrm>
          <a:prstGeom prst="roundRect">
            <a:avLst>
              <a:gd name="adj" fmla="val 9783"/>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Stars and moats, Morningstar-style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forced curve, defensibility rating</a:t>
            </a:r>
            <a:endParaRPr lang="en-US" sz="1400" dirty="0"/>
          </a:p>
        </p:txBody>
      </p:sp>
      <p:sp>
        <p:nvSpPr>
          <p:cNvPr id="9" name="Text 5"/>
          <p:cNvSpPr/>
          <p:nvPr/>
        </p:nvSpPr>
        <p:spPr>
          <a:xfrm>
            <a:off x="6172200" y="3703320"/>
            <a:ext cx="5468112" cy="841248"/>
          </a:xfrm>
          <a:prstGeom prst="roundRect">
            <a:avLst>
              <a:gd name="adj" fmla="val 9783"/>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Five scoring models, swappable live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pick the pessimist — the ranking flips</a:t>
            </a:r>
            <a:endParaRPr lang="en-US" sz="1400" dirty="0"/>
          </a:p>
        </p:txBody>
      </p:sp>
      <p:sp>
        <p:nvSpPr>
          <p:cNvPr id="10" name="Text 6"/>
          <p:cNvSpPr/>
          <p:nvPr/>
        </p:nvSpPr>
        <p:spPr>
          <a:xfrm>
            <a:off x="548640" y="4800600"/>
            <a:ext cx="11091672" cy="868680"/>
          </a:xfrm>
          <a:prstGeom prst="roundRect">
            <a:avLst>
              <a:gd name="adj" fmla="val 9474"/>
            </a:avLst>
          </a:prstGeom>
          <a:solidFill>
            <a:srgbClr val="0C1530"/>
          </a:solidFill>
          <a:ln w="9525">
            <a:solidFill>
              <a:srgbClr val="24325C"/>
            </a:solidFill>
          </a:ln>
        </p:spPr>
        <p:txBody>
          <a:bodyPr wrap="square" lIns="1778" tIns="1778" rIns="1778" bIns="1778" rtlCol="0" anchor="ctr"/>
          <a:lstStyle/>
          <a:p>
            <a:pPr algn="l" indent="0" marL="0">
              <a:buNone/>
            </a:pPr>
            <a:r>
              <a:rPr lang="en-US" sz="1400" dirty="0">
                <a:solidFill>
                  <a:srgbClr val="9DB0D9"/>
                </a:solidFill>
                <a:latin typeface="Arial" pitchFamily="34" charset="0"/>
                <a:ea typeface="Arial" pitchFamily="34" charset="-122"/>
                <a:cs typeface="Arial" pitchFamily="34" charset="-120"/>
              </a:rPr>
              <a:t>Data: BLS projections, O*NET skills, published AI-exposure research.  </a:t>
            </a:r>
            <a:pPr algn="l" indent="0" marL="0">
              <a:buNone/>
            </a:pPr>
            <a:r>
              <a:rPr lang="en-US" sz="1400" b="1" dirty="0">
                <a:solidFill>
                  <a:srgbClr val="E8EEFC"/>
                </a:solidFill>
                <a:latin typeface="Arial" pitchFamily="34" charset="0"/>
                <a:ea typeface="Arial" pitchFamily="34" charset="-122"/>
                <a:cs typeface="Arial" pitchFamily="34" charset="-120"/>
              </a:rPr>
              <a:t>Live at ashleylibasci.com — play with it later. The build is today’s 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02 · THE METHOD</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2800" b="1" dirty="0">
                <a:solidFill>
                  <a:srgbClr val="E8EEFC"/>
                </a:solidFill>
                <a:latin typeface="Arial" pitchFamily="34" charset="0"/>
                <a:ea typeface="Arial" pitchFamily="34" charset="-122"/>
                <a:cs typeface="Arial" pitchFamily="34" charset="-120"/>
              </a:rPr>
              <a:t>There’s a name for this: spec-driven development</a:t>
            </a:r>
            <a:endParaRPr lang="en-US" sz="2800" dirty="0"/>
          </a:p>
        </p:txBody>
      </p:sp>
      <p:sp>
        <p:nvSpPr>
          <p:cNvPr id="5" name="Text 2"/>
          <p:cNvSpPr/>
          <p:nvPr/>
        </p:nvSpPr>
        <p:spPr>
          <a:xfrm>
            <a:off x="548640" y="1965960"/>
            <a:ext cx="6858000" cy="2286000"/>
          </a:xfrm>
          <a:prstGeom prst="roundRect">
            <a:avLst>
              <a:gd name="adj" fmla="val 3600"/>
            </a:avLst>
          </a:prstGeom>
          <a:solidFill>
            <a:srgbClr val="101A38"/>
          </a:solidFill>
          <a:ln w="9525">
            <a:solidFill>
              <a:srgbClr val="24325C"/>
            </a:solidFill>
          </a:ln>
        </p:spPr>
        <p:txBody>
          <a:bodyPr wrap="square" lIns="1778" tIns="1778" rIns="1778" bIns="1778" rtlCol="0" anchor="t"/>
          <a:lstStyle/>
          <a:p>
            <a:pPr algn="l" indent="0" marL="0">
              <a:buNone/>
            </a:pPr>
            <a:r>
              <a:rPr lang="en-US" sz="2200" b="1" dirty="0">
                <a:solidFill>
                  <a:srgbClr val="E8EEFC"/>
                </a:solidFill>
                <a:latin typeface="Arial" pitchFamily="34" charset="0"/>
                <a:ea typeface="Arial" pitchFamily="34" charset="-122"/>
                <a:cs typeface="Arial" pitchFamily="34" charset="-120"/>
              </a:rPr>
              <a:t>Write the spec first. The AI codes to the contract.</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Requirements, architecture, and acceptance criteria exist before any code does — and every AI agent works against them.</a:t>
            </a:r>
            <a:endParaRPr lang="en-US" sz="1400" dirty="0"/>
          </a:p>
        </p:txBody>
      </p:sp>
      <p:sp>
        <p:nvSpPr>
          <p:cNvPr id="6" name="Text 3"/>
          <p:cNvSpPr/>
          <p:nvPr/>
        </p:nvSpPr>
        <p:spPr>
          <a:xfrm>
            <a:off x="7680960" y="1965960"/>
            <a:ext cx="3959352" cy="2286000"/>
          </a:xfrm>
          <a:prstGeom prst="roundRect">
            <a:avLst>
              <a:gd name="adj" fmla="val 36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5E6F9E"/>
                </a:solidFill>
                <a:latin typeface="Arial" pitchFamily="34" charset="0"/>
                <a:ea typeface="Arial" pitchFamily="34" charset="-122"/>
                <a:cs typeface="Arial" pitchFamily="34" charset="-120"/>
              </a:rPr>
              <a:t>vs. vibe coding</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Prompt as you go. Context evaporates. Works great right up until it doesn’t.</a:t>
            </a:r>
            <a:endParaRPr lang="en-US" sz="1400" dirty="0"/>
          </a:p>
          <a:p>
            <a:pPr algn="l" indent="0" marL="0">
              <a:buNone/>
            </a:pPr>
            <a:r>
              <a:rPr lang="en-US" sz="1400" i="1" dirty="0">
                <a:solidFill>
                  <a:srgbClr val="5E6F9E"/>
                </a:solidFill>
                <a:latin typeface="Arial" pitchFamily="34" charset="0"/>
                <a:ea typeface="Arial" pitchFamily="34" charset="-122"/>
                <a:cs typeface="Arial" pitchFamily="34" charset="-120"/>
              </a:rPr>
              <a:t>Fine for a weekend hack, fatal for a real system.</a:t>
            </a:r>
            <a:endParaRPr lang="en-US" sz="1400" dirty="0"/>
          </a:p>
        </p:txBody>
      </p:sp>
      <p:sp>
        <p:nvSpPr>
          <p:cNvPr id="7" name="Text 4"/>
          <p:cNvSpPr/>
          <p:nvPr/>
        </p:nvSpPr>
        <p:spPr>
          <a:xfrm>
            <a:off x="548640" y="4617720"/>
            <a:ext cx="11091672" cy="1051560"/>
          </a:xfrm>
          <a:prstGeom prst="roundRect">
            <a:avLst>
              <a:gd name="adj" fmla="val 7826"/>
            </a:avLst>
          </a:prstGeom>
          <a:solidFill>
            <a:srgbClr val="101A38"/>
          </a:solidFill>
          <a:ln w="9525">
            <a:solidFill>
              <a:srgbClr val="24325C"/>
            </a:solidFill>
          </a:ln>
        </p:spPr>
        <p:txBody>
          <a:bodyPr wrap="square" lIns="1778" tIns="1778" rIns="1778" bIns="1778"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My framework: BMAD </a:t>
            </a:r>
            <a:pPr algn="l" indent="0" marL="0">
              <a:buNone/>
            </a:pPr>
            <a:r>
              <a:rPr lang="en-US" sz="1400" dirty="0">
                <a:solidFill>
                  <a:srgbClr val="9DB0D9"/>
                </a:solidFill>
                <a:latin typeface="Arial" pitchFamily="34" charset="0"/>
                <a:ea typeface="Arial" pitchFamily="34" charset="-122"/>
                <a:cs typeface="Arial" pitchFamily="34" charset="-120"/>
              </a:rPr>
              <a:t>(Breakthrough Method for Agile AI-Driven Development). Open source, agent-based — and this was my first project with it. It converted me.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03 · BMAD</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The pipeline: plan it, build it, attack it</a:t>
            </a:r>
            <a:endParaRPr lang="en-US" sz="3000" dirty="0"/>
          </a:p>
        </p:txBody>
      </p:sp>
      <p:sp>
        <p:nvSpPr>
          <p:cNvPr id="5" name="Text 2"/>
          <p:cNvSpPr/>
          <p:nvPr/>
        </p:nvSpPr>
        <p:spPr>
          <a:xfrm>
            <a:off x="548640" y="1920240"/>
            <a:ext cx="3392424" cy="2651760"/>
          </a:xfrm>
          <a:prstGeom prst="roundRect">
            <a:avLst>
              <a:gd name="adj" fmla="val 3103"/>
            </a:avLst>
          </a:prstGeom>
          <a:solidFill>
            <a:srgbClr val="101A38"/>
          </a:solidFill>
          <a:ln w="9525">
            <a:solidFill>
              <a:srgbClr val="24325C"/>
            </a:solidFill>
          </a:ln>
        </p:spPr>
        <p:txBody>
          <a:bodyPr wrap="square" lIns="1778" tIns="1778" rIns="1778" bIns="1778"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PLAN</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PM agent interrogates the requirements into a PRD.</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An architect locks the invariants — mine has seven.</a:t>
            </a:r>
            <a:endParaRPr lang="en-US" sz="1400" dirty="0"/>
          </a:p>
        </p:txBody>
      </p:sp>
      <p:sp>
        <p:nvSpPr>
          <p:cNvPr id="6" name="Text 3"/>
          <p:cNvSpPr/>
          <p:nvPr/>
        </p:nvSpPr>
        <p:spPr>
          <a:xfrm>
            <a:off x="4398264" y="1920240"/>
            <a:ext cx="3392424" cy="2651760"/>
          </a:xfrm>
          <a:prstGeom prst="roundRect">
            <a:avLst>
              <a:gd name="adj" fmla="val 3103"/>
            </a:avLst>
          </a:prstGeom>
          <a:solidFill>
            <a:srgbClr val="101A38"/>
          </a:solidFill>
          <a:ln w="9525">
            <a:solidFill>
              <a:srgbClr val="24325C"/>
            </a:solidFill>
          </a:ln>
        </p:spPr>
        <p:txBody>
          <a:bodyPr wrap="square" lIns="1778" tIns="1778" rIns="1778" bIns="1778"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BUILD</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Work splits into 7 epics of stories, each with acceptance criteria.</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dev agent codes each story, tests included.</a:t>
            </a:r>
            <a:endParaRPr lang="en-US" sz="1400" dirty="0"/>
          </a:p>
        </p:txBody>
      </p:sp>
      <p:sp>
        <p:nvSpPr>
          <p:cNvPr id="7" name="Text 4"/>
          <p:cNvSpPr/>
          <p:nvPr/>
        </p:nvSpPr>
        <p:spPr>
          <a:xfrm>
            <a:off x="8247888" y="1920240"/>
            <a:ext cx="3392424" cy="2651760"/>
          </a:xfrm>
          <a:prstGeom prst="roundRect">
            <a:avLst>
              <a:gd name="adj" fmla="val 3103"/>
            </a:avLst>
          </a:prstGeom>
          <a:solidFill>
            <a:srgbClr val="101A38"/>
          </a:solidFill>
          <a:ln w="9525">
            <a:solidFill>
              <a:srgbClr val="24325C"/>
            </a:solidFill>
          </a:ln>
        </p:spPr>
        <p:txBody>
          <a:bodyPr wrap="square" lIns="1778" tIns="1778" rIns="1778" bIns="1778"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ATTACK</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cast of reviewer personas tears into every change.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retro after each epic feeds the next one.</a:t>
            </a:r>
            <a:endParaRPr lang="en-US" sz="1400" dirty="0"/>
          </a:p>
        </p:txBody>
      </p:sp>
      <p:sp>
        <p:nvSpPr>
          <p:cNvPr id="8" name="Text 5"/>
          <p:cNvSpPr/>
          <p:nvPr/>
        </p:nvSpPr>
        <p:spPr>
          <a:xfrm>
            <a:off x="3895344" y="292608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9" name="Text 6"/>
          <p:cNvSpPr/>
          <p:nvPr/>
        </p:nvSpPr>
        <p:spPr>
          <a:xfrm>
            <a:off x="7744968" y="292608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10" name="Text 7"/>
          <p:cNvSpPr/>
          <p:nvPr/>
        </p:nvSpPr>
        <p:spPr>
          <a:xfrm>
            <a:off x="548640" y="4892040"/>
            <a:ext cx="11091672" cy="868680"/>
          </a:xfrm>
          <a:prstGeom prst="roundRect">
            <a:avLst>
              <a:gd name="adj" fmla="val 9474"/>
            </a:avLst>
          </a:prstGeom>
          <a:solidFill>
            <a:srgbClr val="0C1530"/>
          </a:solidFill>
          <a:ln w="9525">
            <a:solidFill>
              <a:srgbClr val="24325C"/>
            </a:solidFill>
          </a:ln>
        </p:spPr>
        <p:txBody>
          <a:bodyPr wrap="square" lIns="1778" tIns="1778" rIns="1778" bIns="1778" rtlCol="0" anchor="ctr"/>
          <a:lstStyle/>
          <a:p>
            <a:pPr algn="l" indent="0" marL="0">
              <a:buNone/>
            </a:pPr>
            <a:r>
              <a:rPr lang="en-US" sz="1400" dirty="0">
                <a:solidFill>
                  <a:srgbClr val="9DB0D9"/>
                </a:solidFill>
                <a:latin typeface="Arial" pitchFamily="34" charset="0"/>
                <a:ea typeface="Arial" pitchFamily="34" charset="-122"/>
                <a:cs typeface="Arial" pitchFamily="34" charset="-120"/>
              </a:rPr>
              <a:t>The invariant that mattered most: </a:t>
            </a:r>
            <a:pPr algn="l" indent="0" marL="0">
              <a:buNone/>
            </a:pPr>
            <a:r>
              <a:rPr lang="en-US" sz="1500" b="1" dirty="0">
                <a:solidFill>
                  <a:srgbClr val="4F74F0"/>
                </a:solidFill>
                <a:latin typeface="Arial" pitchFamily="34" charset="0"/>
                <a:ea typeface="Arial" pitchFamily="34" charset="-122"/>
                <a:cs typeface="Arial" pitchFamily="34" charset="-120"/>
              </a:rPr>
              <a:t>“the LLM never computes a number”</a:t>
            </a:r>
            <a:pPr algn="l" indent="0" marL="0">
              <a:buNone/>
            </a:pPr>
            <a:r>
              <a:rPr lang="en-US" sz="1400" dirty="0">
                <a:solidFill>
                  <a:srgbClr val="9DB0D9"/>
                </a:solidFill>
                <a:latin typeface="Arial" pitchFamily="34" charset="0"/>
                <a:ea typeface="Arial" pitchFamily="34" charset="-122"/>
                <a:cs typeface="Arial" pitchFamily="34" charset="-120"/>
              </a:rPr>
              <a:t> — locked in the architecture doc before a line of scoring code existed.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04 · BMAD, CONTINUED</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My code reviews are a room full of arguing characters</a:t>
            </a:r>
            <a:endParaRPr lang="en-US" sz="3000" dirty="0"/>
          </a:p>
        </p:txBody>
      </p:sp>
      <p:sp>
        <p:nvSpPr>
          <p:cNvPr id="5" name="Text 2"/>
          <p:cNvSpPr/>
          <p:nvPr/>
        </p:nvSpPr>
        <p:spPr>
          <a:xfrm>
            <a:off x="548640" y="1874520"/>
            <a:ext cx="5394960" cy="3291840"/>
          </a:xfrm>
          <a:prstGeom prst="roundRect">
            <a:avLst>
              <a:gd name="adj" fmla="val 2500"/>
            </a:avLst>
          </a:prstGeom>
          <a:solidFill>
            <a:srgbClr val="101A38"/>
          </a:solidFill>
          <a:ln w="9525">
            <a:solidFill>
              <a:srgbClr val="24325C"/>
            </a:solidFill>
          </a:ln>
        </p:spPr>
        <p:txBody>
          <a:bodyPr wrap="square" lIns="1778" tIns="1778" rIns="1778" bIns="1778"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The cast</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hiring-manager persona asking what an interviewer would</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fact-checker tracing every published number to a file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copy chief deleting anything that sounds machine-written</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QA lead, a design critic, one professional grump</a:t>
            </a:r>
            <a:endParaRPr lang="en-US" sz="1400" dirty="0"/>
          </a:p>
          <a:p>
            <a:pPr algn="l" indent="0" marL="0">
              <a:buNone/>
            </a:pPr>
            <a:r>
              <a:rPr lang="en-US" sz="1400" b="1" dirty="0">
                <a:solidFill>
                  <a:srgbClr val="4F74F0"/>
                </a:solidFill>
                <a:latin typeface="Arial" pitchFamily="34" charset="0"/>
                <a:ea typeface="Arial" pitchFamily="34" charset="-122"/>
                <a:cs typeface="Arial" pitchFamily="34" charset="-120"/>
              </a:rPr>
              <a:t>They argue with each other. I judge.</a:t>
            </a:r>
            <a:endParaRPr lang="en-US" sz="1400" dirty="0"/>
          </a:p>
        </p:txBody>
      </p:sp>
      <p:sp>
        <p:nvSpPr>
          <p:cNvPr id="6" name="Text 3"/>
          <p:cNvSpPr/>
          <p:nvPr/>
        </p:nvSpPr>
        <p:spPr>
          <a:xfrm>
            <a:off x="6172200" y="1874520"/>
            <a:ext cx="5468112" cy="3291840"/>
          </a:xfrm>
          <a:prstGeom prst="roundRect">
            <a:avLst>
              <a:gd name="adj" fmla="val 2500"/>
            </a:avLst>
          </a:prstGeom>
          <a:solidFill>
            <a:srgbClr val="101A38"/>
          </a:solidFill>
          <a:ln w="9525">
            <a:solidFill>
              <a:srgbClr val="24325C"/>
            </a:solidFill>
          </a:ln>
        </p:spPr>
        <p:txBody>
          <a:bodyPr wrap="square" lIns="1778" tIns="1778" rIns="1778" bIns="1778" rtlCol="0" anchor="t"/>
          <a:lstStyle/>
          <a:p>
            <a:pPr algn="l" indent="0" marL="0">
              <a:buNone/>
            </a:pPr>
            <a:r>
              <a:rPr lang="en-US" sz="1500" b="1" dirty="0">
                <a:solidFill>
                  <a:srgbClr val="34D399"/>
                </a:solidFill>
                <a:latin typeface="Arial" pitchFamily="34" charset="0"/>
                <a:ea typeface="Arial" pitchFamily="34" charset="-122"/>
                <a:cs typeface="Arial" pitchFamily="34" charset="-120"/>
              </a:rPr>
              <a:t>Real catches</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The fit overclaim — my methodology page described skill-vector matching before the vectors were wired in. Caught, rebuilt, then published as the story of the catch.</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The buried back-test — the hiring-manager persona fought twice to keep my strongest evidence above the fold. It was right.</a:t>
            </a:r>
            <a:endParaRPr lang="en-US" sz="1400" dirty="0"/>
          </a:p>
        </p:txBody>
      </p:sp>
      <p:sp>
        <p:nvSpPr>
          <p:cNvPr id="7" name="Text 4"/>
          <p:cNvSpPr/>
          <p:nvPr/>
        </p:nvSpPr>
        <p:spPr>
          <a:xfrm>
            <a:off x="548640" y="5394960"/>
            <a:ext cx="11091672" cy="685800"/>
          </a:xfrm>
          <a:prstGeom prst="roundRect">
            <a:avLst>
              <a:gd name="adj" fmla="val 12000"/>
            </a:avLst>
          </a:prstGeom>
          <a:solidFill>
            <a:srgbClr val="0C1530"/>
          </a:solidFill>
          <a:ln w="9525">
            <a:solidFill>
              <a:srgbClr val="24325C"/>
            </a:solidFill>
          </a:ln>
        </p:spPr>
        <p:txBody>
          <a:bodyPr wrap="square" lIns="1778" tIns="1778" rIns="1778" bIns="1778" rtlCol="0" anchor="ctr"/>
          <a:lstStyle/>
          <a:p>
            <a:pPr algn="ctr" indent="0" marL="0">
              <a:buNone/>
            </a:pPr>
            <a:r>
              <a:rPr lang="en-US" sz="1500" i="1" dirty="0">
                <a:solidFill>
                  <a:srgbClr val="4F74F0"/>
                </a:solidFill>
                <a:latin typeface="Arial" pitchFamily="34" charset="0"/>
                <a:ea typeface="Arial" pitchFamily="34" charset="-122"/>
                <a:cs typeface="Arial" pitchFamily="34" charset="-120"/>
              </a:rPr>
              <a:t>Honest review: this was fun. That matters — review you enjoy is review you actually run.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05 · THE DIFFERENCE</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Same AI. Opposite discipline.</a:t>
            </a:r>
            <a:endParaRPr lang="en-US" sz="3000" dirty="0"/>
          </a:p>
        </p:txBody>
      </p:sp>
      <p:sp>
        <p:nvSpPr>
          <p:cNvPr id="5" name="Text 2"/>
          <p:cNvSpPr/>
          <p:nvPr/>
        </p:nvSpPr>
        <p:spPr>
          <a:xfrm>
            <a:off x="548640" y="1874520"/>
            <a:ext cx="5394960" cy="3291840"/>
          </a:xfrm>
          <a:prstGeom prst="roundRect">
            <a:avLst>
              <a:gd name="adj" fmla="val 2500"/>
            </a:avLst>
          </a:prstGeom>
          <a:solidFill>
            <a:srgbClr val="0C1530"/>
          </a:solidFill>
          <a:ln w="9525">
            <a:solidFill>
              <a:srgbClr val="24325C"/>
            </a:solidFill>
          </a:ln>
        </p:spPr>
        <p:txBody>
          <a:bodyPr wrap="square" lIns="2286" tIns="2286" rIns="2286" bIns="2286" rtlCol="0" anchor="t"/>
          <a:lstStyle/>
          <a:p>
            <a:pPr algn="l" indent="0" marL="0">
              <a:buNone/>
            </a:pPr>
            <a:r>
              <a:rPr lang="en-US" sz="1500" b="1" spc="200" kern="0" dirty="0">
                <a:solidFill>
                  <a:srgbClr val="5E6F9E"/>
                </a:solidFill>
                <a:latin typeface="Arial" pitchFamily="34" charset="0"/>
                <a:ea typeface="Arial" pitchFamily="34" charset="-122"/>
                <a:cs typeface="Arial" pitchFamily="34" charset="-120"/>
              </a:rPr>
              <a:t>VIBE CODING</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Prompt, paste, pray</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Accept whatever runs</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One agreeable assistant</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The LLM does the math</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Claims</a:t>
            </a:r>
            <a:endParaRPr lang="en-US" sz="1400" dirty="0"/>
          </a:p>
        </p:txBody>
      </p:sp>
      <p:sp>
        <p:nvSpPr>
          <p:cNvPr id="6" name="Text 3"/>
          <p:cNvSpPr/>
          <p:nvPr/>
        </p:nvSpPr>
        <p:spPr>
          <a:xfrm>
            <a:off x="6172200" y="1874520"/>
            <a:ext cx="5468112" cy="3291840"/>
          </a:xfrm>
          <a:prstGeom prst="roundRect">
            <a:avLst>
              <a:gd name="adj" fmla="val 2500"/>
            </a:avLst>
          </a:prstGeom>
          <a:solidFill>
            <a:srgbClr val="101A38"/>
          </a:solidFill>
          <a:ln w="9525">
            <a:solidFill>
              <a:srgbClr val="24325C"/>
            </a:solidFill>
          </a:ln>
        </p:spPr>
        <p:txBody>
          <a:bodyPr wrap="square" lIns="2286" tIns="2286" rIns="2286" bIns="2286" rtlCol="0" anchor="t"/>
          <a:lstStyle/>
          <a:p>
            <a:pPr algn="l" indent="0" marL="0">
              <a:buNone/>
            </a:pPr>
            <a:r>
              <a:rPr lang="en-US" sz="1500" b="1" spc="200" kern="0" dirty="0">
                <a:solidFill>
                  <a:srgbClr val="4F74F0"/>
                </a:solidFill>
                <a:latin typeface="Arial" pitchFamily="34" charset="0"/>
                <a:ea typeface="Arial" pitchFamily="34" charset="-122"/>
                <a:cs typeface="Arial" pitchFamily="34" charset="-120"/>
              </a:rPr>
              <a:t>SPEC-DRIVEN</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Spec first: PRD, architecture, stories</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35 deterministic tests, CI on every push</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A cast of adversarial reviewers</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The LLM never computes a number</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A back-test, a robustness grid, an open CSV</a:t>
            </a:r>
            <a:endParaRPr lang="en-US" sz="1400" dirty="0"/>
          </a:p>
        </p:txBody>
      </p:sp>
      <p:sp>
        <p:nvSpPr>
          <p:cNvPr id="7" name="Text 4"/>
          <p:cNvSpPr/>
          <p:nvPr/>
        </p:nvSpPr>
        <p:spPr>
          <a:xfrm>
            <a:off x="548640" y="5394960"/>
            <a:ext cx="11091672" cy="685800"/>
          </a:xfrm>
          <a:prstGeom prst="roundRect">
            <a:avLst>
              <a:gd name="adj" fmla="val 12000"/>
            </a:avLst>
          </a:prstGeom>
          <a:solidFill>
            <a:srgbClr val="0C1530"/>
          </a:solidFill>
          <a:ln w="9525">
            <a:solidFill>
              <a:srgbClr val="24325C"/>
            </a:solidFill>
          </a:ln>
        </p:spPr>
        <p:txBody>
          <a:bodyPr wrap="square" lIns="1778" tIns="1778" rIns="1778" bIns="1778" rtlCol="0" anchor="ctr"/>
          <a:lstStyle/>
          <a:p>
            <a:pPr algn="ctr" indent="0" marL="0">
              <a:buNone/>
            </a:pPr>
            <a:r>
              <a:rPr lang="en-US" sz="1500" i="1" dirty="0">
                <a:solidFill>
                  <a:srgbClr val="4F74F0"/>
                </a:solidFill>
                <a:latin typeface="Arial" pitchFamily="34" charset="0"/>
                <a:ea typeface="Arial" pitchFamily="34" charset="-122"/>
                <a:cs typeface="Arial" pitchFamily="34" charset="-120"/>
              </a:rPr>
              <a:t>AI typed most of this project. The discipline is the difference.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06 · THE IDEA</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The model is just how you’d size up a stock</a:t>
            </a:r>
            <a:endParaRPr lang="en-US" sz="3000" dirty="0"/>
          </a:p>
        </p:txBody>
      </p:sp>
      <p:sp>
        <p:nvSpPr>
          <p:cNvPr id="5" name="Text 2"/>
          <p:cNvSpPr/>
          <p:nvPr/>
        </p:nvSpPr>
        <p:spPr>
          <a:xfrm>
            <a:off x="548640" y="1874520"/>
            <a:ext cx="11091672" cy="960120"/>
          </a:xfrm>
          <a:prstGeom prst="roundRect">
            <a:avLst>
              <a:gd name="adj" fmla="val 8571"/>
            </a:avLst>
          </a:prstGeom>
          <a:solidFill>
            <a:srgbClr val="101A38"/>
          </a:solidFill>
          <a:ln w="9525">
            <a:solidFill>
              <a:srgbClr val="24325C"/>
            </a:solidFill>
          </a:ln>
        </p:spPr>
        <p:txBody>
          <a:bodyPr wrap="square" lIns="1778" tIns="1778" rIns="1778" bIns="1778" rtlCol="0" anchor="ctr"/>
          <a:lstStyle/>
          <a:p>
            <a:pPr algn="l" indent="0" marL="0">
              <a:buNone/>
            </a:pPr>
            <a:r>
              <a:rPr lang="en-US" sz="1700" b="1" dirty="0">
                <a:solidFill>
                  <a:srgbClr val="4F74F0"/>
                </a:solidFill>
                <a:latin typeface="Arial" pitchFamily="34" charset="0"/>
                <a:ea typeface="Arial" pitchFamily="34" charset="-122"/>
                <a:cs typeface="Arial" pitchFamily="34" charset="-120"/>
              </a:rPr>
              <a:t>What do you get?   </a:t>
            </a:r>
            <a:pPr algn="l" indent="0" marL="0">
              <a:buNone/>
            </a:pPr>
            <a:r>
              <a:rPr lang="en-US" sz="1400" dirty="0">
                <a:solidFill>
                  <a:srgbClr val="E8EEFC"/>
                </a:solidFill>
                <a:latin typeface="Arial" pitchFamily="34" charset="0"/>
                <a:ea typeface="Arial" pitchFamily="34" charset="-122"/>
                <a:cs typeface="Arial" pitchFamily="34" charset="-120"/>
              </a:rPr>
              <a:t>Growth and pay — how fast the career is growing and what it pays.  </a:t>
            </a:r>
            <a:pPr algn="l" indent="0" marL="0">
              <a:buNone/>
            </a:pPr>
            <a:r>
              <a:rPr lang="en-US" sz="1400" i="1" dirty="0">
                <a:solidFill>
                  <a:srgbClr val="5E6F9E"/>
                </a:solidFill>
                <a:latin typeface="Arial" pitchFamily="34" charset="0"/>
                <a:ea typeface="Arial" pitchFamily="34" charset="-122"/>
                <a:cs typeface="Arial" pitchFamily="34" charset="-120"/>
              </a:rPr>
              <a:t>(BLS projections)</a:t>
            </a:r>
            <a:endParaRPr lang="en-US" sz="1400" dirty="0"/>
          </a:p>
        </p:txBody>
      </p:sp>
      <p:sp>
        <p:nvSpPr>
          <p:cNvPr id="6" name="Text 3"/>
          <p:cNvSpPr/>
          <p:nvPr/>
        </p:nvSpPr>
        <p:spPr>
          <a:xfrm>
            <a:off x="548640" y="3017520"/>
            <a:ext cx="11091672" cy="960120"/>
          </a:xfrm>
          <a:prstGeom prst="roundRect">
            <a:avLst>
              <a:gd name="adj" fmla="val 8571"/>
            </a:avLst>
          </a:prstGeom>
          <a:solidFill>
            <a:srgbClr val="101A38"/>
          </a:solidFill>
          <a:ln w="9525">
            <a:solidFill>
              <a:srgbClr val="24325C"/>
            </a:solidFill>
          </a:ln>
        </p:spPr>
        <p:txBody>
          <a:bodyPr wrap="square" lIns="1778" tIns="1778" rIns="1778" bIns="1778" rtlCol="0" anchor="ctr"/>
          <a:lstStyle/>
          <a:p>
            <a:pPr algn="l" indent="0" marL="0">
              <a:buNone/>
            </a:pPr>
            <a:r>
              <a:rPr lang="en-US" sz="1700" b="1" dirty="0">
                <a:solidFill>
                  <a:srgbClr val="4F74F0"/>
                </a:solidFill>
                <a:latin typeface="Arial" pitchFamily="34" charset="0"/>
                <a:ea typeface="Arial" pitchFamily="34" charset="-122"/>
                <a:cs typeface="Arial" pitchFamily="34" charset="-120"/>
              </a:rPr>
              <a:t>What can kill it?   </a:t>
            </a:r>
            <a:pPr algn="l" indent="0" marL="0">
              <a:buNone/>
            </a:pPr>
            <a:r>
              <a:rPr lang="en-US" sz="1400" dirty="0">
                <a:solidFill>
                  <a:srgbClr val="E8EEFC"/>
                </a:solidFill>
                <a:latin typeface="Arial" pitchFamily="34" charset="0"/>
                <a:ea typeface="Arial" pitchFamily="34" charset="-122"/>
                <a:cs typeface="Arial" pitchFamily="34" charset="-120"/>
              </a:rPr>
              <a:t>How much of the day-to-day work AI can already do.  </a:t>
            </a:r>
            <a:pPr algn="l" indent="0" marL="0">
              <a:buNone/>
            </a:pPr>
            <a:r>
              <a:rPr lang="en-US" sz="1400" i="1" dirty="0">
                <a:solidFill>
                  <a:srgbClr val="5E6F9E"/>
                </a:solidFill>
                <a:latin typeface="Arial" pitchFamily="34" charset="0"/>
                <a:ea typeface="Arial" pitchFamily="34" charset="-122"/>
                <a:cs typeface="Arial" pitchFamily="34" charset="-120"/>
              </a:rPr>
              <a:t>(AI-exposure research)</a:t>
            </a:r>
            <a:endParaRPr lang="en-US" sz="1400" dirty="0"/>
          </a:p>
        </p:txBody>
      </p:sp>
      <p:sp>
        <p:nvSpPr>
          <p:cNvPr id="7" name="Text 4"/>
          <p:cNvSpPr/>
          <p:nvPr/>
        </p:nvSpPr>
        <p:spPr>
          <a:xfrm>
            <a:off x="548640" y="4160520"/>
            <a:ext cx="11091672" cy="960120"/>
          </a:xfrm>
          <a:prstGeom prst="roundRect">
            <a:avLst>
              <a:gd name="adj" fmla="val 8571"/>
            </a:avLst>
          </a:prstGeom>
          <a:solidFill>
            <a:srgbClr val="101A38"/>
          </a:solidFill>
          <a:ln w="9525">
            <a:solidFill>
              <a:srgbClr val="24325C"/>
            </a:solidFill>
          </a:ln>
        </p:spPr>
        <p:txBody>
          <a:bodyPr wrap="square" lIns="1778" tIns="1778" rIns="1778" bIns="1778" rtlCol="0" anchor="ctr"/>
          <a:lstStyle/>
          <a:p>
            <a:pPr algn="l" indent="0" marL="0">
              <a:buNone/>
            </a:pPr>
            <a:r>
              <a:rPr lang="en-US" sz="1700" b="1" dirty="0">
                <a:solidFill>
                  <a:srgbClr val="4F74F0"/>
                </a:solidFill>
                <a:latin typeface="Arial" pitchFamily="34" charset="0"/>
                <a:ea typeface="Arial" pitchFamily="34" charset="-122"/>
                <a:cs typeface="Arial" pitchFamily="34" charset="-120"/>
              </a:rPr>
              <a:t>Does it fit you?   </a:t>
            </a:r>
            <a:pPr algn="l" indent="0" marL="0">
              <a:buNone/>
            </a:pPr>
            <a:r>
              <a:rPr lang="en-US" sz="1400" dirty="0">
                <a:solidFill>
                  <a:srgbClr val="E8EEFC"/>
                </a:solidFill>
                <a:latin typeface="Arial" pitchFamily="34" charset="0"/>
                <a:ea typeface="Arial" pitchFamily="34" charset="-122"/>
                <a:cs typeface="Arial" pitchFamily="34" charset="-120"/>
              </a:rPr>
              <a:t>The job’s real skill profile, matched to your interests.  </a:t>
            </a:r>
            <a:pPr algn="l" indent="0" marL="0">
              <a:buNone/>
            </a:pPr>
            <a:r>
              <a:rPr lang="en-US" sz="1400" i="1" dirty="0">
                <a:solidFill>
                  <a:srgbClr val="5E6F9E"/>
                </a:solidFill>
                <a:latin typeface="Arial" pitchFamily="34" charset="0"/>
                <a:ea typeface="Arial" pitchFamily="34" charset="-122"/>
                <a:cs typeface="Arial" pitchFamily="34" charset="-120"/>
              </a:rPr>
              <a:t>(O*NET skills database)</a:t>
            </a:r>
            <a:endParaRPr lang="en-US" sz="1400" dirty="0"/>
          </a:p>
        </p:txBody>
      </p:sp>
      <p:sp>
        <p:nvSpPr>
          <p:cNvPr id="8" name="Text 5"/>
          <p:cNvSpPr/>
          <p:nvPr/>
        </p:nvSpPr>
        <p:spPr>
          <a:xfrm>
            <a:off x="548640" y="5440680"/>
            <a:ext cx="11091672" cy="685800"/>
          </a:xfrm>
          <a:prstGeom prst="roundRect">
            <a:avLst>
              <a:gd name="adj" fmla="val 12000"/>
            </a:avLst>
          </a:prstGeom>
          <a:solidFill>
            <a:srgbClr val="0C1530"/>
          </a:solidFill>
          <a:ln w="9525">
            <a:solidFill>
              <a:srgbClr val="24325C"/>
            </a:solidFill>
          </a:ln>
        </p:spPr>
        <p:txBody>
          <a:bodyPr wrap="square" lIns="1778" tIns="1778" rIns="1778" bIns="1778" rtlCol="0" anchor="ctr"/>
          <a:lstStyle/>
          <a:p>
            <a:pPr algn="ctr" indent="0" marL="0">
              <a:buNone/>
            </a:pPr>
            <a:r>
              <a:rPr lang="en-US" sz="1500" i="1" dirty="0">
                <a:solidFill>
                  <a:srgbClr val="9DB0D9"/>
                </a:solidFill>
                <a:latin typeface="Arial" pitchFamily="34" charset="0"/>
                <a:ea typeface="Arial" pitchFamily="34" charset="-122"/>
                <a:cs typeface="Arial" pitchFamily="34" charset="-120"/>
              </a:rPr>
              <a:t>Answer the three questions with data, discount the reward by the risk — that’s the whole model.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07 · THE FORMULA</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Those three sentences, written down</a:t>
            </a:r>
            <a:endParaRPr lang="en-US" sz="3000" dirty="0"/>
          </a:p>
        </p:txBody>
      </p:sp>
      <p:sp>
        <p:nvSpPr>
          <p:cNvPr id="5" name="Text 2"/>
          <p:cNvSpPr/>
          <p:nvPr/>
        </p:nvSpPr>
        <p:spPr>
          <a:xfrm>
            <a:off x="548640" y="1828800"/>
            <a:ext cx="5852160"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Return = ½·growth + ½·pay</a:t>
            </a:r>
            <a:endParaRPr lang="en-US" sz="1400" dirty="0"/>
          </a:p>
        </p:txBody>
      </p:sp>
      <p:sp>
        <p:nvSpPr>
          <p:cNvPr id="6" name="Text 3"/>
          <p:cNvSpPr/>
          <p:nvPr/>
        </p:nvSpPr>
        <p:spPr>
          <a:xfrm>
            <a:off x="6537960" y="1828800"/>
            <a:ext cx="5102352"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400" dirty="0">
                <a:solidFill>
                  <a:srgbClr val="9DB0D9"/>
                </a:solidFill>
                <a:latin typeface="Arial" pitchFamily="34" charset="0"/>
                <a:ea typeface="Arial" pitchFamily="34" charset="-122"/>
                <a:cs typeface="Arial" pitchFamily="34" charset="-120"/>
              </a:rPr>
              <a:t>what you get, each as a rank against all 730</a:t>
            </a:r>
            <a:endParaRPr lang="en-US" sz="1400" dirty="0"/>
          </a:p>
        </p:txBody>
      </p:sp>
      <p:sp>
        <p:nvSpPr>
          <p:cNvPr id="7" name="Text 4"/>
          <p:cNvSpPr/>
          <p:nvPr/>
        </p:nvSpPr>
        <p:spPr>
          <a:xfrm>
            <a:off x="548640" y="2706624"/>
            <a:ext cx="5852160"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Risk = 0.7·AI + 0.3·volatility</a:t>
            </a:r>
            <a:endParaRPr lang="en-US" sz="1400" dirty="0"/>
          </a:p>
        </p:txBody>
      </p:sp>
      <p:sp>
        <p:nvSpPr>
          <p:cNvPr id="8" name="Text 5"/>
          <p:cNvSpPr/>
          <p:nvPr/>
        </p:nvSpPr>
        <p:spPr>
          <a:xfrm>
            <a:off x="6537960" y="2706624"/>
            <a:ext cx="5102352"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400" dirty="0">
                <a:solidFill>
                  <a:srgbClr val="9DB0D9"/>
                </a:solidFill>
                <a:latin typeface="Arial" pitchFamily="34" charset="0"/>
                <a:ea typeface="Arial" pitchFamily="34" charset="-122"/>
                <a:cs typeface="Arial" pitchFamily="34" charset="-120"/>
              </a:rPr>
              <a:t>what can kill it</a:t>
            </a:r>
            <a:endParaRPr lang="en-US" sz="1400" dirty="0"/>
          </a:p>
        </p:txBody>
      </p:sp>
      <p:sp>
        <p:nvSpPr>
          <p:cNvPr id="9" name="Text 6"/>
          <p:cNvSpPr/>
          <p:nvPr/>
        </p:nvSpPr>
        <p:spPr>
          <a:xfrm>
            <a:off x="548640" y="3584448"/>
            <a:ext cx="5852160"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Value = Return × (1 − 0.6·Risk)</a:t>
            </a:r>
            <a:endParaRPr lang="en-US" sz="1400" dirty="0"/>
          </a:p>
        </p:txBody>
      </p:sp>
      <p:sp>
        <p:nvSpPr>
          <p:cNvPr id="10" name="Text 7"/>
          <p:cNvSpPr/>
          <p:nvPr/>
        </p:nvSpPr>
        <p:spPr>
          <a:xfrm>
            <a:off x="6537960" y="3584448"/>
            <a:ext cx="5102352"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400" dirty="0">
                <a:solidFill>
                  <a:srgbClr val="9DB0D9"/>
                </a:solidFill>
                <a:latin typeface="Arial" pitchFamily="34" charset="0"/>
                <a:ea typeface="Arial" pitchFamily="34" charset="-122"/>
                <a:cs typeface="Arial" pitchFamily="34" charset="-120"/>
              </a:rPr>
              <a:t>reward, discounted by risk</a:t>
            </a:r>
            <a:endParaRPr lang="en-US" sz="1400" dirty="0"/>
          </a:p>
        </p:txBody>
      </p:sp>
      <p:sp>
        <p:nvSpPr>
          <p:cNvPr id="11" name="Text 8"/>
          <p:cNvSpPr/>
          <p:nvPr/>
        </p:nvSpPr>
        <p:spPr>
          <a:xfrm>
            <a:off x="548640" y="4462272"/>
            <a:ext cx="5852160"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Score = 70% Value + 30% Fit</a:t>
            </a:r>
            <a:endParaRPr lang="en-US" sz="1400" dirty="0"/>
          </a:p>
        </p:txBody>
      </p:sp>
      <p:sp>
        <p:nvSpPr>
          <p:cNvPr id="12" name="Text 9"/>
          <p:cNvSpPr/>
          <p:nvPr/>
        </p:nvSpPr>
        <p:spPr>
          <a:xfrm>
            <a:off x="6537960" y="4462272"/>
            <a:ext cx="5102352" cy="713232"/>
          </a:xfrm>
          <a:prstGeom prst="roundRect">
            <a:avLst>
              <a:gd name="adj" fmla="val 11538"/>
            </a:avLst>
          </a:prstGeom>
          <a:solidFill>
            <a:srgbClr val="0C1530"/>
          </a:solidFill>
          <a:ln w="9525">
            <a:solidFill>
              <a:srgbClr val="24325C"/>
            </a:solidFill>
          </a:ln>
        </p:spPr>
        <p:txBody>
          <a:bodyPr wrap="square" lIns="1778" tIns="1778" rIns="1778" bIns="1778" rtlCol="0" anchor="ctr"/>
          <a:lstStyle/>
          <a:p>
            <a:pPr algn="l" indent="0" marL="0">
              <a:buNone/>
            </a:pPr>
            <a:r>
              <a:rPr lang="en-US" sz="1400" dirty="0">
                <a:solidFill>
                  <a:srgbClr val="9DB0D9"/>
                </a:solidFill>
                <a:latin typeface="Arial" pitchFamily="34" charset="0"/>
                <a:ea typeface="Arial" pitchFamily="34" charset="-122"/>
                <a:cs typeface="Arial" pitchFamily="34" charset="-120"/>
              </a:rPr>
              <a:t>blend in the match to you. Out of 100.</a:t>
            </a:r>
            <a:endParaRPr lang="en-US" sz="1400" dirty="0"/>
          </a:p>
        </p:txBody>
      </p:sp>
      <p:sp>
        <p:nvSpPr>
          <p:cNvPr id="13" name="Text 10"/>
          <p:cNvSpPr/>
          <p:nvPr/>
        </p:nvSpPr>
        <p:spPr>
          <a:xfrm>
            <a:off x="548640" y="5394960"/>
            <a:ext cx="11091672" cy="914400"/>
          </a:xfrm>
          <a:prstGeom prst="roundRect">
            <a:avLst>
              <a:gd name="adj" fmla="val 9000"/>
            </a:avLst>
          </a:prstGeom>
          <a:solidFill>
            <a:srgbClr val="101A38"/>
          </a:solidFill>
          <a:ln w="9525">
            <a:solidFill>
              <a:srgbClr val="24325C"/>
            </a:solidFill>
          </a:ln>
        </p:spPr>
        <p:txBody>
          <a:bodyPr wrap="square" lIns="1778" tIns="1778" rIns="1778" bIns="1778" rtlCol="0" anchor="ctr"/>
          <a:lstStyle/>
          <a:p>
            <a:pPr algn="l" indent="0" marL="0">
              <a:buNone/>
            </a:pPr>
            <a:r>
              <a:rPr lang="en-US" sz="1500" b="1" dirty="0">
                <a:solidFill>
                  <a:srgbClr val="E8EEFC"/>
                </a:solidFill>
                <a:latin typeface="Arial" pitchFamily="34" charset="0"/>
                <a:ea typeface="Arial" pitchFamily="34" charset="-122"/>
                <a:cs typeface="Arial" pitchFamily="34" charset="-120"/>
              </a:rPr>
              <a:t>The 0.7s and 0.6s are judgment calls, and I say so.  </a:t>
            </a:r>
            <a:pPr algn="l" indent="0" marL="0">
              <a:buNone/>
            </a:pPr>
            <a:r>
              <a:rPr lang="en-US" sz="1400" dirty="0">
                <a:solidFill>
                  <a:srgbClr val="9DB0D9"/>
                </a:solidFill>
                <a:latin typeface="Arial" pitchFamily="34" charset="0"/>
                <a:ea typeface="Arial" pitchFamily="34" charset="-122"/>
                <a:cs typeface="Arial" pitchFamily="34" charset="-120"/>
              </a:rPr>
              <a:t>Every ranking is re-scored 729 times with the weights shaken ±20%, plus by five rival formulas. If the answer flips, the site says “close call.”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08 · THE RECEIPTS</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I tested it on a decade that already happened</a:t>
            </a:r>
            <a:endParaRPr lang="en-US" sz="3000" dirty="0"/>
          </a:p>
        </p:txBody>
      </p:sp>
      <p:sp>
        <p:nvSpPr>
          <p:cNvPr id="5" name="Text 2"/>
          <p:cNvSpPr/>
          <p:nvPr/>
        </p:nvSpPr>
        <p:spPr>
          <a:xfrm>
            <a:off x="548640" y="1828800"/>
            <a:ext cx="5468112" cy="1097280"/>
          </a:xfrm>
          <a:prstGeom prst="roundRect">
            <a:avLst>
              <a:gd name="adj" fmla="val 7500"/>
            </a:avLst>
          </a:prstGeom>
          <a:solidFill>
            <a:srgbClr val="0C1530"/>
          </a:solidFill>
          <a:ln w="9525">
            <a:solidFill>
              <a:srgbClr val="24325C"/>
            </a:solidFill>
          </a:ln>
        </p:spPr>
        <p:txBody>
          <a:bodyPr wrap="square" lIns="1778" tIns="1778" rIns="1778" bIns="1778"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0.39   </a:t>
            </a:r>
            <a:pPr algn="l" indent="0" marL="0">
              <a:buNone/>
            </a:pPr>
            <a:r>
              <a:rPr lang="en-US" sz="1400" dirty="0">
                <a:solidFill>
                  <a:srgbClr val="9DB0D9"/>
                </a:solidFill>
                <a:latin typeface="Arial" pitchFamily="34" charset="0"/>
                <a:ea typeface="Arial" pitchFamily="34" charset="-122"/>
                <a:cs typeface="Arial" pitchFamily="34" charset="-120"/>
              </a:rPr>
              <a:t>rank correlation, 2014 scores vs what happened (0 = noise, 1 = perfect)</a:t>
            </a:r>
            <a:endParaRPr lang="en-US" sz="1400" dirty="0"/>
          </a:p>
        </p:txBody>
      </p:sp>
      <p:sp>
        <p:nvSpPr>
          <p:cNvPr id="6" name="Text 3"/>
          <p:cNvSpPr/>
          <p:nvPr/>
        </p:nvSpPr>
        <p:spPr>
          <a:xfrm>
            <a:off x="6172200" y="1828800"/>
            <a:ext cx="5468112" cy="1097280"/>
          </a:xfrm>
          <a:prstGeom prst="roundRect">
            <a:avLst>
              <a:gd name="adj" fmla="val 7500"/>
            </a:avLst>
          </a:prstGeom>
          <a:solidFill>
            <a:srgbClr val="0C1530"/>
          </a:solidFill>
          <a:ln w="9525">
            <a:solidFill>
              <a:srgbClr val="24325C"/>
            </a:solidFill>
          </a:ln>
        </p:spPr>
        <p:txBody>
          <a:bodyPr wrap="square" lIns="1778" tIns="1778" rIns="1778" bIns="1778"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48%   </a:t>
            </a:r>
            <a:pPr algn="l" indent="0" marL="0">
              <a:buNone/>
            </a:pPr>
            <a:r>
              <a:rPr lang="en-US" sz="1400" dirty="0">
                <a:solidFill>
                  <a:srgbClr val="9DB0D9"/>
                </a:solidFill>
                <a:latin typeface="Arial" pitchFamily="34" charset="0"/>
                <a:ea typeface="Arial" pitchFamily="34" charset="-122"/>
                <a:cs typeface="Arial" pitchFamily="34" charset="-120"/>
              </a:rPr>
              <a:t>of the careers that really declined were flagged — 33% by chance</a:t>
            </a:r>
            <a:endParaRPr lang="en-US" sz="1400" dirty="0"/>
          </a:p>
        </p:txBody>
      </p:sp>
      <p:sp>
        <p:nvSpPr>
          <p:cNvPr id="7" name="Text 4"/>
          <p:cNvSpPr/>
          <p:nvPr/>
        </p:nvSpPr>
        <p:spPr>
          <a:xfrm>
            <a:off x="548640" y="3063240"/>
            <a:ext cx="5468112" cy="1097280"/>
          </a:xfrm>
          <a:prstGeom prst="roundRect">
            <a:avLst>
              <a:gd name="adj" fmla="val 7500"/>
            </a:avLst>
          </a:prstGeom>
          <a:solidFill>
            <a:srgbClr val="0C1530"/>
          </a:solidFill>
          <a:ln w="9525">
            <a:solidFill>
              <a:srgbClr val="24325C"/>
            </a:solidFill>
          </a:ln>
        </p:spPr>
        <p:txBody>
          <a:bodyPr wrap="square" lIns="1778" tIns="1778" rIns="1778" bIns="1778"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37 vs 46   </a:t>
            </a:r>
            <a:pPr algn="l" indent="0" marL="0">
              <a:buNone/>
            </a:pPr>
            <a:r>
              <a:rPr lang="en-US" sz="1400" dirty="0">
                <a:solidFill>
                  <a:srgbClr val="9DB0D9"/>
                </a:solidFill>
                <a:latin typeface="Arial" pitchFamily="34" charset="0"/>
                <a:ea typeface="Arial" pitchFamily="34" charset="-122"/>
                <a:cs typeface="Arial" pitchFamily="34" charset="-120"/>
              </a:rPr>
              <a:t>median 2014 score: decliners vs growers</a:t>
            </a:r>
            <a:endParaRPr lang="en-US" sz="1400" dirty="0"/>
          </a:p>
        </p:txBody>
      </p:sp>
      <p:sp>
        <p:nvSpPr>
          <p:cNvPr id="8" name="Text 5"/>
          <p:cNvSpPr/>
          <p:nvPr/>
        </p:nvSpPr>
        <p:spPr>
          <a:xfrm>
            <a:off x="6172200" y="3063240"/>
            <a:ext cx="5468112" cy="1097280"/>
          </a:xfrm>
          <a:prstGeom prst="roundRect">
            <a:avLst>
              <a:gd name="adj" fmla="val 7500"/>
            </a:avLst>
          </a:prstGeom>
          <a:solidFill>
            <a:srgbClr val="0C1530"/>
          </a:solidFill>
          <a:ln w="9525">
            <a:solidFill>
              <a:srgbClr val="24325C"/>
            </a:solidFill>
          </a:ln>
        </p:spPr>
        <p:txBody>
          <a:bodyPr wrap="square" lIns="1778" tIns="1778" rIns="1778" bIns="1778"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~0   </a:t>
            </a:r>
            <a:pPr algn="l" indent="0" marL="0">
              <a:buNone/>
            </a:pPr>
            <a:r>
              <a:rPr lang="en-US" sz="1400" dirty="0">
                <a:solidFill>
                  <a:srgbClr val="9DB0D9"/>
                </a:solidFill>
                <a:latin typeface="Arial" pitchFamily="34" charset="0"/>
                <a:ea typeface="Arial" pitchFamily="34" charset="-122"/>
                <a:cs typeface="Arial" pitchFamily="34" charset="-120"/>
              </a:rPr>
              <a:t>AI exposure’s signal that decade — expected, no LLMs existed yet</a:t>
            </a:r>
            <a:endParaRPr lang="en-US" sz="1400" dirty="0"/>
          </a:p>
        </p:txBody>
      </p:sp>
      <p:sp>
        <p:nvSpPr>
          <p:cNvPr id="9" name="Text 6"/>
          <p:cNvSpPr/>
          <p:nvPr/>
        </p:nvSpPr>
        <p:spPr>
          <a:xfrm>
            <a:off x="548640" y="4434840"/>
            <a:ext cx="11091672" cy="1691640"/>
          </a:xfrm>
          <a:prstGeom prst="roundRect">
            <a:avLst>
              <a:gd name="adj" fmla="val 4865"/>
            </a:avLst>
          </a:prstGeom>
          <a:solidFill>
            <a:srgbClr val="101A38"/>
          </a:solidFill>
          <a:ln w="9525">
            <a:solidFill>
              <a:srgbClr val="24325C"/>
            </a:solidFill>
          </a:ln>
        </p:spPr>
        <p:txBody>
          <a:bodyPr wrap="square" lIns="1778" tIns="1778" rIns="1778" bIns="1778" rtlCol="0" anchor="t"/>
          <a:lstStyle/>
          <a:p>
            <a:pPr algn="l" indent="0" marL="0">
              <a:buNone/>
            </a:pPr>
            <a:r>
              <a:rPr lang="en-US" sz="1500" b="1" dirty="0">
                <a:solidFill>
                  <a:srgbClr val="FBBF24"/>
                </a:solidFill>
                <a:latin typeface="Arial" pitchFamily="34" charset="0"/>
                <a:ea typeface="Arial" pitchFamily="34" charset="-122"/>
                <a:cs typeface="Arial" pitchFamily="34" charset="-120"/>
              </a:rPr>
              <a:t>Me, volunteering the awkward number: </a:t>
            </a:r>
            <a:pPr algn="l" indent="0" marL="0">
              <a:buNone/>
            </a:pPr>
            <a:r>
              <a:rPr lang="en-US" sz="1400" dirty="0">
                <a:solidFill>
                  <a:srgbClr val="9DB0D9"/>
                </a:solidFill>
                <a:latin typeface="Arial" pitchFamily="34" charset="0"/>
                <a:ea typeface="Arial" pitchFamily="34" charset="-122"/>
                <a:cs typeface="Arial" pitchFamily="34" charset="-120"/>
              </a:rPr>
              <a:t>the government’s plain projections beat my full model on that decade, 0.411 to 0.39. That’s the model working — the AI term is a bet about the coming decade, and the tested one had no LLMs in it. </a:t>
            </a:r>
            <a:endParaRPr lang="en-US" sz="1400" dirty="0"/>
          </a:p>
          <a:p>
            <a:pPr algn="l" indent="0" marL="0">
              <a:buNone/>
            </a:pPr>
            <a:r>
              <a:rPr lang="en-US" sz="1400" b="1" dirty="0">
                <a:solidFill>
                  <a:srgbClr val="E8EEFC"/>
                </a:solidFill>
                <a:latin typeface="Arial" pitchFamily="34" charset="0"/>
                <a:ea typeface="Arial" pitchFamily="34" charset="-122"/>
                <a:cs typeface="Arial" pitchFamily="34" charset="-120"/>
              </a:rPr>
              <a:t>And the back-test never tunes the weights: fit to the test and it stops being a test.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09 · THE INFRASTRUCTURE</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Deploying it taught me more AWS than the practice exams</a:t>
            </a:r>
            <a:endParaRPr lang="en-US" sz="3000" dirty="0"/>
          </a:p>
        </p:txBody>
      </p:sp>
      <p:sp>
        <p:nvSpPr>
          <p:cNvPr id="5" name="Text 2"/>
          <p:cNvSpPr/>
          <p:nvPr/>
        </p:nvSpPr>
        <p:spPr>
          <a:xfrm>
            <a:off x="548640" y="1920240"/>
            <a:ext cx="3392424" cy="2011680"/>
          </a:xfrm>
          <a:prstGeom prst="roundRect">
            <a:avLst>
              <a:gd name="adj" fmla="val 4091"/>
            </a:avLst>
          </a:prstGeom>
          <a:solidFill>
            <a:srgbClr val="101A38"/>
          </a:solidFill>
          <a:ln w="9525">
            <a:solidFill>
              <a:srgbClr val="24325C"/>
            </a:solidFill>
          </a:ln>
        </p:spPr>
        <p:txBody>
          <a:bodyPr wrap="square" lIns="1778" tIns="1778" rIns="1778" bIns="1778"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CODE</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GitHub. Push to main —</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that’s the whole release process.</a:t>
            </a:r>
            <a:endParaRPr lang="en-US" sz="1400" dirty="0"/>
          </a:p>
        </p:txBody>
      </p:sp>
      <p:sp>
        <p:nvSpPr>
          <p:cNvPr id="6" name="Text 3"/>
          <p:cNvSpPr/>
          <p:nvPr/>
        </p:nvSpPr>
        <p:spPr>
          <a:xfrm>
            <a:off x="4398264" y="1920240"/>
            <a:ext cx="3392424" cy="2011680"/>
          </a:xfrm>
          <a:prstGeom prst="roundRect">
            <a:avLst>
              <a:gd name="adj" fmla="val 4091"/>
            </a:avLst>
          </a:prstGeom>
          <a:solidFill>
            <a:srgbClr val="101A38"/>
          </a:solidFill>
          <a:ln w="9525">
            <a:solidFill>
              <a:srgbClr val="24325C"/>
            </a:solidFill>
          </a:ln>
        </p:spPr>
        <p:txBody>
          <a:bodyPr wrap="square" lIns="1778" tIns="1778" rIns="1778" bIns="1778"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ENGINE</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AWS Amplify builds the Next.js app and runs the server-rendered parts.</a:t>
            </a:r>
            <a:endParaRPr lang="en-US" sz="1400" dirty="0"/>
          </a:p>
        </p:txBody>
      </p:sp>
      <p:sp>
        <p:nvSpPr>
          <p:cNvPr id="7" name="Text 4"/>
          <p:cNvSpPr/>
          <p:nvPr/>
        </p:nvSpPr>
        <p:spPr>
          <a:xfrm>
            <a:off x="8247888" y="1920240"/>
            <a:ext cx="3392424" cy="2011680"/>
          </a:xfrm>
          <a:prstGeom prst="roundRect">
            <a:avLst>
              <a:gd name="adj" fmla="val 4091"/>
            </a:avLst>
          </a:prstGeom>
          <a:solidFill>
            <a:srgbClr val="101A38"/>
          </a:solidFill>
          <a:ln w="9525">
            <a:solidFill>
              <a:srgbClr val="24325C"/>
            </a:solidFill>
          </a:ln>
        </p:spPr>
        <p:txBody>
          <a:bodyPr wrap="square" lIns="1778" tIns="1778" rIns="1778" bIns="1778"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EDGE</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CloudFront serves it from the edge; Route 53 holds ashleylibasci.com.</a:t>
            </a:r>
            <a:endParaRPr lang="en-US" sz="1400" dirty="0"/>
          </a:p>
        </p:txBody>
      </p:sp>
      <p:sp>
        <p:nvSpPr>
          <p:cNvPr id="8" name="Text 5"/>
          <p:cNvSpPr/>
          <p:nvPr/>
        </p:nvSpPr>
        <p:spPr>
          <a:xfrm>
            <a:off x="3895344" y="265176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9" name="Text 6"/>
          <p:cNvSpPr/>
          <p:nvPr/>
        </p:nvSpPr>
        <p:spPr>
          <a:xfrm>
            <a:off x="7744968" y="265176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10" name="Text 7"/>
          <p:cNvSpPr/>
          <p:nvPr/>
        </p:nvSpPr>
        <p:spPr>
          <a:xfrm>
            <a:off x="548640" y="4343400"/>
            <a:ext cx="11091672" cy="1188720"/>
          </a:xfrm>
          <a:prstGeom prst="roundRect">
            <a:avLst>
              <a:gd name="adj" fmla="val 6923"/>
            </a:avLst>
          </a:prstGeom>
          <a:solidFill>
            <a:srgbClr val="0C1530"/>
          </a:solidFill>
          <a:ln w="9525">
            <a:solidFill>
              <a:srgbClr val="24325C"/>
            </a:solidFill>
          </a:ln>
        </p:spPr>
        <p:txBody>
          <a:bodyPr wrap="square" lIns="1778" tIns="1778" rIns="1778" bIns="1778" rtlCol="0" anchor="ctr"/>
          <a:lstStyle/>
          <a:p>
            <a:pPr algn="l" indent="0" marL="0">
              <a:buNone/>
            </a:pPr>
            <a:r>
              <a:rPr lang="en-US" sz="1500" b="1" dirty="0">
                <a:solidFill>
                  <a:srgbClr val="E8EEFC"/>
                </a:solidFill>
                <a:latin typeface="Arial" pitchFamily="34" charset="0"/>
                <a:ea typeface="Arial" pitchFamily="34" charset="-122"/>
                <a:cs typeface="Arial" pitchFamily="34" charset="-120"/>
              </a:rPr>
              <a:t>Cloud Practitioner concepts this made real:  </a:t>
            </a:r>
            <a:pPr algn="l" indent="0" marL="0">
              <a:buNone/>
            </a:pPr>
            <a:r>
              <a:rPr lang="en-US" sz="1400" dirty="0">
                <a:solidFill>
                  <a:srgbClr val="9DB0D9"/>
                </a:solidFill>
                <a:latin typeface="Arial" pitchFamily="34" charset="0"/>
                <a:ea typeface="Arial" pitchFamily="34" charset="-122"/>
                <a:cs typeface="Arial" pitchFamily="34" charset="-120"/>
              </a:rPr>
              <a:t>managed services · edge caching · shared responsibility · DNS and certs. I’m studying for the cert now — this is where the flashcards became things I’d debugged.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10 · WAR STORY</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The rate limiter that never fired</a:t>
            </a:r>
            <a:endParaRPr lang="en-US" sz="3000" dirty="0"/>
          </a:p>
        </p:txBody>
      </p:sp>
      <p:sp>
        <p:nvSpPr>
          <p:cNvPr id="5" name="Text 2"/>
          <p:cNvSpPr/>
          <p:nvPr/>
        </p:nvSpPr>
        <p:spPr>
          <a:xfrm>
            <a:off x="548640" y="1828800"/>
            <a:ext cx="11091672" cy="914400"/>
          </a:xfrm>
          <a:prstGeom prst="roundRect">
            <a:avLst>
              <a:gd name="adj" fmla="val 9000"/>
            </a:avLst>
          </a:prstGeom>
          <a:solidFill>
            <a:srgbClr val="0C1530"/>
          </a:solidFill>
          <a:ln w="9525">
            <a:solidFill>
              <a:srgbClr val="24325C"/>
            </a:solidFill>
          </a:ln>
        </p:spPr>
        <p:txBody>
          <a:bodyPr wrap="square" lIns="1778" tIns="1778" rIns="1778" bIns="1778"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What I did — </a:t>
            </a:r>
            <a:pPr algn="l" indent="0" marL="0">
              <a:buNone/>
            </a:pPr>
            <a:r>
              <a:rPr lang="en-US" sz="1400" dirty="0">
                <a:solidFill>
                  <a:srgbClr val="9DB0D9"/>
                </a:solidFill>
                <a:latin typeface="Arial" pitchFamily="34" charset="0"/>
                <a:ea typeface="Arial" pitchFamily="34" charset="-122"/>
                <a:cs typeface="Arial" pitchFamily="34" charset="-120"/>
              </a:rPr>
              <a:t>keyed rate limits on the last X-Forwarded-For hop — the textbook advice, since everything left of it is forgeable</a:t>
            </a:r>
            <a:endParaRPr lang="en-US" sz="1400" dirty="0"/>
          </a:p>
        </p:txBody>
      </p:sp>
      <p:sp>
        <p:nvSpPr>
          <p:cNvPr id="6" name="Text 3"/>
          <p:cNvSpPr/>
          <p:nvPr/>
        </p:nvSpPr>
        <p:spPr>
          <a:xfrm>
            <a:off x="548640" y="2871216"/>
            <a:ext cx="11091672" cy="914400"/>
          </a:xfrm>
          <a:prstGeom prst="roundRect">
            <a:avLst>
              <a:gd name="adj" fmla="val 9000"/>
            </a:avLst>
          </a:prstGeom>
          <a:solidFill>
            <a:srgbClr val="0C1530"/>
          </a:solidFill>
          <a:ln w="9525">
            <a:solidFill>
              <a:srgbClr val="24325C"/>
            </a:solidFill>
          </a:ln>
        </p:spPr>
        <p:txBody>
          <a:bodyPr wrap="square" lIns="1778" tIns="1778" rIns="1778" bIns="1778"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What production did — </a:t>
            </a:r>
            <a:pPr algn="l" indent="0" marL="0">
              <a:buNone/>
            </a:pPr>
            <a:r>
              <a:rPr lang="en-US" sz="1400" dirty="0">
                <a:solidFill>
                  <a:srgbClr val="9DB0D9"/>
                </a:solidFill>
                <a:latin typeface="Arial" pitchFamily="34" charset="0"/>
                <a:ea typeface="Arial" pitchFamily="34" charset="-122"/>
                <a:cs typeface="Arial" pitchFamily="34" charset="-120"/>
              </a:rPr>
              <a:t>30 rapid requests, zero rate-limit hits. Every request got a fresh bucket</a:t>
            </a:r>
            <a:endParaRPr lang="en-US" sz="1400" dirty="0"/>
          </a:p>
        </p:txBody>
      </p:sp>
      <p:sp>
        <p:nvSpPr>
          <p:cNvPr id="7" name="Text 4"/>
          <p:cNvSpPr/>
          <p:nvPr/>
        </p:nvSpPr>
        <p:spPr>
          <a:xfrm>
            <a:off x="548640" y="3913632"/>
            <a:ext cx="11091672" cy="914400"/>
          </a:xfrm>
          <a:prstGeom prst="roundRect">
            <a:avLst>
              <a:gd name="adj" fmla="val 9000"/>
            </a:avLst>
          </a:prstGeom>
          <a:solidFill>
            <a:srgbClr val="0C1530"/>
          </a:solidFill>
          <a:ln w="9525">
            <a:solidFill>
              <a:srgbClr val="24325C"/>
            </a:solidFill>
          </a:ln>
        </p:spPr>
        <p:txBody>
          <a:bodyPr wrap="square" lIns="1778" tIns="1778" rIns="1778" bIns="1778"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Why — </a:t>
            </a:r>
            <a:pPr algn="l" indent="0" marL="0">
              <a:buNone/>
            </a:pPr>
            <a:r>
              <a:rPr lang="en-US" sz="1400" dirty="0">
                <a:solidFill>
                  <a:srgbClr val="9DB0D9"/>
                </a:solidFill>
                <a:latin typeface="Arial" pitchFamily="34" charset="0"/>
                <a:ea typeface="Arial" pitchFamily="34" charset="-122"/>
                <a:cs typeface="Arial" pitchFamily="34" charset="-120"/>
              </a:rPr>
              <a:t>Amplify’s router appends CloudFront’s own IP after the client’s. The “last hop” was never the client — it was Amazon</a:t>
            </a:r>
            <a:endParaRPr lang="en-US" sz="1400" dirty="0"/>
          </a:p>
        </p:txBody>
      </p:sp>
      <p:sp>
        <p:nvSpPr>
          <p:cNvPr id="8" name="Text 5"/>
          <p:cNvSpPr/>
          <p:nvPr/>
        </p:nvSpPr>
        <p:spPr>
          <a:xfrm>
            <a:off x="548640" y="4956048"/>
            <a:ext cx="11091672" cy="914400"/>
          </a:xfrm>
          <a:prstGeom prst="roundRect">
            <a:avLst>
              <a:gd name="adj" fmla="val 9000"/>
            </a:avLst>
          </a:prstGeom>
          <a:solidFill>
            <a:srgbClr val="0C1530"/>
          </a:solidFill>
          <a:ln w="9525">
            <a:solidFill>
              <a:srgbClr val="24325C"/>
            </a:solidFill>
          </a:ln>
        </p:spPr>
        <p:txBody>
          <a:bodyPr wrap="square" lIns="1778" tIns="1778" rIns="1778" bIns="1778"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The fix — </a:t>
            </a:r>
            <a:pPr algn="l" indent="0" marL="0">
              <a:buNone/>
            </a:pPr>
            <a:r>
              <a:rPr lang="en-US" sz="1400" dirty="0">
                <a:solidFill>
                  <a:srgbClr val="9DB0D9"/>
                </a:solidFill>
                <a:latin typeface="Arial" pitchFamily="34" charset="0"/>
                <a:ea typeface="Arial" pitchFamily="34" charset="-122"/>
                <a:cs typeface="Arial" pitchFamily="34" charset="-120"/>
              </a:rPr>
              <a:t>key on the second-to-last hop, a global cap as backstop, and a regression test pinning the header shapes</a:t>
            </a:r>
            <a:endParaRPr lang="en-US" sz="1400" dirty="0"/>
          </a:p>
        </p:txBody>
      </p:sp>
      <p:sp>
        <p:nvSpPr>
          <p:cNvPr id="9" name="Text 6"/>
          <p:cNvSpPr/>
          <p:nvPr/>
        </p:nvSpPr>
        <p:spPr>
          <a:xfrm>
            <a:off x="548640" y="6035040"/>
            <a:ext cx="11091672" cy="548640"/>
          </a:xfrm>
          <a:prstGeom prst="roundRect">
            <a:avLst>
              <a:gd name="adj" fmla="val 15000"/>
            </a:avLst>
          </a:prstGeom>
          <a:solidFill>
            <a:srgbClr val="0C1530"/>
          </a:solidFill>
          <a:ln w="9525">
            <a:solidFill>
              <a:srgbClr val="24325C"/>
            </a:solidFill>
          </a:ln>
        </p:spPr>
        <p:txBody>
          <a:bodyPr wrap="square" lIns="1778" tIns="1778" rIns="1778" bIns="1778" rtlCol="0" anchor="ctr"/>
          <a:lstStyle/>
          <a:p>
            <a:pPr algn="ctr" indent="0" marL="0">
              <a:buNone/>
            </a:pPr>
            <a:r>
              <a:rPr lang="en-US" sz="1500" b="1" i="1" dirty="0">
                <a:solidFill>
                  <a:srgbClr val="4F74F0"/>
                </a:solidFill>
                <a:latin typeface="Arial" pitchFamily="34" charset="0"/>
                <a:ea typeface="Arial" pitchFamily="34" charset="-122"/>
                <a:cs typeface="Arial" pitchFamily="34" charset="-120"/>
              </a:rPr>
              <a:t>Practice exams don’t teach proxy chains. Production does.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1527048" y="1874520"/>
            <a:ext cx="9144000" cy="1143000"/>
          </a:xfrm>
          <a:prstGeom prst="rect">
            <a:avLst/>
          </a:prstGeom>
          <a:noFill/>
          <a:ln/>
        </p:spPr>
        <p:txBody>
          <a:bodyPr wrap="square" lIns="0" tIns="0" rIns="0" bIns="0" rtlCol="0"/>
          <a:lstStyle/>
          <a:p>
            <a:pPr algn="l" indent="0" marL="0">
              <a:buNone/>
            </a:pPr>
            <a:r>
              <a:rPr lang="en-US" sz="3400" b="1" dirty="0">
                <a:solidFill>
                  <a:srgbClr val="E8EEFC"/>
                </a:solidFill>
                <a:latin typeface="Arial" pitchFamily="34" charset="0"/>
                <a:ea typeface="Arial" pitchFamily="34" charset="-122"/>
                <a:cs typeface="Arial" pitchFamily="34" charset="-120"/>
              </a:rPr>
              <a:t>Three things worth stealing</a:t>
            </a:r>
            <a:endParaRPr lang="en-US" sz="3400" dirty="0"/>
          </a:p>
        </p:txBody>
      </p:sp>
      <p:sp>
        <p:nvSpPr>
          <p:cNvPr id="3" name="Text 1"/>
          <p:cNvSpPr/>
          <p:nvPr/>
        </p:nvSpPr>
        <p:spPr>
          <a:xfrm>
            <a:off x="1527048" y="3063240"/>
            <a:ext cx="6675120" cy="777240"/>
          </a:xfrm>
          <a:prstGeom prst="roundRect">
            <a:avLst>
              <a:gd name="adj" fmla="val 10588"/>
            </a:avLst>
          </a:prstGeom>
          <a:solidFill>
            <a:srgbClr val="101A38"/>
          </a:solidFill>
          <a:ln w="9525">
            <a:solidFill>
              <a:srgbClr val="24325C"/>
            </a:solidFill>
          </a:ln>
        </p:spPr>
        <p:txBody>
          <a:bodyPr wrap="square" lIns="1778" tIns="1778" rIns="1778" bIns="1778" rtlCol="0" anchor="ctr"/>
          <a:lstStyle/>
          <a:p>
            <a:pPr algn="l" indent="0" marL="0">
              <a:buNone/>
            </a:pPr>
            <a:r>
              <a:rPr lang="en-US" sz="1600" b="1" dirty="0">
                <a:solidFill>
                  <a:srgbClr val="E8EEFC"/>
                </a:solidFill>
                <a:latin typeface="Arial" pitchFamily="34" charset="0"/>
                <a:ea typeface="Arial" pitchFamily="34" charset="-122"/>
                <a:cs typeface="Arial" pitchFamily="34" charset="-120"/>
              </a:rPr>
              <a:t>★ Write the spec before the prompt  —  </a:t>
            </a:r>
            <a:pPr algn="l" indent="0" marL="0">
              <a:buNone/>
            </a:pPr>
            <a:r>
              <a:rPr lang="en-US" sz="1400" dirty="0">
                <a:solidFill>
                  <a:srgbClr val="9DB0D9"/>
                </a:solidFill>
                <a:latin typeface="Arial" pitchFamily="34" charset="0"/>
                <a:ea typeface="Arial" pitchFamily="34" charset="-122"/>
                <a:cs typeface="Arial" pitchFamily="34" charset="-120"/>
              </a:rPr>
              <a:t>the discipline, not the model, is what made this work</a:t>
            </a:r>
            <a:endParaRPr lang="en-US" sz="1400" dirty="0"/>
          </a:p>
        </p:txBody>
      </p:sp>
      <p:sp>
        <p:nvSpPr>
          <p:cNvPr id="4" name="Text 2"/>
          <p:cNvSpPr/>
          <p:nvPr/>
        </p:nvSpPr>
        <p:spPr>
          <a:xfrm>
            <a:off x="1527048" y="3977640"/>
            <a:ext cx="6675120" cy="777240"/>
          </a:xfrm>
          <a:prstGeom prst="roundRect">
            <a:avLst>
              <a:gd name="adj" fmla="val 10588"/>
            </a:avLst>
          </a:prstGeom>
          <a:solidFill>
            <a:srgbClr val="101A38"/>
          </a:solidFill>
          <a:ln w="9525">
            <a:solidFill>
              <a:srgbClr val="24325C"/>
            </a:solidFill>
          </a:ln>
        </p:spPr>
        <p:txBody>
          <a:bodyPr wrap="square" lIns="1778" tIns="1778" rIns="1778" bIns="1778" rtlCol="0" anchor="ctr"/>
          <a:lstStyle/>
          <a:p>
            <a:pPr algn="l" indent="0" marL="0">
              <a:buNone/>
            </a:pPr>
            <a:r>
              <a:rPr lang="en-US" sz="1600" b="1" dirty="0">
                <a:solidFill>
                  <a:srgbClr val="E8EEFC"/>
                </a:solidFill>
                <a:latin typeface="Arial" pitchFamily="34" charset="0"/>
                <a:ea typeface="Arial" pitchFamily="34" charset="-122"/>
                <a:cs typeface="Arial" pitchFamily="34" charset="-120"/>
              </a:rPr>
              <a:t>★ Publish what your model gets wrong  —  </a:t>
            </a:r>
            <a:pPr algn="l" indent="0" marL="0">
              <a:buNone/>
            </a:pPr>
            <a:r>
              <a:rPr lang="en-US" sz="1400" dirty="0">
                <a:solidFill>
                  <a:srgbClr val="9DB0D9"/>
                </a:solidFill>
                <a:latin typeface="Arial" pitchFamily="34" charset="0"/>
                <a:ea typeface="Arial" pitchFamily="34" charset="-122"/>
                <a:cs typeface="Arial" pitchFamily="34" charset="-120"/>
              </a:rPr>
              <a:t>the awkward numbers bought more trust than the good ones</a:t>
            </a:r>
            <a:endParaRPr lang="en-US" sz="1400" dirty="0"/>
          </a:p>
        </p:txBody>
      </p:sp>
      <p:sp>
        <p:nvSpPr>
          <p:cNvPr id="5" name="Text 3"/>
          <p:cNvSpPr/>
          <p:nvPr/>
        </p:nvSpPr>
        <p:spPr>
          <a:xfrm>
            <a:off x="1527048" y="4892040"/>
            <a:ext cx="6675120" cy="777240"/>
          </a:xfrm>
          <a:prstGeom prst="roundRect">
            <a:avLst>
              <a:gd name="adj" fmla="val 10588"/>
            </a:avLst>
          </a:prstGeom>
          <a:solidFill>
            <a:srgbClr val="101A38"/>
          </a:solidFill>
          <a:ln w="9525">
            <a:solidFill>
              <a:srgbClr val="24325C"/>
            </a:solidFill>
          </a:ln>
        </p:spPr>
        <p:txBody>
          <a:bodyPr wrap="square" lIns="1778" tIns="1778" rIns="1778" bIns="1778" rtlCol="0" anchor="ctr"/>
          <a:lstStyle/>
          <a:p>
            <a:pPr algn="l" indent="0" marL="0">
              <a:buNone/>
            </a:pPr>
            <a:r>
              <a:rPr lang="en-US" sz="1600" b="1" dirty="0">
                <a:solidFill>
                  <a:srgbClr val="E8EEFC"/>
                </a:solidFill>
                <a:latin typeface="Arial" pitchFamily="34" charset="0"/>
                <a:ea typeface="Arial" pitchFamily="34" charset="-122"/>
                <a:cs typeface="Arial" pitchFamily="34" charset="-120"/>
              </a:rPr>
              <a:t>★ Pick tools that make rigor fun  —  </a:t>
            </a:r>
            <a:pPr algn="l" indent="0" marL="0">
              <a:buNone/>
            </a:pPr>
            <a:r>
              <a:rPr lang="en-US" sz="1400" dirty="0">
                <a:solidFill>
                  <a:srgbClr val="9DB0D9"/>
                </a:solidFill>
                <a:latin typeface="Arial" pitchFamily="34" charset="0"/>
                <a:ea typeface="Arial" pitchFamily="34" charset="-122"/>
                <a:cs typeface="Arial" pitchFamily="34" charset="-120"/>
              </a:rPr>
              <a:t>fun is load-bearing — review you enjoy is review you run</a:t>
            </a:r>
            <a:endParaRPr lang="en-US" sz="1400" dirty="0"/>
          </a:p>
        </p:txBody>
      </p:sp>
      <p:sp>
        <p:nvSpPr>
          <p:cNvPr id="6" name="Text 4"/>
          <p:cNvSpPr/>
          <p:nvPr/>
        </p:nvSpPr>
        <p:spPr>
          <a:xfrm>
            <a:off x="8476488" y="3063240"/>
            <a:ext cx="3108960" cy="2606040"/>
          </a:xfrm>
          <a:prstGeom prst="roundRect">
            <a:avLst>
              <a:gd name="adj" fmla="val 3158"/>
            </a:avLst>
          </a:prstGeom>
          <a:solidFill>
            <a:srgbClr val="0C1530"/>
          </a:solidFill>
          <a:ln w="9525">
            <a:solidFill>
              <a:srgbClr val="24325C"/>
            </a:solidFill>
          </a:ln>
        </p:spPr>
        <p:txBody>
          <a:bodyPr wrap="square" lIns="1778" tIns="1778" rIns="1778" bIns="1778" rtlCol="0" anchor="t"/>
          <a:lstStyle/>
          <a:p>
            <a:pPr algn="l" indent="0" marL="0">
              <a:buNone/>
            </a:pPr>
            <a:r>
              <a:rPr lang="en-US" sz="4000" b="1" dirty="0">
                <a:solidFill>
                  <a:srgbClr val="FFFFFF"/>
                </a:solidFill>
                <a:latin typeface="Courier New" pitchFamily="34" charset="0"/>
                <a:ea typeface="Courier New" pitchFamily="34" charset="-122"/>
                <a:cs typeface="Courier New" pitchFamily="34" charset="-120"/>
              </a:rPr>
              <a:t>2034</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I re-run the back-test on the 2024–34 decade and publish how my ratings aged.</a:t>
            </a:r>
            <a:endParaRPr lang="en-US" sz="1400" dirty="0"/>
          </a:p>
          <a:p>
            <a:pPr algn="l" indent="0" marL="0">
              <a:buNone/>
            </a:pPr>
            <a:r>
              <a:rPr lang="en-US" sz="1400" b="1" i="1" dirty="0">
                <a:solidFill>
                  <a:srgbClr val="34D399"/>
                </a:solidFill>
                <a:latin typeface="Arial" pitchFamily="34" charset="0"/>
                <a:ea typeface="Arial" pitchFamily="34" charset="-122"/>
                <a:cs typeface="Arial" pitchFamily="34" charset="-120"/>
              </a:rPr>
              <a:t>Ratings agencies should eat their own cooking.</a:t>
            </a:r>
            <a:endParaRPr lang="en-US" sz="1400" dirty="0"/>
          </a:p>
        </p:txBody>
      </p:sp>
      <p:sp>
        <p:nvSpPr>
          <p:cNvPr id="7" name="Text 5"/>
          <p:cNvSpPr/>
          <p:nvPr/>
        </p:nvSpPr>
        <p:spPr>
          <a:xfrm>
            <a:off x="1527048" y="5989320"/>
            <a:ext cx="9144000" cy="502920"/>
          </a:xfrm>
          <a:prstGeom prst="roundRect">
            <a:avLst>
              <a:gd name="adj" fmla="val 16364"/>
            </a:avLst>
          </a:prstGeom>
          <a:solidFill>
            <a:srgbClr val="0C1530"/>
          </a:solidFill>
          <a:ln w="6350">
            <a:solidFill>
              <a:srgbClr val="24325C"/>
            </a:solidFill>
          </a:ln>
        </p:spPr>
        <p:txBody>
          <a:bodyPr wrap="square" lIns="0" tIns="0" rIns="0" bIns="0" rtlCol="0" anchor="ctr"/>
          <a:lstStyle/>
          <a:p>
            <a:pPr algn="ctr" indent="0" marL="0">
              <a:buNone/>
            </a:pPr>
            <a:r>
              <a:rPr lang="en-US" sz="1400" dirty="0">
                <a:solidFill>
                  <a:srgbClr val="E8EEFC"/>
                </a:solidFill>
                <a:latin typeface="Arial" pitchFamily="34" charset="0"/>
                <a:ea typeface="Arial" pitchFamily="34" charset="-122"/>
                <a:cs typeface="Arial" pitchFamily="34" charset="-120"/>
              </a:rPr>
              <a:t>Thanks — questions?   ·   ashleylibasci.com   ·   github.com/ashleylibasci/careerstar</a:t>
            </a:r>
            <a:endParaRPr lang="en-US" sz="1400" dirty="0"/>
          </a:p>
        </p:txBody>
      </p:sp>
      <p:sp>
        <p:nvSpPr>
          <p:cNvPr id="9" name="Text 0"/>
          <p:cNvSpPr/>
          <p:nvPr>
            <p:ph idx="101" type="body" hasCustomPrompt="1"/>
          </p:nvPr>
        </p:nvSpPr>
        <p:spPr>
          <a:xfrm>
            <a:off x="1527048" y="3063240"/>
            <a:ext cx="9144000" cy="548640"/>
          </a:xfrm>
          <a:prstGeom prst="rect">
            <a:avLst/>
          </a:prstGeom>
          <a:noFill/>
          <a:ln/>
        </p:spPr>
        <p:txBody>
          <a:bodyPr wrap="square" lIns="0" tIns="0" rIns="0" bIns="0" rtlCol="0"/>
          <a:lstStyle/>
          <a:p>
            <a:pPr indent="0" marL="0">
              <a:buNone/>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BACKUP · Q&amp;A</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2600" b="1" dirty="0">
                <a:solidFill>
                  <a:srgbClr val="E8EEFC"/>
                </a:solidFill>
                <a:latin typeface="Arial" pitchFamily="34" charset="0"/>
                <a:ea typeface="Arial" pitchFamily="34" charset="-122"/>
                <a:cs typeface="Arial" pitchFamily="34" charset="-120"/>
              </a:rPr>
              <a:t>Weights, stars, and robustness</a:t>
            </a:r>
            <a:endParaRPr lang="en-US" sz="2600" dirty="0"/>
          </a:p>
        </p:txBody>
      </p:sp>
      <p:sp>
        <p:nvSpPr>
          <p:cNvPr id="5" name="Text 2"/>
          <p:cNvSpPr/>
          <p:nvPr/>
        </p:nvSpPr>
        <p:spPr>
          <a:xfrm>
            <a:off x="548640" y="1828800"/>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“Why 0.7 and not 0.6?”</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Because I had to pick something and there’s nothing to fit on. So I say “prior” out loud and stress-test instead: 729 perturbations, five rival models, close calls labeled.</a:t>
            </a:r>
            <a:endParaRPr lang="en-US" sz="1400" dirty="0"/>
          </a:p>
        </p:txBody>
      </p:sp>
      <p:sp>
        <p:nvSpPr>
          <p:cNvPr id="6" name="Text 3"/>
          <p:cNvSpPr/>
          <p:nvPr/>
        </p:nvSpPr>
        <p:spPr>
          <a:xfrm>
            <a:off x="548640" y="3346704"/>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“How do the stars work?”</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Forced relative curve, straight from Morningstar: top 10% get 5 stars, next 22.5% get 4, and so on — recomputed live under the user’s own weights.</a:t>
            </a:r>
            <a:endParaRPr lang="en-US" sz="1400" dirty="0"/>
          </a:p>
        </p:txBody>
      </p:sp>
      <p:sp>
        <p:nvSpPr>
          <p:cNvPr id="7" name="Text 4"/>
          <p:cNvSpPr/>
          <p:nvPr/>
        </p:nvSpPr>
        <p:spPr>
          <a:xfrm>
            <a:off x="548640" y="4864608"/>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“Isn’t AI exposure just decline by another name?”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No. Across all 730, exposure and projected growth are nearly uncorrelated. Exposure knows something growth doesn’t.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BACKUP · Q&amp;A</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2600" b="1" dirty="0">
                <a:solidFill>
                  <a:srgbClr val="E8EEFC"/>
                </a:solidFill>
                <a:latin typeface="Arial" pitchFamily="34" charset="0"/>
                <a:ea typeface="Arial" pitchFamily="34" charset="-122"/>
                <a:cs typeface="Arial" pitchFamily="34" charset="-120"/>
              </a:rPr>
              <a:t>Back-test details</a:t>
            </a:r>
            <a:endParaRPr lang="en-US" sz="2600" dirty="0"/>
          </a:p>
        </p:txBody>
      </p:sp>
      <p:sp>
        <p:nvSpPr>
          <p:cNvPr id="5" name="Text 2"/>
          <p:cNvSpPr/>
          <p:nvPr/>
        </p:nvSpPr>
        <p:spPr>
          <a:xfrm>
            <a:off x="548640" y="1828800"/>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“Where did 2014 wages come from?”</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The archived table has no 2015 wages, so pay percentiles use today’s ranking as a proxy — pay order barely moves. A growth-only variant shows the proxy changes almost nothing. Disclosed.</a:t>
            </a:r>
            <a:endParaRPr lang="en-US" sz="1400" dirty="0"/>
          </a:p>
        </p:txBody>
      </p:sp>
      <p:sp>
        <p:nvSpPr>
          <p:cNvPr id="6" name="Text 3"/>
          <p:cNvSpPr/>
          <p:nvPr/>
        </p:nvSpPr>
        <p:spPr>
          <a:xfrm>
            <a:off x="548640" y="3346704"/>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“Biggest misses?”</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It liked oil-and-gas jobs in 2014; oil crashed. It underrated couriers; e-commerce boomed. Both named on the site, raw data downloadable.</a:t>
            </a:r>
            <a:endParaRPr lang="en-US" sz="1400" dirty="0"/>
          </a:p>
        </p:txBody>
      </p:sp>
      <p:sp>
        <p:nvSpPr>
          <p:cNvPr id="7" name="Text 4"/>
          <p:cNvSpPr/>
          <p:nvPr/>
        </p:nvSpPr>
        <p:spPr>
          <a:xfrm>
            <a:off x="548640" y="4864608"/>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“Survivorship?”</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SOC-2010 joined to SOC-2018 on matching codes; reorganized occupations drop out and the counts are published — 647 joined.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BACKUP · Q&amp;A</a:t>
            </a:r>
            <a:endParaRPr lang="en-US" sz="1400" dirty="0"/>
          </a:p>
        </p:txBody>
      </p:sp>
      <p:sp>
        <p:nvSpPr>
          <p:cNvPr id="4" name="Text 0"/>
          <p:cNvSpPr/>
          <p:nvPr>
            <p:ph idx="101" type="title" hasCustomPrompt="1"/>
          </p:nvPr>
        </p:nvSpPr>
        <p:spPr>
          <a:xfrm>
            <a:off x="548640" y="777240"/>
            <a:ext cx="11091672" cy="914400"/>
          </a:xfrm>
          <a:prstGeom prst="rect">
            <a:avLst/>
          </a:prstGeom>
          <a:noFill/>
          <a:ln/>
        </p:spPr>
        <p:txBody>
          <a:bodyPr wrap="square" lIns="0" tIns="0" rIns="0" bIns="0" rtlCol="0"/>
          <a:lstStyle/>
          <a:p>
            <a:pPr indent="0" marL="0">
              <a:buNone/>
            </a:pPr>
            <a:r>
              <a:rPr lang="en-US" sz="2600" b="1" dirty="0">
                <a:solidFill>
                  <a:srgbClr val="E8EEFC"/>
                </a:solidFill>
                <a:latin typeface="Arial" pitchFamily="34" charset="0"/>
                <a:ea typeface="Arial" pitchFamily="34" charset="-122"/>
                <a:cs typeface="Arial" pitchFamily="34" charset="-120"/>
              </a:rPr>
              <a:t>Stack, and the Anthropic connection</a:t>
            </a:r>
            <a:endParaRPr lang="en-US" sz="2600" dirty="0"/>
          </a:p>
        </p:txBody>
      </p:sp>
      <p:sp>
        <p:nvSpPr>
          <p:cNvPr id="5" name="Text 2"/>
          <p:cNvSpPr/>
          <p:nvPr/>
        </p:nvSpPr>
        <p:spPr>
          <a:xfrm>
            <a:off x="548640" y="1828800"/>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“Stack?”</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Next.js 16, React 19, TypeScript, Tailwind 4, AWS Amplify. ~35 unit tests on the scoring library, pipeline scripts rebuilding every dataset from source, open CSV and code on GitHub.</a:t>
            </a:r>
            <a:endParaRPr lang="en-US" sz="1400" dirty="0"/>
          </a:p>
        </p:txBody>
      </p:sp>
      <p:sp>
        <p:nvSpPr>
          <p:cNvPr id="6" name="Text 3"/>
          <p:cNvSpPr/>
          <p:nvPr/>
        </p:nvSpPr>
        <p:spPr>
          <a:xfrm>
            <a:off x="548640" y="3346704"/>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“What did the AI get wrong?”</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Plenty — that’s what the review cast is for. Best one: the fit overclaim. Caught in review, rebuilt properly, published as the case study centerpiece.</a:t>
            </a:r>
            <a:endParaRPr lang="en-US" sz="1400" dirty="0"/>
          </a:p>
        </p:txBody>
      </p:sp>
      <p:sp>
        <p:nvSpPr>
          <p:cNvPr id="7" name="Text 4"/>
          <p:cNvSpPr/>
          <p:nvPr/>
        </p:nvSpPr>
        <p:spPr>
          <a:xfrm>
            <a:off x="548640" y="4864608"/>
            <a:ext cx="11091672" cy="1371600"/>
          </a:xfrm>
          <a:prstGeom prst="roundRect">
            <a:avLst>
              <a:gd name="adj" fmla="val 6000"/>
            </a:avLst>
          </a:prstGeom>
          <a:solidFill>
            <a:srgbClr val="0C1530"/>
          </a:solidFill>
          <a:ln w="9525">
            <a:solidFill>
              <a:srgbClr val="24325C"/>
            </a:solidFill>
          </a:ln>
        </p:spPr>
        <p:txBody>
          <a:bodyPr wrap="square" lIns="1778" tIns="1778" rIns="1778" bIns="1778"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“Anthropic’s labor research?”</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Same upstream dataset (Eloundou 2023). Their 2026 work layered real usage on it: 97% of observed use inside tasks rated feasible — independent validation of my exposure input.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CareerStar — Rate career paths like stocks</dc:title>
  <dc:subject>PptxGenJS Presentation</dc:subject>
  <dc:creator>Ashley Libasci</dc:creator>
  <cp:lastModifiedBy>Ashley Libasci</cp:lastModifiedBy>
  <cp:revision>1</cp:revision>
  <dcterms:created xsi:type="dcterms:W3CDTF">2026-08-03T22:28:04Z</dcterms:created>
  <dcterms:modified xsi:type="dcterms:W3CDTF">2026-08-03T22:28:04Z</dcterms:modified>
</cp:coreProperties>
</file>