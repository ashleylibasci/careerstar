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Ashley. This summer I built a ratings agency for careers. The site's fine. But the part I actually want to show you is how it got built, because I think the workflow is more interesting than the product. Quick tour of the thing, then the build. (0:45)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 seconds so the rest makes sense. Every U.S. occupation gets a 0-100 score, same shape as a risk-adjusted return. Stars are a forced curve. Moats are Morningstar's idea pointed at AI. And you can swap the scoring model live, which is my favorite feature. That's the product. Now the actual talk.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people hear 'AI wrote most of my code' they picture vibe coding: prompt, paste, pray. This is the other school, and it has a name: spec-driven development. You write the contract first, then the AI codes against it. BMAD is the open-source framework I used. First time. It completely converted me, and the next two slides are why.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PM agent just keeps asking why. My fluffy answers died in that interview and the PRD that came out was better than anything I'd have written alone. The architect locked seven invariants up front, and the big one was: the LLM never computes a number. Every story shipped with acceptance criteria, so 'done' actually meant something. That structure is the whole difference. (2:00)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that hooked me. Reviews aren't one agreeable AI saying 'great job.' They're personas with opposite priorities fighting it out. Best catch: my own methodology page overclaimed how fit worked. A reviewer caught it, I rebuilt it right, and then I published the story of the catch — that's now the strongest section of my case study. And honestly, it's fun. Fun is load-bearing. Review you enjoy is review you actually run.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not going to pretend AI didn't type most of this — that's the point. The difference between the two columns isn't the tool. It's whether a spec exists before the prompt, tests after it, an adversarial pass before shipping, and a human who can defend every decision at the end.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this room the equations mostly explain themselves. Percentile ranks because the real question is 'versus my alternatives.' Risk discounts multiplicatively, same as you'd treat a return. And the weights are priors — no ground truth exists to fit them on — so instead of pretending precision, every ranking gets stress-tested: 729 perturbations, five structurally different models, and a 1/N control, because if the clever model can't beat equal weights, that's worth knowing.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here. I pulled the 2014 BLS projections out of the Internet Archive, scored 2014's job market with today's formula, and graded it against what actually happened by 2024. It works — decliners flagged at 48% versus 33% by chance. Then I volunteer the awkward number before anyone asks: plain BLS beat my full model on that decade. And that's the model working. No LLMs existed, so the AI term had nothing to price. The test stays held out. Tune to it and it stops being a test.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Deployment: push to main, Amplify builds the Next.js app, CloudFront serves it from the edge, Route 53 holds the domain. I'm studying for Cloud Practitioner right now, and this is where the flashcard concepts became real things I'd debugged: managed services, edge caching, shared responsibility. Speaking of shared responsibility — the next slide is my favorite bug of the whole summer.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favorite bug. I did the textbook thing — trust the last X-Forwarded-For hop, since clients can forge everything to its left. Then production: thirty rapid requests, zero rate limits. Amplify's internal router was appending CloudFront's own edge IP after the real client IP. So the last hop was never the client. It was Amazon. Fix: second-to-last hop, a global backstop, and a regression test pinning the exact header shapes. Forty seconds of story, a semester of networking.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worth stealing: write the spec before the prompt. Publish what your model gets wrong — the awkward numbers bought me more trust than the good ones. And pick tools that make rigor fun, because fun is load-bearing. Last thing: the model claims its AI term is a bet about the next decade, so in 2034 I re-run the back-test and publish how my ratings aged. Ratings agencies should eat their own cooking. Thanks. (0:45)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5769864" y="1389888"/>
            <a:ext cx="621792" cy="649224"/>
          </a:xfrm>
          <a:prstGeom prst="rect">
            <a:avLst/>
          </a:prstGeom>
        </p:spPr>
      </p:pic>
      <p:sp>
        <p:nvSpPr>
          <p:cNvPr id="3" name="Text 0"/>
          <p:cNvSpPr/>
          <p:nvPr/>
        </p:nvSpPr>
        <p:spPr>
          <a:xfrm>
            <a:off x="2441448" y="1920240"/>
            <a:ext cx="7315200" cy="1051560"/>
          </a:xfrm>
          <a:prstGeom prst="rect">
            <a:avLst/>
          </a:prstGeom>
          <a:noFill/>
          <a:ln/>
        </p:spPr>
        <p:txBody>
          <a:bodyPr wrap="square" lIns="0" tIns="0" rIns="0" bIns="0" rtlCol="0" anchor="ctr"/>
          <a:lstStyle/>
          <a:p>
            <a:pPr algn="ctr" indent="0" marL="0">
              <a:buNone/>
            </a:pPr>
            <a:r>
              <a:rPr lang="en-US" sz="6000" b="1" dirty="0">
                <a:solidFill>
                  <a:srgbClr val="FFFFFF"/>
                </a:solidFill>
                <a:latin typeface="Arial" pitchFamily="34" charset="0"/>
                <a:ea typeface="Arial" pitchFamily="34" charset="-122"/>
                <a:cs typeface="Arial" pitchFamily="34" charset="-120"/>
              </a:rPr>
              <a:t>Career</a:t>
            </a:r>
            <a:pPr algn="ctr" indent="0" marL="0">
              <a:buNone/>
            </a:pPr>
            <a:r>
              <a:rPr lang="en-US" sz="6000" b="1" dirty="0">
                <a:solidFill>
                  <a:srgbClr val="4F74F0"/>
                </a:solidFill>
                <a:latin typeface="Arial" pitchFamily="34" charset="0"/>
                <a:ea typeface="Arial" pitchFamily="34" charset="-122"/>
                <a:cs typeface="Arial" pitchFamily="34" charset="-120"/>
              </a:rPr>
              <a:t>Star</a:t>
            </a:r>
            <a:endParaRPr lang="en-US" sz="6000" dirty="0"/>
          </a:p>
        </p:txBody>
      </p:sp>
      <p:sp>
        <p:nvSpPr>
          <p:cNvPr id="4" name="Text 1"/>
          <p:cNvSpPr/>
          <p:nvPr/>
        </p:nvSpPr>
        <p:spPr>
          <a:xfrm>
            <a:off x="2441448" y="3017520"/>
            <a:ext cx="7315200" cy="548640"/>
          </a:xfrm>
          <a:prstGeom prst="rect">
            <a:avLst/>
          </a:prstGeom>
          <a:noFill/>
          <a:ln/>
        </p:spPr>
        <p:txBody>
          <a:bodyPr wrap="square" lIns="0" tIns="0" rIns="0" bIns="0" rtlCol="0" anchor="ctr"/>
          <a:lstStyle/>
          <a:p>
            <a:pPr algn="ctr" indent="0" marL="0">
              <a:buNone/>
            </a:pPr>
            <a:r>
              <a:rPr lang="en-US" sz="2000" dirty="0">
                <a:solidFill>
                  <a:srgbClr val="9DB0D9"/>
                </a:solidFill>
                <a:latin typeface="Arial" pitchFamily="34" charset="0"/>
                <a:ea typeface="Arial" pitchFamily="34" charset="-122"/>
                <a:cs typeface="Arial" pitchFamily="34" charset="-120"/>
              </a:rPr>
              <a:t>How I spec-built a ratings agency with a team of AI agents.</a:t>
            </a:r>
            <a:endParaRPr lang="en-US" sz="2000" dirty="0"/>
          </a:p>
        </p:txBody>
      </p:sp>
      <p:sp>
        <p:nvSpPr>
          <p:cNvPr id="5" name="Text 2"/>
          <p:cNvSpPr/>
          <p:nvPr/>
        </p:nvSpPr>
        <p:spPr>
          <a:xfrm>
            <a:off x="2441448" y="5120640"/>
            <a:ext cx="7315200" cy="365760"/>
          </a:xfrm>
          <a:prstGeom prst="rect">
            <a:avLst/>
          </a:prstGeom>
          <a:noFill/>
          <a:ln/>
        </p:spPr>
        <p:txBody>
          <a:bodyPr wrap="square" lIns="0" tIns="0" rIns="0" bIns="0" rtlCol="0" anchor="ctr"/>
          <a:lstStyle/>
          <a:p>
            <a:pPr algn="ctr" indent="0" marL="0">
              <a:buNone/>
            </a:pPr>
            <a:r>
              <a:rPr lang="en-US" sz="1400" dirty="0">
                <a:solidFill>
                  <a:srgbClr val="E8EEFC"/>
                </a:solidFill>
                <a:latin typeface="Arial" pitchFamily="34" charset="0"/>
                <a:ea typeface="Arial" pitchFamily="34" charset="-122"/>
                <a:cs typeface="Arial" pitchFamily="34" charset="-120"/>
              </a:rPr>
              <a:t>Ashley Libasci  ·  Math + CS, UIUC ’27  ·  ashleylibasci.com</a:t>
            </a:r>
            <a:endParaRPr lang="en-US" sz="1400" dirty="0"/>
          </a:p>
        </p:txBody>
      </p:sp>
      <p:sp>
        <p:nvSpPr>
          <p:cNvPr id="6" name="Text 3"/>
          <p:cNvSpPr/>
          <p:nvPr/>
        </p:nvSpPr>
        <p:spPr>
          <a:xfrm>
            <a:off x="2441448" y="5532120"/>
            <a:ext cx="7315200" cy="320040"/>
          </a:xfrm>
          <a:prstGeom prst="rect">
            <a:avLst/>
          </a:prstGeom>
          <a:noFill/>
          <a:ln/>
        </p:spPr>
        <p:txBody>
          <a:bodyPr wrap="square" lIns="0" tIns="0" rIns="0" bIns="0" rtlCol="0" anchor="ctr"/>
          <a:lstStyle/>
          <a:p>
            <a:pPr algn="ctr" indent="0" marL="0">
              <a:buNone/>
            </a:pPr>
            <a:r>
              <a:rPr lang="en-US" sz="1200" dirty="0">
                <a:solidFill>
                  <a:srgbClr val="5E6F9E"/>
                </a:solidFill>
                <a:latin typeface="Arial" pitchFamily="34" charset="0"/>
                <a:ea typeface="Arial" pitchFamily="34" charset="-122"/>
                <a:cs typeface="Arial" pitchFamily="34" charset="-120"/>
              </a:rPr>
              <a:t>Capital One · August 6,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548640" y="402336"/>
            <a:ext cx="155448" cy="164592"/>
          </a:xfrm>
          <a:prstGeom prst="rect">
            <a:avLst/>
          </a:prstGeom>
        </p:spPr>
      </p:pic>
      <p:sp>
        <p:nvSpPr>
          <p:cNvPr id="3" name="Text 0"/>
          <p:cNvSpPr/>
          <p:nvPr/>
        </p:nvSpPr>
        <p:spPr>
          <a:xfrm>
            <a:off x="786384" y="384048"/>
            <a:ext cx="7315200" cy="274320"/>
          </a:xfrm>
          <a:prstGeom prst="rect">
            <a:avLst/>
          </a:prstGeom>
          <a:noFill/>
          <a:ln/>
        </p:spPr>
        <p:txBody>
          <a:bodyPr wrap="square" lIns="0" tIns="0" rIns="0" bIns="0" rtlCol="0" anchor="ctr"/>
          <a:lstStyle/>
          <a:p>
            <a:pPr indent="0" marL="0">
              <a:buNone/>
            </a:pPr>
            <a:r>
              <a:rPr lang="en-US" sz="1100" b="1" spc="300" kern="0" dirty="0">
                <a:solidFill>
                  <a:srgbClr val="4F74F0"/>
                </a:solidFill>
                <a:latin typeface="Arial" pitchFamily="34" charset="0"/>
                <a:ea typeface="Arial" pitchFamily="34" charset="-122"/>
                <a:cs typeface="Arial" pitchFamily="34" charset="-120"/>
              </a:rPr>
              <a:t>01 · THE THING ITSELF</a:t>
            </a:r>
            <a:endParaRPr lang="en-US" sz="1100" dirty="0"/>
          </a:p>
        </p:txBody>
      </p:sp>
      <p:sp>
        <p:nvSpPr>
          <p:cNvPr id="4" name="Text 1"/>
          <p:cNvSpPr/>
          <p:nvPr/>
        </p:nvSpPr>
        <p:spPr>
          <a:xfrm>
            <a:off x="548640" y="658368"/>
            <a:ext cx="11094415" cy="685800"/>
          </a:xfrm>
          <a:prstGeom prst="rect">
            <a:avLst/>
          </a:prstGeom>
          <a:noFill/>
          <a:ln/>
        </p:spPr>
        <p:txBody>
          <a:bodyPr wrap="square" lIns="0" tIns="0" rIns="0" bIns="0" rtlCol="0" anchor="ctr"/>
          <a:lstStyle/>
          <a:p>
            <a:pPr indent="0" marL="0">
              <a:buNone/>
            </a:pPr>
            <a:r>
              <a:rPr lang="en-US" sz="3100" b="1" dirty="0">
                <a:solidFill>
                  <a:srgbClr val="E8EEFC"/>
                </a:solidFill>
                <a:latin typeface="Arial" pitchFamily="34" charset="0"/>
                <a:ea typeface="Arial" pitchFamily="34" charset="-122"/>
                <a:cs typeface="Arial" pitchFamily="34" charset="-120"/>
              </a:rPr>
              <a:t>CareerStar rates careers the way you rate assets</a:t>
            </a:r>
            <a:endParaRPr lang="en-US" sz="3100" dirty="0"/>
          </a:p>
        </p:txBody>
      </p:sp>
      <p:sp>
        <p:nvSpPr>
          <p:cNvPr id="5" name="Shape 2"/>
          <p:cNvSpPr/>
          <p:nvPr/>
        </p:nvSpPr>
        <p:spPr>
          <a:xfrm>
            <a:off x="548640" y="1645920"/>
            <a:ext cx="5120640" cy="2880360"/>
          </a:xfrm>
          <a:prstGeom prst="roundRect">
            <a:avLst>
              <a:gd name="adj" fmla="val 2857"/>
            </a:avLst>
          </a:prstGeom>
          <a:solidFill>
            <a:srgbClr val="101A38"/>
          </a:solidFill>
          <a:ln w="9525">
            <a:solidFill>
              <a:srgbClr val="24325C"/>
            </a:solidFill>
            <a:prstDash val="solid"/>
          </a:ln>
        </p:spPr>
      </p:sp>
      <p:sp>
        <p:nvSpPr>
          <p:cNvPr id="6" name="Text 3"/>
          <p:cNvSpPr/>
          <p:nvPr/>
        </p:nvSpPr>
        <p:spPr>
          <a:xfrm>
            <a:off x="822960" y="1828800"/>
            <a:ext cx="1463040" cy="256032"/>
          </a:xfrm>
          <a:prstGeom prst="rect">
            <a:avLst/>
          </a:prstGeom>
          <a:solidFill>
            <a:srgbClr val="1D4ED8"/>
          </a:solid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 BEST BET</a:t>
            </a:r>
            <a:endParaRPr lang="en-US" sz="900" dirty="0"/>
          </a:p>
        </p:txBody>
      </p:sp>
      <p:sp>
        <p:nvSpPr>
          <p:cNvPr id="7" name="Text 4"/>
          <p:cNvSpPr/>
          <p:nvPr/>
        </p:nvSpPr>
        <p:spPr>
          <a:xfrm>
            <a:off x="822960" y="2176272"/>
            <a:ext cx="3291840" cy="365760"/>
          </a:xfrm>
          <a:prstGeom prst="rect">
            <a:avLst/>
          </a:prstGeom>
          <a:noFill/>
          <a:ln/>
        </p:spPr>
        <p:txBody>
          <a:bodyPr wrap="square" lIns="0" tIns="0" rIns="0" bIns="0" rtlCol="0" anchor="ctr"/>
          <a:lstStyle/>
          <a:p>
            <a:pPr indent="0" marL="0">
              <a:buNone/>
            </a:pPr>
            <a:r>
              <a:rPr lang="en-US" sz="1800" b="1" dirty="0">
                <a:solidFill>
                  <a:srgbClr val="E8EEFC"/>
                </a:solidFill>
                <a:latin typeface="Arial" pitchFamily="34" charset="0"/>
                <a:ea typeface="Arial" pitchFamily="34" charset="-122"/>
                <a:cs typeface="Arial" pitchFamily="34" charset="-120"/>
              </a:rPr>
              <a:t>Registered nurses</a:t>
            </a:r>
            <a:endParaRPr lang="en-US" sz="1800" dirty="0"/>
          </a:p>
        </p:txBody>
      </p:sp>
      <p:sp>
        <p:nvSpPr>
          <p:cNvPr id="8" name="Text 5"/>
          <p:cNvSpPr/>
          <p:nvPr/>
        </p:nvSpPr>
        <p:spPr>
          <a:xfrm>
            <a:off x="822960" y="2569464"/>
            <a:ext cx="3291840" cy="274320"/>
          </a:xfrm>
          <a:prstGeom prst="rect">
            <a:avLst/>
          </a:prstGeom>
          <a:noFill/>
          <a:ln/>
        </p:spPr>
        <p:txBody>
          <a:bodyPr wrap="square" lIns="0" tIns="0" rIns="0" bIns="0" rtlCol="0" anchor="ctr"/>
          <a:lstStyle/>
          <a:p>
            <a:pPr indent="0" marL="0">
              <a:buNone/>
            </a:pPr>
            <a:r>
              <a:rPr lang="en-US" sz="1100" dirty="0">
                <a:solidFill>
                  <a:srgbClr val="34D399"/>
                </a:solidFill>
                <a:latin typeface="Arial" pitchFamily="34" charset="0"/>
                <a:ea typeface="Arial" pitchFamily="34" charset="-122"/>
                <a:cs typeface="Arial" pitchFamily="34" charset="-120"/>
              </a:rPr>
              <a:t>Top tier · top 10% of careers · 🏰 wide moat</a:t>
            </a:r>
            <a:endParaRPr lang="en-US" sz="1100" dirty="0"/>
          </a:p>
        </p:txBody>
      </p:sp>
      <p:sp>
        <p:nvSpPr>
          <p:cNvPr id="9" name="Text 6"/>
          <p:cNvSpPr/>
          <p:nvPr/>
        </p:nvSpPr>
        <p:spPr>
          <a:xfrm>
            <a:off x="822960" y="2880360"/>
            <a:ext cx="3291840" cy="274320"/>
          </a:xfrm>
          <a:prstGeom prst="rect">
            <a:avLst/>
          </a:prstGeom>
          <a:noFill/>
          <a:ln/>
        </p:spPr>
        <p:txBody>
          <a:bodyPr wrap="square" lIns="0" tIns="0" rIns="0" bIns="0" rtlCol="0" anchor="ctr"/>
          <a:lstStyle/>
          <a:p>
            <a:pPr indent="0" marL="0">
              <a:buNone/>
            </a:pPr>
            <a:r>
              <a:rPr lang="en-US" sz="1100" dirty="0">
                <a:solidFill>
                  <a:srgbClr val="9DB0D9"/>
                </a:solidFill>
                <a:latin typeface="Courier New" pitchFamily="34" charset="0"/>
                <a:ea typeface="Courier New" pitchFamily="34" charset="-122"/>
                <a:cs typeface="Courier New" pitchFamily="34" charset="-120"/>
              </a:rPr>
              <a:t>Return 71 · Resilience 78 · Fit 62</a:t>
            </a:r>
            <a:endParaRPr lang="en-US" sz="1100" dirty="0"/>
          </a:p>
        </p:txBody>
      </p:sp>
      <p:sp>
        <p:nvSpPr>
          <p:cNvPr id="10" name="Text 7"/>
          <p:cNvSpPr/>
          <p:nvPr/>
        </p:nvSpPr>
        <p:spPr>
          <a:xfrm>
            <a:off x="822960" y="3246120"/>
            <a:ext cx="3200400" cy="731520"/>
          </a:xfrm>
          <a:prstGeom prst="rect">
            <a:avLst/>
          </a:prstGeom>
          <a:noFill/>
          <a:ln/>
        </p:spPr>
        <p:txBody>
          <a:bodyPr wrap="square" lIns="0" tIns="0" rIns="0" bIns="0" rtlCol="0" anchor="ctr"/>
          <a:lstStyle/>
          <a:p>
            <a:pPr indent="0" marL="0">
              <a:buNone/>
            </a:pPr>
            <a:r>
              <a:rPr lang="en-US" sz="1050" dirty="0">
                <a:solidFill>
                  <a:srgbClr val="9DB0D9"/>
                </a:solidFill>
                <a:latin typeface="Arial" pitchFamily="34" charset="0"/>
                <a:ea typeface="Arial" pitchFamily="34" charset="-122"/>
                <a:cs typeface="Arial" pitchFamily="34" charset="-120"/>
              </a:rPr>
              <a:t>Bulls: +40% projected growth, wide moat.</a:t>
            </a:r>
            <a:endParaRPr lang="en-US" sz="1050" dirty="0"/>
          </a:p>
          <a:p>
            <a:pPr indent="0" marL="0">
              <a:buNone/>
            </a:pPr>
            <a:r>
              <a:rPr lang="en-US" sz="1050" dirty="0">
                <a:solidFill>
                  <a:srgbClr val="9DB0D9"/>
                </a:solidFill>
                <a:latin typeface="Arial" pitchFamily="34" charset="0"/>
                <a:ea typeface="Arial" pitchFamily="34" charset="-122"/>
                <a:cs typeface="Arial" pitchFamily="34" charset="-120"/>
              </a:rPr>
              <a:t>Bears: pay trails other graduate paths.</a:t>
            </a:r>
            <a:endParaRPr lang="en-US" sz="1050" dirty="0"/>
          </a:p>
        </p:txBody>
      </p:sp>
      <p:pic>
        <p:nvPicPr>
          <p:cNvPr id="11" name="Image 1" descr="preencoded.png">    </p:cNvPr>
          <p:cNvPicPr>
            <a:picLocks noChangeAspect="1"/>
          </p:cNvPicPr>
          <p:nvPr/>
        </p:nvPicPr>
        <p:blipFill>
          <a:blip r:embed="rId3"/>
          <a:stretch>
            <a:fillRect/>
          </a:stretch>
        </p:blipFill>
        <p:spPr>
          <a:xfrm>
            <a:off x="4206240" y="2194560"/>
            <a:ext cx="1188720" cy="1188720"/>
          </a:xfrm>
          <a:prstGeom prst="rect">
            <a:avLst/>
          </a:prstGeom>
        </p:spPr>
      </p:pic>
      <p:sp>
        <p:nvSpPr>
          <p:cNvPr id="12" name="Shape 8"/>
          <p:cNvSpPr/>
          <p:nvPr/>
        </p:nvSpPr>
        <p:spPr>
          <a:xfrm>
            <a:off x="5943600" y="1645920"/>
            <a:ext cx="5696712" cy="877824"/>
          </a:xfrm>
          <a:prstGeom prst="roundRect">
            <a:avLst>
              <a:gd name="adj" fmla="val 9375"/>
            </a:avLst>
          </a:prstGeom>
          <a:solidFill>
            <a:srgbClr val="0C1530"/>
          </a:solidFill>
          <a:ln w="9525">
            <a:solidFill>
              <a:srgbClr val="24325C"/>
            </a:solidFill>
            <a:prstDash val="solid"/>
          </a:ln>
        </p:spPr>
      </p:sp>
      <p:sp>
        <p:nvSpPr>
          <p:cNvPr id="13" name="Text 9"/>
          <p:cNvSpPr/>
          <p:nvPr/>
        </p:nvSpPr>
        <p:spPr>
          <a:xfrm>
            <a:off x="6217920" y="1737360"/>
            <a:ext cx="5212080" cy="320040"/>
          </a:xfrm>
          <a:prstGeom prst="rect">
            <a:avLst/>
          </a:prstGeom>
          <a:noFill/>
          <a:ln/>
        </p:spPr>
        <p:txBody>
          <a:bodyPr wrap="square" lIns="0" tIns="0" rIns="0" bIns="0" rtlCol="0" anchor="ctr"/>
          <a:lstStyle/>
          <a:p>
            <a:pPr indent="0" marL="0">
              <a:buNone/>
            </a:pPr>
            <a:r>
              <a:rPr lang="en-US" sz="1350" b="1" dirty="0">
                <a:solidFill>
                  <a:srgbClr val="E8EEFC"/>
                </a:solidFill>
                <a:latin typeface="Arial" pitchFamily="34" charset="0"/>
                <a:ea typeface="Arial" pitchFamily="34" charset="-122"/>
                <a:cs typeface="Arial" pitchFamily="34" charset="-120"/>
              </a:rPr>
              <a:t>All 730 U.S. occupations</a:t>
            </a:r>
            <a:endParaRPr lang="en-US" sz="1350" dirty="0"/>
          </a:p>
        </p:txBody>
      </p:sp>
      <p:sp>
        <p:nvSpPr>
          <p:cNvPr id="14" name="Text 10"/>
          <p:cNvSpPr/>
          <p:nvPr/>
        </p:nvSpPr>
        <p:spPr>
          <a:xfrm>
            <a:off x="6217920" y="2066544"/>
            <a:ext cx="5212080" cy="402336"/>
          </a:xfrm>
          <a:prstGeom prst="rect">
            <a:avLst/>
          </a:prstGeom>
          <a:noFill/>
          <a:ln/>
        </p:spPr>
        <p:txBody>
          <a:bodyPr wrap="square" lIns="0" tIns="0" rIns="0" bIns="0" rtlCol="0" anchor="ctr"/>
          <a:lstStyle/>
          <a:p>
            <a:pPr indent="0" marL="0">
              <a:buNone/>
            </a:pPr>
            <a:r>
              <a:rPr lang="en-US" sz="1050" dirty="0">
                <a:solidFill>
                  <a:srgbClr val="9DB0D9"/>
                </a:solidFill>
                <a:latin typeface="Arial" pitchFamily="34" charset="0"/>
                <a:ea typeface="Arial" pitchFamily="34" charset="-122"/>
                <a:cs typeface="Arial" pitchFamily="34" charset="-120"/>
              </a:rPr>
              <a:t>one 0–100 risk-adjusted score each: return, discounted by AI risk, blended with fit</a:t>
            </a:r>
            <a:endParaRPr lang="en-US" sz="1050" dirty="0"/>
          </a:p>
        </p:txBody>
      </p:sp>
      <p:sp>
        <p:nvSpPr>
          <p:cNvPr id="15" name="Shape 11"/>
          <p:cNvSpPr/>
          <p:nvPr/>
        </p:nvSpPr>
        <p:spPr>
          <a:xfrm>
            <a:off x="5943600" y="2670048"/>
            <a:ext cx="5696712" cy="877824"/>
          </a:xfrm>
          <a:prstGeom prst="roundRect">
            <a:avLst>
              <a:gd name="adj" fmla="val 9375"/>
            </a:avLst>
          </a:prstGeom>
          <a:solidFill>
            <a:srgbClr val="0C1530"/>
          </a:solidFill>
          <a:ln w="9525">
            <a:solidFill>
              <a:srgbClr val="24325C"/>
            </a:solidFill>
            <a:prstDash val="solid"/>
          </a:ln>
        </p:spPr>
      </p:sp>
      <p:sp>
        <p:nvSpPr>
          <p:cNvPr id="16" name="Text 12"/>
          <p:cNvSpPr/>
          <p:nvPr/>
        </p:nvSpPr>
        <p:spPr>
          <a:xfrm>
            <a:off x="6217920" y="2761488"/>
            <a:ext cx="5212080" cy="320040"/>
          </a:xfrm>
          <a:prstGeom prst="rect">
            <a:avLst/>
          </a:prstGeom>
          <a:noFill/>
          <a:ln/>
        </p:spPr>
        <p:txBody>
          <a:bodyPr wrap="square" lIns="0" tIns="0" rIns="0" bIns="0" rtlCol="0" anchor="ctr"/>
          <a:lstStyle/>
          <a:p>
            <a:pPr indent="0" marL="0">
              <a:buNone/>
            </a:pPr>
            <a:r>
              <a:rPr lang="en-US" sz="1350" b="1" dirty="0">
                <a:solidFill>
                  <a:srgbClr val="E8EEFC"/>
                </a:solidFill>
                <a:latin typeface="Arial" pitchFamily="34" charset="0"/>
                <a:ea typeface="Arial" pitchFamily="34" charset="-122"/>
                <a:cs typeface="Arial" pitchFamily="34" charset="-120"/>
              </a:rPr>
              <a:t>Stars on a forced curve, moats on the side</a:t>
            </a:r>
            <a:endParaRPr lang="en-US" sz="1350" dirty="0"/>
          </a:p>
        </p:txBody>
      </p:sp>
      <p:sp>
        <p:nvSpPr>
          <p:cNvPr id="17" name="Text 13"/>
          <p:cNvSpPr/>
          <p:nvPr/>
        </p:nvSpPr>
        <p:spPr>
          <a:xfrm>
            <a:off x="6217920" y="3090672"/>
            <a:ext cx="5212080" cy="402336"/>
          </a:xfrm>
          <a:prstGeom prst="rect">
            <a:avLst/>
          </a:prstGeom>
          <a:noFill/>
          <a:ln/>
        </p:spPr>
        <p:txBody>
          <a:bodyPr wrap="square" lIns="0" tIns="0" rIns="0" bIns="0" rtlCol="0" anchor="ctr"/>
          <a:lstStyle/>
          <a:p>
            <a:pPr indent="0" marL="0">
              <a:buNone/>
            </a:pPr>
            <a:r>
              <a:rPr lang="en-US" sz="1050" dirty="0">
                <a:solidFill>
                  <a:srgbClr val="9DB0D9"/>
                </a:solidFill>
                <a:latin typeface="Arial" pitchFamily="34" charset="0"/>
                <a:ea typeface="Arial" pitchFamily="34" charset="-122"/>
                <a:cs typeface="Arial" pitchFamily="34" charset="-120"/>
              </a:rPr>
              <a:t>the Morningstar playbook, pointed at careers</a:t>
            </a:r>
            <a:endParaRPr lang="en-US" sz="1050" dirty="0"/>
          </a:p>
        </p:txBody>
      </p:sp>
      <p:sp>
        <p:nvSpPr>
          <p:cNvPr id="18" name="Shape 14"/>
          <p:cNvSpPr/>
          <p:nvPr/>
        </p:nvSpPr>
        <p:spPr>
          <a:xfrm>
            <a:off x="5943600" y="3694176"/>
            <a:ext cx="5696712" cy="877824"/>
          </a:xfrm>
          <a:prstGeom prst="roundRect">
            <a:avLst>
              <a:gd name="adj" fmla="val 9375"/>
            </a:avLst>
          </a:prstGeom>
          <a:solidFill>
            <a:srgbClr val="0C1530"/>
          </a:solidFill>
          <a:ln w="9525">
            <a:solidFill>
              <a:srgbClr val="24325C"/>
            </a:solidFill>
            <a:prstDash val="solid"/>
          </a:ln>
        </p:spPr>
      </p:sp>
      <p:sp>
        <p:nvSpPr>
          <p:cNvPr id="19" name="Text 15"/>
          <p:cNvSpPr/>
          <p:nvPr/>
        </p:nvSpPr>
        <p:spPr>
          <a:xfrm>
            <a:off x="6217920" y="3785616"/>
            <a:ext cx="5212080" cy="320040"/>
          </a:xfrm>
          <a:prstGeom prst="rect">
            <a:avLst/>
          </a:prstGeom>
          <a:noFill/>
          <a:ln/>
        </p:spPr>
        <p:txBody>
          <a:bodyPr wrap="square" lIns="0" tIns="0" rIns="0" bIns="0" rtlCol="0" anchor="ctr"/>
          <a:lstStyle/>
          <a:p>
            <a:pPr indent="0" marL="0">
              <a:buNone/>
            </a:pPr>
            <a:r>
              <a:rPr lang="en-US" sz="1350" b="1" dirty="0">
                <a:solidFill>
                  <a:srgbClr val="E8EEFC"/>
                </a:solidFill>
                <a:latin typeface="Arial" pitchFamily="34" charset="0"/>
                <a:ea typeface="Arial" pitchFamily="34" charset="-122"/>
                <a:cs typeface="Arial" pitchFamily="34" charset="-120"/>
              </a:rPr>
              <a:t>Five scoring models, swappable live</a:t>
            </a:r>
            <a:endParaRPr lang="en-US" sz="1350" dirty="0"/>
          </a:p>
        </p:txBody>
      </p:sp>
      <p:sp>
        <p:nvSpPr>
          <p:cNvPr id="20" name="Text 16"/>
          <p:cNvSpPr/>
          <p:nvPr/>
        </p:nvSpPr>
        <p:spPr>
          <a:xfrm>
            <a:off x="6217920" y="4114800"/>
            <a:ext cx="5212080" cy="402336"/>
          </a:xfrm>
          <a:prstGeom prst="rect">
            <a:avLst/>
          </a:prstGeom>
          <a:noFill/>
          <a:ln/>
        </p:spPr>
        <p:txBody>
          <a:bodyPr wrap="square" lIns="0" tIns="0" rIns="0" bIns="0" rtlCol="0" anchor="ctr"/>
          <a:lstStyle/>
          <a:p>
            <a:pPr indent="0" marL="0">
              <a:buNone/>
            </a:pPr>
            <a:r>
              <a:rPr lang="en-US" sz="1050" dirty="0">
                <a:solidFill>
                  <a:srgbClr val="9DB0D9"/>
                </a:solidFill>
                <a:latin typeface="Arial" pitchFamily="34" charset="0"/>
                <a:ea typeface="Arial" pitchFamily="34" charset="-122"/>
                <a:cs typeface="Arial" pitchFamily="34" charset="-120"/>
              </a:rPr>
              <a:t>pick the pessimist and watch software developers fall from #1 to last</a:t>
            </a:r>
            <a:endParaRPr lang="en-US" sz="1050" dirty="0"/>
          </a:p>
        </p:txBody>
      </p:sp>
      <p:sp>
        <p:nvSpPr>
          <p:cNvPr id="21" name="Shape 17"/>
          <p:cNvSpPr/>
          <p:nvPr/>
        </p:nvSpPr>
        <p:spPr>
          <a:xfrm>
            <a:off x="548640" y="4892040"/>
            <a:ext cx="11091672" cy="1005840"/>
          </a:xfrm>
          <a:prstGeom prst="roundRect">
            <a:avLst>
              <a:gd name="adj" fmla="val 8182"/>
            </a:avLst>
          </a:prstGeom>
          <a:solidFill>
            <a:srgbClr val="0C1530"/>
          </a:solidFill>
          <a:ln w="9525">
            <a:solidFill>
              <a:srgbClr val="24325C"/>
            </a:solidFill>
            <a:prstDash val="solid"/>
          </a:ln>
        </p:spPr>
      </p:sp>
      <p:sp>
        <p:nvSpPr>
          <p:cNvPr id="22" name="Text 18"/>
          <p:cNvSpPr/>
          <p:nvPr/>
        </p:nvSpPr>
        <p:spPr>
          <a:xfrm>
            <a:off x="822960" y="5029200"/>
            <a:ext cx="10515600" cy="731520"/>
          </a:xfrm>
          <a:prstGeom prst="rect">
            <a:avLst/>
          </a:prstGeom>
          <a:noFill/>
          <a:ln/>
        </p:spPr>
        <p:txBody>
          <a:bodyPr wrap="square" lIns="0" tIns="0" rIns="0" bIns="0" rtlCol="0" anchor="ctr"/>
          <a:lstStyle/>
          <a:p>
            <a:pPr indent="0" marL="0">
              <a:buNone/>
            </a:pPr>
            <a:r>
              <a:rPr lang="en-US" sz="1250" dirty="0">
                <a:solidFill>
                  <a:srgbClr val="9DB0D9"/>
                </a:solidFill>
                <a:latin typeface="Arial" pitchFamily="34" charset="0"/>
                <a:ea typeface="Arial" pitchFamily="34" charset="-122"/>
                <a:cs typeface="Arial" pitchFamily="34" charset="-120"/>
              </a:rPr>
              <a:t>Data: BLS projections, O*NET skill profiles, published AI-exposure research. </a:t>
            </a:r>
            <a:pPr indent="0" marL="0">
              <a:buNone/>
            </a:pPr>
            <a:r>
              <a:rPr lang="en-US" sz="1250" b="1" dirty="0">
                <a:solidFill>
                  <a:srgbClr val="E8EEFC"/>
                </a:solidFill>
                <a:latin typeface="Arial" pitchFamily="34" charset="0"/>
                <a:ea typeface="Arial" pitchFamily="34" charset="-122"/>
                <a:cs typeface="Arial" pitchFamily="34" charset="-120"/>
              </a:rPr>
              <a:t>Live at ashleylibasci.com. Play with it later — the build is today’s story.</a:t>
            </a:r>
            <a:endParaRPr lang="en-US" sz="1250" dirty="0"/>
          </a:p>
        </p:txBody>
      </p:sp>
      <p:sp>
        <p:nvSpPr>
          <p:cNvPr id="23" name="Text 19"/>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E6F9E"/>
                </a:solidFill>
                <a:latin typeface="Arial" pitchFamily="34" charset="0"/>
                <a:ea typeface="Arial" pitchFamily="34" charset="-122"/>
                <a:cs typeface="Arial" pitchFamily="34" charset="-120"/>
              </a:rPr>
              <a:t>CareerStar · ashleylibasci.com</a:t>
            </a:r>
            <a:endParaRPr lang="en-US" sz="900" dirty="0"/>
          </a:p>
        </p:txBody>
      </p:sp>
      <p:sp>
        <p:nvSpPr>
          <p:cNvPr id="24" name="Text 20"/>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5E6F9E"/>
                </a:solidFill>
                <a:latin typeface="Courier New" pitchFamily="34" charset="0"/>
                <a:ea typeface="Courier New" pitchFamily="34" charset="-122"/>
                <a:cs typeface="Courier New"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548640" y="402336"/>
            <a:ext cx="155448" cy="164592"/>
          </a:xfrm>
          <a:prstGeom prst="rect">
            <a:avLst/>
          </a:prstGeom>
        </p:spPr>
      </p:pic>
      <p:sp>
        <p:nvSpPr>
          <p:cNvPr id="3" name="Text 0"/>
          <p:cNvSpPr/>
          <p:nvPr/>
        </p:nvSpPr>
        <p:spPr>
          <a:xfrm>
            <a:off x="786384" y="384048"/>
            <a:ext cx="7315200" cy="274320"/>
          </a:xfrm>
          <a:prstGeom prst="rect">
            <a:avLst/>
          </a:prstGeom>
          <a:noFill/>
          <a:ln/>
        </p:spPr>
        <p:txBody>
          <a:bodyPr wrap="square" lIns="0" tIns="0" rIns="0" bIns="0" rtlCol="0" anchor="ctr"/>
          <a:lstStyle/>
          <a:p>
            <a:pPr indent="0" marL="0">
              <a:buNone/>
            </a:pPr>
            <a:r>
              <a:rPr lang="en-US" sz="1100" b="1" spc="300" kern="0" dirty="0">
                <a:solidFill>
                  <a:srgbClr val="4F74F0"/>
                </a:solidFill>
                <a:latin typeface="Arial" pitchFamily="34" charset="0"/>
                <a:ea typeface="Arial" pitchFamily="34" charset="-122"/>
                <a:cs typeface="Arial" pitchFamily="34" charset="-120"/>
              </a:rPr>
              <a:t>02 · THE METHOD</a:t>
            </a:r>
            <a:endParaRPr lang="en-US" sz="1100" dirty="0"/>
          </a:p>
        </p:txBody>
      </p:sp>
      <p:sp>
        <p:nvSpPr>
          <p:cNvPr id="4" name="Text 1"/>
          <p:cNvSpPr/>
          <p:nvPr/>
        </p:nvSpPr>
        <p:spPr>
          <a:xfrm>
            <a:off x="548640" y="658368"/>
            <a:ext cx="11094415" cy="1097280"/>
          </a:xfrm>
          <a:prstGeom prst="rect">
            <a:avLst/>
          </a:prstGeom>
          <a:noFill/>
          <a:ln/>
        </p:spPr>
        <p:txBody>
          <a:bodyPr wrap="square" lIns="0" tIns="0" rIns="0" bIns="0" rtlCol="0" anchor="ctr"/>
          <a:lstStyle/>
          <a:p>
            <a:pPr indent="0" marL="0">
              <a:buNone/>
            </a:pPr>
            <a:r>
              <a:rPr lang="en-US" sz="2800" b="1" dirty="0">
                <a:solidFill>
                  <a:srgbClr val="E8EEFC"/>
                </a:solidFill>
                <a:latin typeface="Arial" pitchFamily="34" charset="0"/>
                <a:ea typeface="Arial" pitchFamily="34" charset="-122"/>
                <a:cs typeface="Arial" pitchFamily="34" charset="-120"/>
              </a:rPr>
              <a:t>There’s a name for how this was built:</a:t>
            </a:r>
            <a:endParaRPr lang="en-US" sz="2800" dirty="0"/>
          </a:p>
          <a:p>
            <a:pPr indent="0" marL="0">
              <a:buNone/>
            </a:pPr>
            <a:r>
              <a:rPr lang="en-US" sz="2800" b="1" dirty="0">
                <a:solidFill>
                  <a:srgbClr val="E8EEFC"/>
                </a:solidFill>
                <a:latin typeface="Arial" pitchFamily="34" charset="0"/>
                <a:ea typeface="Arial" pitchFamily="34" charset="-122"/>
                <a:cs typeface="Arial" pitchFamily="34" charset="-120"/>
              </a:rPr>
              <a:t>spec-driven development</a:t>
            </a:r>
            <a:endParaRPr lang="en-US" sz="2800" dirty="0"/>
          </a:p>
        </p:txBody>
      </p:sp>
      <p:sp>
        <p:nvSpPr>
          <p:cNvPr id="5" name="Shape 2"/>
          <p:cNvSpPr/>
          <p:nvPr/>
        </p:nvSpPr>
        <p:spPr>
          <a:xfrm>
            <a:off x="548640" y="2103120"/>
            <a:ext cx="6858000" cy="2377440"/>
          </a:xfrm>
          <a:prstGeom prst="roundRect">
            <a:avLst>
              <a:gd name="adj" fmla="val 3462"/>
            </a:avLst>
          </a:prstGeom>
          <a:solidFill>
            <a:srgbClr val="101A38"/>
          </a:solidFill>
          <a:ln w="9525">
            <a:solidFill>
              <a:srgbClr val="24325C"/>
            </a:solidFill>
            <a:prstDash val="solid"/>
          </a:ln>
        </p:spPr>
      </p:sp>
      <p:sp>
        <p:nvSpPr>
          <p:cNvPr id="6" name="Text 3"/>
          <p:cNvSpPr/>
          <p:nvPr/>
        </p:nvSpPr>
        <p:spPr>
          <a:xfrm>
            <a:off x="868680" y="2377440"/>
            <a:ext cx="6217920" cy="914400"/>
          </a:xfrm>
          <a:prstGeom prst="rect">
            <a:avLst/>
          </a:prstGeom>
          <a:noFill/>
          <a:ln/>
        </p:spPr>
        <p:txBody>
          <a:bodyPr wrap="square" lIns="0" tIns="0" rIns="0" bIns="0" rtlCol="0" anchor="ctr"/>
          <a:lstStyle/>
          <a:p>
            <a:pPr indent="0" marL="0">
              <a:buNone/>
            </a:pPr>
            <a:r>
              <a:rPr lang="en-US" sz="2200" b="1" dirty="0">
                <a:solidFill>
                  <a:srgbClr val="E8EEFC"/>
                </a:solidFill>
                <a:latin typeface="Arial" pitchFamily="34" charset="0"/>
                <a:ea typeface="Arial" pitchFamily="34" charset="-122"/>
                <a:cs typeface="Arial" pitchFamily="34" charset="-120"/>
              </a:rPr>
              <a:t>Write the spec first.</a:t>
            </a:r>
            <a:endParaRPr lang="en-US" sz="2200" dirty="0"/>
          </a:p>
          <a:p>
            <a:pPr indent="0" marL="0">
              <a:buNone/>
            </a:pPr>
            <a:r>
              <a:rPr lang="en-US" sz="2200" b="1" dirty="0">
                <a:solidFill>
                  <a:srgbClr val="E8EEFC"/>
                </a:solidFill>
                <a:latin typeface="Arial" pitchFamily="34" charset="0"/>
                <a:ea typeface="Arial" pitchFamily="34" charset="-122"/>
                <a:cs typeface="Arial" pitchFamily="34" charset="-120"/>
              </a:rPr>
              <a:t>The AI codes to the contract.</a:t>
            </a:r>
            <a:endParaRPr lang="en-US" sz="2200" dirty="0"/>
          </a:p>
        </p:txBody>
      </p:sp>
      <p:sp>
        <p:nvSpPr>
          <p:cNvPr id="7" name="Text 4"/>
          <p:cNvSpPr/>
          <p:nvPr/>
        </p:nvSpPr>
        <p:spPr>
          <a:xfrm>
            <a:off x="868680" y="3383280"/>
            <a:ext cx="6217920" cy="868680"/>
          </a:xfrm>
          <a:prstGeom prst="rect">
            <a:avLst/>
          </a:prstGeom>
          <a:noFill/>
          <a:ln/>
        </p:spPr>
        <p:txBody>
          <a:bodyPr wrap="square" lIns="0" tIns="0" rIns="0" bIns="0" rtlCol="0" anchor="ctr"/>
          <a:lstStyle/>
          <a:p>
            <a:pPr indent="0" marL="0">
              <a:buNone/>
            </a:pPr>
            <a:r>
              <a:rPr lang="en-US" sz="1300" dirty="0">
                <a:solidFill>
                  <a:srgbClr val="9DB0D9"/>
                </a:solidFill>
                <a:latin typeface="Arial" pitchFamily="34" charset="0"/>
                <a:ea typeface="Arial" pitchFamily="34" charset="-122"/>
                <a:cs typeface="Arial" pitchFamily="34" charset="-120"/>
              </a:rPr>
              <a:t>The spec is the first-class artifact. Requirements, architecture, and acceptance criteria exist before any code does, and every AI agent works against them.</a:t>
            </a:r>
            <a:endParaRPr lang="en-US" sz="1300" dirty="0"/>
          </a:p>
        </p:txBody>
      </p:sp>
      <p:sp>
        <p:nvSpPr>
          <p:cNvPr id="8" name="Shape 5"/>
          <p:cNvSpPr/>
          <p:nvPr/>
        </p:nvSpPr>
        <p:spPr>
          <a:xfrm>
            <a:off x="7726680" y="2103120"/>
            <a:ext cx="3913632" cy="2377440"/>
          </a:xfrm>
          <a:prstGeom prst="roundRect">
            <a:avLst>
              <a:gd name="adj" fmla="val 3462"/>
            </a:avLst>
          </a:prstGeom>
          <a:solidFill>
            <a:srgbClr val="0C1530"/>
          </a:solidFill>
          <a:ln w="9525">
            <a:solidFill>
              <a:srgbClr val="24325C"/>
            </a:solidFill>
            <a:prstDash val="solid"/>
          </a:ln>
        </p:spPr>
      </p:sp>
      <p:sp>
        <p:nvSpPr>
          <p:cNvPr id="9" name="Text 6"/>
          <p:cNvSpPr/>
          <p:nvPr/>
        </p:nvSpPr>
        <p:spPr>
          <a:xfrm>
            <a:off x="8001000" y="2331720"/>
            <a:ext cx="3383280" cy="320040"/>
          </a:xfrm>
          <a:prstGeom prst="rect">
            <a:avLst/>
          </a:prstGeom>
          <a:noFill/>
          <a:ln/>
        </p:spPr>
        <p:txBody>
          <a:bodyPr wrap="square" lIns="0" tIns="0" rIns="0" bIns="0" rtlCol="0" anchor="ctr"/>
          <a:lstStyle/>
          <a:p>
            <a:pPr indent="0" marL="0">
              <a:buNone/>
            </a:pPr>
            <a:r>
              <a:rPr lang="en-US" sz="1300" b="1" dirty="0">
                <a:solidFill>
                  <a:srgbClr val="5E6F9E"/>
                </a:solidFill>
                <a:latin typeface="Arial" pitchFamily="34" charset="0"/>
                <a:ea typeface="Arial" pitchFamily="34" charset="-122"/>
                <a:cs typeface="Arial" pitchFamily="34" charset="-120"/>
              </a:rPr>
              <a:t>vs. vibe coding</a:t>
            </a:r>
            <a:endParaRPr lang="en-US" sz="1300" dirty="0"/>
          </a:p>
        </p:txBody>
      </p:sp>
      <p:sp>
        <p:nvSpPr>
          <p:cNvPr id="10" name="Text 7"/>
          <p:cNvSpPr/>
          <p:nvPr/>
        </p:nvSpPr>
        <p:spPr>
          <a:xfrm>
            <a:off x="8001000" y="2697480"/>
            <a:ext cx="3383280" cy="914400"/>
          </a:xfrm>
          <a:prstGeom prst="rect">
            <a:avLst/>
          </a:prstGeom>
          <a:noFill/>
          <a:ln/>
        </p:spPr>
        <p:txBody>
          <a:bodyPr wrap="square" lIns="0" tIns="0" rIns="0" bIns="0" rtlCol="0" anchor="ctr"/>
          <a:lstStyle/>
          <a:p>
            <a:pPr indent="0" marL="0">
              <a:buNone/>
            </a:pPr>
            <a:r>
              <a:rPr lang="en-US" sz="1250" dirty="0">
                <a:solidFill>
                  <a:srgbClr val="9DB0D9"/>
                </a:solidFill>
                <a:latin typeface="Arial" pitchFamily="34" charset="0"/>
                <a:ea typeface="Arial" pitchFamily="34" charset="-122"/>
                <a:cs typeface="Arial" pitchFamily="34" charset="-120"/>
              </a:rPr>
              <a:t>Prompt as you go. Context evaporates. Works great right up until it doesn’t.</a:t>
            </a:r>
            <a:endParaRPr lang="en-US" sz="1250" dirty="0"/>
          </a:p>
        </p:txBody>
      </p:sp>
      <p:sp>
        <p:nvSpPr>
          <p:cNvPr id="11" name="Text 8"/>
          <p:cNvSpPr/>
          <p:nvPr/>
        </p:nvSpPr>
        <p:spPr>
          <a:xfrm>
            <a:off x="8001000" y="3703320"/>
            <a:ext cx="3383280" cy="640080"/>
          </a:xfrm>
          <a:prstGeom prst="rect">
            <a:avLst/>
          </a:prstGeom>
          <a:noFill/>
          <a:ln/>
        </p:spPr>
        <p:txBody>
          <a:bodyPr wrap="square" lIns="0" tIns="0" rIns="0" bIns="0" rtlCol="0" anchor="ctr"/>
          <a:lstStyle/>
          <a:p>
            <a:pPr indent="0" marL="0">
              <a:buNone/>
            </a:pPr>
            <a:r>
              <a:rPr lang="en-US" sz="1100" i="1" dirty="0">
                <a:solidFill>
                  <a:srgbClr val="5E6F9E"/>
                </a:solidFill>
                <a:latin typeface="Arial" pitchFamily="34" charset="0"/>
                <a:ea typeface="Arial" pitchFamily="34" charset="-122"/>
                <a:cs typeface="Arial" pitchFamily="34" charset="-120"/>
              </a:rPr>
              <a:t>fine for a weekend hack,</a:t>
            </a:r>
            <a:endParaRPr lang="en-US" sz="1100" dirty="0"/>
          </a:p>
          <a:p>
            <a:pPr indent="0" marL="0">
              <a:buNone/>
            </a:pPr>
            <a:r>
              <a:rPr lang="en-US" sz="1100" i="1" dirty="0">
                <a:solidFill>
                  <a:srgbClr val="5E6F9E"/>
                </a:solidFill>
                <a:latin typeface="Arial" pitchFamily="34" charset="0"/>
                <a:ea typeface="Arial" pitchFamily="34" charset="-122"/>
                <a:cs typeface="Arial" pitchFamily="34" charset="-120"/>
              </a:rPr>
              <a:t>fatal for a real system</a:t>
            </a:r>
            <a:endParaRPr lang="en-US" sz="1100" dirty="0"/>
          </a:p>
        </p:txBody>
      </p:sp>
      <p:sp>
        <p:nvSpPr>
          <p:cNvPr id="12" name="Shape 9"/>
          <p:cNvSpPr/>
          <p:nvPr/>
        </p:nvSpPr>
        <p:spPr>
          <a:xfrm>
            <a:off x="548640" y="4754880"/>
            <a:ext cx="11091672" cy="1143000"/>
          </a:xfrm>
          <a:prstGeom prst="roundRect">
            <a:avLst>
              <a:gd name="adj" fmla="val 7200"/>
            </a:avLst>
          </a:prstGeom>
          <a:solidFill>
            <a:srgbClr val="101A38"/>
          </a:solidFill>
          <a:ln w="9525">
            <a:solidFill>
              <a:srgbClr val="24325C"/>
            </a:solidFill>
            <a:prstDash val="solid"/>
          </a:ln>
        </p:spPr>
      </p:sp>
      <p:pic>
        <p:nvPicPr>
          <p:cNvPr id="13" name="Image 1" descr="preencoded.png">    </p:cNvPr>
          <p:cNvPicPr>
            <a:picLocks noChangeAspect="1"/>
          </p:cNvPicPr>
          <p:nvPr/>
        </p:nvPicPr>
        <p:blipFill>
          <a:blip r:embed="rId3"/>
          <a:stretch>
            <a:fillRect/>
          </a:stretch>
        </p:blipFill>
        <p:spPr>
          <a:xfrm>
            <a:off x="841248" y="5138928"/>
            <a:ext cx="237744" cy="246888"/>
          </a:xfrm>
          <a:prstGeom prst="rect">
            <a:avLst/>
          </a:prstGeom>
        </p:spPr>
      </p:pic>
      <p:sp>
        <p:nvSpPr>
          <p:cNvPr id="14" name="Text 10"/>
          <p:cNvSpPr/>
          <p:nvPr/>
        </p:nvSpPr>
        <p:spPr>
          <a:xfrm>
            <a:off x="1280160" y="4956048"/>
            <a:ext cx="10241280" cy="822960"/>
          </a:xfrm>
          <a:prstGeom prst="rect">
            <a:avLst/>
          </a:prstGeom>
          <a:noFill/>
          <a:ln/>
        </p:spPr>
        <p:txBody>
          <a:bodyPr wrap="square" lIns="0" tIns="0" rIns="0" bIns="0" rtlCol="0" anchor="ctr"/>
          <a:lstStyle/>
          <a:p>
            <a:pPr indent="0" marL="0">
              <a:buNone/>
            </a:pPr>
            <a:r>
              <a:rPr lang="en-US" sz="1300" b="1" dirty="0">
                <a:solidFill>
                  <a:srgbClr val="4F74F0"/>
                </a:solidFill>
                <a:latin typeface="Arial" pitchFamily="34" charset="0"/>
                <a:ea typeface="Arial" pitchFamily="34" charset="-122"/>
                <a:cs typeface="Arial" pitchFamily="34" charset="-120"/>
              </a:rPr>
              <a:t>My framework: BMAD </a:t>
            </a:r>
            <a:pPr indent="0" marL="0">
              <a:buNone/>
            </a:pPr>
            <a:r>
              <a:rPr lang="en-US" sz="1300" dirty="0">
                <a:solidFill>
                  <a:srgbClr val="9DB0D9"/>
                </a:solidFill>
                <a:latin typeface="Arial" pitchFamily="34" charset="0"/>
                <a:ea typeface="Arial" pitchFamily="34" charset="-122"/>
                <a:cs typeface="Arial" pitchFamily="34" charset="-120"/>
              </a:rPr>
              <a:t>(Breakthrough Method for Agile AI-Driven Development) — open source, agent-based, and this was my first project with it. It converted me.</a:t>
            </a:r>
            <a:endParaRPr lang="en-US" sz="1300" dirty="0"/>
          </a:p>
        </p:txBody>
      </p:sp>
      <p:sp>
        <p:nvSpPr>
          <p:cNvPr id="15" name="Text 11"/>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E6F9E"/>
                </a:solidFill>
                <a:latin typeface="Arial" pitchFamily="34" charset="0"/>
                <a:ea typeface="Arial" pitchFamily="34" charset="-122"/>
                <a:cs typeface="Arial" pitchFamily="34" charset="-120"/>
              </a:rPr>
              <a:t>CareerStar · ashleylibasci.com</a:t>
            </a:r>
            <a:endParaRPr lang="en-US" sz="900" dirty="0"/>
          </a:p>
        </p:txBody>
      </p:sp>
      <p:sp>
        <p:nvSpPr>
          <p:cNvPr id="16" name="Text 12"/>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5E6F9E"/>
                </a:solidFill>
                <a:latin typeface="Courier New" pitchFamily="34" charset="0"/>
                <a:ea typeface="Courier New" pitchFamily="34" charset="-122"/>
                <a:cs typeface="Courier New"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548640" y="402336"/>
            <a:ext cx="155448" cy="164592"/>
          </a:xfrm>
          <a:prstGeom prst="rect">
            <a:avLst/>
          </a:prstGeom>
        </p:spPr>
      </p:pic>
      <p:sp>
        <p:nvSpPr>
          <p:cNvPr id="3" name="Text 0"/>
          <p:cNvSpPr/>
          <p:nvPr/>
        </p:nvSpPr>
        <p:spPr>
          <a:xfrm>
            <a:off x="786384" y="384048"/>
            <a:ext cx="7315200" cy="274320"/>
          </a:xfrm>
          <a:prstGeom prst="rect">
            <a:avLst/>
          </a:prstGeom>
          <a:noFill/>
          <a:ln/>
        </p:spPr>
        <p:txBody>
          <a:bodyPr wrap="square" lIns="0" tIns="0" rIns="0" bIns="0" rtlCol="0" anchor="ctr"/>
          <a:lstStyle/>
          <a:p>
            <a:pPr indent="0" marL="0">
              <a:buNone/>
            </a:pPr>
            <a:r>
              <a:rPr lang="en-US" sz="1100" b="1" spc="300" kern="0" dirty="0">
                <a:solidFill>
                  <a:srgbClr val="4F74F0"/>
                </a:solidFill>
                <a:latin typeface="Arial" pitchFamily="34" charset="0"/>
                <a:ea typeface="Arial" pitchFamily="34" charset="-122"/>
                <a:cs typeface="Arial" pitchFamily="34" charset="-120"/>
              </a:rPr>
              <a:t>03 · BMAD</a:t>
            </a:r>
            <a:endParaRPr lang="en-US" sz="1100" dirty="0"/>
          </a:p>
        </p:txBody>
      </p:sp>
      <p:sp>
        <p:nvSpPr>
          <p:cNvPr id="4" name="Text 1"/>
          <p:cNvSpPr/>
          <p:nvPr/>
        </p:nvSpPr>
        <p:spPr>
          <a:xfrm>
            <a:off x="548640" y="658368"/>
            <a:ext cx="11094415" cy="685800"/>
          </a:xfrm>
          <a:prstGeom prst="rect">
            <a:avLst/>
          </a:prstGeom>
          <a:noFill/>
          <a:ln/>
        </p:spPr>
        <p:txBody>
          <a:bodyPr wrap="square" lIns="0" tIns="0" rIns="0" bIns="0" rtlCol="0" anchor="ctr"/>
          <a:lstStyle/>
          <a:p>
            <a:pPr indent="0" marL="0">
              <a:buNone/>
            </a:pPr>
            <a:r>
              <a:rPr lang="en-US" sz="3100" b="1" dirty="0">
                <a:solidFill>
                  <a:srgbClr val="E8EEFC"/>
                </a:solidFill>
                <a:latin typeface="Arial" pitchFamily="34" charset="0"/>
                <a:ea typeface="Arial" pitchFamily="34" charset="-122"/>
                <a:cs typeface="Arial" pitchFamily="34" charset="-120"/>
              </a:rPr>
              <a:t>Every stage of the lifecycle gets its own agent</a:t>
            </a:r>
            <a:endParaRPr lang="en-US" sz="3100" dirty="0"/>
          </a:p>
        </p:txBody>
      </p:sp>
      <p:sp>
        <p:nvSpPr>
          <p:cNvPr id="5" name="Shape 2"/>
          <p:cNvSpPr/>
          <p:nvPr/>
        </p:nvSpPr>
        <p:spPr>
          <a:xfrm>
            <a:off x="548640" y="1645920"/>
            <a:ext cx="1755648" cy="685800"/>
          </a:xfrm>
          <a:prstGeom prst="roundRect">
            <a:avLst>
              <a:gd name="adj" fmla="val 12000"/>
            </a:avLst>
          </a:prstGeom>
          <a:solidFill>
            <a:srgbClr val="0C1530"/>
          </a:solidFill>
          <a:ln w="9525">
            <a:solidFill>
              <a:srgbClr val="24325C"/>
            </a:solidFill>
            <a:prstDash val="solid"/>
          </a:ln>
        </p:spPr>
      </p:sp>
      <p:sp>
        <p:nvSpPr>
          <p:cNvPr id="6" name="Text 3"/>
          <p:cNvSpPr/>
          <p:nvPr/>
        </p:nvSpPr>
        <p:spPr>
          <a:xfrm>
            <a:off x="548640" y="1645920"/>
            <a:ext cx="1755648" cy="685800"/>
          </a:xfrm>
          <a:prstGeom prst="rect">
            <a:avLst/>
          </a:prstGeom>
          <a:noFill/>
          <a:ln/>
        </p:spPr>
        <p:txBody>
          <a:bodyPr wrap="square" lIns="0" tIns="0" rIns="0" bIns="0" rtlCol="0" anchor="ctr"/>
          <a:lstStyle/>
          <a:p>
            <a:pPr algn="ctr" indent="0" marL="0">
              <a:buNone/>
            </a:pPr>
            <a:r>
              <a:rPr lang="en-US" sz="1150" b="1" dirty="0">
                <a:solidFill>
                  <a:srgbClr val="E8EEFC"/>
                </a:solidFill>
                <a:latin typeface="Arial" pitchFamily="34" charset="0"/>
                <a:ea typeface="Arial" pitchFamily="34" charset="-122"/>
                <a:cs typeface="Arial" pitchFamily="34" charset="-120"/>
              </a:rPr>
              <a:t>PRD</a:t>
            </a:r>
            <a:endParaRPr lang="en-US" sz="1150" dirty="0"/>
          </a:p>
        </p:txBody>
      </p:sp>
      <p:sp>
        <p:nvSpPr>
          <p:cNvPr id="7" name="Text 4"/>
          <p:cNvSpPr/>
          <p:nvPr/>
        </p:nvSpPr>
        <p:spPr>
          <a:xfrm>
            <a:off x="2267712" y="1645920"/>
            <a:ext cx="237744" cy="685800"/>
          </a:xfrm>
          <a:prstGeom prst="rect">
            <a:avLst/>
          </a:prstGeom>
          <a:noFill/>
          <a:ln/>
        </p:spPr>
        <p:txBody>
          <a:bodyPr wrap="square" lIns="0" tIns="0" rIns="0" bIns="0" rtlCol="0" anchor="ctr"/>
          <a:lstStyle/>
          <a:p>
            <a:pPr algn="ctr" indent="0" marL="0">
              <a:buNone/>
            </a:pPr>
            <a:r>
              <a:rPr lang="en-US" sz="1400" dirty="0">
                <a:solidFill>
                  <a:srgbClr val="4F74F0"/>
                </a:solidFill>
                <a:latin typeface="Arial" pitchFamily="34" charset="0"/>
                <a:ea typeface="Arial" pitchFamily="34" charset="-122"/>
                <a:cs typeface="Arial" pitchFamily="34" charset="-120"/>
              </a:rPr>
              <a:t>→</a:t>
            </a:r>
            <a:endParaRPr lang="en-US" sz="1400" dirty="0"/>
          </a:p>
        </p:txBody>
      </p:sp>
      <p:sp>
        <p:nvSpPr>
          <p:cNvPr id="8" name="Shape 5"/>
          <p:cNvSpPr/>
          <p:nvPr/>
        </p:nvSpPr>
        <p:spPr>
          <a:xfrm>
            <a:off x="2446020" y="1645920"/>
            <a:ext cx="1755648" cy="685800"/>
          </a:xfrm>
          <a:prstGeom prst="roundRect">
            <a:avLst>
              <a:gd name="adj" fmla="val 12000"/>
            </a:avLst>
          </a:prstGeom>
          <a:solidFill>
            <a:srgbClr val="0C1530"/>
          </a:solidFill>
          <a:ln w="9525">
            <a:solidFill>
              <a:srgbClr val="24325C"/>
            </a:solidFill>
            <a:prstDash val="solid"/>
          </a:ln>
        </p:spPr>
      </p:sp>
      <p:sp>
        <p:nvSpPr>
          <p:cNvPr id="9" name="Text 6"/>
          <p:cNvSpPr/>
          <p:nvPr/>
        </p:nvSpPr>
        <p:spPr>
          <a:xfrm>
            <a:off x="2446020" y="1645920"/>
            <a:ext cx="1755648" cy="685800"/>
          </a:xfrm>
          <a:prstGeom prst="rect">
            <a:avLst/>
          </a:prstGeom>
          <a:noFill/>
          <a:ln/>
        </p:spPr>
        <p:txBody>
          <a:bodyPr wrap="square" lIns="0" tIns="0" rIns="0" bIns="0" rtlCol="0" anchor="ctr"/>
          <a:lstStyle/>
          <a:p>
            <a:pPr algn="ctr" indent="0" marL="0">
              <a:buNone/>
            </a:pPr>
            <a:r>
              <a:rPr lang="en-US" sz="1150" b="1" dirty="0">
                <a:solidFill>
                  <a:srgbClr val="E8EEFC"/>
                </a:solidFill>
                <a:latin typeface="Arial" pitchFamily="34" charset="0"/>
                <a:ea typeface="Arial" pitchFamily="34" charset="-122"/>
                <a:cs typeface="Arial" pitchFamily="34" charset="-120"/>
              </a:rPr>
              <a:t>Architecture</a:t>
            </a:r>
            <a:endParaRPr lang="en-US" sz="1150" dirty="0"/>
          </a:p>
        </p:txBody>
      </p:sp>
      <p:sp>
        <p:nvSpPr>
          <p:cNvPr id="10" name="Text 7"/>
          <p:cNvSpPr/>
          <p:nvPr/>
        </p:nvSpPr>
        <p:spPr>
          <a:xfrm>
            <a:off x="4165092" y="1645920"/>
            <a:ext cx="237744" cy="685800"/>
          </a:xfrm>
          <a:prstGeom prst="rect">
            <a:avLst/>
          </a:prstGeom>
          <a:noFill/>
          <a:ln/>
        </p:spPr>
        <p:txBody>
          <a:bodyPr wrap="square" lIns="0" tIns="0" rIns="0" bIns="0" rtlCol="0" anchor="ctr"/>
          <a:lstStyle/>
          <a:p>
            <a:pPr algn="ctr" indent="0" marL="0">
              <a:buNone/>
            </a:pPr>
            <a:r>
              <a:rPr lang="en-US" sz="1400" dirty="0">
                <a:solidFill>
                  <a:srgbClr val="4F74F0"/>
                </a:solidFill>
                <a:latin typeface="Arial" pitchFamily="34" charset="0"/>
                <a:ea typeface="Arial" pitchFamily="34" charset="-122"/>
                <a:cs typeface="Arial" pitchFamily="34" charset="-120"/>
              </a:rPr>
              <a:t>→</a:t>
            </a:r>
            <a:endParaRPr lang="en-US" sz="1400" dirty="0"/>
          </a:p>
        </p:txBody>
      </p:sp>
      <p:sp>
        <p:nvSpPr>
          <p:cNvPr id="11" name="Shape 8"/>
          <p:cNvSpPr/>
          <p:nvPr/>
        </p:nvSpPr>
        <p:spPr>
          <a:xfrm>
            <a:off x="4343400" y="1645920"/>
            <a:ext cx="1755648" cy="685800"/>
          </a:xfrm>
          <a:prstGeom prst="roundRect">
            <a:avLst>
              <a:gd name="adj" fmla="val 12000"/>
            </a:avLst>
          </a:prstGeom>
          <a:solidFill>
            <a:srgbClr val="0C1530"/>
          </a:solidFill>
          <a:ln w="9525">
            <a:solidFill>
              <a:srgbClr val="24325C"/>
            </a:solidFill>
            <a:prstDash val="solid"/>
          </a:ln>
        </p:spPr>
      </p:sp>
      <p:sp>
        <p:nvSpPr>
          <p:cNvPr id="12" name="Text 9"/>
          <p:cNvSpPr/>
          <p:nvPr/>
        </p:nvSpPr>
        <p:spPr>
          <a:xfrm>
            <a:off x="4343400" y="1645920"/>
            <a:ext cx="1755648" cy="685800"/>
          </a:xfrm>
          <a:prstGeom prst="rect">
            <a:avLst/>
          </a:prstGeom>
          <a:noFill/>
          <a:ln/>
        </p:spPr>
        <p:txBody>
          <a:bodyPr wrap="square" lIns="0" tIns="0" rIns="0" bIns="0" rtlCol="0" anchor="ctr"/>
          <a:lstStyle/>
          <a:p>
            <a:pPr algn="ctr" indent="0" marL="0">
              <a:buNone/>
            </a:pPr>
            <a:r>
              <a:rPr lang="en-US" sz="1150" b="1" dirty="0">
                <a:solidFill>
                  <a:srgbClr val="E8EEFC"/>
                </a:solidFill>
                <a:latin typeface="Arial" pitchFamily="34" charset="0"/>
                <a:ea typeface="Arial" pitchFamily="34" charset="-122"/>
                <a:cs typeface="Arial" pitchFamily="34" charset="-120"/>
              </a:rPr>
              <a:t>Epics &amp; stories</a:t>
            </a:r>
            <a:endParaRPr lang="en-US" sz="1150" dirty="0"/>
          </a:p>
        </p:txBody>
      </p:sp>
      <p:sp>
        <p:nvSpPr>
          <p:cNvPr id="13" name="Text 10"/>
          <p:cNvSpPr/>
          <p:nvPr/>
        </p:nvSpPr>
        <p:spPr>
          <a:xfrm>
            <a:off x="6062472" y="1645920"/>
            <a:ext cx="237744" cy="685800"/>
          </a:xfrm>
          <a:prstGeom prst="rect">
            <a:avLst/>
          </a:prstGeom>
          <a:noFill/>
          <a:ln/>
        </p:spPr>
        <p:txBody>
          <a:bodyPr wrap="square" lIns="0" tIns="0" rIns="0" bIns="0" rtlCol="0" anchor="ctr"/>
          <a:lstStyle/>
          <a:p>
            <a:pPr algn="ctr" indent="0" marL="0">
              <a:buNone/>
            </a:pPr>
            <a:r>
              <a:rPr lang="en-US" sz="1400" dirty="0">
                <a:solidFill>
                  <a:srgbClr val="4F74F0"/>
                </a:solidFill>
                <a:latin typeface="Arial" pitchFamily="34" charset="0"/>
                <a:ea typeface="Arial" pitchFamily="34" charset="-122"/>
                <a:cs typeface="Arial" pitchFamily="34" charset="-120"/>
              </a:rPr>
              <a:t>→</a:t>
            </a:r>
            <a:endParaRPr lang="en-US" sz="1400" dirty="0"/>
          </a:p>
        </p:txBody>
      </p:sp>
      <p:sp>
        <p:nvSpPr>
          <p:cNvPr id="14" name="Shape 11"/>
          <p:cNvSpPr/>
          <p:nvPr/>
        </p:nvSpPr>
        <p:spPr>
          <a:xfrm>
            <a:off x="6240780" y="1645920"/>
            <a:ext cx="1755648" cy="685800"/>
          </a:xfrm>
          <a:prstGeom prst="roundRect">
            <a:avLst>
              <a:gd name="adj" fmla="val 12000"/>
            </a:avLst>
          </a:prstGeom>
          <a:solidFill>
            <a:srgbClr val="0C1530"/>
          </a:solidFill>
          <a:ln w="9525">
            <a:solidFill>
              <a:srgbClr val="24325C"/>
            </a:solidFill>
            <a:prstDash val="solid"/>
          </a:ln>
        </p:spPr>
      </p:sp>
      <p:sp>
        <p:nvSpPr>
          <p:cNvPr id="15" name="Text 12"/>
          <p:cNvSpPr/>
          <p:nvPr/>
        </p:nvSpPr>
        <p:spPr>
          <a:xfrm>
            <a:off x="6240780" y="1645920"/>
            <a:ext cx="1755648" cy="685800"/>
          </a:xfrm>
          <a:prstGeom prst="rect">
            <a:avLst/>
          </a:prstGeom>
          <a:noFill/>
          <a:ln/>
        </p:spPr>
        <p:txBody>
          <a:bodyPr wrap="square" lIns="0" tIns="0" rIns="0" bIns="0" rtlCol="0" anchor="ctr"/>
          <a:lstStyle/>
          <a:p>
            <a:pPr algn="ctr" indent="0" marL="0">
              <a:buNone/>
            </a:pPr>
            <a:r>
              <a:rPr lang="en-US" sz="1150" b="1" dirty="0">
                <a:solidFill>
                  <a:srgbClr val="E8EEFC"/>
                </a:solidFill>
                <a:latin typeface="Arial" pitchFamily="34" charset="0"/>
                <a:ea typeface="Arial" pitchFamily="34" charset="-122"/>
                <a:cs typeface="Arial" pitchFamily="34" charset="-120"/>
              </a:rPr>
              <a:t>Implement</a:t>
            </a:r>
            <a:endParaRPr lang="en-US" sz="1150" dirty="0"/>
          </a:p>
        </p:txBody>
      </p:sp>
      <p:sp>
        <p:nvSpPr>
          <p:cNvPr id="16" name="Text 13"/>
          <p:cNvSpPr/>
          <p:nvPr/>
        </p:nvSpPr>
        <p:spPr>
          <a:xfrm>
            <a:off x="7959852" y="1645920"/>
            <a:ext cx="237744" cy="685800"/>
          </a:xfrm>
          <a:prstGeom prst="rect">
            <a:avLst/>
          </a:prstGeom>
          <a:noFill/>
          <a:ln/>
        </p:spPr>
        <p:txBody>
          <a:bodyPr wrap="square" lIns="0" tIns="0" rIns="0" bIns="0" rtlCol="0" anchor="ctr"/>
          <a:lstStyle/>
          <a:p>
            <a:pPr algn="ctr" indent="0" marL="0">
              <a:buNone/>
            </a:pPr>
            <a:r>
              <a:rPr lang="en-US" sz="1400" dirty="0">
                <a:solidFill>
                  <a:srgbClr val="4F74F0"/>
                </a:solidFill>
                <a:latin typeface="Arial" pitchFamily="34" charset="0"/>
                <a:ea typeface="Arial" pitchFamily="34" charset="-122"/>
                <a:cs typeface="Arial" pitchFamily="34" charset="-120"/>
              </a:rPr>
              <a:t>→</a:t>
            </a:r>
            <a:endParaRPr lang="en-US" sz="1400" dirty="0"/>
          </a:p>
        </p:txBody>
      </p:sp>
      <p:sp>
        <p:nvSpPr>
          <p:cNvPr id="17" name="Shape 14"/>
          <p:cNvSpPr/>
          <p:nvPr/>
        </p:nvSpPr>
        <p:spPr>
          <a:xfrm>
            <a:off x="8138160" y="1645920"/>
            <a:ext cx="1755648" cy="685800"/>
          </a:xfrm>
          <a:prstGeom prst="roundRect">
            <a:avLst>
              <a:gd name="adj" fmla="val 12000"/>
            </a:avLst>
          </a:prstGeom>
          <a:solidFill>
            <a:srgbClr val="0C1530"/>
          </a:solidFill>
          <a:ln w="9525">
            <a:solidFill>
              <a:srgbClr val="24325C"/>
            </a:solidFill>
            <a:prstDash val="solid"/>
          </a:ln>
        </p:spPr>
      </p:sp>
      <p:sp>
        <p:nvSpPr>
          <p:cNvPr id="18" name="Text 15"/>
          <p:cNvSpPr/>
          <p:nvPr/>
        </p:nvSpPr>
        <p:spPr>
          <a:xfrm>
            <a:off x="8138160" y="1645920"/>
            <a:ext cx="1755648" cy="685800"/>
          </a:xfrm>
          <a:prstGeom prst="rect">
            <a:avLst/>
          </a:prstGeom>
          <a:noFill/>
          <a:ln/>
        </p:spPr>
        <p:txBody>
          <a:bodyPr wrap="square" lIns="0" tIns="0" rIns="0" bIns="0" rtlCol="0" anchor="ctr"/>
          <a:lstStyle/>
          <a:p>
            <a:pPr algn="ctr" indent="0" marL="0">
              <a:buNone/>
            </a:pPr>
            <a:r>
              <a:rPr lang="en-US" sz="1150" b="1" dirty="0">
                <a:solidFill>
                  <a:srgbClr val="E8EEFC"/>
                </a:solidFill>
                <a:latin typeface="Arial" pitchFamily="34" charset="0"/>
                <a:ea typeface="Arial" pitchFamily="34" charset="-122"/>
                <a:cs typeface="Arial" pitchFamily="34" charset="-120"/>
              </a:rPr>
              <a:t>Adversarial review</a:t>
            </a:r>
            <a:endParaRPr lang="en-US" sz="1150" dirty="0"/>
          </a:p>
        </p:txBody>
      </p:sp>
      <p:sp>
        <p:nvSpPr>
          <p:cNvPr id="19" name="Text 16"/>
          <p:cNvSpPr/>
          <p:nvPr/>
        </p:nvSpPr>
        <p:spPr>
          <a:xfrm>
            <a:off x="9857232" y="1645920"/>
            <a:ext cx="237744" cy="685800"/>
          </a:xfrm>
          <a:prstGeom prst="rect">
            <a:avLst/>
          </a:prstGeom>
          <a:noFill/>
          <a:ln/>
        </p:spPr>
        <p:txBody>
          <a:bodyPr wrap="square" lIns="0" tIns="0" rIns="0" bIns="0" rtlCol="0" anchor="ctr"/>
          <a:lstStyle/>
          <a:p>
            <a:pPr algn="ctr" indent="0" marL="0">
              <a:buNone/>
            </a:pPr>
            <a:r>
              <a:rPr lang="en-US" sz="1400" dirty="0">
                <a:solidFill>
                  <a:srgbClr val="4F74F0"/>
                </a:solidFill>
                <a:latin typeface="Arial" pitchFamily="34" charset="0"/>
                <a:ea typeface="Arial" pitchFamily="34" charset="-122"/>
                <a:cs typeface="Arial" pitchFamily="34" charset="-120"/>
              </a:rPr>
              <a:t>→</a:t>
            </a:r>
            <a:endParaRPr lang="en-US" sz="1400" dirty="0"/>
          </a:p>
        </p:txBody>
      </p:sp>
      <p:sp>
        <p:nvSpPr>
          <p:cNvPr id="20" name="Shape 17"/>
          <p:cNvSpPr/>
          <p:nvPr/>
        </p:nvSpPr>
        <p:spPr>
          <a:xfrm>
            <a:off x="10035540" y="1645920"/>
            <a:ext cx="1755648" cy="685800"/>
          </a:xfrm>
          <a:prstGeom prst="roundRect">
            <a:avLst>
              <a:gd name="adj" fmla="val 12000"/>
            </a:avLst>
          </a:prstGeom>
          <a:solidFill>
            <a:srgbClr val="0C1530"/>
          </a:solidFill>
          <a:ln w="9525">
            <a:solidFill>
              <a:srgbClr val="24325C"/>
            </a:solidFill>
            <a:prstDash val="solid"/>
          </a:ln>
        </p:spPr>
      </p:sp>
      <p:sp>
        <p:nvSpPr>
          <p:cNvPr id="21" name="Text 18"/>
          <p:cNvSpPr/>
          <p:nvPr/>
        </p:nvSpPr>
        <p:spPr>
          <a:xfrm>
            <a:off x="10035540" y="1645920"/>
            <a:ext cx="1755648" cy="685800"/>
          </a:xfrm>
          <a:prstGeom prst="rect">
            <a:avLst/>
          </a:prstGeom>
          <a:noFill/>
          <a:ln/>
        </p:spPr>
        <p:txBody>
          <a:bodyPr wrap="square" lIns="0" tIns="0" rIns="0" bIns="0" rtlCol="0" anchor="ctr"/>
          <a:lstStyle/>
          <a:p>
            <a:pPr algn="ctr" indent="0" marL="0">
              <a:buNone/>
            </a:pPr>
            <a:r>
              <a:rPr lang="en-US" sz="1150" b="1" dirty="0">
                <a:solidFill>
                  <a:srgbClr val="E8EEFC"/>
                </a:solidFill>
                <a:latin typeface="Arial" pitchFamily="34" charset="0"/>
                <a:ea typeface="Arial" pitchFamily="34" charset="-122"/>
                <a:cs typeface="Arial" pitchFamily="34" charset="-120"/>
              </a:rPr>
              <a:t>Retro</a:t>
            </a:r>
            <a:endParaRPr lang="en-US" sz="1150" dirty="0"/>
          </a:p>
        </p:txBody>
      </p:sp>
      <p:sp>
        <p:nvSpPr>
          <p:cNvPr id="22" name="Text 19"/>
          <p:cNvSpPr/>
          <p:nvPr/>
        </p:nvSpPr>
        <p:spPr>
          <a:xfrm>
            <a:off x="822960" y="2606040"/>
            <a:ext cx="10515600" cy="384048"/>
          </a:xfrm>
          <a:prstGeom prst="rect">
            <a:avLst/>
          </a:prstGeom>
          <a:noFill/>
          <a:ln/>
        </p:spPr>
        <p:txBody>
          <a:bodyPr wrap="square" lIns="0" tIns="0" rIns="0" bIns="0" rtlCol="0" anchor="ctr"/>
          <a:lstStyle/>
          <a:p>
            <a:pPr indent="0" marL="0">
              <a:buNone/>
            </a:pPr>
            <a:r>
              <a:rPr lang="en-US" sz="1300" b="1" dirty="0">
                <a:solidFill>
                  <a:srgbClr val="E8EEFC"/>
                </a:solidFill>
                <a:latin typeface="Arial" pitchFamily="34" charset="0"/>
                <a:ea typeface="Arial" pitchFamily="34" charset="-122"/>
                <a:cs typeface="Arial" pitchFamily="34" charset="-120"/>
              </a:rPr>
              <a:t>PRD — </a:t>
            </a:r>
            <a:pPr indent="0" marL="0">
              <a:buNone/>
            </a:pPr>
            <a:r>
              <a:rPr lang="en-US" sz="1300" dirty="0">
                <a:solidFill>
                  <a:srgbClr val="9DB0D9"/>
                </a:solidFill>
                <a:latin typeface="Arial" pitchFamily="34" charset="0"/>
                <a:ea typeface="Arial" pitchFamily="34" charset="-122"/>
                <a:cs typeface="Arial" pitchFamily="34" charset="-120"/>
              </a:rPr>
              <a:t>a PM agent interrogates the requirements out of you</a:t>
            </a:r>
            <a:endParaRPr lang="en-US" sz="1300" dirty="0"/>
          </a:p>
        </p:txBody>
      </p:sp>
      <p:sp>
        <p:nvSpPr>
          <p:cNvPr id="23" name="Text 20"/>
          <p:cNvSpPr/>
          <p:nvPr/>
        </p:nvSpPr>
        <p:spPr>
          <a:xfrm>
            <a:off x="822960" y="3063240"/>
            <a:ext cx="10515600" cy="384048"/>
          </a:xfrm>
          <a:prstGeom prst="rect">
            <a:avLst/>
          </a:prstGeom>
          <a:noFill/>
          <a:ln/>
        </p:spPr>
        <p:txBody>
          <a:bodyPr wrap="square" lIns="0" tIns="0" rIns="0" bIns="0" rtlCol="0" anchor="ctr"/>
          <a:lstStyle/>
          <a:p>
            <a:pPr indent="0" marL="0">
              <a:buNone/>
            </a:pPr>
            <a:r>
              <a:rPr lang="en-US" sz="1300" b="1" dirty="0">
                <a:solidFill>
                  <a:srgbClr val="E8EEFC"/>
                </a:solidFill>
                <a:latin typeface="Arial" pitchFamily="34" charset="0"/>
                <a:ea typeface="Arial" pitchFamily="34" charset="-122"/>
                <a:cs typeface="Arial" pitchFamily="34" charset="-120"/>
              </a:rPr>
              <a:t>Architecture — </a:t>
            </a:r>
            <a:pPr indent="0" marL="0">
              <a:buNone/>
            </a:pPr>
            <a:r>
              <a:rPr lang="en-US" sz="1300" dirty="0">
                <a:solidFill>
                  <a:srgbClr val="9DB0D9"/>
                </a:solidFill>
                <a:latin typeface="Arial" pitchFamily="34" charset="0"/>
                <a:ea typeface="Arial" pitchFamily="34" charset="-122"/>
                <a:cs typeface="Arial" pitchFamily="34" charset="-120"/>
              </a:rPr>
              <a:t>an architect locks the invariants — mine has 7</a:t>
            </a:r>
            <a:endParaRPr lang="en-US" sz="1300" dirty="0"/>
          </a:p>
        </p:txBody>
      </p:sp>
      <p:sp>
        <p:nvSpPr>
          <p:cNvPr id="24" name="Text 21"/>
          <p:cNvSpPr/>
          <p:nvPr/>
        </p:nvSpPr>
        <p:spPr>
          <a:xfrm>
            <a:off x="822960" y="3520440"/>
            <a:ext cx="10515600" cy="384048"/>
          </a:xfrm>
          <a:prstGeom prst="rect">
            <a:avLst/>
          </a:prstGeom>
          <a:noFill/>
          <a:ln/>
        </p:spPr>
        <p:txBody>
          <a:bodyPr wrap="square" lIns="0" tIns="0" rIns="0" bIns="0" rtlCol="0" anchor="ctr"/>
          <a:lstStyle/>
          <a:p>
            <a:pPr indent="0" marL="0">
              <a:buNone/>
            </a:pPr>
            <a:r>
              <a:rPr lang="en-US" sz="1300" b="1" dirty="0">
                <a:solidFill>
                  <a:srgbClr val="E8EEFC"/>
                </a:solidFill>
                <a:latin typeface="Arial" pitchFamily="34" charset="0"/>
                <a:ea typeface="Arial" pitchFamily="34" charset="-122"/>
                <a:cs typeface="Arial" pitchFamily="34" charset="-120"/>
              </a:rPr>
              <a:t>Epics &amp; stories — </a:t>
            </a:r>
            <a:pPr indent="0" marL="0">
              <a:buNone/>
            </a:pPr>
            <a:r>
              <a:rPr lang="en-US" sz="1300" dirty="0">
                <a:solidFill>
                  <a:srgbClr val="9DB0D9"/>
                </a:solidFill>
                <a:latin typeface="Arial" pitchFamily="34" charset="0"/>
                <a:ea typeface="Arial" pitchFamily="34" charset="-122"/>
                <a:cs typeface="Arial" pitchFamily="34" charset="-120"/>
              </a:rPr>
              <a:t>7 epics, each story with acceptance criteria</a:t>
            </a:r>
            <a:endParaRPr lang="en-US" sz="1300" dirty="0"/>
          </a:p>
        </p:txBody>
      </p:sp>
      <p:sp>
        <p:nvSpPr>
          <p:cNvPr id="25" name="Text 22"/>
          <p:cNvSpPr/>
          <p:nvPr/>
        </p:nvSpPr>
        <p:spPr>
          <a:xfrm>
            <a:off x="822960" y="3977640"/>
            <a:ext cx="10515600" cy="384048"/>
          </a:xfrm>
          <a:prstGeom prst="rect">
            <a:avLst/>
          </a:prstGeom>
          <a:noFill/>
          <a:ln/>
        </p:spPr>
        <p:txBody>
          <a:bodyPr wrap="square" lIns="0" tIns="0" rIns="0" bIns="0" rtlCol="0" anchor="ctr"/>
          <a:lstStyle/>
          <a:p>
            <a:pPr indent="0" marL="0">
              <a:buNone/>
            </a:pPr>
            <a:r>
              <a:rPr lang="en-US" sz="1300" b="1" dirty="0">
                <a:solidFill>
                  <a:srgbClr val="E8EEFC"/>
                </a:solidFill>
                <a:latin typeface="Arial" pitchFamily="34" charset="0"/>
                <a:ea typeface="Arial" pitchFamily="34" charset="-122"/>
                <a:cs typeface="Arial" pitchFamily="34" charset="-120"/>
              </a:rPr>
              <a:t>Implement — </a:t>
            </a:r>
            <a:pPr indent="0" marL="0">
              <a:buNone/>
            </a:pPr>
            <a:r>
              <a:rPr lang="en-US" sz="1300" dirty="0">
                <a:solidFill>
                  <a:srgbClr val="9DB0D9"/>
                </a:solidFill>
                <a:latin typeface="Arial" pitchFamily="34" charset="0"/>
                <a:ea typeface="Arial" pitchFamily="34" charset="-122"/>
                <a:cs typeface="Arial" pitchFamily="34" charset="-120"/>
              </a:rPr>
              <a:t>a dev agent codes each story, tests included</a:t>
            </a:r>
            <a:endParaRPr lang="en-US" sz="1300" dirty="0"/>
          </a:p>
        </p:txBody>
      </p:sp>
      <p:sp>
        <p:nvSpPr>
          <p:cNvPr id="26" name="Text 23"/>
          <p:cNvSpPr/>
          <p:nvPr/>
        </p:nvSpPr>
        <p:spPr>
          <a:xfrm>
            <a:off x="822960" y="4434840"/>
            <a:ext cx="10515600" cy="384048"/>
          </a:xfrm>
          <a:prstGeom prst="rect">
            <a:avLst/>
          </a:prstGeom>
          <a:noFill/>
          <a:ln/>
        </p:spPr>
        <p:txBody>
          <a:bodyPr wrap="square" lIns="0" tIns="0" rIns="0" bIns="0" rtlCol="0" anchor="ctr"/>
          <a:lstStyle/>
          <a:p>
            <a:pPr indent="0" marL="0">
              <a:buNone/>
            </a:pPr>
            <a:r>
              <a:rPr lang="en-US" sz="1300" b="1" dirty="0">
                <a:solidFill>
                  <a:srgbClr val="E8EEFC"/>
                </a:solidFill>
                <a:latin typeface="Arial" pitchFamily="34" charset="0"/>
                <a:ea typeface="Arial" pitchFamily="34" charset="-122"/>
                <a:cs typeface="Arial" pitchFamily="34" charset="-120"/>
              </a:rPr>
              <a:t>Adversarial review — </a:t>
            </a:r>
            <a:pPr indent="0" marL="0">
              <a:buNone/>
            </a:pPr>
            <a:r>
              <a:rPr lang="en-US" sz="1300" dirty="0">
                <a:solidFill>
                  <a:srgbClr val="9DB0D9"/>
                </a:solidFill>
                <a:latin typeface="Arial" pitchFamily="34" charset="0"/>
                <a:ea typeface="Arial" pitchFamily="34" charset="-122"/>
                <a:cs typeface="Arial" pitchFamily="34" charset="-120"/>
              </a:rPr>
              <a:t>a cast of critics attacks the change</a:t>
            </a:r>
            <a:endParaRPr lang="en-US" sz="1300" dirty="0"/>
          </a:p>
        </p:txBody>
      </p:sp>
      <p:sp>
        <p:nvSpPr>
          <p:cNvPr id="27" name="Text 24"/>
          <p:cNvSpPr/>
          <p:nvPr/>
        </p:nvSpPr>
        <p:spPr>
          <a:xfrm>
            <a:off x="822960" y="4892040"/>
            <a:ext cx="10515600" cy="384048"/>
          </a:xfrm>
          <a:prstGeom prst="rect">
            <a:avLst/>
          </a:prstGeom>
          <a:noFill/>
          <a:ln/>
        </p:spPr>
        <p:txBody>
          <a:bodyPr wrap="square" lIns="0" tIns="0" rIns="0" bIns="0" rtlCol="0" anchor="ctr"/>
          <a:lstStyle/>
          <a:p>
            <a:pPr indent="0" marL="0">
              <a:buNone/>
            </a:pPr>
            <a:r>
              <a:rPr lang="en-US" sz="1300" b="1" dirty="0">
                <a:solidFill>
                  <a:srgbClr val="E8EEFC"/>
                </a:solidFill>
                <a:latin typeface="Arial" pitchFamily="34" charset="0"/>
                <a:ea typeface="Arial" pitchFamily="34" charset="-122"/>
                <a:cs typeface="Arial" pitchFamily="34" charset="-120"/>
              </a:rPr>
              <a:t>Retro — </a:t>
            </a:r>
            <a:pPr indent="0" marL="0">
              <a:buNone/>
            </a:pPr>
            <a:r>
              <a:rPr lang="en-US" sz="1300" dirty="0">
                <a:solidFill>
                  <a:srgbClr val="9DB0D9"/>
                </a:solidFill>
                <a:latin typeface="Arial" pitchFamily="34" charset="0"/>
                <a:ea typeface="Arial" pitchFamily="34" charset="-122"/>
                <a:cs typeface="Arial" pitchFamily="34" charset="-120"/>
              </a:rPr>
              <a:t>lessons feed the next epic</a:t>
            </a:r>
            <a:endParaRPr lang="en-US" sz="1300" dirty="0"/>
          </a:p>
        </p:txBody>
      </p:sp>
      <p:sp>
        <p:nvSpPr>
          <p:cNvPr id="28" name="Shape 25"/>
          <p:cNvSpPr/>
          <p:nvPr/>
        </p:nvSpPr>
        <p:spPr>
          <a:xfrm>
            <a:off x="548640" y="5486400"/>
            <a:ext cx="11091672" cy="777240"/>
          </a:xfrm>
          <a:prstGeom prst="roundRect">
            <a:avLst>
              <a:gd name="adj" fmla="val 10588"/>
            </a:avLst>
          </a:prstGeom>
          <a:solidFill>
            <a:srgbClr val="0C1530"/>
          </a:solidFill>
          <a:ln w="9525">
            <a:solidFill>
              <a:srgbClr val="24325C"/>
            </a:solidFill>
            <a:prstDash val="solid"/>
          </a:ln>
        </p:spPr>
      </p:sp>
      <p:sp>
        <p:nvSpPr>
          <p:cNvPr id="29" name="Text 26"/>
          <p:cNvSpPr/>
          <p:nvPr/>
        </p:nvSpPr>
        <p:spPr>
          <a:xfrm>
            <a:off x="822960" y="5596128"/>
            <a:ext cx="10515600" cy="548640"/>
          </a:xfrm>
          <a:prstGeom prst="rect">
            <a:avLst/>
          </a:prstGeom>
          <a:noFill/>
          <a:ln/>
        </p:spPr>
        <p:txBody>
          <a:bodyPr wrap="square" lIns="0" tIns="0" rIns="0" bIns="0" rtlCol="0" anchor="ctr"/>
          <a:lstStyle/>
          <a:p>
            <a:pPr indent="0" marL="0">
              <a:buNone/>
            </a:pPr>
            <a:r>
              <a:rPr lang="en-US" sz="1250" dirty="0">
                <a:solidFill>
                  <a:srgbClr val="9DB0D9"/>
                </a:solidFill>
                <a:latin typeface="Arial" pitchFamily="34" charset="0"/>
                <a:ea typeface="Arial" pitchFamily="34" charset="-122"/>
                <a:cs typeface="Arial" pitchFamily="34" charset="-120"/>
              </a:rPr>
              <a:t>The invariant that mattered most: </a:t>
            </a:r>
            <a:pPr indent="0" marL="0">
              <a:buNone/>
            </a:pPr>
            <a:r>
              <a:rPr lang="en-US" sz="1250" b="1" dirty="0">
                <a:solidFill>
                  <a:srgbClr val="4F74F0"/>
                </a:solidFill>
                <a:latin typeface="Arial" pitchFamily="34" charset="0"/>
                <a:ea typeface="Arial" pitchFamily="34" charset="-122"/>
                <a:cs typeface="Arial" pitchFamily="34" charset="-120"/>
              </a:rPr>
              <a:t>“the LLM never computes a number.”</a:t>
            </a:r>
            <a:pPr indent="0" marL="0">
              <a:buNone/>
            </a:pPr>
            <a:r>
              <a:rPr lang="en-US" sz="1250" dirty="0">
                <a:solidFill>
                  <a:srgbClr val="9DB0D9"/>
                </a:solidFill>
                <a:latin typeface="Arial" pitchFamily="34" charset="0"/>
                <a:ea typeface="Arial" pitchFamily="34" charset="-122"/>
                <a:cs typeface="Arial" pitchFamily="34" charset="-120"/>
              </a:rPr>
              <a:t> Locked in the architecture doc before a line of scoring code existed.</a:t>
            </a:r>
            <a:endParaRPr lang="en-US" sz="1250" dirty="0"/>
          </a:p>
        </p:txBody>
      </p:sp>
      <p:sp>
        <p:nvSpPr>
          <p:cNvPr id="30" name="Text 27"/>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E6F9E"/>
                </a:solidFill>
                <a:latin typeface="Arial" pitchFamily="34" charset="0"/>
                <a:ea typeface="Arial" pitchFamily="34" charset="-122"/>
                <a:cs typeface="Arial" pitchFamily="34" charset="-120"/>
              </a:rPr>
              <a:t>CareerStar · ashleylibasci.com</a:t>
            </a:r>
            <a:endParaRPr lang="en-US" sz="900" dirty="0"/>
          </a:p>
        </p:txBody>
      </p:sp>
      <p:sp>
        <p:nvSpPr>
          <p:cNvPr id="31" name="Text 28"/>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5E6F9E"/>
                </a:solidFill>
                <a:latin typeface="Courier New" pitchFamily="34" charset="0"/>
                <a:ea typeface="Courier New" pitchFamily="34" charset="-122"/>
                <a:cs typeface="Courier New"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548640" y="402336"/>
            <a:ext cx="155448" cy="164592"/>
          </a:xfrm>
          <a:prstGeom prst="rect">
            <a:avLst/>
          </a:prstGeom>
        </p:spPr>
      </p:pic>
      <p:sp>
        <p:nvSpPr>
          <p:cNvPr id="3" name="Text 0"/>
          <p:cNvSpPr/>
          <p:nvPr/>
        </p:nvSpPr>
        <p:spPr>
          <a:xfrm>
            <a:off x="786384" y="384048"/>
            <a:ext cx="7315200" cy="274320"/>
          </a:xfrm>
          <a:prstGeom prst="rect">
            <a:avLst/>
          </a:prstGeom>
          <a:noFill/>
          <a:ln/>
        </p:spPr>
        <p:txBody>
          <a:bodyPr wrap="square" lIns="0" tIns="0" rIns="0" bIns="0" rtlCol="0" anchor="ctr"/>
          <a:lstStyle/>
          <a:p>
            <a:pPr indent="0" marL="0">
              <a:buNone/>
            </a:pPr>
            <a:r>
              <a:rPr lang="en-US" sz="1100" b="1" spc="300" kern="0" dirty="0">
                <a:solidFill>
                  <a:srgbClr val="4F74F0"/>
                </a:solidFill>
                <a:latin typeface="Arial" pitchFamily="34" charset="0"/>
                <a:ea typeface="Arial" pitchFamily="34" charset="-122"/>
                <a:cs typeface="Arial" pitchFamily="34" charset="-120"/>
              </a:rPr>
              <a:t>04 · BMAD, CONTINUED</a:t>
            </a:r>
            <a:endParaRPr lang="en-US" sz="1100" dirty="0"/>
          </a:p>
        </p:txBody>
      </p:sp>
      <p:sp>
        <p:nvSpPr>
          <p:cNvPr id="4" name="Text 1"/>
          <p:cNvSpPr/>
          <p:nvPr/>
        </p:nvSpPr>
        <p:spPr>
          <a:xfrm>
            <a:off x="548640" y="658368"/>
            <a:ext cx="11094415" cy="685800"/>
          </a:xfrm>
          <a:prstGeom prst="rect">
            <a:avLst/>
          </a:prstGeom>
          <a:noFill/>
          <a:ln/>
        </p:spPr>
        <p:txBody>
          <a:bodyPr wrap="square" lIns="0" tIns="0" rIns="0" bIns="0" rtlCol="0" anchor="ctr"/>
          <a:lstStyle/>
          <a:p>
            <a:pPr indent="0" marL="0">
              <a:buNone/>
            </a:pPr>
            <a:r>
              <a:rPr lang="en-US" sz="3100" b="1" dirty="0">
                <a:solidFill>
                  <a:srgbClr val="E8EEFC"/>
                </a:solidFill>
                <a:latin typeface="Arial" pitchFamily="34" charset="0"/>
                <a:ea typeface="Arial" pitchFamily="34" charset="-122"/>
                <a:cs typeface="Arial" pitchFamily="34" charset="-120"/>
              </a:rPr>
              <a:t>My code reviews are a room full of arguing characters</a:t>
            </a:r>
            <a:endParaRPr lang="en-US" sz="3100" dirty="0"/>
          </a:p>
        </p:txBody>
      </p:sp>
      <p:sp>
        <p:nvSpPr>
          <p:cNvPr id="5" name="Shape 2"/>
          <p:cNvSpPr/>
          <p:nvPr/>
        </p:nvSpPr>
        <p:spPr>
          <a:xfrm>
            <a:off x="548640" y="1645920"/>
            <a:ext cx="5212080" cy="4114800"/>
          </a:xfrm>
          <a:prstGeom prst="roundRect">
            <a:avLst>
              <a:gd name="adj" fmla="val 2000"/>
            </a:avLst>
          </a:prstGeom>
          <a:solidFill>
            <a:srgbClr val="0C1530"/>
          </a:solidFill>
          <a:ln w="9525">
            <a:solidFill>
              <a:srgbClr val="24325C"/>
            </a:solidFill>
            <a:prstDash val="solid"/>
          </a:ln>
        </p:spPr>
      </p:sp>
      <p:sp>
        <p:nvSpPr>
          <p:cNvPr id="6" name="Text 3"/>
          <p:cNvSpPr/>
          <p:nvPr/>
        </p:nvSpPr>
        <p:spPr>
          <a:xfrm>
            <a:off x="822960" y="1828800"/>
            <a:ext cx="4663440" cy="365760"/>
          </a:xfrm>
          <a:prstGeom prst="rect">
            <a:avLst/>
          </a:prstGeom>
          <a:noFill/>
          <a:ln/>
        </p:spPr>
        <p:txBody>
          <a:bodyPr wrap="square" lIns="0" tIns="0" rIns="0" bIns="0" rtlCol="0" anchor="ctr"/>
          <a:lstStyle/>
          <a:p>
            <a:pPr indent="0" marL="0">
              <a:buNone/>
            </a:pPr>
            <a:r>
              <a:rPr lang="en-US" sz="1500" b="1" dirty="0">
                <a:solidFill>
                  <a:srgbClr val="E8EEFC"/>
                </a:solidFill>
                <a:latin typeface="Arial" pitchFamily="34" charset="0"/>
                <a:ea typeface="Arial" pitchFamily="34" charset="-122"/>
                <a:cs typeface="Arial" pitchFamily="34" charset="-120"/>
              </a:rPr>
              <a:t>The cast</a:t>
            </a:r>
            <a:endParaRPr lang="en-US" sz="1500" dirty="0"/>
          </a:p>
        </p:txBody>
      </p:sp>
      <p:sp>
        <p:nvSpPr>
          <p:cNvPr id="7" name="Text 4"/>
          <p:cNvSpPr/>
          <p:nvPr/>
        </p:nvSpPr>
        <p:spPr>
          <a:xfrm>
            <a:off x="822960" y="2286000"/>
            <a:ext cx="4663440" cy="329184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9DB0D9"/>
                </a:solidFill>
                <a:latin typeface="Arial" pitchFamily="34" charset="0"/>
                <a:ea typeface="Arial" pitchFamily="34" charset="-122"/>
                <a:cs typeface="Arial" pitchFamily="34" charset="-120"/>
              </a:rPr>
              <a:t>a Google-hiring-manager persona who asks what an interviewer would</a:t>
            </a:r>
            <a:endParaRPr lang="en-US" sz="1250" dirty="0"/>
          </a:p>
          <a:p>
            <a:pPr marL="342900" indent="-342900">
              <a:spcAft>
                <a:spcPts val="1000"/>
              </a:spcAft>
              <a:buSzPct val="100000"/>
              <a:buChar char="•"/>
            </a:pPr>
            <a:r>
              <a:rPr lang="en-US" sz="1250" dirty="0">
                <a:solidFill>
                  <a:srgbClr val="9DB0D9"/>
                </a:solidFill>
                <a:latin typeface="Arial" pitchFamily="34" charset="0"/>
                <a:ea typeface="Arial" pitchFamily="34" charset="-122"/>
                <a:cs typeface="Arial" pitchFamily="34" charset="-120"/>
              </a:rPr>
              <a:t>a retired fact-checker who traces every published number to a file</a:t>
            </a:r>
            <a:endParaRPr lang="en-US" sz="1250" dirty="0"/>
          </a:p>
          <a:p>
            <a:pPr marL="342900" indent="-342900">
              <a:spcAft>
                <a:spcPts val="1000"/>
              </a:spcAft>
              <a:buSzPct val="100000"/>
              <a:buChar char="•"/>
            </a:pPr>
            <a:r>
              <a:rPr lang="en-US" sz="1250" dirty="0">
                <a:solidFill>
                  <a:srgbClr val="9DB0D9"/>
                </a:solidFill>
                <a:latin typeface="Arial" pitchFamily="34" charset="0"/>
                <a:ea typeface="Arial" pitchFamily="34" charset="-122"/>
                <a:cs typeface="Arial" pitchFamily="34" charset="-120"/>
              </a:rPr>
              <a:t>a copy chief who deletes anything that sounds machine-written</a:t>
            </a:r>
            <a:endParaRPr lang="en-US" sz="1250" dirty="0"/>
          </a:p>
          <a:p>
            <a:pPr marL="342900" indent="-342900">
              <a:spcAft>
                <a:spcPts val="1000"/>
              </a:spcAft>
              <a:buSzPct val="100000"/>
              <a:buChar char="•"/>
            </a:pPr>
            <a:r>
              <a:rPr lang="en-US" sz="1250" dirty="0">
                <a:solidFill>
                  <a:srgbClr val="9DB0D9"/>
                </a:solidFill>
                <a:latin typeface="Arial" pitchFamily="34" charset="0"/>
                <a:ea typeface="Arial" pitchFamily="34" charset="-122"/>
                <a:cs typeface="Arial" pitchFamily="34" charset="-120"/>
              </a:rPr>
              <a:t>a QA lead, a design critic, one professional grump</a:t>
            </a:r>
            <a:endParaRPr lang="en-US" sz="1250" dirty="0"/>
          </a:p>
          <a:p>
            <a:pPr marL="342900" indent="-342900">
              <a:spcAft>
                <a:spcPts val="1000"/>
              </a:spcAft>
              <a:buSzPct val="100000"/>
              <a:buChar char="•"/>
            </a:pPr>
            <a:r>
              <a:rPr lang="en-US" sz="1250" b="1" dirty="0">
                <a:solidFill>
                  <a:srgbClr val="4F74F0"/>
                </a:solidFill>
                <a:latin typeface="Arial" pitchFamily="34" charset="0"/>
                <a:ea typeface="Arial" pitchFamily="34" charset="-122"/>
                <a:cs typeface="Arial" pitchFamily="34" charset="-120"/>
              </a:rPr>
              <a:t>they argue with each other. I judge.</a:t>
            </a:r>
            <a:endParaRPr lang="en-US" sz="1250" dirty="0"/>
          </a:p>
        </p:txBody>
      </p:sp>
      <p:sp>
        <p:nvSpPr>
          <p:cNvPr id="8" name="Shape 5"/>
          <p:cNvSpPr/>
          <p:nvPr/>
        </p:nvSpPr>
        <p:spPr>
          <a:xfrm>
            <a:off x="6035040" y="1645920"/>
            <a:ext cx="5605272" cy="4114800"/>
          </a:xfrm>
          <a:prstGeom prst="roundRect">
            <a:avLst>
              <a:gd name="adj" fmla="val 2000"/>
            </a:avLst>
          </a:prstGeom>
          <a:solidFill>
            <a:srgbClr val="101A38"/>
          </a:solidFill>
          <a:ln w="9525">
            <a:solidFill>
              <a:srgbClr val="24325C"/>
            </a:solidFill>
            <a:prstDash val="solid"/>
          </a:ln>
        </p:spPr>
      </p:sp>
      <p:sp>
        <p:nvSpPr>
          <p:cNvPr id="9" name="Text 6"/>
          <p:cNvSpPr/>
          <p:nvPr/>
        </p:nvSpPr>
        <p:spPr>
          <a:xfrm>
            <a:off x="6309360" y="1828800"/>
            <a:ext cx="5029200" cy="365760"/>
          </a:xfrm>
          <a:prstGeom prst="rect">
            <a:avLst/>
          </a:prstGeom>
          <a:noFill/>
          <a:ln/>
        </p:spPr>
        <p:txBody>
          <a:bodyPr wrap="square" lIns="0" tIns="0" rIns="0" bIns="0" rtlCol="0" anchor="ctr"/>
          <a:lstStyle/>
          <a:p>
            <a:pPr indent="0" marL="0">
              <a:buNone/>
            </a:pPr>
            <a:r>
              <a:rPr lang="en-US" sz="1500" b="1" dirty="0">
                <a:solidFill>
                  <a:srgbClr val="E8EEFC"/>
                </a:solidFill>
                <a:latin typeface="Arial" pitchFamily="34" charset="0"/>
                <a:ea typeface="Arial" pitchFamily="34" charset="-122"/>
                <a:cs typeface="Arial" pitchFamily="34" charset="-120"/>
              </a:rPr>
              <a:t>Real catches</a:t>
            </a:r>
            <a:endParaRPr lang="en-US" sz="1500" dirty="0"/>
          </a:p>
        </p:txBody>
      </p:sp>
      <p:sp>
        <p:nvSpPr>
          <p:cNvPr id="10" name="Text 7"/>
          <p:cNvSpPr/>
          <p:nvPr/>
        </p:nvSpPr>
        <p:spPr>
          <a:xfrm>
            <a:off x="6309360" y="2286000"/>
            <a:ext cx="5029200" cy="292608"/>
          </a:xfrm>
          <a:prstGeom prst="rect">
            <a:avLst/>
          </a:prstGeom>
          <a:noFill/>
          <a:ln/>
        </p:spPr>
        <p:txBody>
          <a:bodyPr wrap="square" lIns="0" tIns="0" rIns="0" bIns="0" rtlCol="0" anchor="ctr"/>
          <a:lstStyle/>
          <a:p>
            <a:pPr indent="0" marL="0">
              <a:buNone/>
            </a:pPr>
            <a:r>
              <a:rPr lang="en-US" sz="1300" b="1" dirty="0">
                <a:solidFill>
                  <a:srgbClr val="34D399"/>
                </a:solidFill>
                <a:latin typeface="Arial" pitchFamily="34" charset="0"/>
                <a:ea typeface="Arial" pitchFamily="34" charset="-122"/>
                <a:cs typeface="Arial" pitchFamily="34" charset="-120"/>
              </a:rPr>
              <a:t>The fit overclaim</a:t>
            </a:r>
            <a:endParaRPr lang="en-US" sz="1300" dirty="0"/>
          </a:p>
        </p:txBody>
      </p:sp>
      <p:sp>
        <p:nvSpPr>
          <p:cNvPr id="11" name="Text 8"/>
          <p:cNvSpPr/>
          <p:nvPr/>
        </p:nvSpPr>
        <p:spPr>
          <a:xfrm>
            <a:off x="6309360" y="2578608"/>
            <a:ext cx="5029200" cy="685800"/>
          </a:xfrm>
          <a:prstGeom prst="rect">
            <a:avLst/>
          </a:prstGeom>
          <a:noFill/>
          <a:ln/>
        </p:spPr>
        <p:txBody>
          <a:bodyPr wrap="square" lIns="0" tIns="0" rIns="0" bIns="0" rtlCol="0" anchor="ctr"/>
          <a:lstStyle/>
          <a:p>
            <a:pPr indent="0" marL="0">
              <a:buNone/>
            </a:pPr>
            <a:r>
              <a:rPr lang="en-US" sz="1150" dirty="0">
                <a:solidFill>
                  <a:srgbClr val="9DB0D9"/>
                </a:solidFill>
                <a:latin typeface="Arial" pitchFamily="34" charset="0"/>
                <a:ea typeface="Arial" pitchFamily="34" charset="-122"/>
                <a:cs typeface="Arial" pitchFamily="34" charset="-120"/>
              </a:rPr>
              <a:t>my methodology page described skill-vector matching before the vectors were wired in. Caught in review. I rebuilt fit properly, then published the story of the catch.</a:t>
            </a:r>
            <a:endParaRPr lang="en-US" sz="1150" dirty="0"/>
          </a:p>
        </p:txBody>
      </p:sp>
      <p:sp>
        <p:nvSpPr>
          <p:cNvPr id="12" name="Text 9"/>
          <p:cNvSpPr/>
          <p:nvPr/>
        </p:nvSpPr>
        <p:spPr>
          <a:xfrm>
            <a:off x="6309360" y="3401568"/>
            <a:ext cx="5029200" cy="292608"/>
          </a:xfrm>
          <a:prstGeom prst="rect">
            <a:avLst/>
          </a:prstGeom>
          <a:noFill/>
          <a:ln/>
        </p:spPr>
        <p:txBody>
          <a:bodyPr wrap="square" lIns="0" tIns="0" rIns="0" bIns="0" rtlCol="0" anchor="ctr"/>
          <a:lstStyle/>
          <a:p>
            <a:pPr indent="0" marL="0">
              <a:buNone/>
            </a:pPr>
            <a:r>
              <a:rPr lang="en-US" sz="1300" b="1" dirty="0">
                <a:solidFill>
                  <a:srgbClr val="34D399"/>
                </a:solidFill>
                <a:latin typeface="Arial" pitchFamily="34" charset="0"/>
                <a:ea typeface="Arial" pitchFamily="34" charset="-122"/>
                <a:cs typeface="Arial" pitchFamily="34" charset="-120"/>
              </a:rPr>
              <a:t>The buried back-test</a:t>
            </a:r>
            <a:endParaRPr lang="en-US" sz="1300" dirty="0"/>
          </a:p>
        </p:txBody>
      </p:sp>
      <p:sp>
        <p:nvSpPr>
          <p:cNvPr id="13" name="Text 10"/>
          <p:cNvSpPr/>
          <p:nvPr/>
        </p:nvSpPr>
        <p:spPr>
          <a:xfrm>
            <a:off x="6309360" y="3694176"/>
            <a:ext cx="5029200" cy="685800"/>
          </a:xfrm>
          <a:prstGeom prst="rect">
            <a:avLst/>
          </a:prstGeom>
          <a:noFill/>
          <a:ln/>
        </p:spPr>
        <p:txBody>
          <a:bodyPr wrap="square" lIns="0" tIns="0" rIns="0" bIns="0" rtlCol="0" anchor="ctr"/>
          <a:lstStyle/>
          <a:p>
            <a:pPr indent="0" marL="0">
              <a:buNone/>
            </a:pPr>
            <a:r>
              <a:rPr lang="en-US" sz="1150" dirty="0">
                <a:solidFill>
                  <a:srgbClr val="9DB0D9"/>
                </a:solidFill>
                <a:latin typeface="Arial" pitchFamily="34" charset="0"/>
                <a:ea typeface="Arial" pitchFamily="34" charset="-122"/>
                <a:cs typeface="Arial" pitchFamily="34" charset="-120"/>
              </a:rPr>
              <a:t>the hiring-manager persona fought twice to keep my strongest evidence above the fold. It won. It was right.</a:t>
            </a:r>
            <a:endParaRPr lang="en-US" sz="1150" dirty="0"/>
          </a:p>
        </p:txBody>
      </p:sp>
      <p:sp>
        <p:nvSpPr>
          <p:cNvPr id="14" name="Text 11"/>
          <p:cNvSpPr/>
          <p:nvPr/>
        </p:nvSpPr>
        <p:spPr>
          <a:xfrm>
            <a:off x="6309360" y="4517136"/>
            <a:ext cx="5029200" cy="292608"/>
          </a:xfrm>
          <a:prstGeom prst="rect">
            <a:avLst/>
          </a:prstGeom>
          <a:noFill/>
          <a:ln/>
        </p:spPr>
        <p:txBody>
          <a:bodyPr wrap="square" lIns="0" tIns="0" rIns="0" bIns="0" rtlCol="0" anchor="ctr"/>
          <a:lstStyle/>
          <a:p>
            <a:pPr indent="0" marL="0">
              <a:buNone/>
            </a:pPr>
            <a:r>
              <a:rPr lang="en-US" sz="1300" b="1" dirty="0">
                <a:solidFill>
                  <a:srgbClr val="34D399"/>
                </a:solidFill>
                <a:latin typeface="Arial" pitchFamily="34" charset="0"/>
                <a:ea typeface="Arial" pitchFamily="34" charset="-122"/>
                <a:cs typeface="Arial" pitchFamily="34" charset="-120"/>
              </a:rPr>
              <a:t>Every number, traced</a:t>
            </a:r>
            <a:endParaRPr lang="en-US" sz="1300" dirty="0"/>
          </a:p>
        </p:txBody>
      </p:sp>
      <p:sp>
        <p:nvSpPr>
          <p:cNvPr id="15" name="Text 12"/>
          <p:cNvSpPr/>
          <p:nvPr/>
        </p:nvSpPr>
        <p:spPr>
          <a:xfrm>
            <a:off x="6309360" y="4809744"/>
            <a:ext cx="5029200" cy="685800"/>
          </a:xfrm>
          <a:prstGeom prst="rect">
            <a:avLst/>
          </a:prstGeom>
          <a:noFill/>
          <a:ln/>
        </p:spPr>
        <p:txBody>
          <a:bodyPr wrap="square" lIns="0" tIns="0" rIns="0" bIns="0" rtlCol="0" anchor="ctr"/>
          <a:lstStyle/>
          <a:p>
            <a:pPr indent="0" marL="0">
              <a:buNone/>
            </a:pPr>
            <a:r>
              <a:rPr lang="en-US" sz="1150" dirty="0">
                <a:solidFill>
                  <a:srgbClr val="9DB0D9"/>
                </a:solidFill>
                <a:latin typeface="Arial" pitchFamily="34" charset="0"/>
                <a:ea typeface="Arial" pitchFamily="34" charset="-122"/>
                <a:cs typeface="Arial" pitchFamily="34" charset="-120"/>
              </a:rPr>
              <a:t>the fact-checker made me recompute every statistic on the site from source. Twice.</a:t>
            </a:r>
            <a:endParaRPr lang="en-US" sz="1150" dirty="0"/>
          </a:p>
        </p:txBody>
      </p:sp>
      <p:sp>
        <p:nvSpPr>
          <p:cNvPr id="16" name="Text 13"/>
          <p:cNvSpPr/>
          <p:nvPr/>
        </p:nvSpPr>
        <p:spPr>
          <a:xfrm>
            <a:off x="548640" y="5943600"/>
            <a:ext cx="11091672" cy="365760"/>
          </a:xfrm>
          <a:prstGeom prst="rect">
            <a:avLst/>
          </a:prstGeom>
          <a:noFill/>
          <a:ln/>
        </p:spPr>
        <p:txBody>
          <a:bodyPr wrap="square" lIns="0" tIns="0" rIns="0" bIns="0" rtlCol="0" anchor="ctr"/>
          <a:lstStyle/>
          <a:p>
            <a:pPr algn="ctr" indent="0" marL="0">
              <a:buNone/>
            </a:pPr>
            <a:r>
              <a:rPr lang="en-US" sz="1350" i="1" dirty="0">
                <a:solidFill>
                  <a:srgbClr val="4F74F0"/>
                </a:solidFill>
                <a:latin typeface="Arial" pitchFamily="34" charset="0"/>
                <a:ea typeface="Arial" pitchFamily="34" charset="-122"/>
                <a:cs typeface="Arial" pitchFamily="34" charset="-120"/>
              </a:rPr>
              <a:t>Honest review: this was fun. That matters — review you enjoy is review you actually run.</a:t>
            </a:r>
            <a:endParaRPr lang="en-US" sz="1350" dirty="0"/>
          </a:p>
        </p:txBody>
      </p:sp>
      <p:sp>
        <p:nvSpPr>
          <p:cNvPr id="17" name="Text 14"/>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E6F9E"/>
                </a:solidFill>
                <a:latin typeface="Arial" pitchFamily="34" charset="0"/>
                <a:ea typeface="Arial" pitchFamily="34" charset="-122"/>
                <a:cs typeface="Arial" pitchFamily="34" charset="-120"/>
              </a:rPr>
              <a:t>CareerStar · ashleylibasci.com</a:t>
            </a:r>
            <a:endParaRPr lang="en-US" sz="900" dirty="0"/>
          </a:p>
        </p:txBody>
      </p:sp>
      <p:sp>
        <p:nvSpPr>
          <p:cNvPr id="18" name="Text 15"/>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5E6F9E"/>
                </a:solidFill>
                <a:latin typeface="Courier New" pitchFamily="34" charset="0"/>
                <a:ea typeface="Courier New" pitchFamily="34" charset="-122"/>
                <a:cs typeface="Courier New"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548640" y="402336"/>
            <a:ext cx="155448" cy="164592"/>
          </a:xfrm>
          <a:prstGeom prst="rect">
            <a:avLst/>
          </a:prstGeom>
        </p:spPr>
      </p:pic>
      <p:sp>
        <p:nvSpPr>
          <p:cNvPr id="3" name="Text 0"/>
          <p:cNvSpPr/>
          <p:nvPr/>
        </p:nvSpPr>
        <p:spPr>
          <a:xfrm>
            <a:off x="786384" y="384048"/>
            <a:ext cx="7315200" cy="274320"/>
          </a:xfrm>
          <a:prstGeom prst="rect">
            <a:avLst/>
          </a:prstGeom>
          <a:noFill/>
          <a:ln/>
        </p:spPr>
        <p:txBody>
          <a:bodyPr wrap="square" lIns="0" tIns="0" rIns="0" bIns="0" rtlCol="0" anchor="ctr"/>
          <a:lstStyle/>
          <a:p>
            <a:pPr indent="0" marL="0">
              <a:buNone/>
            </a:pPr>
            <a:r>
              <a:rPr lang="en-US" sz="1100" b="1" spc="300" kern="0" dirty="0">
                <a:solidFill>
                  <a:srgbClr val="4F74F0"/>
                </a:solidFill>
                <a:latin typeface="Arial" pitchFamily="34" charset="0"/>
                <a:ea typeface="Arial" pitchFamily="34" charset="-122"/>
                <a:cs typeface="Arial" pitchFamily="34" charset="-120"/>
              </a:rPr>
              <a:t>05 · THE DIFFERENCE</a:t>
            </a:r>
            <a:endParaRPr lang="en-US" sz="1100" dirty="0"/>
          </a:p>
        </p:txBody>
      </p:sp>
      <p:sp>
        <p:nvSpPr>
          <p:cNvPr id="4" name="Text 1"/>
          <p:cNvSpPr/>
          <p:nvPr/>
        </p:nvSpPr>
        <p:spPr>
          <a:xfrm>
            <a:off x="548640" y="658368"/>
            <a:ext cx="11094415" cy="685800"/>
          </a:xfrm>
          <a:prstGeom prst="rect">
            <a:avLst/>
          </a:prstGeom>
          <a:noFill/>
          <a:ln/>
        </p:spPr>
        <p:txBody>
          <a:bodyPr wrap="square" lIns="0" tIns="0" rIns="0" bIns="0" rtlCol="0" anchor="ctr"/>
          <a:lstStyle/>
          <a:p>
            <a:pPr indent="0" marL="0">
              <a:buNone/>
            </a:pPr>
            <a:r>
              <a:rPr lang="en-US" sz="3100" b="1" dirty="0">
                <a:solidFill>
                  <a:srgbClr val="E8EEFC"/>
                </a:solidFill>
                <a:latin typeface="Arial" pitchFamily="34" charset="0"/>
                <a:ea typeface="Arial" pitchFamily="34" charset="-122"/>
                <a:cs typeface="Arial" pitchFamily="34" charset="-120"/>
              </a:rPr>
              <a:t>Same AI. Opposite discipline.</a:t>
            </a:r>
            <a:endParaRPr lang="en-US" sz="3100" dirty="0"/>
          </a:p>
        </p:txBody>
      </p:sp>
      <p:sp>
        <p:nvSpPr>
          <p:cNvPr id="5" name="Shape 2"/>
          <p:cNvSpPr/>
          <p:nvPr/>
        </p:nvSpPr>
        <p:spPr>
          <a:xfrm>
            <a:off x="548640" y="1645920"/>
            <a:ext cx="5394960" cy="4069080"/>
          </a:xfrm>
          <a:prstGeom prst="roundRect">
            <a:avLst>
              <a:gd name="adj" fmla="val 2022"/>
            </a:avLst>
          </a:prstGeom>
          <a:solidFill>
            <a:srgbClr val="0C1530"/>
          </a:solidFill>
          <a:ln w="9525">
            <a:solidFill>
              <a:srgbClr val="24325C"/>
            </a:solidFill>
            <a:prstDash val="solid"/>
          </a:ln>
        </p:spPr>
      </p:sp>
      <p:sp>
        <p:nvSpPr>
          <p:cNvPr id="6" name="Shape 3"/>
          <p:cNvSpPr/>
          <p:nvPr/>
        </p:nvSpPr>
        <p:spPr>
          <a:xfrm>
            <a:off x="6263640" y="1645920"/>
            <a:ext cx="5376672" cy="4069080"/>
          </a:xfrm>
          <a:prstGeom prst="roundRect">
            <a:avLst>
              <a:gd name="adj" fmla="val 2022"/>
            </a:avLst>
          </a:prstGeom>
          <a:solidFill>
            <a:srgbClr val="101A38"/>
          </a:solidFill>
          <a:ln w="9525">
            <a:solidFill>
              <a:srgbClr val="24325C"/>
            </a:solidFill>
            <a:prstDash val="solid"/>
          </a:ln>
        </p:spPr>
      </p:sp>
      <p:sp>
        <p:nvSpPr>
          <p:cNvPr id="7" name="Text 4"/>
          <p:cNvSpPr/>
          <p:nvPr/>
        </p:nvSpPr>
        <p:spPr>
          <a:xfrm>
            <a:off x="822960" y="1810512"/>
            <a:ext cx="4846320" cy="320040"/>
          </a:xfrm>
          <a:prstGeom prst="rect">
            <a:avLst/>
          </a:prstGeom>
          <a:noFill/>
          <a:ln/>
        </p:spPr>
        <p:txBody>
          <a:bodyPr wrap="square" lIns="0" tIns="0" rIns="0" bIns="0" rtlCol="0" anchor="ctr"/>
          <a:lstStyle/>
          <a:p>
            <a:pPr indent="0" marL="0">
              <a:buNone/>
            </a:pPr>
            <a:r>
              <a:rPr lang="en-US" sz="1300" b="1" spc="200" kern="0" dirty="0">
                <a:solidFill>
                  <a:srgbClr val="5E6F9E"/>
                </a:solidFill>
                <a:latin typeface="Arial" pitchFamily="34" charset="0"/>
                <a:ea typeface="Arial" pitchFamily="34" charset="-122"/>
                <a:cs typeface="Arial" pitchFamily="34" charset="-120"/>
              </a:rPr>
              <a:t>VIBE CODING</a:t>
            </a:r>
            <a:endParaRPr lang="en-US" sz="1300" dirty="0"/>
          </a:p>
        </p:txBody>
      </p:sp>
      <p:sp>
        <p:nvSpPr>
          <p:cNvPr id="8" name="Text 5"/>
          <p:cNvSpPr/>
          <p:nvPr/>
        </p:nvSpPr>
        <p:spPr>
          <a:xfrm>
            <a:off x="6537960" y="1810512"/>
            <a:ext cx="4846320" cy="320040"/>
          </a:xfrm>
          <a:prstGeom prst="rect">
            <a:avLst/>
          </a:prstGeom>
          <a:noFill/>
          <a:ln/>
        </p:spPr>
        <p:txBody>
          <a:bodyPr wrap="square" lIns="0" tIns="0" rIns="0" bIns="0" rtlCol="0" anchor="ctr"/>
          <a:lstStyle/>
          <a:p>
            <a:pPr indent="0" marL="0">
              <a:buNone/>
            </a:pPr>
            <a:r>
              <a:rPr lang="en-US" sz="1300" b="1" spc="200" kern="0" dirty="0">
                <a:solidFill>
                  <a:srgbClr val="4F74F0"/>
                </a:solidFill>
                <a:latin typeface="Arial" pitchFamily="34" charset="0"/>
                <a:ea typeface="Arial" pitchFamily="34" charset="-122"/>
                <a:cs typeface="Arial" pitchFamily="34" charset="-120"/>
              </a:rPr>
              <a:t>SPEC-DRIVEN</a:t>
            </a:r>
            <a:endParaRPr lang="en-US" sz="1300" dirty="0"/>
          </a:p>
        </p:txBody>
      </p:sp>
      <p:sp>
        <p:nvSpPr>
          <p:cNvPr id="9" name="Text 6"/>
          <p:cNvSpPr/>
          <p:nvPr/>
        </p:nvSpPr>
        <p:spPr>
          <a:xfrm>
            <a:off x="822960" y="2240280"/>
            <a:ext cx="4846320" cy="457200"/>
          </a:xfrm>
          <a:prstGeom prst="rect">
            <a:avLst/>
          </a:prstGeom>
          <a:noFill/>
          <a:ln/>
        </p:spPr>
        <p:txBody>
          <a:bodyPr wrap="square" lIns="0" tIns="0" rIns="0" bIns="0" rtlCol="0" anchor="ctr"/>
          <a:lstStyle/>
          <a:p>
            <a:pPr indent="0" marL="0">
              <a:buNone/>
            </a:pPr>
            <a:r>
              <a:rPr lang="en-US" sz="1300" dirty="0">
                <a:solidFill>
                  <a:srgbClr val="9DB0D9"/>
                </a:solidFill>
                <a:latin typeface="Arial" pitchFamily="34" charset="0"/>
                <a:ea typeface="Arial" pitchFamily="34" charset="-122"/>
                <a:cs typeface="Arial" pitchFamily="34" charset="-120"/>
              </a:rPr>
              <a:t>Prompt, paste, pray</a:t>
            </a:r>
            <a:endParaRPr lang="en-US" sz="1300" dirty="0"/>
          </a:p>
        </p:txBody>
      </p:sp>
      <p:sp>
        <p:nvSpPr>
          <p:cNvPr id="10" name="Text 7"/>
          <p:cNvSpPr/>
          <p:nvPr/>
        </p:nvSpPr>
        <p:spPr>
          <a:xfrm>
            <a:off x="6537960" y="2240280"/>
            <a:ext cx="4892040" cy="457200"/>
          </a:xfrm>
          <a:prstGeom prst="rect">
            <a:avLst/>
          </a:prstGeom>
          <a:noFill/>
          <a:ln/>
        </p:spPr>
        <p:txBody>
          <a:bodyPr wrap="square" lIns="0" tIns="0" rIns="0" bIns="0" rtlCol="0" anchor="ctr"/>
          <a:lstStyle/>
          <a:p>
            <a:pPr indent="0" marL="0">
              <a:buNone/>
            </a:pPr>
            <a:r>
              <a:rPr lang="en-US" sz="1300" b="1" dirty="0">
                <a:solidFill>
                  <a:srgbClr val="E8EEFC"/>
                </a:solidFill>
                <a:latin typeface="Arial" pitchFamily="34" charset="0"/>
                <a:ea typeface="Arial" pitchFamily="34" charset="-122"/>
                <a:cs typeface="Arial" pitchFamily="34" charset="-120"/>
              </a:rPr>
              <a:t>Spec first: PRD, architecture, stories</a:t>
            </a:r>
            <a:endParaRPr lang="en-US" sz="1300" dirty="0"/>
          </a:p>
        </p:txBody>
      </p:sp>
      <p:sp>
        <p:nvSpPr>
          <p:cNvPr id="11" name="Text 8"/>
          <p:cNvSpPr/>
          <p:nvPr/>
        </p:nvSpPr>
        <p:spPr>
          <a:xfrm>
            <a:off x="822960" y="2807208"/>
            <a:ext cx="4846320" cy="457200"/>
          </a:xfrm>
          <a:prstGeom prst="rect">
            <a:avLst/>
          </a:prstGeom>
          <a:noFill/>
          <a:ln/>
        </p:spPr>
        <p:txBody>
          <a:bodyPr wrap="square" lIns="0" tIns="0" rIns="0" bIns="0" rtlCol="0" anchor="ctr"/>
          <a:lstStyle/>
          <a:p>
            <a:pPr indent="0" marL="0">
              <a:buNone/>
            </a:pPr>
            <a:r>
              <a:rPr lang="en-US" sz="1300" dirty="0">
                <a:solidFill>
                  <a:srgbClr val="9DB0D9"/>
                </a:solidFill>
                <a:latin typeface="Arial" pitchFamily="34" charset="0"/>
                <a:ea typeface="Arial" pitchFamily="34" charset="-122"/>
                <a:cs typeface="Arial" pitchFamily="34" charset="-120"/>
              </a:rPr>
              <a:t>Accept whatever runs</a:t>
            </a:r>
            <a:endParaRPr lang="en-US" sz="1300" dirty="0"/>
          </a:p>
        </p:txBody>
      </p:sp>
      <p:sp>
        <p:nvSpPr>
          <p:cNvPr id="12" name="Text 9"/>
          <p:cNvSpPr/>
          <p:nvPr/>
        </p:nvSpPr>
        <p:spPr>
          <a:xfrm>
            <a:off x="6537960" y="2807208"/>
            <a:ext cx="4892040" cy="457200"/>
          </a:xfrm>
          <a:prstGeom prst="rect">
            <a:avLst/>
          </a:prstGeom>
          <a:noFill/>
          <a:ln/>
        </p:spPr>
        <p:txBody>
          <a:bodyPr wrap="square" lIns="0" tIns="0" rIns="0" bIns="0" rtlCol="0" anchor="ctr"/>
          <a:lstStyle/>
          <a:p>
            <a:pPr indent="0" marL="0">
              <a:buNone/>
            </a:pPr>
            <a:r>
              <a:rPr lang="en-US" sz="1300" b="1" dirty="0">
                <a:solidFill>
                  <a:srgbClr val="E8EEFC"/>
                </a:solidFill>
                <a:latin typeface="Arial" pitchFamily="34" charset="0"/>
                <a:ea typeface="Arial" pitchFamily="34" charset="-122"/>
                <a:cs typeface="Arial" pitchFamily="34" charset="-120"/>
              </a:rPr>
              <a:t>35 deterministic tests, CI on every push</a:t>
            </a:r>
            <a:endParaRPr lang="en-US" sz="1300" dirty="0"/>
          </a:p>
        </p:txBody>
      </p:sp>
      <p:sp>
        <p:nvSpPr>
          <p:cNvPr id="13" name="Text 10"/>
          <p:cNvSpPr/>
          <p:nvPr/>
        </p:nvSpPr>
        <p:spPr>
          <a:xfrm>
            <a:off x="822960" y="3374136"/>
            <a:ext cx="4846320" cy="457200"/>
          </a:xfrm>
          <a:prstGeom prst="rect">
            <a:avLst/>
          </a:prstGeom>
          <a:noFill/>
          <a:ln/>
        </p:spPr>
        <p:txBody>
          <a:bodyPr wrap="square" lIns="0" tIns="0" rIns="0" bIns="0" rtlCol="0" anchor="ctr"/>
          <a:lstStyle/>
          <a:p>
            <a:pPr indent="0" marL="0">
              <a:buNone/>
            </a:pPr>
            <a:r>
              <a:rPr lang="en-US" sz="1300" dirty="0">
                <a:solidFill>
                  <a:srgbClr val="9DB0D9"/>
                </a:solidFill>
                <a:latin typeface="Arial" pitchFamily="34" charset="0"/>
                <a:ea typeface="Arial" pitchFamily="34" charset="-122"/>
                <a:cs typeface="Arial" pitchFamily="34" charset="-120"/>
              </a:rPr>
              <a:t>One agreeable assistant</a:t>
            </a:r>
            <a:endParaRPr lang="en-US" sz="1300" dirty="0"/>
          </a:p>
        </p:txBody>
      </p:sp>
      <p:sp>
        <p:nvSpPr>
          <p:cNvPr id="14" name="Text 11"/>
          <p:cNvSpPr/>
          <p:nvPr/>
        </p:nvSpPr>
        <p:spPr>
          <a:xfrm>
            <a:off x="6537960" y="3374136"/>
            <a:ext cx="4892040" cy="457200"/>
          </a:xfrm>
          <a:prstGeom prst="rect">
            <a:avLst/>
          </a:prstGeom>
          <a:noFill/>
          <a:ln/>
        </p:spPr>
        <p:txBody>
          <a:bodyPr wrap="square" lIns="0" tIns="0" rIns="0" bIns="0" rtlCol="0" anchor="ctr"/>
          <a:lstStyle/>
          <a:p>
            <a:pPr indent="0" marL="0">
              <a:buNone/>
            </a:pPr>
            <a:r>
              <a:rPr lang="en-US" sz="1300" b="1" dirty="0">
                <a:solidFill>
                  <a:srgbClr val="E8EEFC"/>
                </a:solidFill>
                <a:latin typeface="Arial" pitchFamily="34" charset="0"/>
                <a:ea typeface="Arial" pitchFamily="34" charset="-122"/>
                <a:cs typeface="Arial" pitchFamily="34" charset="-120"/>
              </a:rPr>
              <a:t>A cast of adversarial reviewers</a:t>
            </a:r>
            <a:endParaRPr lang="en-US" sz="1300" dirty="0"/>
          </a:p>
        </p:txBody>
      </p:sp>
      <p:sp>
        <p:nvSpPr>
          <p:cNvPr id="15" name="Text 12"/>
          <p:cNvSpPr/>
          <p:nvPr/>
        </p:nvSpPr>
        <p:spPr>
          <a:xfrm>
            <a:off x="822960" y="3941064"/>
            <a:ext cx="4846320" cy="457200"/>
          </a:xfrm>
          <a:prstGeom prst="rect">
            <a:avLst/>
          </a:prstGeom>
          <a:noFill/>
          <a:ln/>
        </p:spPr>
        <p:txBody>
          <a:bodyPr wrap="square" lIns="0" tIns="0" rIns="0" bIns="0" rtlCol="0" anchor="ctr"/>
          <a:lstStyle/>
          <a:p>
            <a:pPr indent="0" marL="0">
              <a:buNone/>
            </a:pPr>
            <a:r>
              <a:rPr lang="en-US" sz="1300" dirty="0">
                <a:solidFill>
                  <a:srgbClr val="9DB0D9"/>
                </a:solidFill>
                <a:latin typeface="Arial" pitchFamily="34" charset="0"/>
                <a:ea typeface="Arial" pitchFamily="34" charset="-122"/>
                <a:cs typeface="Arial" pitchFamily="34" charset="-120"/>
              </a:rPr>
              <a:t>The LLM does the math</a:t>
            </a:r>
            <a:endParaRPr lang="en-US" sz="1300" dirty="0"/>
          </a:p>
        </p:txBody>
      </p:sp>
      <p:sp>
        <p:nvSpPr>
          <p:cNvPr id="16" name="Text 13"/>
          <p:cNvSpPr/>
          <p:nvPr/>
        </p:nvSpPr>
        <p:spPr>
          <a:xfrm>
            <a:off x="6537960" y="3941064"/>
            <a:ext cx="4892040" cy="457200"/>
          </a:xfrm>
          <a:prstGeom prst="rect">
            <a:avLst/>
          </a:prstGeom>
          <a:noFill/>
          <a:ln/>
        </p:spPr>
        <p:txBody>
          <a:bodyPr wrap="square" lIns="0" tIns="0" rIns="0" bIns="0" rtlCol="0" anchor="ctr"/>
          <a:lstStyle/>
          <a:p>
            <a:pPr indent="0" marL="0">
              <a:buNone/>
            </a:pPr>
            <a:r>
              <a:rPr lang="en-US" sz="1300" b="1" dirty="0">
                <a:solidFill>
                  <a:srgbClr val="E8EEFC"/>
                </a:solidFill>
                <a:latin typeface="Arial" pitchFamily="34" charset="0"/>
                <a:ea typeface="Arial" pitchFamily="34" charset="-122"/>
                <a:cs typeface="Arial" pitchFamily="34" charset="-120"/>
              </a:rPr>
              <a:t>The LLM never computes a number</a:t>
            </a:r>
            <a:endParaRPr lang="en-US" sz="1300" dirty="0"/>
          </a:p>
        </p:txBody>
      </p:sp>
      <p:sp>
        <p:nvSpPr>
          <p:cNvPr id="17" name="Text 14"/>
          <p:cNvSpPr/>
          <p:nvPr/>
        </p:nvSpPr>
        <p:spPr>
          <a:xfrm>
            <a:off x="822960" y="4507992"/>
            <a:ext cx="4846320" cy="457200"/>
          </a:xfrm>
          <a:prstGeom prst="rect">
            <a:avLst/>
          </a:prstGeom>
          <a:noFill/>
          <a:ln/>
        </p:spPr>
        <p:txBody>
          <a:bodyPr wrap="square" lIns="0" tIns="0" rIns="0" bIns="0" rtlCol="0" anchor="ctr"/>
          <a:lstStyle/>
          <a:p>
            <a:pPr indent="0" marL="0">
              <a:buNone/>
            </a:pPr>
            <a:r>
              <a:rPr lang="en-US" sz="1300" dirty="0">
                <a:solidFill>
                  <a:srgbClr val="9DB0D9"/>
                </a:solidFill>
                <a:latin typeface="Arial" pitchFamily="34" charset="0"/>
                <a:ea typeface="Arial" pitchFamily="34" charset="-122"/>
                <a:cs typeface="Arial" pitchFamily="34" charset="-120"/>
              </a:rPr>
              <a:t>Claims</a:t>
            </a:r>
            <a:endParaRPr lang="en-US" sz="1300" dirty="0"/>
          </a:p>
        </p:txBody>
      </p:sp>
      <p:sp>
        <p:nvSpPr>
          <p:cNvPr id="18" name="Text 15"/>
          <p:cNvSpPr/>
          <p:nvPr/>
        </p:nvSpPr>
        <p:spPr>
          <a:xfrm>
            <a:off x="6537960" y="4507992"/>
            <a:ext cx="4892040" cy="457200"/>
          </a:xfrm>
          <a:prstGeom prst="rect">
            <a:avLst/>
          </a:prstGeom>
          <a:noFill/>
          <a:ln/>
        </p:spPr>
        <p:txBody>
          <a:bodyPr wrap="square" lIns="0" tIns="0" rIns="0" bIns="0" rtlCol="0" anchor="ctr"/>
          <a:lstStyle/>
          <a:p>
            <a:pPr indent="0" marL="0">
              <a:buNone/>
            </a:pPr>
            <a:r>
              <a:rPr lang="en-US" sz="1300" b="1" dirty="0">
                <a:solidFill>
                  <a:srgbClr val="E8EEFC"/>
                </a:solidFill>
                <a:latin typeface="Arial" pitchFamily="34" charset="0"/>
                <a:ea typeface="Arial" pitchFamily="34" charset="-122"/>
                <a:cs typeface="Arial" pitchFamily="34" charset="-120"/>
              </a:rPr>
              <a:t>A back-test, a robustness grid, an open CSV</a:t>
            </a:r>
            <a:endParaRPr lang="en-US" sz="1300" dirty="0"/>
          </a:p>
        </p:txBody>
      </p:sp>
      <p:sp>
        <p:nvSpPr>
          <p:cNvPr id="19" name="Text 16"/>
          <p:cNvSpPr/>
          <p:nvPr/>
        </p:nvSpPr>
        <p:spPr>
          <a:xfrm>
            <a:off x="822960" y="5074920"/>
            <a:ext cx="4846320" cy="457200"/>
          </a:xfrm>
          <a:prstGeom prst="rect">
            <a:avLst/>
          </a:prstGeom>
          <a:noFill/>
          <a:ln/>
        </p:spPr>
        <p:txBody>
          <a:bodyPr wrap="square" lIns="0" tIns="0" rIns="0" bIns="0" rtlCol="0" anchor="ctr"/>
          <a:lstStyle/>
          <a:p>
            <a:pPr indent="0" marL="0">
              <a:buNone/>
            </a:pPr>
            <a:r>
              <a:rPr lang="en-US" sz="1300" dirty="0">
                <a:solidFill>
                  <a:srgbClr val="9DB0D9"/>
                </a:solidFill>
                <a:latin typeface="Arial" pitchFamily="34" charset="0"/>
                <a:ea typeface="Arial" pitchFamily="34" charset="-122"/>
                <a:cs typeface="Arial" pitchFamily="34" charset="-120"/>
              </a:rPr>
              <a:t>Nobody owns it</a:t>
            </a:r>
            <a:endParaRPr lang="en-US" sz="1300" dirty="0"/>
          </a:p>
        </p:txBody>
      </p:sp>
      <p:sp>
        <p:nvSpPr>
          <p:cNvPr id="20" name="Text 17"/>
          <p:cNvSpPr/>
          <p:nvPr/>
        </p:nvSpPr>
        <p:spPr>
          <a:xfrm>
            <a:off x="6537960" y="5074920"/>
            <a:ext cx="4892040" cy="457200"/>
          </a:xfrm>
          <a:prstGeom prst="rect">
            <a:avLst/>
          </a:prstGeom>
          <a:noFill/>
          <a:ln/>
        </p:spPr>
        <p:txBody>
          <a:bodyPr wrap="square" lIns="0" tIns="0" rIns="0" bIns="0" rtlCol="0" anchor="ctr"/>
          <a:lstStyle/>
          <a:p>
            <a:pPr indent="0" marL="0">
              <a:buNone/>
            </a:pPr>
            <a:r>
              <a:rPr lang="en-US" sz="1300" b="1" dirty="0">
                <a:solidFill>
                  <a:srgbClr val="E8EEFC"/>
                </a:solidFill>
                <a:latin typeface="Arial" pitchFamily="34" charset="0"/>
                <a:ea typeface="Arial" pitchFamily="34" charset="-122"/>
                <a:cs typeface="Arial" pitchFamily="34" charset="-120"/>
              </a:rPr>
              <a:t>I can defend every line and every weight</a:t>
            </a:r>
            <a:endParaRPr lang="en-US" sz="1300" dirty="0"/>
          </a:p>
        </p:txBody>
      </p:sp>
      <p:sp>
        <p:nvSpPr>
          <p:cNvPr id="21" name="Text 18"/>
          <p:cNvSpPr/>
          <p:nvPr/>
        </p:nvSpPr>
        <p:spPr>
          <a:xfrm>
            <a:off x="548640" y="5897880"/>
            <a:ext cx="11091672" cy="365760"/>
          </a:xfrm>
          <a:prstGeom prst="rect">
            <a:avLst/>
          </a:prstGeom>
          <a:noFill/>
          <a:ln/>
        </p:spPr>
        <p:txBody>
          <a:bodyPr wrap="square" lIns="0" tIns="0" rIns="0" bIns="0" rtlCol="0" anchor="ctr"/>
          <a:lstStyle/>
          <a:p>
            <a:pPr algn="ctr" indent="0" marL="0">
              <a:buNone/>
            </a:pPr>
            <a:r>
              <a:rPr lang="en-US" sz="1400" i="1" dirty="0">
                <a:solidFill>
                  <a:srgbClr val="4F74F0"/>
                </a:solidFill>
                <a:latin typeface="Arial" pitchFamily="34" charset="0"/>
                <a:ea typeface="Arial" pitchFamily="34" charset="-122"/>
                <a:cs typeface="Arial" pitchFamily="34" charset="-120"/>
              </a:rPr>
              <a:t>AI typed most of this project. The discipline is the difference.</a:t>
            </a:r>
            <a:endParaRPr lang="en-US" sz="1400" dirty="0"/>
          </a:p>
        </p:txBody>
      </p:sp>
      <p:sp>
        <p:nvSpPr>
          <p:cNvPr id="22" name="Text 19"/>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E6F9E"/>
                </a:solidFill>
                <a:latin typeface="Arial" pitchFamily="34" charset="0"/>
                <a:ea typeface="Arial" pitchFamily="34" charset="-122"/>
                <a:cs typeface="Arial" pitchFamily="34" charset="-120"/>
              </a:rPr>
              <a:t>CareerStar · ashleylibasci.com</a:t>
            </a:r>
            <a:endParaRPr lang="en-US" sz="900" dirty="0"/>
          </a:p>
        </p:txBody>
      </p:sp>
      <p:sp>
        <p:nvSpPr>
          <p:cNvPr id="23" name="Text 20"/>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5E6F9E"/>
                </a:solidFill>
                <a:latin typeface="Courier New" pitchFamily="34" charset="0"/>
                <a:ea typeface="Courier New" pitchFamily="34" charset="-122"/>
                <a:cs typeface="Courier New"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548640" y="402336"/>
            <a:ext cx="155448" cy="164592"/>
          </a:xfrm>
          <a:prstGeom prst="rect">
            <a:avLst/>
          </a:prstGeom>
        </p:spPr>
      </p:pic>
      <p:sp>
        <p:nvSpPr>
          <p:cNvPr id="3" name="Text 0"/>
          <p:cNvSpPr/>
          <p:nvPr/>
        </p:nvSpPr>
        <p:spPr>
          <a:xfrm>
            <a:off x="786384" y="384048"/>
            <a:ext cx="7315200" cy="274320"/>
          </a:xfrm>
          <a:prstGeom prst="rect">
            <a:avLst/>
          </a:prstGeom>
          <a:noFill/>
          <a:ln/>
        </p:spPr>
        <p:txBody>
          <a:bodyPr wrap="square" lIns="0" tIns="0" rIns="0" bIns="0" rtlCol="0" anchor="ctr"/>
          <a:lstStyle/>
          <a:p>
            <a:pPr indent="0" marL="0">
              <a:buNone/>
            </a:pPr>
            <a:r>
              <a:rPr lang="en-US" sz="1100" b="1" spc="300" kern="0" dirty="0">
                <a:solidFill>
                  <a:srgbClr val="4F74F0"/>
                </a:solidFill>
                <a:latin typeface="Arial" pitchFamily="34" charset="0"/>
                <a:ea typeface="Arial" pitchFamily="34" charset="-122"/>
                <a:cs typeface="Arial" pitchFamily="34" charset="-120"/>
              </a:rPr>
              <a:t>06 · THE MODEL</a:t>
            </a:r>
            <a:endParaRPr lang="en-US" sz="1100" dirty="0"/>
          </a:p>
        </p:txBody>
      </p:sp>
      <p:sp>
        <p:nvSpPr>
          <p:cNvPr id="4" name="Text 1"/>
          <p:cNvSpPr/>
          <p:nvPr/>
        </p:nvSpPr>
        <p:spPr>
          <a:xfrm>
            <a:off x="548640" y="658368"/>
            <a:ext cx="11094415" cy="685800"/>
          </a:xfrm>
          <a:prstGeom prst="rect">
            <a:avLst/>
          </a:prstGeom>
          <a:noFill/>
          <a:ln/>
        </p:spPr>
        <p:txBody>
          <a:bodyPr wrap="square" lIns="0" tIns="0" rIns="0" bIns="0" rtlCol="0" anchor="ctr"/>
          <a:lstStyle/>
          <a:p>
            <a:pPr indent="0" marL="0">
              <a:buNone/>
            </a:pPr>
            <a:r>
              <a:rPr lang="en-US" sz="3100" b="1" dirty="0">
                <a:solidFill>
                  <a:srgbClr val="E8EEFC"/>
                </a:solidFill>
                <a:latin typeface="Arial" pitchFamily="34" charset="0"/>
                <a:ea typeface="Arial" pitchFamily="34" charset="-122"/>
                <a:cs typeface="Arial" pitchFamily="34" charset="-120"/>
              </a:rPr>
              <a:t>The scoring model is four lines. The AI never touches them.</a:t>
            </a:r>
            <a:endParaRPr lang="en-US" sz="3100" dirty="0"/>
          </a:p>
        </p:txBody>
      </p:sp>
      <p:sp>
        <p:nvSpPr>
          <p:cNvPr id="5" name="Shape 2"/>
          <p:cNvSpPr/>
          <p:nvPr/>
        </p:nvSpPr>
        <p:spPr>
          <a:xfrm>
            <a:off x="548640" y="1645920"/>
            <a:ext cx="5577840" cy="2377440"/>
          </a:xfrm>
          <a:prstGeom prst="roundRect">
            <a:avLst>
              <a:gd name="adj" fmla="val 3462"/>
            </a:avLst>
          </a:prstGeom>
          <a:solidFill>
            <a:srgbClr val="0C1530"/>
          </a:solidFill>
          <a:ln w="9525">
            <a:solidFill>
              <a:srgbClr val="24325C"/>
            </a:solidFill>
            <a:prstDash val="solid"/>
          </a:ln>
        </p:spPr>
      </p:sp>
      <p:sp>
        <p:nvSpPr>
          <p:cNvPr id="6" name="Text 3"/>
          <p:cNvSpPr/>
          <p:nvPr/>
        </p:nvSpPr>
        <p:spPr>
          <a:xfrm>
            <a:off x="822960" y="1828800"/>
            <a:ext cx="5029200" cy="2011680"/>
          </a:xfrm>
          <a:prstGeom prst="rect">
            <a:avLst/>
          </a:prstGeom>
          <a:noFill/>
          <a:ln/>
        </p:spPr>
        <p:txBody>
          <a:bodyPr wrap="square" lIns="0" tIns="0" rIns="0" bIns="0" rtlCol="0" anchor="ctr"/>
          <a:lstStyle/>
          <a:p>
            <a:pPr indent="0" marL="0">
              <a:lnSpc>
                <a:spcPts val="1800"/>
              </a:lnSpc>
              <a:buNone/>
            </a:pPr>
            <a:r>
              <a:rPr lang="en-US" sz="1400" dirty="0">
                <a:solidFill>
                  <a:srgbClr val="4F74F0"/>
                </a:solidFill>
                <a:latin typeface="Courier New" pitchFamily="34" charset="0"/>
                <a:ea typeface="Courier New" pitchFamily="34" charset="-122"/>
                <a:cs typeface="Courier New" pitchFamily="34" charset="-120"/>
              </a:rPr>
              <a:t>Return = 0.5·growthRank + 0.5·payRank</a:t>
            </a:r>
            <a:endParaRPr lang="en-US" sz="1400" dirty="0"/>
          </a:p>
          <a:p>
            <a:pPr indent="0" marL="0">
              <a:lnSpc>
                <a:spcPts val="1800"/>
              </a:lnSpc>
              <a:buNone/>
            </a:pPr>
            <a:endParaRPr lang="en-US" sz="1400" dirty="0"/>
          </a:p>
          <a:p>
            <a:pPr indent="0" marL="0">
              <a:lnSpc>
                <a:spcPts val="1800"/>
              </a:lnSpc>
              <a:buNone/>
            </a:pPr>
            <a:r>
              <a:rPr lang="en-US" sz="1400" dirty="0">
                <a:solidFill>
                  <a:srgbClr val="4F74F0"/>
                </a:solidFill>
                <a:latin typeface="Courier New" pitchFamily="34" charset="0"/>
                <a:ea typeface="Courier New" pitchFamily="34" charset="-122"/>
                <a:cs typeface="Courier New" pitchFamily="34" charset="-120"/>
              </a:rPr>
              <a:t>Risk   = 0.7·AIexposure + 0.3·volatility</a:t>
            </a:r>
            <a:endParaRPr lang="en-US" sz="1400" dirty="0"/>
          </a:p>
          <a:p>
            <a:pPr indent="0" marL="0">
              <a:lnSpc>
                <a:spcPts val="1800"/>
              </a:lnSpc>
              <a:buNone/>
            </a:pPr>
            <a:endParaRPr lang="en-US" sz="1400" dirty="0"/>
          </a:p>
          <a:p>
            <a:pPr indent="0" marL="0">
              <a:lnSpc>
                <a:spcPts val="1800"/>
              </a:lnSpc>
              <a:buNone/>
            </a:pPr>
            <a:r>
              <a:rPr lang="en-US" sz="1400" dirty="0">
                <a:solidFill>
                  <a:srgbClr val="4F74F0"/>
                </a:solidFill>
                <a:latin typeface="Courier New" pitchFamily="34" charset="0"/>
                <a:ea typeface="Courier New" pitchFamily="34" charset="-122"/>
                <a:cs typeface="Courier New" pitchFamily="34" charset="-120"/>
              </a:rPr>
              <a:t>RAV    = Return · (1 − 0.6·Risk)</a:t>
            </a:r>
            <a:endParaRPr lang="en-US" sz="1400" dirty="0"/>
          </a:p>
          <a:p>
            <a:pPr indent="0" marL="0">
              <a:lnSpc>
                <a:spcPts val="1800"/>
              </a:lnSpc>
              <a:buNone/>
            </a:pPr>
            <a:endParaRPr lang="en-US" sz="1400" dirty="0"/>
          </a:p>
          <a:p>
            <a:pPr indent="0" marL="0">
              <a:lnSpc>
                <a:spcPts val="1800"/>
              </a:lnSpc>
              <a:buNone/>
            </a:pPr>
            <a:r>
              <a:rPr lang="en-US" sz="1400" dirty="0">
                <a:solidFill>
                  <a:srgbClr val="4F74F0"/>
                </a:solidFill>
                <a:latin typeface="Courier New" pitchFamily="34" charset="0"/>
                <a:ea typeface="Courier New" pitchFamily="34" charset="-122"/>
                <a:cs typeface="Courier New" pitchFamily="34" charset="-120"/>
              </a:rPr>
              <a:t>Score  = 100·[0.7·RAV + 0.3·Fit]</a:t>
            </a:r>
            <a:endParaRPr lang="en-US" sz="1400" dirty="0"/>
          </a:p>
        </p:txBody>
      </p:sp>
      <p:sp>
        <p:nvSpPr>
          <p:cNvPr id="7" name="Text 4"/>
          <p:cNvSpPr/>
          <p:nvPr/>
        </p:nvSpPr>
        <p:spPr>
          <a:xfrm>
            <a:off x="548640" y="4160520"/>
            <a:ext cx="5577840" cy="320040"/>
          </a:xfrm>
          <a:prstGeom prst="rect">
            <a:avLst/>
          </a:prstGeom>
          <a:noFill/>
          <a:ln/>
        </p:spPr>
        <p:txBody>
          <a:bodyPr wrap="square" lIns="0" tIns="0" rIns="0" bIns="0" rtlCol="0" anchor="ctr"/>
          <a:lstStyle/>
          <a:p>
            <a:pPr indent="0" marL="0">
              <a:buNone/>
            </a:pPr>
            <a:r>
              <a:rPr lang="en-US" sz="1000" i="1" dirty="0">
                <a:solidFill>
                  <a:srgbClr val="5E6F9E"/>
                </a:solidFill>
                <a:latin typeface="Arial" pitchFamily="34" charset="0"/>
                <a:ea typeface="Arial" pitchFamily="34" charset="-122"/>
                <a:cs typeface="Arial" pitchFamily="34" charset="-120"/>
              </a:rPr>
              <a:t>BLS 2024–34 · O*NET 29.0 · Eloundou et al. 2023</a:t>
            </a:r>
            <a:endParaRPr lang="en-US" sz="1000" dirty="0"/>
          </a:p>
        </p:txBody>
      </p:sp>
      <p:sp>
        <p:nvSpPr>
          <p:cNvPr id="8" name="Text 5"/>
          <p:cNvSpPr/>
          <p:nvPr/>
        </p:nvSpPr>
        <p:spPr>
          <a:xfrm>
            <a:off x="6400800" y="1691640"/>
            <a:ext cx="5239512" cy="548640"/>
          </a:xfrm>
          <a:prstGeom prst="rect">
            <a:avLst/>
          </a:prstGeom>
          <a:noFill/>
          <a:ln/>
        </p:spPr>
        <p:txBody>
          <a:bodyPr wrap="square" lIns="0" tIns="0" rIns="0" bIns="0" rtlCol="0" anchor="ctr"/>
          <a:lstStyle/>
          <a:p>
            <a:pPr indent="0" marL="0">
              <a:buNone/>
            </a:pPr>
            <a:r>
              <a:rPr lang="en-US" sz="1300" b="1" dirty="0">
                <a:solidFill>
                  <a:srgbClr val="E8EEFC"/>
                </a:solidFill>
                <a:latin typeface="Arial" pitchFamily="34" charset="0"/>
                <a:ea typeface="Arial" pitchFamily="34" charset="-122"/>
                <a:cs typeface="Arial" pitchFamily="34" charset="-120"/>
              </a:rPr>
              <a:t>Percentile ranks, because the score should mean “versus every alternative”</a:t>
            </a:r>
            <a:endParaRPr lang="en-US" sz="1300" dirty="0"/>
          </a:p>
        </p:txBody>
      </p:sp>
      <p:sp>
        <p:nvSpPr>
          <p:cNvPr id="9" name="Text 6"/>
          <p:cNvSpPr/>
          <p:nvPr/>
        </p:nvSpPr>
        <p:spPr>
          <a:xfrm>
            <a:off x="6400800" y="2258568"/>
            <a:ext cx="5239512" cy="594360"/>
          </a:xfrm>
          <a:prstGeom prst="rect">
            <a:avLst/>
          </a:prstGeom>
          <a:noFill/>
          <a:ln/>
        </p:spPr>
        <p:txBody>
          <a:bodyPr wrap="square" lIns="0" tIns="0" rIns="0" bIns="0" rtlCol="0" anchor="ctr"/>
          <a:lstStyle/>
          <a:p>
            <a:pPr indent="0" marL="0">
              <a:buNone/>
            </a:pPr>
            <a:r>
              <a:rPr lang="en-US" sz="1150" dirty="0">
                <a:solidFill>
                  <a:srgbClr val="9DB0D9"/>
                </a:solidFill>
                <a:latin typeface="Arial" pitchFamily="34" charset="0"/>
                <a:ea typeface="Arial" pitchFamily="34" charset="-122"/>
                <a:cs typeface="Arial" pitchFamily="34" charset="-120"/>
              </a:rPr>
              <a:t>that’s the decision a person is actually making</a:t>
            </a:r>
            <a:endParaRPr lang="en-US" sz="1150" dirty="0"/>
          </a:p>
        </p:txBody>
      </p:sp>
      <p:sp>
        <p:nvSpPr>
          <p:cNvPr id="10" name="Text 7"/>
          <p:cNvSpPr/>
          <p:nvPr/>
        </p:nvSpPr>
        <p:spPr>
          <a:xfrm>
            <a:off x="6400800" y="3063240"/>
            <a:ext cx="5239512" cy="548640"/>
          </a:xfrm>
          <a:prstGeom prst="rect">
            <a:avLst/>
          </a:prstGeom>
          <a:noFill/>
          <a:ln/>
        </p:spPr>
        <p:txBody>
          <a:bodyPr wrap="square" lIns="0" tIns="0" rIns="0" bIns="0" rtlCol="0" anchor="ctr"/>
          <a:lstStyle/>
          <a:p>
            <a:pPr indent="0" marL="0">
              <a:buNone/>
            </a:pPr>
            <a:r>
              <a:rPr lang="en-US" sz="1300" b="1" dirty="0">
                <a:solidFill>
                  <a:srgbClr val="E8EEFC"/>
                </a:solidFill>
                <a:latin typeface="Arial" pitchFamily="34" charset="0"/>
                <a:ea typeface="Arial" pitchFamily="34" charset="-122"/>
                <a:cs typeface="Arial" pitchFamily="34" charset="-120"/>
              </a:rPr>
              <a:t>Risk multiplies, never subtracts</a:t>
            </a:r>
            <a:endParaRPr lang="en-US" sz="1300" dirty="0"/>
          </a:p>
        </p:txBody>
      </p:sp>
      <p:sp>
        <p:nvSpPr>
          <p:cNvPr id="11" name="Text 8"/>
          <p:cNvSpPr/>
          <p:nvPr/>
        </p:nvSpPr>
        <p:spPr>
          <a:xfrm>
            <a:off x="6400800" y="3630168"/>
            <a:ext cx="5239512" cy="594360"/>
          </a:xfrm>
          <a:prstGeom prst="rect">
            <a:avLst/>
          </a:prstGeom>
          <a:noFill/>
          <a:ln/>
        </p:spPr>
        <p:txBody>
          <a:bodyPr wrap="square" lIns="0" tIns="0" rIns="0" bIns="0" rtlCol="0" anchor="ctr"/>
          <a:lstStyle/>
          <a:p>
            <a:pPr indent="0" marL="0">
              <a:buNone/>
            </a:pPr>
            <a:r>
              <a:rPr lang="en-US" sz="1150" dirty="0">
                <a:solidFill>
                  <a:srgbClr val="9DB0D9"/>
                </a:solidFill>
                <a:latin typeface="Arial" pitchFamily="34" charset="0"/>
                <a:ea typeface="Arial" pitchFamily="34" charset="-122"/>
                <a:cs typeface="Arial" pitchFamily="34" charset="-120"/>
              </a:rPr>
              <a:t>subtraction lets a safe dead-end beat a risky rocket. Discounting is how you treat a return.</a:t>
            </a:r>
            <a:endParaRPr lang="en-US" sz="1150" dirty="0"/>
          </a:p>
        </p:txBody>
      </p:sp>
      <p:sp>
        <p:nvSpPr>
          <p:cNvPr id="12" name="Text 9"/>
          <p:cNvSpPr/>
          <p:nvPr/>
        </p:nvSpPr>
        <p:spPr>
          <a:xfrm>
            <a:off x="6400800" y="4434840"/>
            <a:ext cx="5239512" cy="548640"/>
          </a:xfrm>
          <a:prstGeom prst="rect">
            <a:avLst/>
          </a:prstGeom>
          <a:noFill/>
          <a:ln/>
        </p:spPr>
        <p:txBody>
          <a:bodyPr wrap="square" lIns="0" tIns="0" rIns="0" bIns="0" rtlCol="0" anchor="ctr"/>
          <a:lstStyle/>
          <a:p>
            <a:pPr indent="0" marL="0">
              <a:buNone/>
            </a:pPr>
            <a:r>
              <a:rPr lang="en-US" sz="1300" b="1" dirty="0">
                <a:solidFill>
                  <a:srgbClr val="E8EEFC"/>
                </a:solidFill>
                <a:latin typeface="Arial" pitchFamily="34" charset="0"/>
                <a:ea typeface="Arial" pitchFamily="34" charset="-122"/>
                <a:cs typeface="Arial" pitchFamily="34" charset="-120"/>
              </a:rPr>
              <a:t>The weights are priors, and I say so</a:t>
            </a:r>
            <a:endParaRPr lang="en-US" sz="1300" dirty="0"/>
          </a:p>
        </p:txBody>
      </p:sp>
      <p:sp>
        <p:nvSpPr>
          <p:cNvPr id="13" name="Text 10"/>
          <p:cNvSpPr/>
          <p:nvPr/>
        </p:nvSpPr>
        <p:spPr>
          <a:xfrm>
            <a:off x="6400800" y="5001768"/>
            <a:ext cx="5239512" cy="594360"/>
          </a:xfrm>
          <a:prstGeom prst="rect">
            <a:avLst/>
          </a:prstGeom>
          <a:noFill/>
          <a:ln/>
        </p:spPr>
        <p:txBody>
          <a:bodyPr wrap="square" lIns="0" tIns="0" rIns="0" bIns="0" rtlCol="0" anchor="ctr"/>
          <a:lstStyle/>
          <a:p>
            <a:pPr indent="0" marL="0">
              <a:buNone/>
            </a:pPr>
            <a:r>
              <a:rPr lang="en-US" sz="1150" dirty="0">
                <a:solidFill>
                  <a:srgbClr val="9DB0D9"/>
                </a:solidFill>
                <a:latin typeface="Arial" pitchFamily="34" charset="0"/>
                <a:ea typeface="Arial" pitchFamily="34" charset="-122"/>
                <a:cs typeface="Arial" pitchFamily="34" charset="-120"/>
              </a:rPr>
              <a:t>no dataset of correct career choices exists. So every ranking is re-scored under 729 weight perturbations and five rival models. Disagreement gets labeled, not hidden.</a:t>
            </a:r>
            <a:endParaRPr lang="en-US" sz="1150" dirty="0"/>
          </a:p>
        </p:txBody>
      </p:sp>
      <p:sp>
        <p:nvSpPr>
          <p:cNvPr id="14" name="Text 11"/>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E6F9E"/>
                </a:solidFill>
                <a:latin typeface="Arial" pitchFamily="34" charset="0"/>
                <a:ea typeface="Arial" pitchFamily="34" charset="-122"/>
                <a:cs typeface="Arial" pitchFamily="34" charset="-120"/>
              </a:rPr>
              <a:t>CareerStar · ashleylibasci.com</a:t>
            </a:r>
            <a:endParaRPr lang="en-US" sz="900" dirty="0"/>
          </a:p>
        </p:txBody>
      </p:sp>
      <p:sp>
        <p:nvSpPr>
          <p:cNvPr id="15" name="Text 12"/>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5E6F9E"/>
                </a:solidFill>
                <a:latin typeface="Courier New" pitchFamily="34" charset="0"/>
                <a:ea typeface="Courier New" pitchFamily="34" charset="-122"/>
                <a:cs typeface="Courier New"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548640" y="402336"/>
            <a:ext cx="155448" cy="164592"/>
          </a:xfrm>
          <a:prstGeom prst="rect">
            <a:avLst/>
          </a:prstGeom>
        </p:spPr>
      </p:pic>
      <p:sp>
        <p:nvSpPr>
          <p:cNvPr id="3" name="Text 0"/>
          <p:cNvSpPr/>
          <p:nvPr/>
        </p:nvSpPr>
        <p:spPr>
          <a:xfrm>
            <a:off x="786384" y="384048"/>
            <a:ext cx="7315200" cy="274320"/>
          </a:xfrm>
          <a:prstGeom prst="rect">
            <a:avLst/>
          </a:prstGeom>
          <a:noFill/>
          <a:ln/>
        </p:spPr>
        <p:txBody>
          <a:bodyPr wrap="square" lIns="0" tIns="0" rIns="0" bIns="0" rtlCol="0" anchor="ctr"/>
          <a:lstStyle/>
          <a:p>
            <a:pPr indent="0" marL="0">
              <a:buNone/>
            </a:pPr>
            <a:r>
              <a:rPr lang="en-US" sz="1100" b="1" spc="300" kern="0" dirty="0">
                <a:solidFill>
                  <a:srgbClr val="4F74F0"/>
                </a:solidFill>
                <a:latin typeface="Arial" pitchFamily="34" charset="0"/>
                <a:ea typeface="Arial" pitchFamily="34" charset="-122"/>
                <a:cs typeface="Arial" pitchFamily="34" charset="-120"/>
              </a:rPr>
              <a:t>07 · THE RECEIPTS</a:t>
            </a:r>
            <a:endParaRPr lang="en-US" sz="1100" dirty="0"/>
          </a:p>
        </p:txBody>
      </p:sp>
      <p:sp>
        <p:nvSpPr>
          <p:cNvPr id="4" name="Text 1"/>
          <p:cNvSpPr/>
          <p:nvPr/>
        </p:nvSpPr>
        <p:spPr>
          <a:xfrm>
            <a:off x="548640" y="658368"/>
            <a:ext cx="11094415" cy="685800"/>
          </a:xfrm>
          <a:prstGeom prst="rect">
            <a:avLst/>
          </a:prstGeom>
          <a:noFill/>
          <a:ln/>
        </p:spPr>
        <p:txBody>
          <a:bodyPr wrap="square" lIns="0" tIns="0" rIns="0" bIns="0" rtlCol="0" anchor="ctr"/>
          <a:lstStyle/>
          <a:p>
            <a:pPr indent="0" marL="0">
              <a:buNone/>
            </a:pPr>
            <a:r>
              <a:rPr lang="en-US" sz="3100" b="1" dirty="0">
                <a:solidFill>
                  <a:srgbClr val="E8EEFC"/>
                </a:solidFill>
                <a:latin typeface="Arial" pitchFamily="34" charset="0"/>
                <a:ea typeface="Arial" pitchFamily="34" charset="-122"/>
                <a:cs typeface="Arial" pitchFamily="34" charset="-120"/>
              </a:rPr>
              <a:t>I tested it on a decade that already happened</a:t>
            </a:r>
            <a:endParaRPr lang="en-US" sz="3100" dirty="0"/>
          </a:p>
        </p:txBody>
      </p:sp>
      <p:sp>
        <p:nvSpPr>
          <p:cNvPr id="5" name="Shape 2"/>
          <p:cNvSpPr/>
          <p:nvPr/>
        </p:nvSpPr>
        <p:spPr>
          <a:xfrm>
            <a:off x="548640" y="1645920"/>
            <a:ext cx="2743200" cy="1600200"/>
          </a:xfrm>
          <a:prstGeom prst="roundRect">
            <a:avLst>
              <a:gd name="adj" fmla="val 5143"/>
            </a:avLst>
          </a:prstGeom>
          <a:solidFill>
            <a:srgbClr val="0C1530"/>
          </a:solidFill>
          <a:ln w="9525">
            <a:solidFill>
              <a:srgbClr val="24325C"/>
            </a:solidFill>
            <a:prstDash val="solid"/>
          </a:ln>
        </p:spPr>
      </p:sp>
      <p:sp>
        <p:nvSpPr>
          <p:cNvPr id="6" name="Text 3"/>
          <p:cNvSpPr/>
          <p:nvPr/>
        </p:nvSpPr>
        <p:spPr>
          <a:xfrm>
            <a:off x="640080" y="1828800"/>
            <a:ext cx="2560320" cy="594360"/>
          </a:xfrm>
          <a:prstGeom prst="rect">
            <a:avLst/>
          </a:prstGeom>
          <a:noFill/>
          <a:ln/>
        </p:spPr>
        <p:txBody>
          <a:bodyPr wrap="square" lIns="0" tIns="0" rIns="0" bIns="0" rtlCol="0" anchor="ctr"/>
          <a:lstStyle/>
          <a:p>
            <a:pPr algn="ctr" indent="0" marL="0">
              <a:buNone/>
            </a:pPr>
            <a:r>
              <a:rPr lang="en-US" sz="2800" b="1" dirty="0">
                <a:solidFill>
                  <a:srgbClr val="4F74F0"/>
                </a:solidFill>
                <a:latin typeface="Courier New" pitchFamily="34" charset="0"/>
                <a:ea typeface="Courier New" pitchFamily="34" charset="-122"/>
                <a:cs typeface="Courier New" pitchFamily="34" charset="-120"/>
              </a:rPr>
              <a:t>ρ = 0.39</a:t>
            </a:r>
            <a:endParaRPr lang="en-US" sz="2800" dirty="0"/>
          </a:p>
        </p:txBody>
      </p:sp>
      <p:sp>
        <p:nvSpPr>
          <p:cNvPr id="7" name="Text 4"/>
          <p:cNvSpPr/>
          <p:nvPr/>
        </p:nvSpPr>
        <p:spPr>
          <a:xfrm>
            <a:off x="731520" y="2487168"/>
            <a:ext cx="2377440" cy="658368"/>
          </a:xfrm>
          <a:prstGeom prst="rect">
            <a:avLst/>
          </a:prstGeom>
          <a:noFill/>
          <a:ln/>
        </p:spPr>
        <p:txBody>
          <a:bodyPr wrap="square" lIns="0" tIns="0" rIns="0" bIns="0" rtlCol="0" anchor="ctr"/>
          <a:lstStyle/>
          <a:p>
            <a:pPr algn="ctr" indent="0" marL="0">
              <a:buNone/>
            </a:pPr>
            <a:r>
              <a:rPr lang="en-US" sz="1050" dirty="0">
                <a:solidFill>
                  <a:srgbClr val="9DB0D9"/>
                </a:solidFill>
                <a:latin typeface="Arial" pitchFamily="34" charset="0"/>
                <a:ea typeface="Arial" pitchFamily="34" charset="-122"/>
                <a:cs typeface="Arial" pitchFamily="34" charset="-120"/>
              </a:rPr>
              <a:t>2014 scores vs what actually happened by 2024 (647 occupations)</a:t>
            </a:r>
            <a:endParaRPr lang="en-US" sz="1050" dirty="0"/>
          </a:p>
        </p:txBody>
      </p:sp>
      <p:sp>
        <p:nvSpPr>
          <p:cNvPr id="8" name="Shape 5"/>
          <p:cNvSpPr/>
          <p:nvPr/>
        </p:nvSpPr>
        <p:spPr>
          <a:xfrm>
            <a:off x="3456432" y="1645920"/>
            <a:ext cx="2743200" cy="1600200"/>
          </a:xfrm>
          <a:prstGeom prst="roundRect">
            <a:avLst>
              <a:gd name="adj" fmla="val 5143"/>
            </a:avLst>
          </a:prstGeom>
          <a:solidFill>
            <a:srgbClr val="0C1530"/>
          </a:solidFill>
          <a:ln w="9525">
            <a:solidFill>
              <a:srgbClr val="24325C"/>
            </a:solidFill>
            <a:prstDash val="solid"/>
          </a:ln>
        </p:spPr>
      </p:sp>
      <p:sp>
        <p:nvSpPr>
          <p:cNvPr id="9" name="Text 6"/>
          <p:cNvSpPr/>
          <p:nvPr/>
        </p:nvSpPr>
        <p:spPr>
          <a:xfrm>
            <a:off x="3547872" y="1828800"/>
            <a:ext cx="2560320" cy="594360"/>
          </a:xfrm>
          <a:prstGeom prst="rect">
            <a:avLst/>
          </a:prstGeom>
          <a:noFill/>
          <a:ln/>
        </p:spPr>
        <p:txBody>
          <a:bodyPr wrap="square" lIns="0" tIns="0" rIns="0" bIns="0" rtlCol="0" anchor="ctr"/>
          <a:lstStyle/>
          <a:p>
            <a:pPr algn="ctr" indent="0" marL="0">
              <a:buNone/>
            </a:pPr>
            <a:r>
              <a:rPr lang="en-US" sz="2800" b="1" dirty="0">
                <a:solidFill>
                  <a:srgbClr val="4F74F0"/>
                </a:solidFill>
                <a:latin typeface="Courier New" pitchFamily="34" charset="0"/>
                <a:ea typeface="Courier New" pitchFamily="34" charset="-122"/>
                <a:cs typeface="Courier New" pitchFamily="34" charset="-120"/>
              </a:rPr>
              <a:t>48%</a:t>
            </a:r>
            <a:endParaRPr lang="en-US" sz="2800" dirty="0"/>
          </a:p>
        </p:txBody>
      </p:sp>
      <p:sp>
        <p:nvSpPr>
          <p:cNvPr id="10" name="Text 7"/>
          <p:cNvSpPr/>
          <p:nvPr/>
        </p:nvSpPr>
        <p:spPr>
          <a:xfrm>
            <a:off x="3639312" y="2487168"/>
            <a:ext cx="2377440" cy="658368"/>
          </a:xfrm>
          <a:prstGeom prst="rect">
            <a:avLst/>
          </a:prstGeom>
          <a:noFill/>
          <a:ln/>
        </p:spPr>
        <p:txBody>
          <a:bodyPr wrap="square" lIns="0" tIns="0" rIns="0" bIns="0" rtlCol="0" anchor="ctr"/>
          <a:lstStyle/>
          <a:p>
            <a:pPr algn="ctr" indent="0" marL="0">
              <a:buNone/>
            </a:pPr>
            <a:r>
              <a:rPr lang="en-US" sz="1050" dirty="0">
                <a:solidFill>
                  <a:srgbClr val="9DB0D9"/>
                </a:solidFill>
                <a:latin typeface="Arial" pitchFamily="34" charset="0"/>
                <a:ea typeface="Arial" pitchFamily="34" charset="-122"/>
                <a:cs typeface="Arial" pitchFamily="34" charset="-120"/>
              </a:rPr>
              <a:t>of the careers that really declined were flagged — 33% by chance</a:t>
            </a:r>
            <a:endParaRPr lang="en-US" sz="1050" dirty="0"/>
          </a:p>
        </p:txBody>
      </p:sp>
      <p:sp>
        <p:nvSpPr>
          <p:cNvPr id="11" name="Shape 8"/>
          <p:cNvSpPr/>
          <p:nvPr/>
        </p:nvSpPr>
        <p:spPr>
          <a:xfrm>
            <a:off x="6364224" y="1645920"/>
            <a:ext cx="2743200" cy="1600200"/>
          </a:xfrm>
          <a:prstGeom prst="roundRect">
            <a:avLst>
              <a:gd name="adj" fmla="val 5143"/>
            </a:avLst>
          </a:prstGeom>
          <a:solidFill>
            <a:srgbClr val="0C1530"/>
          </a:solidFill>
          <a:ln w="9525">
            <a:solidFill>
              <a:srgbClr val="24325C"/>
            </a:solidFill>
            <a:prstDash val="solid"/>
          </a:ln>
        </p:spPr>
      </p:sp>
      <p:sp>
        <p:nvSpPr>
          <p:cNvPr id="12" name="Text 9"/>
          <p:cNvSpPr/>
          <p:nvPr/>
        </p:nvSpPr>
        <p:spPr>
          <a:xfrm>
            <a:off x="6455664" y="1828800"/>
            <a:ext cx="2560320" cy="594360"/>
          </a:xfrm>
          <a:prstGeom prst="rect">
            <a:avLst/>
          </a:prstGeom>
          <a:noFill/>
          <a:ln/>
        </p:spPr>
        <p:txBody>
          <a:bodyPr wrap="square" lIns="0" tIns="0" rIns="0" bIns="0" rtlCol="0" anchor="ctr"/>
          <a:lstStyle/>
          <a:p>
            <a:pPr algn="ctr" indent="0" marL="0">
              <a:buNone/>
            </a:pPr>
            <a:r>
              <a:rPr lang="en-US" sz="2800" b="1" dirty="0">
                <a:solidFill>
                  <a:srgbClr val="4F74F0"/>
                </a:solidFill>
                <a:latin typeface="Courier New" pitchFamily="34" charset="0"/>
                <a:ea typeface="Courier New" pitchFamily="34" charset="-122"/>
                <a:cs typeface="Courier New" pitchFamily="34" charset="-120"/>
              </a:rPr>
              <a:t>37 vs 46</a:t>
            </a:r>
            <a:endParaRPr lang="en-US" sz="2800" dirty="0"/>
          </a:p>
        </p:txBody>
      </p:sp>
      <p:sp>
        <p:nvSpPr>
          <p:cNvPr id="13" name="Text 10"/>
          <p:cNvSpPr/>
          <p:nvPr/>
        </p:nvSpPr>
        <p:spPr>
          <a:xfrm>
            <a:off x="6547104" y="2487168"/>
            <a:ext cx="2377440" cy="658368"/>
          </a:xfrm>
          <a:prstGeom prst="rect">
            <a:avLst/>
          </a:prstGeom>
          <a:noFill/>
          <a:ln/>
        </p:spPr>
        <p:txBody>
          <a:bodyPr wrap="square" lIns="0" tIns="0" rIns="0" bIns="0" rtlCol="0" anchor="ctr"/>
          <a:lstStyle/>
          <a:p>
            <a:pPr algn="ctr" indent="0" marL="0">
              <a:buNone/>
            </a:pPr>
            <a:r>
              <a:rPr lang="en-US" sz="1050" dirty="0">
                <a:solidFill>
                  <a:srgbClr val="9DB0D9"/>
                </a:solidFill>
                <a:latin typeface="Arial" pitchFamily="34" charset="0"/>
                <a:ea typeface="Arial" pitchFamily="34" charset="-122"/>
                <a:cs typeface="Arial" pitchFamily="34" charset="-120"/>
              </a:rPr>
              <a:t>median 2014 score: decliners vs growers</a:t>
            </a:r>
            <a:endParaRPr lang="en-US" sz="1050" dirty="0"/>
          </a:p>
        </p:txBody>
      </p:sp>
      <p:sp>
        <p:nvSpPr>
          <p:cNvPr id="14" name="Shape 11"/>
          <p:cNvSpPr/>
          <p:nvPr/>
        </p:nvSpPr>
        <p:spPr>
          <a:xfrm>
            <a:off x="9272016" y="1645920"/>
            <a:ext cx="2743200" cy="1600200"/>
          </a:xfrm>
          <a:prstGeom prst="roundRect">
            <a:avLst>
              <a:gd name="adj" fmla="val 5143"/>
            </a:avLst>
          </a:prstGeom>
          <a:solidFill>
            <a:srgbClr val="0C1530"/>
          </a:solidFill>
          <a:ln w="9525">
            <a:solidFill>
              <a:srgbClr val="24325C"/>
            </a:solidFill>
            <a:prstDash val="solid"/>
          </a:ln>
        </p:spPr>
      </p:sp>
      <p:sp>
        <p:nvSpPr>
          <p:cNvPr id="15" name="Text 12"/>
          <p:cNvSpPr/>
          <p:nvPr/>
        </p:nvSpPr>
        <p:spPr>
          <a:xfrm>
            <a:off x="9363456" y="1828800"/>
            <a:ext cx="2560320" cy="594360"/>
          </a:xfrm>
          <a:prstGeom prst="rect">
            <a:avLst/>
          </a:prstGeom>
          <a:noFill/>
          <a:ln/>
        </p:spPr>
        <p:txBody>
          <a:bodyPr wrap="square" lIns="0" tIns="0" rIns="0" bIns="0" rtlCol="0" anchor="ctr"/>
          <a:lstStyle/>
          <a:p>
            <a:pPr algn="ctr" indent="0" marL="0">
              <a:buNone/>
            </a:pPr>
            <a:r>
              <a:rPr lang="en-US" sz="2800" b="1" dirty="0">
                <a:solidFill>
                  <a:srgbClr val="4F74F0"/>
                </a:solidFill>
                <a:latin typeface="Courier New" pitchFamily="34" charset="0"/>
                <a:ea typeface="Courier New" pitchFamily="34" charset="-122"/>
                <a:cs typeface="Courier New" pitchFamily="34" charset="-120"/>
              </a:rPr>
              <a:t>ρ ≈ 0.10</a:t>
            </a:r>
            <a:endParaRPr lang="en-US" sz="2800" dirty="0"/>
          </a:p>
        </p:txBody>
      </p:sp>
      <p:sp>
        <p:nvSpPr>
          <p:cNvPr id="16" name="Text 13"/>
          <p:cNvSpPr/>
          <p:nvPr/>
        </p:nvSpPr>
        <p:spPr>
          <a:xfrm>
            <a:off x="9454896" y="2487168"/>
            <a:ext cx="2377440" cy="658368"/>
          </a:xfrm>
          <a:prstGeom prst="rect">
            <a:avLst/>
          </a:prstGeom>
          <a:noFill/>
          <a:ln/>
        </p:spPr>
        <p:txBody>
          <a:bodyPr wrap="square" lIns="0" tIns="0" rIns="0" bIns="0" rtlCol="0" anchor="ctr"/>
          <a:lstStyle/>
          <a:p>
            <a:pPr algn="ctr" indent="0" marL="0">
              <a:buNone/>
            </a:pPr>
            <a:r>
              <a:rPr lang="en-US" sz="1050" dirty="0">
                <a:solidFill>
                  <a:srgbClr val="9DB0D9"/>
                </a:solidFill>
                <a:latin typeface="Arial" pitchFamily="34" charset="0"/>
                <a:ea typeface="Arial" pitchFamily="34" charset="-122"/>
                <a:cs typeface="Arial" pitchFamily="34" charset="-120"/>
              </a:rPr>
              <a:t>AI exposure vs that decade. Expected — no LLMs existed yet</a:t>
            </a:r>
            <a:endParaRPr lang="en-US" sz="1050" dirty="0"/>
          </a:p>
        </p:txBody>
      </p:sp>
      <p:sp>
        <p:nvSpPr>
          <p:cNvPr id="17" name="Shape 14"/>
          <p:cNvSpPr/>
          <p:nvPr/>
        </p:nvSpPr>
        <p:spPr>
          <a:xfrm>
            <a:off x="548640" y="3566160"/>
            <a:ext cx="11091672" cy="2286000"/>
          </a:xfrm>
          <a:prstGeom prst="roundRect">
            <a:avLst>
              <a:gd name="adj" fmla="val 3600"/>
            </a:avLst>
          </a:prstGeom>
          <a:solidFill>
            <a:srgbClr val="101A38"/>
          </a:solidFill>
          <a:ln w="9525">
            <a:solidFill>
              <a:srgbClr val="24325C"/>
            </a:solidFill>
            <a:prstDash val="solid"/>
          </a:ln>
        </p:spPr>
      </p:sp>
      <p:sp>
        <p:nvSpPr>
          <p:cNvPr id="18" name="Text 15"/>
          <p:cNvSpPr/>
          <p:nvPr/>
        </p:nvSpPr>
        <p:spPr>
          <a:xfrm>
            <a:off x="822960" y="3730752"/>
            <a:ext cx="10515600" cy="320040"/>
          </a:xfrm>
          <a:prstGeom prst="rect">
            <a:avLst/>
          </a:prstGeom>
          <a:noFill/>
          <a:ln/>
        </p:spPr>
        <p:txBody>
          <a:bodyPr wrap="square" lIns="0" tIns="0" rIns="0" bIns="0" rtlCol="0" anchor="ctr"/>
          <a:lstStyle/>
          <a:p>
            <a:pPr indent="0" marL="0">
              <a:buNone/>
            </a:pPr>
            <a:r>
              <a:rPr lang="en-US" sz="1400" b="1" dirty="0">
                <a:solidFill>
                  <a:srgbClr val="FBBF24"/>
                </a:solidFill>
                <a:latin typeface="Arial" pitchFamily="34" charset="0"/>
                <a:ea typeface="Arial" pitchFamily="34" charset="-122"/>
                <a:cs typeface="Arial" pitchFamily="34" charset="-120"/>
              </a:rPr>
              <a:t>And here’s me volunteering the awkward number:</a:t>
            </a:r>
            <a:endParaRPr lang="en-US" sz="1400" dirty="0"/>
          </a:p>
        </p:txBody>
      </p:sp>
      <p:sp>
        <p:nvSpPr>
          <p:cNvPr id="19" name="Text 16"/>
          <p:cNvSpPr/>
          <p:nvPr/>
        </p:nvSpPr>
        <p:spPr>
          <a:xfrm>
            <a:off x="822960" y="4114800"/>
            <a:ext cx="10515600" cy="868680"/>
          </a:xfrm>
          <a:prstGeom prst="rect">
            <a:avLst/>
          </a:prstGeom>
          <a:noFill/>
          <a:ln/>
        </p:spPr>
        <p:txBody>
          <a:bodyPr wrap="square" lIns="0" tIns="0" rIns="0" bIns="0" rtlCol="0" anchor="ctr"/>
          <a:lstStyle/>
          <a:p>
            <a:pPr indent="0" marL="0">
              <a:buNone/>
            </a:pPr>
            <a:r>
              <a:rPr lang="en-US" sz="1250" b="1" dirty="0">
                <a:solidFill>
                  <a:srgbClr val="E8EEFC"/>
                </a:solidFill>
                <a:latin typeface="Arial" pitchFamily="34" charset="0"/>
                <a:ea typeface="Arial" pitchFamily="34" charset="-122"/>
                <a:cs typeface="Arial" pitchFamily="34" charset="-120"/>
              </a:rPr>
              <a:t>Plain BLS projections beat my full model on that decade, 0.411 to 0.39. </a:t>
            </a:r>
            <a:pPr indent="0" marL="0">
              <a:buNone/>
            </a:pPr>
            <a:r>
              <a:rPr lang="en-US" sz="1250" dirty="0">
                <a:solidFill>
                  <a:srgbClr val="9DB0D9"/>
                </a:solidFill>
                <a:latin typeface="Arial" pitchFamily="34" charset="0"/>
                <a:ea typeface="Arial" pitchFamily="34" charset="-122"/>
                <a:cs typeface="Arial" pitchFamily="34" charset="-120"/>
              </a:rPr>
              <a:t>That’s the model working, not failing: the AI-risk term is a bet about the coming decade, and the decade I tested had no LLMs in it. A backward test can’t score a forward bet. It can only validate the machinery — and it did.</a:t>
            </a:r>
            <a:endParaRPr lang="en-US" sz="1250" dirty="0"/>
          </a:p>
        </p:txBody>
      </p:sp>
      <p:sp>
        <p:nvSpPr>
          <p:cNvPr id="20" name="Text 17"/>
          <p:cNvSpPr/>
          <p:nvPr/>
        </p:nvSpPr>
        <p:spPr>
          <a:xfrm>
            <a:off x="822960" y="5074920"/>
            <a:ext cx="10515600" cy="731520"/>
          </a:xfrm>
          <a:prstGeom prst="rect">
            <a:avLst/>
          </a:prstGeom>
          <a:noFill/>
          <a:ln/>
        </p:spPr>
        <p:txBody>
          <a:bodyPr wrap="square" lIns="0" tIns="0" rIns="0" bIns="0" rtlCol="0" anchor="ctr"/>
          <a:lstStyle/>
          <a:p>
            <a:pPr indent="0" marL="0">
              <a:buNone/>
            </a:pPr>
            <a:r>
              <a:rPr lang="en-US" sz="1250" b="1" dirty="0">
                <a:solidFill>
                  <a:srgbClr val="E8EEFC"/>
                </a:solidFill>
                <a:latin typeface="Arial" pitchFamily="34" charset="0"/>
                <a:ea typeface="Arial" pitchFamily="34" charset="-122"/>
                <a:cs typeface="Arial" pitchFamily="34" charset="-120"/>
              </a:rPr>
              <a:t>The back-test never tunes the weights. </a:t>
            </a:r>
            <a:pPr indent="0" marL="0">
              <a:buNone/>
            </a:pPr>
            <a:r>
              <a:rPr lang="en-US" sz="1250" dirty="0">
                <a:solidFill>
                  <a:srgbClr val="9DB0D9"/>
                </a:solidFill>
                <a:latin typeface="Arial" pitchFamily="34" charset="0"/>
                <a:ea typeface="Arial" pitchFamily="34" charset="-122"/>
                <a:cs typeface="Arial" pitchFamily="34" charset="-120"/>
              </a:rPr>
              <a:t>Fit to the test and it stops being a test. Calibrating on a pre-LLM decade would zero out the AI term — the one thing the model exists to say.</a:t>
            </a:r>
            <a:endParaRPr lang="en-US" sz="1250" dirty="0"/>
          </a:p>
        </p:txBody>
      </p:sp>
      <p:sp>
        <p:nvSpPr>
          <p:cNvPr id="21" name="Text 18"/>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E6F9E"/>
                </a:solidFill>
                <a:latin typeface="Arial" pitchFamily="34" charset="0"/>
                <a:ea typeface="Arial" pitchFamily="34" charset="-122"/>
                <a:cs typeface="Arial" pitchFamily="34" charset="-120"/>
              </a:rPr>
              <a:t>CareerStar · ashleylibasci.com</a:t>
            </a:r>
            <a:endParaRPr lang="en-US" sz="900" dirty="0"/>
          </a:p>
        </p:txBody>
      </p:sp>
      <p:sp>
        <p:nvSpPr>
          <p:cNvPr id="22" name="Text 19"/>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5E6F9E"/>
                </a:solidFill>
                <a:latin typeface="Courier New" pitchFamily="34" charset="0"/>
                <a:ea typeface="Courier New" pitchFamily="34" charset="-122"/>
                <a:cs typeface="Courier New"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548640" y="402336"/>
            <a:ext cx="155448" cy="164592"/>
          </a:xfrm>
          <a:prstGeom prst="rect">
            <a:avLst/>
          </a:prstGeom>
        </p:spPr>
      </p:pic>
      <p:sp>
        <p:nvSpPr>
          <p:cNvPr id="3" name="Text 0"/>
          <p:cNvSpPr/>
          <p:nvPr/>
        </p:nvSpPr>
        <p:spPr>
          <a:xfrm>
            <a:off x="786384" y="384048"/>
            <a:ext cx="7315200" cy="274320"/>
          </a:xfrm>
          <a:prstGeom prst="rect">
            <a:avLst/>
          </a:prstGeom>
          <a:noFill/>
          <a:ln/>
        </p:spPr>
        <p:txBody>
          <a:bodyPr wrap="square" lIns="0" tIns="0" rIns="0" bIns="0" rtlCol="0" anchor="ctr"/>
          <a:lstStyle/>
          <a:p>
            <a:pPr indent="0" marL="0">
              <a:buNone/>
            </a:pPr>
            <a:r>
              <a:rPr lang="en-US" sz="1100" b="1" spc="300" kern="0" dirty="0">
                <a:solidFill>
                  <a:srgbClr val="4F74F0"/>
                </a:solidFill>
                <a:latin typeface="Arial" pitchFamily="34" charset="0"/>
                <a:ea typeface="Arial" pitchFamily="34" charset="-122"/>
                <a:cs typeface="Arial" pitchFamily="34" charset="-120"/>
              </a:rPr>
              <a:t>08 · THE INFRASTRUCTURE</a:t>
            </a:r>
            <a:endParaRPr lang="en-US" sz="1100" dirty="0"/>
          </a:p>
        </p:txBody>
      </p:sp>
      <p:sp>
        <p:nvSpPr>
          <p:cNvPr id="4" name="Text 1"/>
          <p:cNvSpPr/>
          <p:nvPr/>
        </p:nvSpPr>
        <p:spPr>
          <a:xfrm>
            <a:off x="548640" y="658368"/>
            <a:ext cx="11094415" cy="685800"/>
          </a:xfrm>
          <a:prstGeom prst="rect">
            <a:avLst/>
          </a:prstGeom>
          <a:noFill/>
          <a:ln/>
        </p:spPr>
        <p:txBody>
          <a:bodyPr wrap="square" lIns="0" tIns="0" rIns="0" bIns="0" rtlCol="0" anchor="ctr"/>
          <a:lstStyle/>
          <a:p>
            <a:pPr indent="0" marL="0">
              <a:buNone/>
            </a:pPr>
            <a:r>
              <a:rPr lang="en-US" sz="3100" b="1" dirty="0">
                <a:solidFill>
                  <a:srgbClr val="E8EEFC"/>
                </a:solidFill>
                <a:latin typeface="Arial" pitchFamily="34" charset="0"/>
                <a:ea typeface="Arial" pitchFamily="34" charset="-122"/>
                <a:cs typeface="Arial" pitchFamily="34" charset="-120"/>
              </a:rPr>
              <a:t>Deploying it taught me more AWS than the practice exams</a:t>
            </a:r>
            <a:endParaRPr lang="en-US" sz="3100" dirty="0"/>
          </a:p>
        </p:txBody>
      </p:sp>
      <p:sp>
        <p:nvSpPr>
          <p:cNvPr id="5" name="Shape 2"/>
          <p:cNvSpPr/>
          <p:nvPr/>
        </p:nvSpPr>
        <p:spPr>
          <a:xfrm>
            <a:off x="548640" y="1691640"/>
            <a:ext cx="2514600" cy="914400"/>
          </a:xfrm>
          <a:prstGeom prst="roundRect">
            <a:avLst>
              <a:gd name="adj" fmla="val 9000"/>
            </a:avLst>
          </a:prstGeom>
          <a:solidFill>
            <a:srgbClr val="0C1530"/>
          </a:solidFill>
          <a:ln w="9525">
            <a:solidFill>
              <a:srgbClr val="24325C"/>
            </a:solidFill>
            <a:prstDash val="solid"/>
          </a:ln>
        </p:spPr>
      </p:sp>
      <p:sp>
        <p:nvSpPr>
          <p:cNvPr id="6" name="Text 3"/>
          <p:cNvSpPr/>
          <p:nvPr/>
        </p:nvSpPr>
        <p:spPr>
          <a:xfrm>
            <a:off x="548640" y="1691640"/>
            <a:ext cx="2514600" cy="914400"/>
          </a:xfrm>
          <a:prstGeom prst="rect">
            <a:avLst/>
          </a:prstGeom>
          <a:noFill/>
          <a:ln/>
        </p:spPr>
        <p:txBody>
          <a:bodyPr wrap="square" lIns="0" tIns="0" rIns="0" bIns="0" rtlCol="0" anchor="ctr"/>
          <a:lstStyle/>
          <a:p>
            <a:pPr algn="ctr" indent="0" marL="0">
              <a:buNone/>
            </a:pPr>
            <a:r>
              <a:rPr lang="en-US" sz="1250" b="1" dirty="0">
                <a:solidFill>
                  <a:srgbClr val="E8EEFC"/>
                </a:solidFill>
                <a:latin typeface="Arial" pitchFamily="34" charset="0"/>
                <a:ea typeface="Arial" pitchFamily="34" charset="-122"/>
                <a:cs typeface="Arial" pitchFamily="34" charset="-120"/>
              </a:rPr>
              <a:t>GitHub</a:t>
            </a:r>
            <a:endParaRPr lang="en-US" sz="1250" dirty="0"/>
          </a:p>
        </p:txBody>
      </p:sp>
      <p:sp>
        <p:nvSpPr>
          <p:cNvPr id="7" name="Text 4"/>
          <p:cNvSpPr/>
          <p:nvPr/>
        </p:nvSpPr>
        <p:spPr>
          <a:xfrm>
            <a:off x="3044952" y="1691640"/>
            <a:ext cx="329184" cy="914400"/>
          </a:xfrm>
          <a:prstGeom prst="rect">
            <a:avLst/>
          </a:prstGeom>
          <a:noFill/>
          <a:ln/>
        </p:spPr>
        <p:txBody>
          <a:bodyPr wrap="square" lIns="0" tIns="0" rIns="0" bIns="0" rtlCol="0" anchor="ctr"/>
          <a:lstStyle/>
          <a:p>
            <a:pPr algn="ctr" indent="0" marL="0">
              <a:buNone/>
            </a:pPr>
            <a:r>
              <a:rPr lang="en-US" sz="1600" dirty="0">
                <a:solidFill>
                  <a:srgbClr val="4F74F0"/>
                </a:solidFill>
                <a:latin typeface="Arial" pitchFamily="34" charset="0"/>
                <a:ea typeface="Arial" pitchFamily="34" charset="-122"/>
                <a:cs typeface="Arial" pitchFamily="34" charset="-120"/>
              </a:rPr>
              <a:t>→</a:t>
            </a:r>
            <a:endParaRPr lang="en-US" sz="1600" dirty="0"/>
          </a:p>
        </p:txBody>
      </p:sp>
      <p:sp>
        <p:nvSpPr>
          <p:cNvPr id="8" name="Shape 5"/>
          <p:cNvSpPr/>
          <p:nvPr/>
        </p:nvSpPr>
        <p:spPr>
          <a:xfrm>
            <a:off x="3346704" y="1691640"/>
            <a:ext cx="2514600" cy="914400"/>
          </a:xfrm>
          <a:prstGeom prst="roundRect">
            <a:avLst>
              <a:gd name="adj" fmla="val 9000"/>
            </a:avLst>
          </a:prstGeom>
          <a:solidFill>
            <a:srgbClr val="0C1530"/>
          </a:solidFill>
          <a:ln w="9525">
            <a:solidFill>
              <a:srgbClr val="24325C"/>
            </a:solidFill>
            <a:prstDash val="solid"/>
          </a:ln>
        </p:spPr>
      </p:sp>
      <p:sp>
        <p:nvSpPr>
          <p:cNvPr id="9" name="Text 6"/>
          <p:cNvSpPr/>
          <p:nvPr/>
        </p:nvSpPr>
        <p:spPr>
          <a:xfrm>
            <a:off x="3346704" y="1691640"/>
            <a:ext cx="2514600" cy="914400"/>
          </a:xfrm>
          <a:prstGeom prst="rect">
            <a:avLst/>
          </a:prstGeom>
          <a:noFill/>
          <a:ln/>
        </p:spPr>
        <p:txBody>
          <a:bodyPr wrap="square" lIns="0" tIns="0" rIns="0" bIns="0" rtlCol="0" anchor="ctr"/>
          <a:lstStyle/>
          <a:p>
            <a:pPr algn="ctr" indent="0" marL="0">
              <a:buNone/>
            </a:pPr>
            <a:r>
              <a:rPr lang="en-US" sz="1250" b="1" dirty="0">
                <a:solidFill>
                  <a:srgbClr val="E8EEFC"/>
                </a:solidFill>
                <a:latin typeface="Arial" pitchFamily="34" charset="0"/>
                <a:ea typeface="Arial" pitchFamily="34" charset="-122"/>
                <a:cs typeface="Arial" pitchFamily="34" charset="-120"/>
              </a:rPr>
              <a:t>Amplify Hosting</a:t>
            </a:r>
            <a:endParaRPr lang="en-US" sz="1250" dirty="0"/>
          </a:p>
          <a:p>
            <a:pPr algn="ctr" indent="0" marL="0">
              <a:buNone/>
            </a:pPr>
            <a:r>
              <a:rPr lang="en-US" sz="1250" b="1" dirty="0">
                <a:solidFill>
                  <a:srgbClr val="E8EEFC"/>
                </a:solidFill>
                <a:latin typeface="Arial" pitchFamily="34" charset="0"/>
                <a:ea typeface="Arial" pitchFamily="34" charset="-122"/>
                <a:cs typeface="Arial" pitchFamily="34" charset="-120"/>
              </a:rPr>
              <a:t>build + SSR</a:t>
            </a:r>
            <a:endParaRPr lang="en-US" sz="1250" dirty="0"/>
          </a:p>
        </p:txBody>
      </p:sp>
      <p:sp>
        <p:nvSpPr>
          <p:cNvPr id="10" name="Text 7"/>
          <p:cNvSpPr/>
          <p:nvPr/>
        </p:nvSpPr>
        <p:spPr>
          <a:xfrm>
            <a:off x="5843016" y="1691640"/>
            <a:ext cx="329184" cy="914400"/>
          </a:xfrm>
          <a:prstGeom prst="rect">
            <a:avLst/>
          </a:prstGeom>
          <a:noFill/>
          <a:ln/>
        </p:spPr>
        <p:txBody>
          <a:bodyPr wrap="square" lIns="0" tIns="0" rIns="0" bIns="0" rtlCol="0" anchor="ctr"/>
          <a:lstStyle/>
          <a:p>
            <a:pPr algn="ctr" indent="0" marL="0">
              <a:buNone/>
            </a:pPr>
            <a:r>
              <a:rPr lang="en-US" sz="1600" dirty="0">
                <a:solidFill>
                  <a:srgbClr val="4F74F0"/>
                </a:solidFill>
                <a:latin typeface="Arial" pitchFamily="34" charset="0"/>
                <a:ea typeface="Arial" pitchFamily="34" charset="-122"/>
                <a:cs typeface="Arial" pitchFamily="34" charset="-120"/>
              </a:rPr>
              <a:t>→</a:t>
            </a:r>
            <a:endParaRPr lang="en-US" sz="1600" dirty="0"/>
          </a:p>
        </p:txBody>
      </p:sp>
      <p:sp>
        <p:nvSpPr>
          <p:cNvPr id="11" name="Shape 8"/>
          <p:cNvSpPr/>
          <p:nvPr/>
        </p:nvSpPr>
        <p:spPr>
          <a:xfrm>
            <a:off x="6144768" y="1691640"/>
            <a:ext cx="2514600" cy="914400"/>
          </a:xfrm>
          <a:prstGeom prst="roundRect">
            <a:avLst>
              <a:gd name="adj" fmla="val 9000"/>
            </a:avLst>
          </a:prstGeom>
          <a:solidFill>
            <a:srgbClr val="0C1530"/>
          </a:solidFill>
          <a:ln w="9525">
            <a:solidFill>
              <a:srgbClr val="24325C"/>
            </a:solidFill>
            <a:prstDash val="solid"/>
          </a:ln>
        </p:spPr>
      </p:sp>
      <p:sp>
        <p:nvSpPr>
          <p:cNvPr id="12" name="Text 9"/>
          <p:cNvSpPr/>
          <p:nvPr/>
        </p:nvSpPr>
        <p:spPr>
          <a:xfrm>
            <a:off x="6144768" y="1691640"/>
            <a:ext cx="2514600" cy="914400"/>
          </a:xfrm>
          <a:prstGeom prst="rect">
            <a:avLst/>
          </a:prstGeom>
          <a:noFill/>
          <a:ln/>
        </p:spPr>
        <p:txBody>
          <a:bodyPr wrap="square" lIns="0" tIns="0" rIns="0" bIns="0" rtlCol="0" anchor="ctr"/>
          <a:lstStyle/>
          <a:p>
            <a:pPr algn="ctr" indent="0" marL="0">
              <a:buNone/>
            </a:pPr>
            <a:r>
              <a:rPr lang="en-US" sz="1250" b="1" dirty="0">
                <a:solidFill>
                  <a:srgbClr val="E8EEFC"/>
                </a:solidFill>
                <a:latin typeface="Arial" pitchFamily="34" charset="0"/>
                <a:ea typeface="Arial" pitchFamily="34" charset="-122"/>
                <a:cs typeface="Arial" pitchFamily="34" charset="-120"/>
              </a:rPr>
              <a:t>CloudFront</a:t>
            </a:r>
            <a:endParaRPr lang="en-US" sz="1250" dirty="0"/>
          </a:p>
          <a:p>
            <a:pPr algn="ctr" indent="0" marL="0">
              <a:buNone/>
            </a:pPr>
            <a:r>
              <a:rPr lang="en-US" sz="1250" b="1" dirty="0">
                <a:solidFill>
                  <a:srgbClr val="E8EEFC"/>
                </a:solidFill>
                <a:latin typeface="Arial" pitchFamily="34" charset="0"/>
                <a:ea typeface="Arial" pitchFamily="34" charset="-122"/>
                <a:cs typeface="Arial" pitchFamily="34" charset="-120"/>
              </a:rPr>
              <a:t>edge network</a:t>
            </a:r>
            <a:endParaRPr lang="en-US" sz="1250" dirty="0"/>
          </a:p>
        </p:txBody>
      </p:sp>
      <p:sp>
        <p:nvSpPr>
          <p:cNvPr id="13" name="Text 10"/>
          <p:cNvSpPr/>
          <p:nvPr/>
        </p:nvSpPr>
        <p:spPr>
          <a:xfrm>
            <a:off x="8641080" y="1691640"/>
            <a:ext cx="329184" cy="914400"/>
          </a:xfrm>
          <a:prstGeom prst="rect">
            <a:avLst/>
          </a:prstGeom>
          <a:noFill/>
          <a:ln/>
        </p:spPr>
        <p:txBody>
          <a:bodyPr wrap="square" lIns="0" tIns="0" rIns="0" bIns="0" rtlCol="0" anchor="ctr"/>
          <a:lstStyle/>
          <a:p>
            <a:pPr algn="ctr" indent="0" marL="0">
              <a:buNone/>
            </a:pPr>
            <a:r>
              <a:rPr lang="en-US" sz="1600" dirty="0">
                <a:solidFill>
                  <a:srgbClr val="4F74F0"/>
                </a:solidFill>
                <a:latin typeface="Arial" pitchFamily="34" charset="0"/>
                <a:ea typeface="Arial" pitchFamily="34" charset="-122"/>
                <a:cs typeface="Arial" pitchFamily="34" charset="-120"/>
              </a:rPr>
              <a:t>→</a:t>
            </a:r>
            <a:endParaRPr lang="en-US" sz="1600" dirty="0"/>
          </a:p>
        </p:txBody>
      </p:sp>
      <p:sp>
        <p:nvSpPr>
          <p:cNvPr id="14" name="Shape 11"/>
          <p:cNvSpPr/>
          <p:nvPr/>
        </p:nvSpPr>
        <p:spPr>
          <a:xfrm>
            <a:off x="8942832" y="1691640"/>
            <a:ext cx="2514600" cy="914400"/>
          </a:xfrm>
          <a:prstGeom prst="roundRect">
            <a:avLst>
              <a:gd name="adj" fmla="val 9000"/>
            </a:avLst>
          </a:prstGeom>
          <a:solidFill>
            <a:srgbClr val="0C1530"/>
          </a:solidFill>
          <a:ln w="9525">
            <a:solidFill>
              <a:srgbClr val="24325C"/>
            </a:solidFill>
            <a:prstDash val="solid"/>
          </a:ln>
        </p:spPr>
      </p:sp>
      <p:sp>
        <p:nvSpPr>
          <p:cNvPr id="15" name="Text 12"/>
          <p:cNvSpPr/>
          <p:nvPr/>
        </p:nvSpPr>
        <p:spPr>
          <a:xfrm>
            <a:off x="8942832" y="1691640"/>
            <a:ext cx="2514600" cy="914400"/>
          </a:xfrm>
          <a:prstGeom prst="rect">
            <a:avLst/>
          </a:prstGeom>
          <a:noFill/>
          <a:ln/>
        </p:spPr>
        <p:txBody>
          <a:bodyPr wrap="square" lIns="0" tIns="0" rIns="0" bIns="0" rtlCol="0" anchor="ctr"/>
          <a:lstStyle/>
          <a:p>
            <a:pPr algn="ctr" indent="0" marL="0">
              <a:buNone/>
            </a:pPr>
            <a:r>
              <a:rPr lang="en-US" sz="1250" b="1" dirty="0">
                <a:solidFill>
                  <a:srgbClr val="E8EEFC"/>
                </a:solidFill>
                <a:latin typeface="Arial" pitchFamily="34" charset="0"/>
                <a:ea typeface="Arial" pitchFamily="34" charset="-122"/>
                <a:cs typeface="Arial" pitchFamily="34" charset="-120"/>
              </a:rPr>
              <a:t>Route 53</a:t>
            </a:r>
            <a:endParaRPr lang="en-US" sz="1250" dirty="0"/>
          </a:p>
          <a:p>
            <a:pPr algn="ctr" indent="0" marL="0">
              <a:buNone/>
            </a:pPr>
            <a:r>
              <a:rPr lang="en-US" sz="1250" b="1" dirty="0">
                <a:solidFill>
                  <a:srgbClr val="E8EEFC"/>
                </a:solidFill>
                <a:latin typeface="Arial" pitchFamily="34" charset="0"/>
                <a:ea typeface="Arial" pitchFamily="34" charset="-122"/>
                <a:cs typeface="Arial" pitchFamily="34" charset="-120"/>
              </a:rPr>
              <a:t>ashleylibasci.com</a:t>
            </a:r>
            <a:endParaRPr lang="en-US" sz="1250" dirty="0"/>
          </a:p>
        </p:txBody>
      </p:sp>
      <p:sp>
        <p:nvSpPr>
          <p:cNvPr id="16" name="Text 13"/>
          <p:cNvSpPr/>
          <p:nvPr/>
        </p:nvSpPr>
        <p:spPr>
          <a:xfrm>
            <a:off x="548640" y="2834640"/>
            <a:ext cx="11091672" cy="365760"/>
          </a:xfrm>
          <a:prstGeom prst="rect">
            <a:avLst/>
          </a:prstGeom>
          <a:noFill/>
          <a:ln/>
        </p:spPr>
        <p:txBody>
          <a:bodyPr wrap="square" lIns="0" tIns="0" rIns="0" bIns="0" rtlCol="0" anchor="ctr"/>
          <a:lstStyle/>
          <a:p>
            <a:pPr indent="0" marL="0">
              <a:buNone/>
            </a:pPr>
            <a:r>
              <a:rPr lang="en-US" sz="1400" b="1" dirty="0">
                <a:solidFill>
                  <a:srgbClr val="E8EEFC"/>
                </a:solidFill>
                <a:latin typeface="Arial" pitchFamily="34" charset="0"/>
                <a:ea typeface="Arial" pitchFamily="34" charset="-122"/>
                <a:cs typeface="Arial" pitchFamily="34" charset="-120"/>
              </a:rPr>
              <a:t>The whole pipeline is a git push.</a:t>
            </a:r>
            <a:endParaRPr lang="en-US" sz="1400" dirty="0"/>
          </a:p>
        </p:txBody>
      </p:sp>
      <p:sp>
        <p:nvSpPr>
          <p:cNvPr id="17" name="Shape 14"/>
          <p:cNvSpPr/>
          <p:nvPr/>
        </p:nvSpPr>
        <p:spPr>
          <a:xfrm>
            <a:off x="548640" y="3383280"/>
            <a:ext cx="2743200" cy="2011680"/>
          </a:xfrm>
          <a:prstGeom prst="roundRect">
            <a:avLst>
              <a:gd name="adj" fmla="val 4091"/>
            </a:avLst>
          </a:prstGeom>
          <a:solidFill>
            <a:srgbClr val="0C1530"/>
          </a:solidFill>
          <a:ln w="9525">
            <a:solidFill>
              <a:srgbClr val="24325C"/>
            </a:solidFill>
            <a:prstDash val="solid"/>
          </a:ln>
        </p:spPr>
      </p:sp>
      <p:sp>
        <p:nvSpPr>
          <p:cNvPr id="18" name="Text 15"/>
          <p:cNvSpPr/>
          <p:nvPr/>
        </p:nvSpPr>
        <p:spPr>
          <a:xfrm>
            <a:off x="713232" y="3566160"/>
            <a:ext cx="2414016" cy="365760"/>
          </a:xfrm>
          <a:prstGeom prst="rect">
            <a:avLst/>
          </a:prstGeom>
          <a:noFill/>
          <a:ln/>
        </p:spPr>
        <p:txBody>
          <a:bodyPr wrap="square" lIns="0" tIns="0" rIns="0" bIns="0" rtlCol="0" anchor="ctr"/>
          <a:lstStyle/>
          <a:p>
            <a:pPr indent="0" marL="0">
              <a:buNone/>
            </a:pPr>
            <a:r>
              <a:rPr lang="en-US" sz="1250" b="1" dirty="0">
                <a:solidFill>
                  <a:srgbClr val="4F74F0"/>
                </a:solidFill>
                <a:latin typeface="Arial" pitchFamily="34" charset="0"/>
                <a:ea typeface="Arial" pitchFamily="34" charset="-122"/>
                <a:cs typeface="Arial" pitchFamily="34" charset="-120"/>
              </a:rPr>
              <a:t>Managed services</a:t>
            </a:r>
            <a:endParaRPr lang="en-US" sz="1250" dirty="0"/>
          </a:p>
        </p:txBody>
      </p:sp>
      <p:sp>
        <p:nvSpPr>
          <p:cNvPr id="19" name="Text 16"/>
          <p:cNvSpPr/>
          <p:nvPr/>
        </p:nvSpPr>
        <p:spPr>
          <a:xfrm>
            <a:off x="713232" y="3950208"/>
            <a:ext cx="2414016" cy="1325880"/>
          </a:xfrm>
          <a:prstGeom prst="rect">
            <a:avLst/>
          </a:prstGeom>
          <a:noFill/>
          <a:ln/>
        </p:spPr>
        <p:txBody>
          <a:bodyPr wrap="square" lIns="0" tIns="0" rIns="0" bIns="0" rtlCol="0" anchor="ctr"/>
          <a:lstStyle/>
          <a:p>
            <a:pPr indent="0" marL="0">
              <a:buNone/>
            </a:pPr>
            <a:r>
              <a:rPr lang="en-US" sz="1100" dirty="0">
                <a:solidFill>
                  <a:srgbClr val="9DB0D9"/>
                </a:solidFill>
                <a:latin typeface="Arial" pitchFamily="34" charset="0"/>
                <a:ea typeface="Arial" pitchFamily="34" charset="-122"/>
                <a:cs typeface="Arial" pitchFamily="34" charset="-120"/>
              </a:rPr>
              <a:t>no servers to own; Amplify builds and serves the Next.js app</a:t>
            </a:r>
            <a:endParaRPr lang="en-US" sz="1100" dirty="0"/>
          </a:p>
        </p:txBody>
      </p:sp>
      <p:sp>
        <p:nvSpPr>
          <p:cNvPr id="20" name="Shape 17"/>
          <p:cNvSpPr/>
          <p:nvPr/>
        </p:nvSpPr>
        <p:spPr>
          <a:xfrm>
            <a:off x="3456432" y="3383280"/>
            <a:ext cx="2743200" cy="2011680"/>
          </a:xfrm>
          <a:prstGeom prst="roundRect">
            <a:avLst>
              <a:gd name="adj" fmla="val 4091"/>
            </a:avLst>
          </a:prstGeom>
          <a:solidFill>
            <a:srgbClr val="0C1530"/>
          </a:solidFill>
          <a:ln w="9525">
            <a:solidFill>
              <a:srgbClr val="24325C"/>
            </a:solidFill>
            <a:prstDash val="solid"/>
          </a:ln>
        </p:spPr>
      </p:sp>
      <p:sp>
        <p:nvSpPr>
          <p:cNvPr id="21" name="Text 18"/>
          <p:cNvSpPr/>
          <p:nvPr/>
        </p:nvSpPr>
        <p:spPr>
          <a:xfrm>
            <a:off x="3621024" y="3566160"/>
            <a:ext cx="2414016" cy="365760"/>
          </a:xfrm>
          <a:prstGeom prst="rect">
            <a:avLst/>
          </a:prstGeom>
          <a:noFill/>
          <a:ln/>
        </p:spPr>
        <p:txBody>
          <a:bodyPr wrap="square" lIns="0" tIns="0" rIns="0" bIns="0" rtlCol="0" anchor="ctr"/>
          <a:lstStyle/>
          <a:p>
            <a:pPr indent="0" marL="0">
              <a:buNone/>
            </a:pPr>
            <a:r>
              <a:rPr lang="en-US" sz="1250" b="1" dirty="0">
                <a:solidFill>
                  <a:srgbClr val="4F74F0"/>
                </a:solidFill>
                <a:latin typeface="Arial" pitchFamily="34" charset="0"/>
                <a:ea typeface="Arial" pitchFamily="34" charset="-122"/>
                <a:cs typeface="Arial" pitchFamily="34" charset="-120"/>
              </a:rPr>
              <a:t>Edge caching</a:t>
            </a:r>
            <a:endParaRPr lang="en-US" sz="1250" dirty="0"/>
          </a:p>
        </p:txBody>
      </p:sp>
      <p:sp>
        <p:nvSpPr>
          <p:cNvPr id="22" name="Text 19"/>
          <p:cNvSpPr/>
          <p:nvPr/>
        </p:nvSpPr>
        <p:spPr>
          <a:xfrm>
            <a:off x="3621024" y="3950208"/>
            <a:ext cx="2414016" cy="1325880"/>
          </a:xfrm>
          <a:prstGeom prst="rect">
            <a:avLst/>
          </a:prstGeom>
          <a:noFill/>
          <a:ln/>
        </p:spPr>
        <p:txBody>
          <a:bodyPr wrap="square" lIns="0" tIns="0" rIns="0" bIns="0" rtlCol="0" anchor="ctr"/>
          <a:lstStyle/>
          <a:p>
            <a:pPr indent="0" marL="0">
              <a:buNone/>
            </a:pPr>
            <a:r>
              <a:rPr lang="en-US" sz="1100" dirty="0">
                <a:solidFill>
                  <a:srgbClr val="9DB0D9"/>
                </a:solidFill>
                <a:latin typeface="Arial" pitchFamily="34" charset="0"/>
                <a:ea typeface="Arial" pitchFamily="34" charset="-122"/>
                <a:cs typeface="Arial" pitchFamily="34" charset="-120"/>
              </a:rPr>
              <a:t>CloudFront serves the static pages from the edge; SSR only where needed</a:t>
            </a:r>
            <a:endParaRPr lang="en-US" sz="1100" dirty="0"/>
          </a:p>
        </p:txBody>
      </p:sp>
      <p:sp>
        <p:nvSpPr>
          <p:cNvPr id="23" name="Shape 20"/>
          <p:cNvSpPr/>
          <p:nvPr/>
        </p:nvSpPr>
        <p:spPr>
          <a:xfrm>
            <a:off x="6364224" y="3383280"/>
            <a:ext cx="2743200" cy="2011680"/>
          </a:xfrm>
          <a:prstGeom prst="roundRect">
            <a:avLst>
              <a:gd name="adj" fmla="val 4091"/>
            </a:avLst>
          </a:prstGeom>
          <a:solidFill>
            <a:srgbClr val="0C1530"/>
          </a:solidFill>
          <a:ln w="9525">
            <a:solidFill>
              <a:srgbClr val="24325C"/>
            </a:solidFill>
            <a:prstDash val="solid"/>
          </a:ln>
        </p:spPr>
      </p:sp>
      <p:sp>
        <p:nvSpPr>
          <p:cNvPr id="24" name="Text 21"/>
          <p:cNvSpPr/>
          <p:nvPr/>
        </p:nvSpPr>
        <p:spPr>
          <a:xfrm>
            <a:off x="6528816" y="3566160"/>
            <a:ext cx="2414016" cy="365760"/>
          </a:xfrm>
          <a:prstGeom prst="rect">
            <a:avLst/>
          </a:prstGeom>
          <a:noFill/>
          <a:ln/>
        </p:spPr>
        <p:txBody>
          <a:bodyPr wrap="square" lIns="0" tIns="0" rIns="0" bIns="0" rtlCol="0" anchor="ctr"/>
          <a:lstStyle/>
          <a:p>
            <a:pPr indent="0" marL="0">
              <a:buNone/>
            </a:pPr>
            <a:r>
              <a:rPr lang="en-US" sz="1250" b="1" dirty="0">
                <a:solidFill>
                  <a:srgbClr val="4F74F0"/>
                </a:solidFill>
                <a:latin typeface="Arial" pitchFamily="34" charset="0"/>
                <a:ea typeface="Arial" pitchFamily="34" charset="-122"/>
                <a:cs typeface="Arial" pitchFamily="34" charset="-120"/>
              </a:rPr>
              <a:t>Shared responsibility</a:t>
            </a:r>
            <a:endParaRPr lang="en-US" sz="1250" dirty="0"/>
          </a:p>
        </p:txBody>
      </p:sp>
      <p:sp>
        <p:nvSpPr>
          <p:cNvPr id="25" name="Text 22"/>
          <p:cNvSpPr/>
          <p:nvPr/>
        </p:nvSpPr>
        <p:spPr>
          <a:xfrm>
            <a:off x="6528816" y="3950208"/>
            <a:ext cx="2414016" cy="1325880"/>
          </a:xfrm>
          <a:prstGeom prst="rect">
            <a:avLst/>
          </a:prstGeom>
          <a:noFill/>
          <a:ln/>
        </p:spPr>
        <p:txBody>
          <a:bodyPr wrap="square" lIns="0" tIns="0" rIns="0" bIns="0" rtlCol="0" anchor="ctr"/>
          <a:lstStyle/>
          <a:p>
            <a:pPr indent="0" marL="0">
              <a:buNone/>
            </a:pPr>
            <a:r>
              <a:rPr lang="en-US" sz="1100" dirty="0">
                <a:solidFill>
                  <a:srgbClr val="9DB0D9"/>
                </a:solidFill>
                <a:latin typeface="Arial" pitchFamily="34" charset="0"/>
                <a:ea typeface="Arial" pitchFamily="34" charset="-122"/>
                <a:cs typeface="Arial" pitchFamily="34" charset="-120"/>
              </a:rPr>
              <a:t>AWS runs the platform, my code’s security is on me — see next slide</a:t>
            </a:r>
            <a:endParaRPr lang="en-US" sz="1100" dirty="0"/>
          </a:p>
        </p:txBody>
      </p:sp>
      <p:sp>
        <p:nvSpPr>
          <p:cNvPr id="26" name="Shape 23"/>
          <p:cNvSpPr/>
          <p:nvPr/>
        </p:nvSpPr>
        <p:spPr>
          <a:xfrm>
            <a:off x="9272016" y="3383280"/>
            <a:ext cx="2743200" cy="2011680"/>
          </a:xfrm>
          <a:prstGeom prst="roundRect">
            <a:avLst>
              <a:gd name="adj" fmla="val 4091"/>
            </a:avLst>
          </a:prstGeom>
          <a:solidFill>
            <a:srgbClr val="0C1530"/>
          </a:solidFill>
          <a:ln w="9525">
            <a:solidFill>
              <a:srgbClr val="24325C"/>
            </a:solidFill>
            <a:prstDash val="solid"/>
          </a:ln>
        </p:spPr>
      </p:sp>
      <p:sp>
        <p:nvSpPr>
          <p:cNvPr id="27" name="Text 24"/>
          <p:cNvSpPr/>
          <p:nvPr/>
        </p:nvSpPr>
        <p:spPr>
          <a:xfrm>
            <a:off x="9436608" y="3566160"/>
            <a:ext cx="2414016" cy="365760"/>
          </a:xfrm>
          <a:prstGeom prst="rect">
            <a:avLst/>
          </a:prstGeom>
          <a:noFill/>
          <a:ln/>
        </p:spPr>
        <p:txBody>
          <a:bodyPr wrap="square" lIns="0" tIns="0" rIns="0" bIns="0" rtlCol="0" anchor="ctr"/>
          <a:lstStyle/>
          <a:p>
            <a:pPr indent="0" marL="0">
              <a:buNone/>
            </a:pPr>
            <a:r>
              <a:rPr lang="en-US" sz="1250" b="1" dirty="0">
                <a:solidFill>
                  <a:srgbClr val="4F74F0"/>
                </a:solidFill>
                <a:latin typeface="Arial" pitchFamily="34" charset="0"/>
                <a:ea typeface="Arial" pitchFamily="34" charset="-122"/>
                <a:cs typeface="Arial" pitchFamily="34" charset="-120"/>
              </a:rPr>
              <a:t>DNS &amp; certs</a:t>
            </a:r>
            <a:endParaRPr lang="en-US" sz="1250" dirty="0"/>
          </a:p>
        </p:txBody>
      </p:sp>
      <p:sp>
        <p:nvSpPr>
          <p:cNvPr id="28" name="Text 25"/>
          <p:cNvSpPr/>
          <p:nvPr/>
        </p:nvSpPr>
        <p:spPr>
          <a:xfrm>
            <a:off x="9436608" y="3950208"/>
            <a:ext cx="2414016" cy="1325880"/>
          </a:xfrm>
          <a:prstGeom prst="rect">
            <a:avLst/>
          </a:prstGeom>
          <a:noFill/>
          <a:ln/>
        </p:spPr>
        <p:txBody>
          <a:bodyPr wrap="square" lIns="0" tIns="0" rIns="0" bIns="0" rtlCol="0" anchor="ctr"/>
          <a:lstStyle/>
          <a:p>
            <a:pPr indent="0" marL="0">
              <a:buNone/>
            </a:pPr>
            <a:r>
              <a:rPr lang="en-US" sz="1100" dirty="0">
                <a:solidFill>
                  <a:srgbClr val="9DB0D9"/>
                </a:solidFill>
                <a:latin typeface="Arial" pitchFamily="34" charset="0"/>
                <a:ea typeface="Arial" pitchFamily="34" charset="-122"/>
                <a:cs typeface="Arial" pitchFamily="34" charset="-120"/>
              </a:rPr>
              <a:t>Route 53 + managed TLS on the custom domain</a:t>
            </a:r>
            <a:endParaRPr lang="en-US" sz="1100" dirty="0"/>
          </a:p>
        </p:txBody>
      </p:sp>
      <p:sp>
        <p:nvSpPr>
          <p:cNvPr id="29" name="Text 26"/>
          <p:cNvSpPr/>
          <p:nvPr/>
        </p:nvSpPr>
        <p:spPr>
          <a:xfrm>
            <a:off x="548640" y="5623560"/>
            <a:ext cx="11091672" cy="365760"/>
          </a:xfrm>
          <a:prstGeom prst="rect">
            <a:avLst/>
          </a:prstGeom>
          <a:noFill/>
          <a:ln/>
        </p:spPr>
        <p:txBody>
          <a:bodyPr wrap="square" lIns="0" tIns="0" rIns="0" bIns="0" rtlCol="0" anchor="ctr"/>
          <a:lstStyle/>
          <a:p>
            <a:pPr indent="0" marL="0">
              <a:buNone/>
            </a:pPr>
            <a:r>
              <a:rPr lang="en-US" sz="1200" i="1" dirty="0">
                <a:solidFill>
                  <a:srgbClr val="9DB0D9"/>
                </a:solidFill>
                <a:latin typeface="Arial" pitchFamily="34" charset="0"/>
                <a:ea typeface="Arial" pitchFamily="34" charset="-122"/>
                <a:cs typeface="Arial" pitchFamily="34" charset="-120"/>
              </a:rPr>
              <a:t>Studying for the AWS Cloud Practitioner cert — this project is where the exam concepts became real.</a:t>
            </a:r>
            <a:endParaRPr lang="en-US" sz="1200" dirty="0"/>
          </a:p>
        </p:txBody>
      </p:sp>
      <p:sp>
        <p:nvSpPr>
          <p:cNvPr id="30" name="Text 27"/>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E6F9E"/>
                </a:solidFill>
                <a:latin typeface="Arial" pitchFamily="34" charset="0"/>
                <a:ea typeface="Arial" pitchFamily="34" charset="-122"/>
                <a:cs typeface="Arial" pitchFamily="34" charset="-120"/>
              </a:rPr>
              <a:t>CareerStar · ashleylibasci.com</a:t>
            </a:r>
            <a:endParaRPr lang="en-US" sz="900" dirty="0"/>
          </a:p>
        </p:txBody>
      </p:sp>
      <p:sp>
        <p:nvSpPr>
          <p:cNvPr id="31" name="Text 28"/>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5E6F9E"/>
                </a:solidFill>
                <a:latin typeface="Courier New" pitchFamily="34" charset="0"/>
                <a:ea typeface="Courier New" pitchFamily="34" charset="-122"/>
                <a:cs typeface="Courier New"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548640" y="402336"/>
            <a:ext cx="155448" cy="164592"/>
          </a:xfrm>
          <a:prstGeom prst="rect">
            <a:avLst/>
          </a:prstGeom>
        </p:spPr>
      </p:pic>
      <p:sp>
        <p:nvSpPr>
          <p:cNvPr id="3" name="Text 0"/>
          <p:cNvSpPr/>
          <p:nvPr/>
        </p:nvSpPr>
        <p:spPr>
          <a:xfrm>
            <a:off x="786384" y="384048"/>
            <a:ext cx="7315200" cy="274320"/>
          </a:xfrm>
          <a:prstGeom prst="rect">
            <a:avLst/>
          </a:prstGeom>
          <a:noFill/>
          <a:ln/>
        </p:spPr>
        <p:txBody>
          <a:bodyPr wrap="square" lIns="0" tIns="0" rIns="0" bIns="0" rtlCol="0" anchor="ctr"/>
          <a:lstStyle/>
          <a:p>
            <a:pPr indent="0" marL="0">
              <a:buNone/>
            </a:pPr>
            <a:r>
              <a:rPr lang="en-US" sz="1100" b="1" spc="300" kern="0" dirty="0">
                <a:solidFill>
                  <a:srgbClr val="4F74F0"/>
                </a:solidFill>
                <a:latin typeface="Arial" pitchFamily="34" charset="0"/>
                <a:ea typeface="Arial" pitchFamily="34" charset="-122"/>
                <a:cs typeface="Arial" pitchFamily="34" charset="-120"/>
              </a:rPr>
              <a:t>09 · WAR STORY</a:t>
            </a:r>
            <a:endParaRPr lang="en-US" sz="1100" dirty="0"/>
          </a:p>
        </p:txBody>
      </p:sp>
      <p:sp>
        <p:nvSpPr>
          <p:cNvPr id="4" name="Text 1"/>
          <p:cNvSpPr/>
          <p:nvPr/>
        </p:nvSpPr>
        <p:spPr>
          <a:xfrm>
            <a:off x="548640" y="658368"/>
            <a:ext cx="11094415" cy="685800"/>
          </a:xfrm>
          <a:prstGeom prst="rect">
            <a:avLst/>
          </a:prstGeom>
          <a:noFill/>
          <a:ln/>
        </p:spPr>
        <p:txBody>
          <a:bodyPr wrap="square" lIns="0" tIns="0" rIns="0" bIns="0" rtlCol="0" anchor="ctr"/>
          <a:lstStyle/>
          <a:p>
            <a:pPr indent="0" marL="0">
              <a:buNone/>
            </a:pPr>
            <a:r>
              <a:rPr lang="en-US" sz="3100" b="1" dirty="0">
                <a:solidFill>
                  <a:srgbClr val="E8EEFC"/>
                </a:solidFill>
                <a:latin typeface="Arial" pitchFamily="34" charset="0"/>
                <a:ea typeface="Arial" pitchFamily="34" charset="-122"/>
                <a:cs typeface="Arial" pitchFamily="34" charset="-120"/>
              </a:rPr>
              <a:t>The rate limiter that never fired</a:t>
            </a:r>
            <a:endParaRPr lang="en-US" sz="3100" dirty="0"/>
          </a:p>
        </p:txBody>
      </p:sp>
      <p:sp>
        <p:nvSpPr>
          <p:cNvPr id="5" name="Shape 2"/>
          <p:cNvSpPr/>
          <p:nvPr/>
        </p:nvSpPr>
        <p:spPr>
          <a:xfrm>
            <a:off x="548640" y="1691640"/>
            <a:ext cx="11091672" cy="932688"/>
          </a:xfrm>
          <a:prstGeom prst="roundRect">
            <a:avLst>
              <a:gd name="adj" fmla="val 8824"/>
            </a:avLst>
          </a:prstGeom>
          <a:solidFill>
            <a:srgbClr val="0C1530"/>
          </a:solidFill>
          <a:ln w="9525">
            <a:solidFill>
              <a:srgbClr val="24325C"/>
            </a:solidFill>
            <a:prstDash val="solid"/>
          </a:ln>
        </p:spPr>
      </p:sp>
      <p:sp>
        <p:nvSpPr>
          <p:cNvPr id="6" name="Text 3"/>
          <p:cNvSpPr/>
          <p:nvPr/>
        </p:nvSpPr>
        <p:spPr>
          <a:xfrm>
            <a:off x="822960" y="1783080"/>
            <a:ext cx="2377440" cy="731520"/>
          </a:xfrm>
          <a:prstGeom prst="rect">
            <a:avLst/>
          </a:prstGeom>
          <a:noFill/>
          <a:ln/>
        </p:spPr>
        <p:txBody>
          <a:bodyPr wrap="square" lIns="0" tIns="0" rIns="0" bIns="0" rtlCol="0" anchor="ctr"/>
          <a:lstStyle/>
          <a:p>
            <a:pPr indent="0" marL="0">
              <a:buNone/>
            </a:pPr>
            <a:r>
              <a:rPr lang="en-US" sz="1350" b="1" dirty="0">
                <a:solidFill>
                  <a:srgbClr val="4F74F0"/>
                </a:solidFill>
                <a:latin typeface="Arial" pitchFamily="34" charset="0"/>
                <a:ea typeface="Arial" pitchFamily="34" charset="-122"/>
                <a:cs typeface="Arial" pitchFamily="34" charset="-120"/>
              </a:rPr>
              <a:t>What I did</a:t>
            </a:r>
            <a:endParaRPr lang="en-US" sz="1350" dirty="0"/>
          </a:p>
        </p:txBody>
      </p:sp>
      <p:sp>
        <p:nvSpPr>
          <p:cNvPr id="7" name="Text 4"/>
          <p:cNvSpPr/>
          <p:nvPr/>
        </p:nvSpPr>
        <p:spPr>
          <a:xfrm>
            <a:off x="3291840" y="1783080"/>
            <a:ext cx="8138160" cy="777240"/>
          </a:xfrm>
          <a:prstGeom prst="rect">
            <a:avLst/>
          </a:prstGeom>
          <a:noFill/>
          <a:ln/>
        </p:spPr>
        <p:txBody>
          <a:bodyPr wrap="square" lIns="0" tIns="0" rIns="0" bIns="0" rtlCol="0" anchor="ctr"/>
          <a:lstStyle/>
          <a:p>
            <a:pPr indent="0" marL="0">
              <a:buNone/>
            </a:pPr>
            <a:r>
              <a:rPr lang="en-US" sz="1250" dirty="0">
                <a:solidFill>
                  <a:srgbClr val="9DB0D9"/>
                </a:solidFill>
                <a:latin typeface="Arial" pitchFamily="34" charset="0"/>
                <a:ea typeface="Arial" pitchFamily="34" charset="-122"/>
                <a:cs typeface="Arial" pitchFamily="34" charset="-120"/>
              </a:rPr>
              <a:t>keyed rate limits on the last X-Forwarded-For hop. That’s the textbook advice — everything left of it is client-forgeable.</a:t>
            </a:r>
            <a:endParaRPr lang="en-US" sz="1250" dirty="0"/>
          </a:p>
        </p:txBody>
      </p:sp>
      <p:sp>
        <p:nvSpPr>
          <p:cNvPr id="8" name="Shape 5"/>
          <p:cNvSpPr/>
          <p:nvPr/>
        </p:nvSpPr>
        <p:spPr>
          <a:xfrm>
            <a:off x="548640" y="2761488"/>
            <a:ext cx="11091672" cy="932688"/>
          </a:xfrm>
          <a:prstGeom prst="roundRect">
            <a:avLst>
              <a:gd name="adj" fmla="val 8824"/>
            </a:avLst>
          </a:prstGeom>
          <a:solidFill>
            <a:srgbClr val="0C1530"/>
          </a:solidFill>
          <a:ln w="9525">
            <a:solidFill>
              <a:srgbClr val="24325C"/>
            </a:solidFill>
            <a:prstDash val="solid"/>
          </a:ln>
        </p:spPr>
      </p:sp>
      <p:sp>
        <p:nvSpPr>
          <p:cNvPr id="9" name="Text 6"/>
          <p:cNvSpPr/>
          <p:nvPr/>
        </p:nvSpPr>
        <p:spPr>
          <a:xfrm>
            <a:off x="822960" y="2852928"/>
            <a:ext cx="2377440" cy="731520"/>
          </a:xfrm>
          <a:prstGeom prst="rect">
            <a:avLst/>
          </a:prstGeom>
          <a:noFill/>
          <a:ln/>
        </p:spPr>
        <p:txBody>
          <a:bodyPr wrap="square" lIns="0" tIns="0" rIns="0" bIns="0" rtlCol="0" anchor="ctr"/>
          <a:lstStyle/>
          <a:p>
            <a:pPr indent="0" marL="0">
              <a:buNone/>
            </a:pPr>
            <a:r>
              <a:rPr lang="en-US" sz="1350" b="1" dirty="0">
                <a:solidFill>
                  <a:srgbClr val="4F74F0"/>
                </a:solidFill>
                <a:latin typeface="Arial" pitchFamily="34" charset="0"/>
                <a:ea typeface="Arial" pitchFamily="34" charset="-122"/>
                <a:cs typeface="Arial" pitchFamily="34" charset="-120"/>
              </a:rPr>
              <a:t>What production did</a:t>
            </a:r>
            <a:endParaRPr lang="en-US" sz="1350" dirty="0"/>
          </a:p>
        </p:txBody>
      </p:sp>
      <p:sp>
        <p:nvSpPr>
          <p:cNvPr id="10" name="Text 7"/>
          <p:cNvSpPr/>
          <p:nvPr/>
        </p:nvSpPr>
        <p:spPr>
          <a:xfrm>
            <a:off x="3291840" y="2852928"/>
            <a:ext cx="8138160" cy="777240"/>
          </a:xfrm>
          <a:prstGeom prst="rect">
            <a:avLst/>
          </a:prstGeom>
          <a:noFill/>
          <a:ln/>
        </p:spPr>
        <p:txBody>
          <a:bodyPr wrap="square" lIns="0" tIns="0" rIns="0" bIns="0" rtlCol="0" anchor="ctr"/>
          <a:lstStyle/>
          <a:p>
            <a:pPr indent="0" marL="0">
              <a:buNone/>
            </a:pPr>
            <a:r>
              <a:rPr lang="en-US" sz="1250" dirty="0">
                <a:solidFill>
                  <a:srgbClr val="9DB0D9"/>
                </a:solidFill>
                <a:latin typeface="Arial" pitchFamily="34" charset="0"/>
                <a:ea typeface="Arial" pitchFamily="34" charset="-122"/>
                <a:cs typeface="Arial" pitchFamily="34" charset="-120"/>
              </a:rPr>
              <a:t>30 rapid requests. Zero 429s. Every request was getting a fresh bucket.</a:t>
            </a:r>
            <a:endParaRPr lang="en-US" sz="1250" dirty="0"/>
          </a:p>
        </p:txBody>
      </p:sp>
      <p:sp>
        <p:nvSpPr>
          <p:cNvPr id="11" name="Shape 8"/>
          <p:cNvSpPr/>
          <p:nvPr/>
        </p:nvSpPr>
        <p:spPr>
          <a:xfrm>
            <a:off x="548640" y="3831336"/>
            <a:ext cx="11091672" cy="932688"/>
          </a:xfrm>
          <a:prstGeom prst="roundRect">
            <a:avLst>
              <a:gd name="adj" fmla="val 8824"/>
            </a:avLst>
          </a:prstGeom>
          <a:solidFill>
            <a:srgbClr val="0C1530"/>
          </a:solidFill>
          <a:ln w="9525">
            <a:solidFill>
              <a:srgbClr val="24325C"/>
            </a:solidFill>
            <a:prstDash val="solid"/>
          </a:ln>
        </p:spPr>
      </p:sp>
      <p:sp>
        <p:nvSpPr>
          <p:cNvPr id="12" name="Text 9"/>
          <p:cNvSpPr/>
          <p:nvPr/>
        </p:nvSpPr>
        <p:spPr>
          <a:xfrm>
            <a:off x="822960" y="3922776"/>
            <a:ext cx="2377440" cy="731520"/>
          </a:xfrm>
          <a:prstGeom prst="rect">
            <a:avLst/>
          </a:prstGeom>
          <a:noFill/>
          <a:ln/>
        </p:spPr>
        <p:txBody>
          <a:bodyPr wrap="square" lIns="0" tIns="0" rIns="0" bIns="0" rtlCol="0" anchor="ctr"/>
          <a:lstStyle/>
          <a:p>
            <a:pPr indent="0" marL="0">
              <a:buNone/>
            </a:pPr>
            <a:r>
              <a:rPr lang="en-US" sz="1350" b="1" dirty="0">
                <a:solidFill>
                  <a:srgbClr val="4F74F0"/>
                </a:solidFill>
                <a:latin typeface="Arial" pitchFamily="34" charset="0"/>
                <a:ea typeface="Arial" pitchFamily="34" charset="-122"/>
                <a:cs typeface="Arial" pitchFamily="34" charset="-120"/>
              </a:rPr>
              <a:t>Why</a:t>
            </a:r>
            <a:endParaRPr lang="en-US" sz="1350" dirty="0"/>
          </a:p>
        </p:txBody>
      </p:sp>
      <p:sp>
        <p:nvSpPr>
          <p:cNvPr id="13" name="Text 10"/>
          <p:cNvSpPr/>
          <p:nvPr/>
        </p:nvSpPr>
        <p:spPr>
          <a:xfrm>
            <a:off x="3291840" y="3922776"/>
            <a:ext cx="8138160" cy="777240"/>
          </a:xfrm>
          <a:prstGeom prst="rect">
            <a:avLst/>
          </a:prstGeom>
          <a:noFill/>
          <a:ln/>
        </p:spPr>
        <p:txBody>
          <a:bodyPr wrap="square" lIns="0" tIns="0" rIns="0" bIns="0" rtlCol="0" anchor="ctr"/>
          <a:lstStyle/>
          <a:p>
            <a:pPr indent="0" marL="0">
              <a:buNone/>
            </a:pPr>
            <a:r>
              <a:rPr lang="en-US" sz="1250" dirty="0">
                <a:solidFill>
                  <a:srgbClr val="9DB0D9"/>
                </a:solidFill>
                <a:latin typeface="Arial" pitchFamily="34" charset="0"/>
                <a:ea typeface="Arial" pitchFamily="34" charset="-122"/>
                <a:cs typeface="Arial" pitchFamily="34" charset="-120"/>
              </a:rPr>
              <a:t>Amplify’s router appends CloudFront’s own edge IP after the viewer IP CloudFront appended. The “last hop” was never the client — it was Amazon.</a:t>
            </a:r>
            <a:endParaRPr lang="en-US" sz="1250" dirty="0"/>
          </a:p>
        </p:txBody>
      </p:sp>
      <p:sp>
        <p:nvSpPr>
          <p:cNvPr id="14" name="Shape 11"/>
          <p:cNvSpPr/>
          <p:nvPr/>
        </p:nvSpPr>
        <p:spPr>
          <a:xfrm>
            <a:off x="548640" y="4901184"/>
            <a:ext cx="11091672" cy="932688"/>
          </a:xfrm>
          <a:prstGeom prst="roundRect">
            <a:avLst>
              <a:gd name="adj" fmla="val 8824"/>
            </a:avLst>
          </a:prstGeom>
          <a:solidFill>
            <a:srgbClr val="0C1530"/>
          </a:solidFill>
          <a:ln w="9525">
            <a:solidFill>
              <a:srgbClr val="24325C"/>
            </a:solidFill>
            <a:prstDash val="solid"/>
          </a:ln>
        </p:spPr>
      </p:sp>
      <p:sp>
        <p:nvSpPr>
          <p:cNvPr id="15" name="Text 12"/>
          <p:cNvSpPr/>
          <p:nvPr/>
        </p:nvSpPr>
        <p:spPr>
          <a:xfrm>
            <a:off x="822960" y="4992624"/>
            <a:ext cx="2377440" cy="731520"/>
          </a:xfrm>
          <a:prstGeom prst="rect">
            <a:avLst/>
          </a:prstGeom>
          <a:noFill/>
          <a:ln/>
        </p:spPr>
        <p:txBody>
          <a:bodyPr wrap="square" lIns="0" tIns="0" rIns="0" bIns="0" rtlCol="0" anchor="ctr"/>
          <a:lstStyle/>
          <a:p>
            <a:pPr indent="0" marL="0">
              <a:buNone/>
            </a:pPr>
            <a:r>
              <a:rPr lang="en-US" sz="1350" b="1" dirty="0">
                <a:solidFill>
                  <a:srgbClr val="4F74F0"/>
                </a:solidFill>
                <a:latin typeface="Arial" pitchFamily="34" charset="0"/>
                <a:ea typeface="Arial" pitchFamily="34" charset="-122"/>
                <a:cs typeface="Arial" pitchFamily="34" charset="-120"/>
              </a:rPr>
              <a:t>The fix</a:t>
            </a:r>
            <a:endParaRPr lang="en-US" sz="1350" dirty="0"/>
          </a:p>
        </p:txBody>
      </p:sp>
      <p:sp>
        <p:nvSpPr>
          <p:cNvPr id="16" name="Text 13"/>
          <p:cNvSpPr/>
          <p:nvPr/>
        </p:nvSpPr>
        <p:spPr>
          <a:xfrm>
            <a:off x="3291840" y="4992624"/>
            <a:ext cx="8138160" cy="777240"/>
          </a:xfrm>
          <a:prstGeom prst="rect">
            <a:avLst/>
          </a:prstGeom>
          <a:noFill/>
          <a:ln/>
        </p:spPr>
        <p:txBody>
          <a:bodyPr wrap="square" lIns="0" tIns="0" rIns="0" bIns="0" rtlCol="0" anchor="ctr"/>
          <a:lstStyle/>
          <a:p>
            <a:pPr indent="0" marL="0">
              <a:buNone/>
            </a:pPr>
            <a:r>
              <a:rPr lang="en-US" sz="1250" dirty="0">
                <a:solidFill>
                  <a:srgbClr val="9DB0D9"/>
                </a:solidFill>
                <a:latin typeface="Arial" pitchFamily="34" charset="0"/>
                <a:ea typeface="Arial" pitchFamily="34" charset="-122"/>
                <a:cs typeface="Arial" pitchFamily="34" charset="-120"/>
              </a:rPr>
              <a:t>key on the second-to-last hop, global cap as a backstop, and a regression test that pins the exact header shapes so it can’t come back.</a:t>
            </a:r>
            <a:endParaRPr lang="en-US" sz="1250" dirty="0"/>
          </a:p>
        </p:txBody>
      </p:sp>
      <p:sp>
        <p:nvSpPr>
          <p:cNvPr id="17" name="Text 14"/>
          <p:cNvSpPr/>
          <p:nvPr/>
        </p:nvSpPr>
        <p:spPr>
          <a:xfrm>
            <a:off x="548640" y="6035040"/>
            <a:ext cx="11091672" cy="365760"/>
          </a:xfrm>
          <a:prstGeom prst="rect">
            <a:avLst/>
          </a:prstGeom>
          <a:noFill/>
          <a:ln/>
        </p:spPr>
        <p:txBody>
          <a:bodyPr wrap="square" lIns="0" tIns="0" rIns="0" bIns="0" rtlCol="0" anchor="ctr"/>
          <a:lstStyle/>
          <a:p>
            <a:pPr algn="ctr" indent="0" marL="0">
              <a:buNone/>
            </a:pPr>
            <a:r>
              <a:rPr lang="en-US" sz="1400" b="1" i="1" dirty="0">
                <a:solidFill>
                  <a:srgbClr val="4F74F0"/>
                </a:solidFill>
                <a:latin typeface="Arial" pitchFamily="34" charset="0"/>
                <a:ea typeface="Arial" pitchFamily="34" charset="-122"/>
                <a:cs typeface="Arial" pitchFamily="34" charset="-120"/>
              </a:rPr>
              <a:t>Practice exams don’t teach proxy chains. Production does.</a:t>
            </a:r>
            <a:endParaRPr lang="en-US" sz="1400" dirty="0"/>
          </a:p>
        </p:txBody>
      </p:sp>
      <p:sp>
        <p:nvSpPr>
          <p:cNvPr id="18" name="Text 15"/>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E6F9E"/>
                </a:solidFill>
                <a:latin typeface="Arial" pitchFamily="34" charset="0"/>
                <a:ea typeface="Arial" pitchFamily="34" charset="-122"/>
                <a:cs typeface="Arial" pitchFamily="34" charset="-120"/>
              </a:rPr>
              <a:t>CareerStar · ashleylibasci.com</a:t>
            </a:r>
            <a:endParaRPr lang="en-US" sz="900" dirty="0"/>
          </a:p>
        </p:txBody>
      </p:sp>
      <p:sp>
        <p:nvSpPr>
          <p:cNvPr id="19" name="Text 16"/>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5E6F9E"/>
                </a:solidFill>
                <a:latin typeface="Courier New" pitchFamily="34" charset="0"/>
                <a:ea typeface="Courier New" pitchFamily="34" charset="-122"/>
                <a:cs typeface="Courier New"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548640" y="475488"/>
            <a:ext cx="155448" cy="164592"/>
          </a:xfrm>
          <a:prstGeom prst="rect">
            <a:avLst/>
          </a:prstGeom>
        </p:spPr>
      </p:pic>
      <p:sp>
        <p:nvSpPr>
          <p:cNvPr id="3" name="Text 0"/>
          <p:cNvSpPr/>
          <p:nvPr/>
        </p:nvSpPr>
        <p:spPr>
          <a:xfrm>
            <a:off x="786384" y="457200"/>
            <a:ext cx="7315200" cy="274320"/>
          </a:xfrm>
          <a:prstGeom prst="rect">
            <a:avLst/>
          </a:prstGeom>
          <a:noFill/>
          <a:ln/>
        </p:spPr>
        <p:txBody>
          <a:bodyPr wrap="square" lIns="0" tIns="0" rIns="0" bIns="0" rtlCol="0" anchor="ctr"/>
          <a:lstStyle/>
          <a:p>
            <a:pPr indent="0" marL="0">
              <a:buNone/>
            </a:pPr>
            <a:r>
              <a:rPr lang="en-US" sz="1100" b="1" spc="300" kern="0" dirty="0">
                <a:solidFill>
                  <a:srgbClr val="4F74F0"/>
                </a:solidFill>
                <a:latin typeface="Arial" pitchFamily="34" charset="0"/>
                <a:ea typeface="Arial" pitchFamily="34" charset="-122"/>
                <a:cs typeface="Arial" pitchFamily="34" charset="-120"/>
              </a:rPr>
              <a:t>10 · CLOSE</a:t>
            </a:r>
            <a:endParaRPr lang="en-US" sz="1100" dirty="0"/>
          </a:p>
        </p:txBody>
      </p:sp>
      <p:sp>
        <p:nvSpPr>
          <p:cNvPr id="4" name="Text 1"/>
          <p:cNvSpPr/>
          <p:nvPr/>
        </p:nvSpPr>
        <p:spPr>
          <a:xfrm>
            <a:off x="548640" y="777240"/>
            <a:ext cx="11094415" cy="685800"/>
          </a:xfrm>
          <a:prstGeom prst="rect">
            <a:avLst/>
          </a:prstGeom>
          <a:noFill/>
          <a:ln/>
        </p:spPr>
        <p:txBody>
          <a:bodyPr wrap="square" lIns="0" tIns="0" rIns="0" bIns="0" rtlCol="0" anchor="ctr"/>
          <a:lstStyle/>
          <a:p>
            <a:pPr indent="0" marL="0">
              <a:buNone/>
            </a:pPr>
            <a:r>
              <a:rPr lang="en-US" sz="3100" b="1" dirty="0">
                <a:solidFill>
                  <a:srgbClr val="E8EEFC"/>
                </a:solidFill>
                <a:latin typeface="Arial" pitchFamily="34" charset="0"/>
                <a:ea typeface="Arial" pitchFamily="34" charset="-122"/>
                <a:cs typeface="Arial" pitchFamily="34" charset="-120"/>
              </a:rPr>
              <a:t>Three things worth stealing</a:t>
            </a:r>
            <a:endParaRPr lang="en-US" sz="3100" dirty="0"/>
          </a:p>
        </p:txBody>
      </p:sp>
      <p:sp>
        <p:nvSpPr>
          <p:cNvPr id="5" name="Shape 2"/>
          <p:cNvSpPr/>
          <p:nvPr/>
        </p:nvSpPr>
        <p:spPr>
          <a:xfrm>
            <a:off x="548640" y="1737360"/>
            <a:ext cx="6766560" cy="960120"/>
          </a:xfrm>
          <a:prstGeom prst="roundRect">
            <a:avLst>
              <a:gd name="adj" fmla="val 8571"/>
            </a:avLst>
          </a:prstGeom>
          <a:solidFill>
            <a:srgbClr val="101A38"/>
          </a:solidFill>
          <a:ln w="9525">
            <a:solidFill>
              <a:srgbClr val="24325C"/>
            </a:solidFill>
            <a:prstDash val="solid"/>
          </a:ln>
        </p:spPr>
      </p:sp>
      <p:pic>
        <p:nvPicPr>
          <p:cNvPr id="6" name="Image 1" descr="preencoded.png">    </p:cNvPr>
          <p:cNvPicPr>
            <a:picLocks noChangeAspect="1"/>
          </p:cNvPicPr>
          <p:nvPr/>
        </p:nvPicPr>
        <p:blipFill>
          <a:blip r:embed="rId3"/>
          <a:stretch>
            <a:fillRect/>
          </a:stretch>
        </p:blipFill>
        <p:spPr>
          <a:xfrm>
            <a:off x="841248" y="2084832"/>
            <a:ext cx="237744" cy="246888"/>
          </a:xfrm>
          <a:prstGeom prst="rect">
            <a:avLst/>
          </a:prstGeom>
        </p:spPr>
      </p:pic>
      <p:sp>
        <p:nvSpPr>
          <p:cNvPr id="7" name="Text 3"/>
          <p:cNvSpPr/>
          <p:nvPr/>
        </p:nvSpPr>
        <p:spPr>
          <a:xfrm>
            <a:off x="1280160" y="1847088"/>
            <a:ext cx="5852160" cy="365760"/>
          </a:xfrm>
          <a:prstGeom prst="rect">
            <a:avLst/>
          </a:prstGeom>
          <a:noFill/>
          <a:ln/>
        </p:spPr>
        <p:txBody>
          <a:bodyPr wrap="square" lIns="0" tIns="0" rIns="0" bIns="0" rtlCol="0" anchor="ctr"/>
          <a:lstStyle/>
          <a:p>
            <a:pPr indent="0" marL="0">
              <a:buNone/>
            </a:pPr>
            <a:r>
              <a:rPr lang="en-US" sz="1600" b="1" dirty="0">
                <a:solidFill>
                  <a:srgbClr val="E8EEFC"/>
                </a:solidFill>
                <a:latin typeface="Arial" pitchFamily="34" charset="0"/>
                <a:ea typeface="Arial" pitchFamily="34" charset="-122"/>
                <a:cs typeface="Arial" pitchFamily="34" charset="-120"/>
              </a:rPr>
              <a:t>Write the spec before the prompt</a:t>
            </a:r>
            <a:endParaRPr lang="en-US" sz="1600" dirty="0"/>
          </a:p>
        </p:txBody>
      </p:sp>
      <p:sp>
        <p:nvSpPr>
          <p:cNvPr id="8" name="Text 4"/>
          <p:cNvSpPr/>
          <p:nvPr/>
        </p:nvSpPr>
        <p:spPr>
          <a:xfrm>
            <a:off x="1280160" y="2231136"/>
            <a:ext cx="5852160" cy="365760"/>
          </a:xfrm>
          <a:prstGeom prst="rect">
            <a:avLst/>
          </a:prstGeom>
          <a:noFill/>
          <a:ln/>
        </p:spPr>
        <p:txBody>
          <a:bodyPr wrap="square" lIns="0" tIns="0" rIns="0" bIns="0" rtlCol="0" anchor="ctr"/>
          <a:lstStyle/>
          <a:p>
            <a:pPr indent="0" marL="0">
              <a:buNone/>
            </a:pPr>
            <a:r>
              <a:rPr lang="en-US" sz="1200" dirty="0">
                <a:solidFill>
                  <a:srgbClr val="9DB0D9"/>
                </a:solidFill>
                <a:latin typeface="Arial" pitchFamily="34" charset="0"/>
                <a:ea typeface="Arial" pitchFamily="34" charset="-122"/>
                <a:cs typeface="Arial" pitchFamily="34" charset="-120"/>
              </a:rPr>
              <a:t>the discipline, not the model, is what made this work</a:t>
            </a:r>
            <a:endParaRPr lang="en-US" sz="1200" dirty="0"/>
          </a:p>
        </p:txBody>
      </p:sp>
      <p:sp>
        <p:nvSpPr>
          <p:cNvPr id="9" name="Shape 5"/>
          <p:cNvSpPr/>
          <p:nvPr/>
        </p:nvSpPr>
        <p:spPr>
          <a:xfrm>
            <a:off x="548640" y="2880360"/>
            <a:ext cx="6766560" cy="960120"/>
          </a:xfrm>
          <a:prstGeom prst="roundRect">
            <a:avLst>
              <a:gd name="adj" fmla="val 8571"/>
            </a:avLst>
          </a:prstGeom>
          <a:solidFill>
            <a:srgbClr val="101A38"/>
          </a:solidFill>
          <a:ln w="9525">
            <a:solidFill>
              <a:srgbClr val="24325C"/>
            </a:solidFill>
            <a:prstDash val="solid"/>
          </a:ln>
        </p:spPr>
      </p:sp>
      <p:pic>
        <p:nvPicPr>
          <p:cNvPr id="10" name="Image 2" descr="preencoded.png">    </p:cNvPr>
          <p:cNvPicPr>
            <a:picLocks noChangeAspect="1"/>
          </p:cNvPicPr>
          <p:nvPr/>
        </p:nvPicPr>
        <p:blipFill>
          <a:blip r:embed="rId4"/>
          <a:stretch>
            <a:fillRect/>
          </a:stretch>
        </p:blipFill>
        <p:spPr>
          <a:xfrm>
            <a:off x="841248" y="3227832"/>
            <a:ext cx="237744" cy="246888"/>
          </a:xfrm>
          <a:prstGeom prst="rect">
            <a:avLst/>
          </a:prstGeom>
        </p:spPr>
      </p:pic>
      <p:sp>
        <p:nvSpPr>
          <p:cNvPr id="11" name="Text 6"/>
          <p:cNvSpPr/>
          <p:nvPr/>
        </p:nvSpPr>
        <p:spPr>
          <a:xfrm>
            <a:off x="1280160" y="2990088"/>
            <a:ext cx="5852160" cy="365760"/>
          </a:xfrm>
          <a:prstGeom prst="rect">
            <a:avLst/>
          </a:prstGeom>
          <a:noFill/>
          <a:ln/>
        </p:spPr>
        <p:txBody>
          <a:bodyPr wrap="square" lIns="0" tIns="0" rIns="0" bIns="0" rtlCol="0" anchor="ctr"/>
          <a:lstStyle/>
          <a:p>
            <a:pPr indent="0" marL="0">
              <a:buNone/>
            </a:pPr>
            <a:r>
              <a:rPr lang="en-US" sz="1600" b="1" dirty="0">
                <a:solidFill>
                  <a:srgbClr val="E8EEFC"/>
                </a:solidFill>
                <a:latin typeface="Arial" pitchFamily="34" charset="0"/>
                <a:ea typeface="Arial" pitchFamily="34" charset="-122"/>
                <a:cs typeface="Arial" pitchFamily="34" charset="-120"/>
              </a:rPr>
              <a:t>Publish what your model gets wrong</a:t>
            </a:r>
            <a:endParaRPr lang="en-US" sz="1600" dirty="0"/>
          </a:p>
        </p:txBody>
      </p:sp>
      <p:sp>
        <p:nvSpPr>
          <p:cNvPr id="12" name="Text 7"/>
          <p:cNvSpPr/>
          <p:nvPr/>
        </p:nvSpPr>
        <p:spPr>
          <a:xfrm>
            <a:off x="1280160" y="3374136"/>
            <a:ext cx="5852160" cy="365760"/>
          </a:xfrm>
          <a:prstGeom prst="rect">
            <a:avLst/>
          </a:prstGeom>
          <a:noFill/>
          <a:ln/>
        </p:spPr>
        <p:txBody>
          <a:bodyPr wrap="square" lIns="0" tIns="0" rIns="0" bIns="0" rtlCol="0" anchor="ctr"/>
          <a:lstStyle/>
          <a:p>
            <a:pPr indent="0" marL="0">
              <a:buNone/>
            </a:pPr>
            <a:r>
              <a:rPr lang="en-US" sz="1200" dirty="0">
                <a:solidFill>
                  <a:srgbClr val="9DB0D9"/>
                </a:solidFill>
                <a:latin typeface="Arial" pitchFamily="34" charset="0"/>
                <a:ea typeface="Arial" pitchFamily="34" charset="-122"/>
                <a:cs typeface="Arial" pitchFamily="34" charset="-120"/>
              </a:rPr>
              <a:t>the awkward numbers bought me more trust than the good ones</a:t>
            </a:r>
            <a:endParaRPr lang="en-US" sz="1200" dirty="0"/>
          </a:p>
        </p:txBody>
      </p:sp>
      <p:sp>
        <p:nvSpPr>
          <p:cNvPr id="13" name="Shape 8"/>
          <p:cNvSpPr/>
          <p:nvPr/>
        </p:nvSpPr>
        <p:spPr>
          <a:xfrm>
            <a:off x="548640" y="4023360"/>
            <a:ext cx="6766560" cy="960120"/>
          </a:xfrm>
          <a:prstGeom prst="roundRect">
            <a:avLst>
              <a:gd name="adj" fmla="val 8571"/>
            </a:avLst>
          </a:prstGeom>
          <a:solidFill>
            <a:srgbClr val="101A38"/>
          </a:solidFill>
          <a:ln w="9525">
            <a:solidFill>
              <a:srgbClr val="24325C"/>
            </a:solidFill>
            <a:prstDash val="solid"/>
          </a:ln>
        </p:spPr>
      </p:sp>
      <p:pic>
        <p:nvPicPr>
          <p:cNvPr id="14" name="Image 3" descr="preencoded.png">    </p:cNvPr>
          <p:cNvPicPr>
            <a:picLocks noChangeAspect="1"/>
          </p:cNvPicPr>
          <p:nvPr/>
        </p:nvPicPr>
        <p:blipFill>
          <a:blip r:embed="rId5"/>
          <a:stretch>
            <a:fillRect/>
          </a:stretch>
        </p:blipFill>
        <p:spPr>
          <a:xfrm>
            <a:off x="841248" y="4370832"/>
            <a:ext cx="237744" cy="246888"/>
          </a:xfrm>
          <a:prstGeom prst="rect">
            <a:avLst/>
          </a:prstGeom>
        </p:spPr>
      </p:pic>
      <p:sp>
        <p:nvSpPr>
          <p:cNvPr id="15" name="Text 9"/>
          <p:cNvSpPr/>
          <p:nvPr/>
        </p:nvSpPr>
        <p:spPr>
          <a:xfrm>
            <a:off x="1280160" y="4133088"/>
            <a:ext cx="5852160" cy="365760"/>
          </a:xfrm>
          <a:prstGeom prst="rect">
            <a:avLst/>
          </a:prstGeom>
          <a:noFill/>
          <a:ln/>
        </p:spPr>
        <p:txBody>
          <a:bodyPr wrap="square" lIns="0" tIns="0" rIns="0" bIns="0" rtlCol="0" anchor="ctr"/>
          <a:lstStyle/>
          <a:p>
            <a:pPr indent="0" marL="0">
              <a:buNone/>
            </a:pPr>
            <a:r>
              <a:rPr lang="en-US" sz="1600" b="1" dirty="0">
                <a:solidFill>
                  <a:srgbClr val="E8EEFC"/>
                </a:solidFill>
                <a:latin typeface="Arial" pitchFamily="34" charset="0"/>
                <a:ea typeface="Arial" pitchFamily="34" charset="-122"/>
                <a:cs typeface="Arial" pitchFamily="34" charset="-120"/>
              </a:rPr>
              <a:t>Pick tools that make rigor fun</a:t>
            </a:r>
            <a:endParaRPr lang="en-US" sz="1600" dirty="0"/>
          </a:p>
        </p:txBody>
      </p:sp>
      <p:sp>
        <p:nvSpPr>
          <p:cNvPr id="16" name="Text 10"/>
          <p:cNvSpPr/>
          <p:nvPr/>
        </p:nvSpPr>
        <p:spPr>
          <a:xfrm>
            <a:off x="1280160" y="4517136"/>
            <a:ext cx="5852160" cy="365760"/>
          </a:xfrm>
          <a:prstGeom prst="rect">
            <a:avLst/>
          </a:prstGeom>
          <a:noFill/>
          <a:ln/>
        </p:spPr>
        <p:txBody>
          <a:bodyPr wrap="square" lIns="0" tIns="0" rIns="0" bIns="0" rtlCol="0" anchor="ctr"/>
          <a:lstStyle/>
          <a:p>
            <a:pPr indent="0" marL="0">
              <a:buNone/>
            </a:pPr>
            <a:r>
              <a:rPr lang="en-US" sz="1200" dirty="0">
                <a:solidFill>
                  <a:srgbClr val="9DB0D9"/>
                </a:solidFill>
                <a:latin typeface="Arial" pitchFamily="34" charset="0"/>
                <a:ea typeface="Arial" pitchFamily="34" charset="-122"/>
                <a:cs typeface="Arial" pitchFamily="34" charset="-120"/>
              </a:rPr>
              <a:t>fun is load-bearing. A review process you enjoy is one you actually run</a:t>
            </a:r>
            <a:endParaRPr lang="en-US" sz="1200" dirty="0"/>
          </a:p>
        </p:txBody>
      </p:sp>
      <p:sp>
        <p:nvSpPr>
          <p:cNvPr id="17" name="Shape 11"/>
          <p:cNvSpPr/>
          <p:nvPr/>
        </p:nvSpPr>
        <p:spPr>
          <a:xfrm>
            <a:off x="7635240" y="1737360"/>
            <a:ext cx="4005072" cy="3246120"/>
          </a:xfrm>
          <a:prstGeom prst="roundRect">
            <a:avLst>
              <a:gd name="adj" fmla="val 2535"/>
            </a:avLst>
          </a:prstGeom>
          <a:solidFill>
            <a:srgbClr val="0C1530"/>
          </a:solidFill>
          <a:ln w="9525">
            <a:solidFill>
              <a:srgbClr val="24325C"/>
            </a:solidFill>
            <a:prstDash val="solid"/>
          </a:ln>
        </p:spPr>
      </p:sp>
      <p:sp>
        <p:nvSpPr>
          <p:cNvPr id="18" name="Text 12"/>
          <p:cNvSpPr/>
          <p:nvPr/>
        </p:nvSpPr>
        <p:spPr>
          <a:xfrm>
            <a:off x="7909560" y="1965960"/>
            <a:ext cx="3474720" cy="320040"/>
          </a:xfrm>
          <a:prstGeom prst="rect">
            <a:avLst/>
          </a:prstGeom>
          <a:noFill/>
          <a:ln/>
        </p:spPr>
        <p:txBody>
          <a:bodyPr wrap="square" lIns="0" tIns="0" rIns="0" bIns="0" rtlCol="0" anchor="ctr"/>
          <a:lstStyle/>
          <a:p>
            <a:pPr indent="0" marL="0">
              <a:buNone/>
            </a:pPr>
            <a:r>
              <a:rPr lang="en-US" sz="1200" b="1" spc="300" kern="0" dirty="0">
                <a:solidFill>
                  <a:srgbClr val="4F74F0"/>
                </a:solidFill>
                <a:latin typeface="Arial" pitchFamily="34" charset="0"/>
                <a:ea typeface="Arial" pitchFamily="34" charset="-122"/>
                <a:cs typeface="Arial" pitchFamily="34" charset="-120"/>
              </a:rPr>
              <a:t>THE 2034 BET</a:t>
            </a:r>
            <a:endParaRPr lang="en-US" sz="1200" dirty="0"/>
          </a:p>
        </p:txBody>
      </p:sp>
      <p:sp>
        <p:nvSpPr>
          <p:cNvPr id="19" name="Text 13"/>
          <p:cNvSpPr/>
          <p:nvPr/>
        </p:nvSpPr>
        <p:spPr>
          <a:xfrm>
            <a:off x="7909560" y="2331720"/>
            <a:ext cx="3474720" cy="868680"/>
          </a:xfrm>
          <a:prstGeom prst="rect">
            <a:avLst/>
          </a:prstGeom>
          <a:noFill/>
          <a:ln/>
        </p:spPr>
        <p:txBody>
          <a:bodyPr wrap="square" lIns="0" tIns="0" rIns="0" bIns="0" rtlCol="0" anchor="ctr"/>
          <a:lstStyle/>
          <a:p>
            <a:pPr indent="0" marL="0">
              <a:buNone/>
            </a:pPr>
            <a:r>
              <a:rPr lang="en-US" sz="5400" b="1" dirty="0">
                <a:solidFill>
                  <a:srgbClr val="E8EEFC"/>
                </a:solidFill>
                <a:latin typeface="Courier New" pitchFamily="34" charset="0"/>
                <a:ea typeface="Courier New" pitchFamily="34" charset="-122"/>
                <a:cs typeface="Courier New" pitchFamily="34" charset="-120"/>
              </a:rPr>
              <a:t>2034</a:t>
            </a:r>
            <a:endParaRPr lang="en-US" sz="5400" dirty="0"/>
          </a:p>
        </p:txBody>
      </p:sp>
      <p:sp>
        <p:nvSpPr>
          <p:cNvPr id="20" name="Text 14"/>
          <p:cNvSpPr/>
          <p:nvPr/>
        </p:nvSpPr>
        <p:spPr>
          <a:xfrm>
            <a:off x="7909560" y="3291840"/>
            <a:ext cx="3474720" cy="914400"/>
          </a:xfrm>
          <a:prstGeom prst="rect">
            <a:avLst/>
          </a:prstGeom>
          <a:noFill/>
          <a:ln/>
        </p:spPr>
        <p:txBody>
          <a:bodyPr wrap="square" lIns="0" tIns="0" rIns="0" bIns="0" rtlCol="0" anchor="ctr"/>
          <a:lstStyle/>
          <a:p>
            <a:pPr indent="0" marL="0">
              <a:buNone/>
            </a:pPr>
            <a:r>
              <a:rPr lang="en-US" sz="1200" dirty="0">
                <a:solidFill>
                  <a:srgbClr val="9DB0D9"/>
                </a:solidFill>
                <a:latin typeface="Arial" pitchFamily="34" charset="0"/>
                <a:ea typeface="Arial" pitchFamily="34" charset="-122"/>
                <a:cs typeface="Arial" pitchFamily="34" charset="-120"/>
              </a:rPr>
              <a:t>I re-run the back-test on the 2024–34 decade and publish how my ratings aged. Hits, misses, all of it.</a:t>
            </a:r>
            <a:endParaRPr lang="en-US" sz="1200" dirty="0"/>
          </a:p>
        </p:txBody>
      </p:sp>
      <p:sp>
        <p:nvSpPr>
          <p:cNvPr id="21" name="Text 15"/>
          <p:cNvSpPr/>
          <p:nvPr/>
        </p:nvSpPr>
        <p:spPr>
          <a:xfrm>
            <a:off x="7909560" y="4297680"/>
            <a:ext cx="3474720" cy="548640"/>
          </a:xfrm>
          <a:prstGeom prst="rect">
            <a:avLst/>
          </a:prstGeom>
          <a:noFill/>
          <a:ln/>
        </p:spPr>
        <p:txBody>
          <a:bodyPr wrap="square" lIns="0" tIns="0" rIns="0" bIns="0" rtlCol="0" anchor="ctr"/>
          <a:lstStyle/>
          <a:p>
            <a:pPr indent="0" marL="0">
              <a:buNone/>
            </a:pPr>
            <a:r>
              <a:rPr lang="en-US" sz="1200" b="1" i="1" dirty="0">
                <a:solidFill>
                  <a:srgbClr val="34D399"/>
                </a:solidFill>
                <a:latin typeface="Arial" pitchFamily="34" charset="0"/>
                <a:ea typeface="Arial" pitchFamily="34" charset="-122"/>
                <a:cs typeface="Arial" pitchFamily="34" charset="-120"/>
              </a:rPr>
              <a:t>Ratings agencies should eat their own cooking.</a:t>
            </a:r>
            <a:endParaRPr lang="en-US" sz="1200" dirty="0"/>
          </a:p>
        </p:txBody>
      </p:sp>
      <p:sp>
        <p:nvSpPr>
          <p:cNvPr id="22" name="Text 16"/>
          <p:cNvSpPr/>
          <p:nvPr/>
        </p:nvSpPr>
        <p:spPr>
          <a:xfrm>
            <a:off x="548640" y="5943600"/>
            <a:ext cx="11091672" cy="365760"/>
          </a:xfrm>
          <a:prstGeom prst="rect">
            <a:avLst/>
          </a:prstGeom>
          <a:noFill/>
          <a:ln/>
        </p:spPr>
        <p:txBody>
          <a:bodyPr wrap="square" lIns="0" tIns="0" rIns="0" bIns="0" rtlCol="0" anchor="ctr"/>
          <a:lstStyle/>
          <a:p>
            <a:pPr algn="ctr" indent="0" marL="0">
              <a:buNone/>
            </a:pPr>
            <a:r>
              <a:rPr lang="en-US" sz="1400" dirty="0">
                <a:solidFill>
                  <a:srgbClr val="E8EEFC"/>
                </a:solidFill>
                <a:latin typeface="Arial" pitchFamily="34" charset="0"/>
                <a:ea typeface="Arial" pitchFamily="34" charset="-122"/>
                <a:cs typeface="Arial" pitchFamily="34" charset="-120"/>
              </a:rPr>
              <a:t>Thanks — questions?   ·   ashleylibasci.com   ·   github.com/ashleylibasci/careerstar</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548640" y="402336"/>
            <a:ext cx="155448" cy="164592"/>
          </a:xfrm>
          <a:prstGeom prst="rect">
            <a:avLst/>
          </a:prstGeom>
        </p:spPr>
      </p:pic>
      <p:sp>
        <p:nvSpPr>
          <p:cNvPr id="3" name="Text 0"/>
          <p:cNvSpPr/>
          <p:nvPr/>
        </p:nvSpPr>
        <p:spPr>
          <a:xfrm>
            <a:off x="786384" y="384048"/>
            <a:ext cx="7315200" cy="274320"/>
          </a:xfrm>
          <a:prstGeom prst="rect">
            <a:avLst/>
          </a:prstGeom>
          <a:noFill/>
          <a:ln/>
        </p:spPr>
        <p:txBody>
          <a:bodyPr wrap="square" lIns="0" tIns="0" rIns="0" bIns="0" rtlCol="0" anchor="ctr"/>
          <a:lstStyle/>
          <a:p>
            <a:pPr indent="0" marL="0">
              <a:buNone/>
            </a:pPr>
            <a:r>
              <a:rPr lang="en-US" sz="1100" b="1" spc="300" kern="0" dirty="0">
                <a:solidFill>
                  <a:srgbClr val="4F74F0"/>
                </a:solidFill>
                <a:latin typeface="Arial" pitchFamily="34" charset="0"/>
                <a:ea typeface="Arial" pitchFamily="34" charset="-122"/>
                <a:cs typeface="Arial" pitchFamily="34" charset="-120"/>
              </a:rPr>
              <a:t>BACKUP · Q&amp;A</a:t>
            </a:r>
            <a:endParaRPr lang="en-US" sz="1100" dirty="0"/>
          </a:p>
        </p:txBody>
      </p:sp>
      <p:sp>
        <p:nvSpPr>
          <p:cNvPr id="4" name="Text 1"/>
          <p:cNvSpPr/>
          <p:nvPr/>
        </p:nvSpPr>
        <p:spPr>
          <a:xfrm>
            <a:off x="548640" y="658368"/>
            <a:ext cx="11094415" cy="685800"/>
          </a:xfrm>
          <a:prstGeom prst="rect">
            <a:avLst/>
          </a:prstGeom>
          <a:noFill/>
          <a:ln/>
        </p:spPr>
        <p:txBody>
          <a:bodyPr wrap="square" lIns="0" tIns="0" rIns="0" bIns="0" rtlCol="0" anchor="ctr"/>
          <a:lstStyle/>
          <a:p>
            <a:pPr indent="0" marL="0">
              <a:buNone/>
            </a:pPr>
            <a:r>
              <a:rPr lang="en-US" sz="2600" b="1" dirty="0">
                <a:solidFill>
                  <a:srgbClr val="E8EEFC"/>
                </a:solidFill>
                <a:latin typeface="Arial" pitchFamily="34" charset="0"/>
                <a:ea typeface="Arial" pitchFamily="34" charset="-122"/>
                <a:cs typeface="Arial" pitchFamily="34" charset="-120"/>
              </a:rPr>
              <a:t>Weights, stars, and robustness</a:t>
            </a:r>
            <a:endParaRPr lang="en-US" sz="2600" dirty="0"/>
          </a:p>
        </p:txBody>
      </p:sp>
      <p:sp>
        <p:nvSpPr>
          <p:cNvPr id="5" name="Shape 2"/>
          <p:cNvSpPr/>
          <p:nvPr/>
        </p:nvSpPr>
        <p:spPr>
          <a:xfrm>
            <a:off x="548640" y="1737360"/>
            <a:ext cx="11091672" cy="1207008"/>
          </a:xfrm>
          <a:prstGeom prst="roundRect">
            <a:avLst>
              <a:gd name="adj" fmla="val 6818"/>
            </a:avLst>
          </a:prstGeom>
          <a:solidFill>
            <a:srgbClr val="0C1530"/>
          </a:solidFill>
          <a:ln w="9525">
            <a:solidFill>
              <a:srgbClr val="24325C"/>
            </a:solidFill>
            <a:prstDash val="solid"/>
          </a:ln>
        </p:spPr>
      </p:sp>
      <p:sp>
        <p:nvSpPr>
          <p:cNvPr id="6" name="Text 3"/>
          <p:cNvSpPr/>
          <p:nvPr/>
        </p:nvSpPr>
        <p:spPr>
          <a:xfrm>
            <a:off x="822960" y="1847088"/>
            <a:ext cx="10515600" cy="347472"/>
          </a:xfrm>
          <a:prstGeom prst="rect">
            <a:avLst/>
          </a:prstGeom>
          <a:noFill/>
          <a:ln/>
        </p:spPr>
        <p:txBody>
          <a:bodyPr wrap="square" lIns="0" tIns="0" rIns="0" bIns="0" rtlCol="0" anchor="ctr"/>
          <a:lstStyle/>
          <a:p>
            <a:pPr indent="0" marL="0">
              <a:buNone/>
            </a:pPr>
            <a:r>
              <a:rPr lang="en-US" sz="1350" b="1" dirty="0">
                <a:solidFill>
                  <a:srgbClr val="4F74F0"/>
                </a:solidFill>
                <a:latin typeface="Arial" pitchFamily="34" charset="0"/>
                <a:ea typeface="Arial" pitchFamily="34" charset="-122"/>
                <a:cs typeface="Arial" pitchFamily="34" charset="-120"/>
              </a:rPr>
              <a:t>“Why 0.7 and not 0.6?”</a:t>
            </a:r>
            <a:endParaRPr lang="en-US" sz="1350" dirty="0"/>
          </a:p>
        </p:txBody>
      </p:sp>
      <p:sp>
        <p:nvSpPr>
          <p:cNvPr id="7" name="Text 4"/>
          <p:cNvSpPr/>
          <p:nvPr/>
        </p:nvSpPr>
        <p:spPr>
          <a:xfrm>
            <a:off x="822960" y="2212848"/>
            <a:ext cx="10515600" cy="685800"/>
          </a:xfrm>
          <a:prstGeom prst="rect">
            <a:avLst/>
          </a:prstGeom>
          <a:noFill/>
          <a:ln/>
        </p:spPr>
        <p:txBody>
          <a:bodyPr wrap="square" lIns="0" tIns="0" rIns="0" bIns="0" rtlCol="0" anchor="ctr"/>
          <a:lstStyle/>
          <a:p>
            <a:pPr indent="0" marL="0">
              <a:buNone/>
            </a:pPr>
            <a:r>
              <a:rPr lang="en-US" sz="1150" dirty="0">
                <a:solidFill>
                  <a:srgbClr val="9DB0D9"/>
                </a:solidFill>
                <a:latin typeface="Arial" pitchFamily="34" charset="0"/>
                <a:ea typeface="Arial" pitchFamily="34" charset="-122"/>
                <a:cs typeface="Arial" pitchFamily="34" charset="-120"/>
              </a:rPr>
              <a:t>Because I had to pick something and there’s nothing to fit on — no dataset of correct career choices exists. So I say “prior” out loud and stress-test instead: 729 perturbations, five rival models, and rankings that don’t survive get labeled close call.</a:t>
            </a:r>
            <a:endParaRPr lang="en-US" sz="1150" dirty="0"/>
          </a:p>
        </p:txBody>
      </p:sp>
      <p:sp>
        <p:nvSpPr>
          <p:cNvPr id="8" name="Shape 5"/>
          <p:cNvSpPr/>
          <p:nvPr/>
        </p:nvSpPr>
        <p:spPr>
          <a:xfrm>
            <a:off x="548640" y="3127248"/>
            <a:ext cx="11091672" cy="1207008"/>
          </a:xfrm>
          <a:prstGeom prst="roundRect">
            <a:avLst>
              <a:gd name="adj" fmla="val 6818"/>
            </a:avLst>
          </a:prstGeom>
          <a:solidFill>
            <a:srgbClr val="0C1530"/>
          </a:solidFill>
          <a:ln w="9525">
            <a:solidFill>
              <a:srgbClr val="24325C"/>
            </a:solidFill>
            <a:prstDash val="solid"/>
          </a:ln>
        </p:spPr>
      </p:sp>
      <p:sp>
        <p:nvSpPr>
          <p:cNvPr id="9" name="Text 6"/>
          <p:cNvSpPr/>
          <p:nvPr/>
        </p:nvSpPr>
        <p:spPr>
          <a:xfrm>
            <a:off x="822960" y="3236976"/>
            <a:ext cx="10515600" cy="347472"/>
          </a:xfrm>
          <a:prstGeom prst="rect">
            <a:avLst/>
          </a:prstGeom>
          <a:noFill/>
          <a:ln/>
        </p:spPr>
        <p:txBody>
          <a:bodyPr wrap="square" lIns="0" tIns="0" rIns="0" bIns="0" rtlCol="0" anchor="ctr"/>
          <a:lstStyle/>
          <a:p>
            <a:pPr indent="0" marL="0">
              <a:buNone/>
            </a:pPr>
            <a:r>
              <a:rPr lang="en-US" sz="1350" b="1" dirty="0">
                <a:solidFill>
                  <a:srgbClr val="4F74F0"/>
                </a:solidFill>
                <a:latin typeface="Arial" pitchFamily="34" charset="0"/>
                <a:ea typeface="Arial" pitchFamily="34" charset="-122"/>
                <a:cs typeface="Arial" pitchFamily="34" charset="-120"/>
              </a:rPr>
              <a:t>“How do the stars work?”</a:t>
            </a:r>
            <a:endParaRPr lang="en-US" sz="1350" dirty="0"/>
          </a:p>
        </p:txBody>
      </p:sp>
      <p:sp>
        <p:nvSpPr>
          <p:cNvPr id="10" name="Text 7"/>
          <p:cNvSpPr/>
          <p:nvPr/>
        </p:nvSpPr>
        <p:spPr>
          <a:xfrm>
            <a:off x="822960" y="3602736"/>
            <a:ext cx="10515600" cy="685800"/>
          </a:xfrm>
          <a:prstGeom prst="rect">
            <a:avLst/>
          </a:prstGeom>
          <a:noFill/>
          <a:ln/>
        </p:spPr>
        <p:txBody>
          <a:bodyPr wrap="square" lIns="0" tIns="0" rIns="0" bIns="0" rtlCol="0" anchor="ctr"/>
          <a:lstStyle/>
          <a:p>
            <a:pPr indent="0" marL="0">
              <a:buNone/>
            </a:pPr>
            <a:r>
              <a:rPr lang="en-US" sz="1150" dirty="0">
                <a:solidFill>
                  <a:srgbClr val="9DB0D9"/>
                </a:solidFill>
                <a:latin typeface="Arial" pitchFamily="34" charset="0"/>
                <a:ea typeface="Arial" pitchFamily="34" charset="-122"/>
                <a:cs typeface="Arial" pitchFamily="34" charset="-120"/>
              </a:rPr>
              <a:t>Forced relative curve, straight from Morningstar: top 10% get 5 stars, next 22.5% get 4, and so on — recomputed live under whatever weights the user sets.</a:t>
            </a:r>
            <a:endParaRPr lang="en-US" sz="1150" dirty="0"/>
          </a:p>
        </p:txBody>
      </p:sp>
      <p:sp>
        <p:nvSpPr>
          <p:cNvPr id="11" name="Shape 8"/>
          <p:cNvSpPr/>
          <p:nvPr/>
        </p:nvSpPr>
        <p:spPr>
          <a:xfrm>
            <a:off x="548640" y="4517136"/>
            <a:ext cx="11091672" cy="1207008"/>
          </a:xfrm>
          <a:prstGeom prst="roundRect">
            <a:avLst>
              <a:gd name="adj" fmla="val 6818"/>
            </a:avLst>
          </a:prstGeom>
          <a:solidFill>
            <a:srgbClr val="0C1530"/>
          </a:solidFill>
          <a:ln w="9525">
            <a:solidFill>
              <a:srgbClr val="24325C"/>
            </a:solidFill>
            <a:prstDash val="solid"/>
          </a:ln>
        </p:spPr>
      </p:sp>
      <p:sp>
        <p:nvSpPr>
          <p:cNvPr id="12" name="Text 9"/>
          <p:cNvSpPr/>
          <p:nvPr/>
        </p:nvSpPr>
        <p:spPr>
          <a:xfrm>
            <a:off x="822960" y="4626864"/>
            <a:ext cx="10515600" cy="347472"/>
          </a:xfrm>
          <a:prstGeom prst="rect">
            <a:avLst/>
          </a:prstGeom>
          <a:noFill/>
          <a:ln/>
        </p:spPr>
        <p:txBody>
          <a:bodyPr wrap="square" lIns="0" tIns="0" rIns="0" bIns="0" rtlCol="0" anchor="ctr"/>
          <a:lstStyle/>
          <a:p>
            <a:pPr indent="0" marL="0">
              <a:buNone/>
            </a:pPr>
            <a:r>
              <a:rPr lang="en-US" sz="1350" b="1" dirty="0">
                <a:solidFill>
                  <a:srgbClr val="4F74F0"/>
                </a:solidFill>
                <a:latin typeface="Arial" pitchFamily="34" charset="0"/>
                <a:ea typeface="Arial" pitchFamily="34" charset="-122"/>
                <a:cs typeface="Arial" pitchFamily="34" charset="-120"/>
              </a:rPr>
              <a:t>“Isn’t AI exposure just decline by another name?”</a:t>
            </a:r>
            <a:endParaRPr lang="en-US" sz="1350" dirty="0"/>
          </a:p>
        </p:txBody>
      </p:sp>
      <p:sp>
        <p:nvSpPr>
          <p:cNvPr id="13" name="Text 10"/>
          <p:cNvSpPr/>
          <p:nvPr/>
        </p:nvSpPr>
        <p:spPr>
          <a:xfrm>
            <a:off x="822960" y="4992624"/>
            <a:ext cx="10515600" cy="685800"/>
          </a:xfrm>
          <a:prstGeom prst="rect">
            <a:avLst/>
          </a:prstGeom>
          <a:noFill/>
          <a:ln/>
        </p:spPr>
        <p:txBody>
          <a:bodyPr wrap="square" lIns="0" tIns="0" rIns="0" bIns="0" rtlCol="0" anchor="ctr"/>
          <a:lstStyle/>
          <a:p>
            <a:pPr indent="0" marL="0">
              <a:buNone/>
            </a:pPr>
            <a:r>
              <a:rPr lang="en-US" sz="1150" dirty="0">
                <a:solidFill>
                  <a:srgbClr val="9DB0D9"/>
                </a:solidFill>
                <a:latin typeface="Arial" pitchFamily="34" charset="0"/>
                <a:ea typeface="Arial" pitchFamily="34" charset="-122"/>
                <a:cs typeface="Arial" pitchFamily="34" charset="-120"/>
              </a:rPr>
              <a:t>No. Across all 730, exposure and projected growth are nearly uncorrelated, and growth is flat across exposure quartiles. Exposure knows something growth doesn’t.</a:t>
            </a:r>
            <a:endParaRPr lang="en-US" sz="1150" dirty="0"/>
          </a:p>
        </p:txBody>
      </p:sp>
      <p:sp>
        <p:nvSpPr>
          <p:cNvPr id="14" name="Text 11"/>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E6F9E"/>
                </a:solidFill>
                <a:latin typeface="Arial" pitchFamily="34" charset="0"/>
                <a:ea typeface="Arial" pitchFamily="34" charset="-122"/>
                <a:cs typeface="Arial" pitchFamily="34" charset="-120"/>
              </a:rPr>
              <a:t>CareerStar · ashleylibasci.com</a:t>
            </a:r>
            <a:endParaRPr lang="en-US" sz="900" dirty="0"/>
          </a:p>
        </p:txBody>
      </p:sp>
      <p:sp>
        <p:nvSpPr>
          <p:cNvPr id="15" name="Text 12"/>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5E6F9E"/>
                </a:solidFill>
                <a:latin typeface="Courier New" pitchFamily="34" charset="0"/>
                <a:ea typeface="Courier New" pitchFamily="34" charset="-122"/>
                <a:cs typeface="Courier New"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548640" y="402336"/>
            <a:ext cx="155448" cy="164592"/>
          </a:xfrm>
          <a:prstGeom prst="rect">
            <a:avLst/>
          </a:prstGeom>
        </p:spPr>
      </p:pic>
      <p:sp>
        <p:nvSpPr>
          <p:cNvPr id="3" name="Text 0"/>
          <p:cNvSpPr/>
          <p:nvPr/>
        </p:nvSpPr>
        <p:spPr>
          <a:xfrm>
            <a:off x="786384" y="384048"/>
            <a:ext cx="7315200" cy="274320"/>
          </a:xfrm>
          <a:prstGeom prst="rect">
            <a:avLst/>
          </a:prstGeom>
          <a:noFill/>
          <a:ln/>
        </p:spPr>
        <p:txBody>
          <a:bodyPr wrap="square" lIns="0" tIns="0" rIns="0" bIns="0" rtlCol="0" anchor="ctr"/>
          <a:lstStyle/>
          <a:p>
            <a:pPr indent="0" marL="0">
              <a:buNone/>
            </a:pPr>
            <a:r>
              <a:rPr lang="en-US" sz="1100" b="1" spc="300" kern="0" dirty="0">
                <a:solidFill>
                  <a:srgbClr val="4F74F0"/>
                </a:solidFill>
                <a:latin typeface="Arial" pitchFamily="34" charset="0"/>
                <a:ea typeface="Arial" pitchFamily="34" charset="-122"/>
                <a:cs typeface="Arial" pitchFamily="34" charset="-120"/>
              </a:rPr>
              <a:t>BACKUP · Q&amp;A</a:t>
            </a:r>
            <a:endParaRPr lang="en-US" sz="1100" dirty="0"/>
          </a:p>
        </p:txBody>
      </p:sp>
      <p:sp>
        <p:nvSpPr>
          <p:cNvPr id="4" name="Text 1"/>
          <p:cNvSpPr/>
          <p:nvPr/>
        </p:nvSpPr>
        <p:spPr>
          <a:xfrm>
            <a:off x="548640" y="658368"/>
            <a:ext cx="11094415" cy="685800"/>
          </a:xfrm>
          <a:prstGeom prst="rect">
            <a:avLst/>
          </a:prstGeom>
          <a:noFill/>
          <a:ln/>
        </p:spPr>
        <p:txBody>
          <a:bodyPr wrap="square" lIns="0" tIns="0" rIns="0" bIns="0" rtlCol="0" anchor="ctr"/>
          <a:lstStyle/>
          <a:p>
            <a:pPr indent="0" marL="0">
              <a:buNone/>
            </a:pPr>
            <a:r>
              <a:rPr lang="en-US" sz="2600" b="1" dirty="0">
                <a:solidFill>
                  <a:srgbClr val="E8EEFC"/>
                </a:solidFill>
                <a:latin typeface="Arial" pitchFamily="34" charset="0"/>
                <a:ea typeface="Arial" pitchFamily="34" charset="-122"/>
                <a:cs typeface="Arial" pitchFamily="34" charset="-120"/>
              </a:rPr>
              <a:t>Back-test details</a:t>
            </a:r>
            <a:endParaRPr lang="en-US" sz="2600" dirty="0"/>
          </a:p>
        </p:txBody>
      </p:sp>
      <p:sp>
        <p:nvSpPr>
          <p:cNvPr id="5" name="Shape 2"/>
          <p:cNvSpPr/>
          <p:nvPr/>
        </p:nvSpPr>
        <p:spPr>
          <a:xfrm>
            <a:off x="548640" y="1737360"/>
            <a:ext cx="11091672" cy="1207008"/>
          </a:xfrm>
          <a:prstGeom prst="roundRect">
            <a:avLst>
              <a:gd name="adj" fmla="val 6818"/>
            </a:avLst>
          </a:prstGeom>
          <a:solidFill>
            <a:srgbClr val="0C1530"/>
          </a:solidFill>
          <a:ln w="9525">
            <a:solidFill>
              <a:srgbClr val="24325C"/>
            </a:solidFill>
            <a:prstDash val="solid"/>
          </a:ln>
        </p:spPr>
      </p:sp>
      <p:sp>
        <p:nvSpPr>
          <p:cNvPr id="6" name="Text 3"/>
          <p:cNvSpPr/>
          <p:nvPr/>
        </p:nvSpPr>
        <p:spPr>
          <a:xfrm>
            <a:off x="822960" y="1847088"/>
            <a:ext cx="10515600" cy="347472"/>
          </a:xfrm>
          <a:prstGeom prst="rect">
            <a:avLst/>
          </a:prstGeom>
          <a:noFill/>
          <a:ln/>
        </p:spPr>
        <p:txBody>
          <a:bodyPr wrap="square" lIns="0" tIns="0" rIns="0" bIns="0" rtlCol="0" anchor="ctr"/>
          <a:lstStyle/>
          <a:p>
            <a:pPr indent="0" marL="0">
              <a:buNone/>
            </a:pPr>
            <a:r>
              <a:rPr lang="en-US" sz="1350" b="1" dirty="0">
                <a:solidFill>
                  <a:srgbClr val="4F74F0"/>
                </a:solidFill>
                <a:latin typeface="Arial" pitchFamily="34" charset="0"/>
                <a:ea typeface="Arial" pitchFamily="34" charset="-122"/>
                <a:cs typeface="Arial" pitchFamily="34" charset="-120"/>
              </a:rPr>
              <a:t>“Where did 2014 wages come from?”</a:t>
            </a:r>
            <a:endParaRPr lang="en-US" sz="1350" dirty="0"/>
          </a:p>
        </p:txBody>
      </p:sp>
      <p:sp>
        <p:nvSpPr>
          <p:cNvPr id="7" name="Text 4"/>
          <p:cNvSpPr/>
          <p:nvPr/>
        </p:nvSpPr>
        <p:spPr>
          <a:xfrm>
            <a:off x="822960" y="2212848"/>
            <a:ext cx="10515600" cy="685800"/>
          </a:xfrm>
          <a:prstGeom prst="rect">
            <a:avLst/>
          </a:prstGeom>
          <a:noFill/>
          <a:ln/>
        </p:spPr>
        <p:txBody>
          <a:bodyPr wrap="square" lIns="0" tIns="0" rIns="0" bIns="0" rtlCol="0" anchor="ctr"/>
          <a:lstStyle/>
          <a:p>
            <a:pPr indent="0" marL="0">
              <a:buNone/>
            </a:pPr>
            <a:r>
              <a:rPr lang="en-US" sz="1150" dirty="0">
                <a:solidFill>
                  <a:srgbClr val="9DB0D9"/>
                </a:solidFill>
                <a:latin typeface="Arial" pitchFamily="34" charset="0"/>
                <a:ea typeface="Arial" pitchFamily="34" charset="-122"/>
                <a:cs typeface="Arial" pitchFamily="34" charset="-120"/>
              </a:rPr>
              <a:t>The archived table has no 2015 wages, so pay percentiles use today’s ranking as a proxy — occupational pay order barely moves. A growth-only variant (0.389) shows the proxy changes almost nothing. It’s all disclosed.</a:t>
            </a:r>
            <a:endParaRPr lang="en-US" sz="1150" dirty="0"/>
          </a:p>
        </p:txBody>
      </p:sp>
      <p:sp>
        <p:nvSpPr>
          <p:cNvPr id="8" name="Shape 5"/>
          <p:cNvSpPr/>
          <p:nvPr/>
        </p:nvSpPr>
        <p:spPr>
          <a:xfrm>
            <a:off x="548640" y="3127248"/>
            <a:ext cx="11091672" cy="1207008"/>
          </a:xfrm>
          <a:prstGeom prst="roundRect">
            <a:avLst>
              <a:gd name="adj" fmla="val 6818"/>
            </a:avLst>
          </a:prstGeom>
          <a:solidFill>
            <a:srgbClr val="0C1530"/>
          </a:solidFill>
          <a:ln w="9525">
            <a:solidFill>
              <a:srgbClr val="24325C"/>
            </a:solidFill>
            <a:prstDash val="solid"/>
          </a:ln>
        </p:spPr>
      </p:sp>
      <p:sp>
        <p:nvSpPr>
          <p:cNvPr id="9" name="Text 6"/>
          <p:cNvSpPr/>
          <p:nvPr/>
        </p:nvSpPr>
        <p:spPr>
          <a:xfrm>
            <a:off x="822960" y="3236976"/>
            <a:ext cx="10515600" cy="347472"/>
          </a:xfrm>
          <a:prstGeom prst="rect">
            <a:avLst/>
          </a:prstGeom>
          <a:noFill/>
          <a:ln/>
        </p:spPr>
        <p:txBody>
          <a:bodyPr wrap="square" lIns="0" tIns="0" rIns="0" bIns="0" rtlCol="0" anchor="ctr"/>
          <a:lstStyle/>
          <a:p>
            <a:pPr indent="0" marL="0">
              <a:buNone/>
            </a:pPr>
            <a:r>
              <a:rPr lang="en-US" sz="1350" b="1" dirty="0">
                <a:solidFill>
                  <a:srgbClr val="4F74F0"/>
                </a:solidFill>
                <a:latin typeface="Arial" pitchFamily="34" charset="0"/>
                <a:ea typeface="Arial" pitchFamily="34" charset="-122"/>
                <a:cs typeface="Arial" pitchFamily="34" charset="-120"/>
              </a:rPr>
              <a:t>“Biggest misses?”</a:t>
            </a:r>
            <a:endParaRPr lang="en-US" sz="1350" dirty="0"/>
          </a:p>
        </p:txBody>
      </p:sp>
      <p:sp>
        <p:nvSpPr>
          <p:cNvPr id="10" name="Text 7"/>
          <p:cNvSpPr/>
          <p:nvPr/>
        </p:nvSpPr>
        <p:spPr>
          <a:xfrm>
            <a:off x="822960" y="3602736"/>
            <a:ext cx="10515600" cy="685800"/>
          </a:xfrm>
          <a:prstGeom prst="rect">
            <a:avLst/>
          </a:prstGeom>
          <a:noFill/>
          <a:ln/>
        </p:spPr>
        <p:txBody>
          <a:bodyPr wrap="square" lIns="0" tIns="0" rIns="0" bIns="0" rtlCol="0" anchor="ctr"/>
          <a:lstStyle/>
          <a:p>
            <a:pPr indent="0" marL="0">
              <a:buNone/>
            </a:pPr>
            <a:r>
              <a:rPr lang="en-US" sz="1150" dirty="0">
                <a:solidFill>
                  <a:srgbClr val="9DB0D9"/>
                </a:solidFill>
                <a:latin typeface="Arial" pitchFamily="34" charset="0"/>
                <a:ea typeface="Arial" pitchFamily="34" charset="-122"/>
                <a:cs typeface="Arial" pitchFamily="34" charset="-120"/>
              </a:rPr>
              <a:t>It liked oil-and-gas jobs in 2014; oil crashed. It underrated couriers; e-commerce boomed +166%. Both named on the site, with the raw JSON downloadable.</a:t>
            </a:r>
            <a:endParaRPr lang="en-US" sz="1150" dirty="0"/>
          </a:p>
        </p:txBody>
      </p:sp>
      <p:sp>
        <p:nvSpPr>
          <p:cNvPr id="11" name="Shape 8"/>
          <p:cNvSpPr/>
          <p:nvPr/>
        </p:nvSpPr>
        <p:spPr>
          <a:xfrm>
            <a:off x="548640" y="4517136"/>
            <a:ext cx="11091672" cy="1207008"/>
          </a:xfrm>
          <a:prstGeom prst="roundRect">
            <a:avLst>
              <a:gd name="adj" fmla="val 6818"/>
            </a:avLst>
          </a:prstGeom>
          <a:solidFill>
            <a:srgbClr val="0C1530"/>
          </a:solidFill>
          <a:ln w="9525">
            <a:solidFill>
              <a:srgbClr val="24325C"/>
            </a:solidFill>
            <a:prstDash val="solid"/>
          </a:ln>
        </p:spPr>
      </p:sp>
      <p:sp>
        <p:nvSpPr>
          <p:cNvPr id="12" name="Text 9"/>
          <p:cNvSpPr/>
          <p:nvPr/>
        </p:nvSpPr>
        <p:spPr>
          <a:xfrm>
            <a:off x="822960" y="4626864"/>
            <a:ext cx="10515600" cy="347472"/>
          </a:xfrm>
          <a:prstGeom prst="rect">
            <a:avLst/>
          </a:prstGeom>
          <a:noFill/>
          <a:ln/>
        </p:spPr>
        <p:txBody>
          <a:bodyPr wrap="square" lIns="0" tIns="0" rIns="0" bIns="0" rtlCol="0" anchor="ctr"/>
          <a:lstStyle/>
          <a:p>
            <a:pPr indent="0" marL="0">
              <a:buNone/>
            </a:pPr>
            <a:r>
              <a:rPr lang="en-US" sz="1350" b="1" dirty="0">
                <a:solidFill>
                  <a:srgbClr val="4F74F0"/>
                </a:solidFill>
                <a:latin typeface="Arial" pitchFamily="34" charset="0"/>
                <a:ea typeface="Arial" pitchFamily="34" charset="-122"/>
                <a:cs typeface="Arial" pitchFamily="34" charset="-120"/>
              </a:rPr>
              <a:t>“Survivorship?”</a:t>
            </a:r>
            <a:endParaRPr lang="en-US" sz="1350" dirty="0"/>
          </a:p>
        </p:txBody>
      </p:sp>
      <p:sp>
        <p:nvSpPr>
          <p:cNvPr id="13" name="Text 10"/>
          <p:cNvSpPr/>
          <p:nvPr/>
        </p:nvSpPr>
        <p:spPr>
          <a:xfrm>
            <a:off x="822960" y="4992624"/>
            <a:ext cx="10515600" cy="685800"/>
          </a:xfrm>
          <a:prstGeom prst="rect">
            <a:avLst/>
          </a:prstGeom>
          <a:noFill/>
          <a:ln/>
        </p:spPr>
        <p:txBody>
          <a:bodyPr wrap="square" lIns="0" tIns="0" rIns="0" bIns="0" rtlCol="0" anchor="ctr"/>
          <a:lstStyle/>
          <a:p>
            <a:pPr indent="0" marL="0">
              <a:buNone/>
            </a:pPr>
            <a:r>
              <a:rPr lang="en-US" sz="1150" dirty="0">
                <a:solidFill>
                  <a:srgbClr val="9DB0D9"/>
                </a:solidFill>
                <a:latin typeface="Arial" pitchFamily="34" charset="0"/>
                <a:ea typeface="Arial" pitchFamily="34" charset="-122"/>
                <a:cs typeface="Arial" pitchFamily="34" charset="-120"/>
              </a:rPr>
              <a:t>SOC-2010 joined to SOC-2018 on matching codes. Reorganized occupations drop out, and the drop counts are published: 647 joined.</a:t>
            </a:r>
            <a:endParaRPr lang="en-US" sz="1150" dirty="0"/>
          </a:p>
        </p:txBody>
      </p:sp>
      <p:sp>
        <p:nvSpPr>
          <p:cNvPr id="14" name="Text 11"/>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E6F9E"/>
                </a:solidFill>
                <a:latin typeface="Arial" pitchFamily="34" charset="0"/>
                <a:ea typeface="Arial" pitchFamily="34" charset="-122"/>
                <a:cs typeface="Arial" pitchFamily="34" charset="-120"/>
              </a:rPr>
              <a:t>CareerStar · ashleylibasci.com</a:t>
            </a:r>
            <a:endParaRPr lang="en-US" sz="900" dirty="0"/>
          </a:p>
        </p:txBody>
      </p:sp>
      <p:sp>
        <p:nvSpPr>
          <p:cNvPr id="15" name="Text 12"/>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5E6F9E"/>
                </a:solidFill>
                <a:latin typeface="Courier New" pitchFamily="34" charset="0"/>
                <a:ea typeface="Courier New" pitchFamily="34" charset="-122"/>
                <a:cs typeface="Courier New"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548640" y="402336"/>
            <a:ext cx="155448" cy="164592"/>
          </a:xfrm>
          <a:prstGeom prst="rect">
            <a:avLst/>
          </a:prstGeom>
        </p:spPr>
      </p:pic>
      <p:sp>
        <p:nvSpPr>
          <p:cNvPr id="3" name="Text 0"/>
          <p:cNvSpPr/>
          <p:nvPr/>
        </p:nvSpPr>
        <p:spPr>
          <a:xfrm>
            <a:off x="786384" y="384048"/>
            <a:ext cx="7315200" cy="274320"/>
          </a:xfrm>
          <a:prstGeom prst="rect">
            <a:avLst/>
          </a:prstGeom>
          <a:noFill/>
          <a:ln/>
        </p:spPr>
        <p:txBody>
          <a:bodyPr wrap="square" lIns="0" tIns="0" rIns="0" bIns="0" rtlCol="0" anchor="ctr"/>
          <a:lstStyle/>
          <a:p>
            <a:pPr indent="0" marL="0">
              <a:buNone/>
            </a:pPr>
            <a:r>
              <a:rPr lang="en-US" sz="1100" b="1" spc="300" kern="0" dirty="0">
                <a:solidFill>
                  <a:srgbClr val="4F74F0"/>
                </a:solidFill>
                <a:latin typeface="Arial" pitchFamily="34" charset="0"/>
                <a:ea typeface="Arial" pitchFamily="34" charset="-122"/>
                <a:cs typeface="Arial" pitchFamily="34" charset="-120"/>
              </a:rPr>
              <a:t>BACKUP · Q&amp;A</a:t>
            </a:r>
            <a:endParaRPr lang="en-US" sz="1100" dirty="0"/>
          </a:p>
        </p:txBody>
      </p:sp>
      <p:sp>
        <p:nvSpPr>
          <p:cNvPr id="4" name="Text 1"/>
          <p:cNvSpPr/>
          <p:nvPr/>
        </p:nvSpPr>
        <p:spPr>
          <a:xfrm>
            <a:off x="548640" y="658368"/>
            <a:ext cx="11094415" cy="685800"/>
          </a:xfrm>
          <a:prstGeom prst="rect">
            <a:avLst/>
          </a:prstGeom>
          <a:noFill/>
          <a:ln/>
        </p:spPr>
        <p:txBody>
          <a:bodyPr wrap="square" lIns="0" tIns="0" rIns="0" bIns="0" rtlCol="0" anchor="ctr"/>
          <a:lstStyle/>
          <a:p>
            <a:pPr indent="0" marL="0">
              <a:buNone/>
            </a:pPr>
            <a:r>
              <a:rPr lang="en-US" sz="2600" b="1" dirty="0">
                <a:solidFill>
                  <a:srgbClr val="E8EEFC"/>
                </a:solidFill>
                <a:latin typeface="Arial" pitchFamily="34" charset="0"/>
                <a:ea typeface="Arial" pitchFamily="34" charset="-122"/>
                <a:cs typeface="Arial" pitchFamily="34" charset="-120"/>
              </a:rPr>
              <a:t>Stack, and the Anthropic connection</a:t>
            </a:r>
            <a:endParaRPr lang="en-US" sz="2600" dirty="0"/>
          </a:p>
        </p:txBody>
      </p:sp>
      <p:sp>
        <p:nvSpPr>
          <p:cNvPr id="5" name="Shape 2"/>
          <p:cNvSpPr/>
          <p:nvPr/>
        </p:nvSpPr>
        <p:spPr>
          <a:xfrm>
            <a:off x="548640" y="1737360"/>
            <a:ext cx="11091672" cy="1207008"/>
          </a:xfrm>
          <a:prstGeom prst="roundRect">
            <a:avLst>
              <a:gd name="adj" fmla="val 6818"/>
            </a:avLst>
          </a:prstGeom>
          <a:solidFill>
            <a:srgbClr val="0C1530"/>
          </a:solidFill>
          <a:ln w="9525">
            <a:solidFill>
              <a:srgbClr val="24325C"/>
            </a:solidFill>
            <a:prstDash val="solid"/>
          </a:ln>
        </p:spPr>
      </p:sp>
      <p:sp>
        <p:nvSpPr>
          <p:cNvPr id="6" name="Text 3"/>
          <p:cNvSpPr/>
          <p:nvPr/>
        </p:nvSpPr>
        <p:spPr>
          <a:xfrm>
            <a:off x="822960" y="1847088"/>
            <a:ext cx="10515600" cy="347472"/>
          </a:xfrm>
          <a:prstGeom prst="rect">
            <a:avLst/>
          </a:prstGeom>
          <a:noFill/>
          <a:ln/>
        </p:spPr>
        <p:txBody>
          <a:bodyPr wrap="square" lIns="0" tIns="0" rIns="0" bIns="0" rtlCol="0" anchor="ctr"/>
          <a:lstStyle/>
          <a:p>
            <a:pPr indent="0" marL="0">
              <a:buNone/>
            </a:pPr>
            <a:r>
              <a:rPr lang="en-US" sz="1350" b="1" dirty="0">
                <a:solidFill>
                  <a:srgbClr val="4F74F0"/>
                </a:solidFill>
                <a:latin typeface="Arial" pitchFamily="34" charset="0"/>
                <a:ea typeface="Arial" pitchFamily="34" charset="-122"/>
                <a:cs typeface="Arial" pitchFamily="34" charset="-120"/>
              </a:rPr>
              <a:t>“Stack?”</a:t>
            </a:r>
            <a:endParaRPr lang="en-US" sz="1350" dirty="0"/>
          </a:p>
        </p:txBody>
      </p:sp>
      <p:sp>
        <p:nvSpPr>
          <p:cNvPr id="7" name="Text 4"/>
          <p:cNvSpPr/>
          <p:nvPr/>
        </p:nvSpPr>
        <p:spPr>
          <a:xfrm>
            <a:off x="822960" y="2212848"/>
            <a:ext cx="10515600" cy="685800"/>
          </a:xfrm>
          <a:prstGeom prst="rect">
            <a:avLst/>
          </a:prstGeom>
          <a:noFill/>
          <a:ln/>
        </p:spPr>
        <p:txBody>
          <a:bodyPr wrap="square" lIns="0" tIns="0" rIns="0" bIns="0" rtlCol="0" anchor="ctr"/>
          <a:lstStyle/>
          <a:p>
            <a:pPr indent="0" marL="0">
              <a:buNone/>
            </a:pPr>
            <a:r>
              <a:rPr lang="en-US" sz="1150" dirty="0">
                <a:solidFill>
                  <a:srgbClr val="9DB0D9"/>
                </a:solidFill>
                <a:latin typeface="Arial" pitchFamily="34" charset="0"/>
                <a:ea typeface="Arial" pitchFamily="34" charset="-122"/>
                <a:cs typeface="Arial" pitchFamily="34" charset="-120"/>
              </a:rPr>
              <a:t>Next.js 16, React 19, TypeScript, Tailwind 4, AWS Amplify. About 35 unit tests on the scoring library, pipeline scripts that rebuild every dataset from raw sources, open CSV and code on GitHub.</a:t>
            </a:r>
            <a:endParaRPr lang="en-US" sz="1150" dirty="0"/>
          </a:p>
        </p:txBody>
      </p:sp>
      <p:sp>
        <p:nvSpPr>
          <p:cNvPr id="8" name="Shape 5"/>
          <p:cNvSpPr/>
          <p:nvPr/>
        </p:nvSpPr>
        <p:spPr>
          <a:xfrm>
            <a:off x="548640" y="3127248"/>
            <a:ext cx="11091672" cy="1207008"/>
          </a:xfrm>
          <a:prstGeom prst="roundRect">
            <a:avLst>
              <a:gd name="adj" fmla="val 6818"/>
            </a:avLst>
          </a:prstGeom>
          <a:solidFill>
            <a:srgbClr val="0C1530"/>
          </a:solidFill>
          <a:ln w="9525">
            <a:solidFill>
              <a:srgbClr val="24325C"/>
            </a:solidFill>
            <a:prstDash val="solid"/>
          </a:ln>
        </p:spPr>
      </p:sp>
      <p:sp>
        <p:nvSpPr>
          <p:cNvPr id="9" name="Text 6"/>
          <p:cNvSpPr/>
          <p:nvPr/>
        </p:nvSpPr>
        <p:spPr>
          <a:xfrm>
            <a:off x="822960" y="3236976"/>
            <a:ext cx="10515600" cy="347472"/>
          </a:xfrm>
          <a:prstGeom prst="rect">
            <a:avLst/>
          </a:prstGeom>
          <a:noFill/>
          <a:ln/>
        </p:spPr>
        <p:txBody>
          <a:bodyPr wrap="square" lIns="0" tIns="0" rIns="0" bIns="0" rtlCol="0" anchor="ctr"/>
          <a:lstStyle/>
          <a:p>
            <a:pPr indent="0" marL="0">
              <a:buNone/>
            </a:pPr>
            <a:r>
              <a:rPr lang="en-US" sz="1350" b="1" dirty="0">
                <a:solidFill>
                  <a:srgbClr val="4F74F0"/>
                </a:solidFill>
                <a:latin typeface="Arial" pitchFamily="34" charset="0"/>
                <a:ea typeface="Arial" pitchFamily="34" charset="-122"/>
                <a:cs typeface="Arial" pitchFamily="34" charset="-120"/>
              </a:rPr>
              <a:t>“What did the AI get wrong?”</a:t>
            </a:r>
            <a:endParaRPr lang="en-US" sz="1350" dirty="0"/>
          </a:p>
        </p:txBody>
      </p:sp>
      <p:sp>
        <p:nvSpPr>
          <p:cNvPr id="10" name="Text 7"/>
          <p:cNvSpPr/>
          <p:nvPr/>
        </p:nvSpPr>
        <p:spPr>
          <a:xfrm>
            <a:off x="822960" y="3602736"/>
            <a:ext cx="10515600" cy="685800"/>
          </a:xfrm>
          <a:prstGeom prst="rect">
            <a:avLst/>
          </a:prstGeom>
          <a:noFill/>
          <a:ln/>
        </p:spPr>
        <p:txBody>
          <a:bodyPr wrap="square" lIns="0" tIns="0" rIns="0" bIns="0" rtlCol="0" anchor="ctr"/>
          <a:lstStyle/>
          <a:p>
            <a:pPr indent="0" marL="0">
              <a:buNone/>
            </a:pPr>
            <a:r>
              <a:rPr lang="en-US" sz="1150" dirty="0">
                <a:solidFill>
                  <a:srgbClr val="9DB0D9"/>
                </a:solidFill>
                <a:latin typeface="Arial" pitchFamily="34" charset="0"/>
                <a:ea typeface="Arial" pitchFamily="34" charset="-122"/>
                <a:cs typeface="Arial" pitchFamily="34" charset="-120"/>
              </a:rPr>
              <a:t>Plenty — that’s what the review cast is for. Best one: my own methodology page overclaimed how fit worked. Caught in review, rebuilt properly, then published as the case study’s centerpiece.</a:t>
            </a:r>
            <a:endParaRPr lang="en-US" sz="1150" dirty="0"/>
          </a:p>
        </p:txBody>
      </p:sp>
      <p:sp>
        <p:nvSpPr>
          <p:cNvPr id="11" name="Shape 8"/>
          <p:cNvSpPr/>
          <p:nvPr/>
        </p:nvSpPr>
        <p:spPr>
          <a:xfrm>
            <a:off x="548640" y="4517136"/>
            <a:ext cx="11091672" cy="1207008"/>
          </a:xfrm>
          <a:prstGeom prst="roundRect">
            <a:avLst>
              <a:gd name="adj" fmla="val 6818"/>
            </a:avLst>
          </a:prstGeom>
          <a:solidFill>
            <a:srgbClr val="0C1530"/>
          </a:solidFill>
          <a:ln w="9525">
            <a:solidFill>
              <a:srgbClr val="24325C"/>
            </a:solidFill>
            <a:prstDash val="solid"/>
          </a:ln>
        </p:spPr>
      </p:sp>
      <p:sp>
        <p:nvSpPr>
          <p:cNvPr id="12" name="Text 9"/>
          <p:cNvSpPr/>
          <p:nvPr/>
        </p:nvSpPr>
        <p:spPr>
          <a:xfrm>
            <a:off x="822960" y="4626864"/>
            <a:ext cx="10515600" cy="347472"/>
          </a:xfrm>
          <a:prstGeom prst="rect">
            <a:avLst/>
          </a:prstGeom>
          <a:noFill/>
          <a:ln/>
        </p:spPr>
        <p:txBody>
          <a:bodyPr wrap="square" lIns="0" tIns="0" rIns="0" bIns="0" rtlCol="0" anchor="ctr"/>
          <a:lstStyle/>
          <a:p>
            <a:pPr indent="0" marL="0">
              <a:buNone/>
            </a:pPr>
            <a:r>
              <a:rPr lang="en-US" sz="1350" b="1" dirty="0">
                <a:solidFill>
                  <a:srgbClr val="4F74F0"/>
                </a:solidFill>
                <a:latin typeface="Arial" pitchFamily="34" charset="0"/>
                <a:ea typeface="Arial" pitchFamily="34" charset="-122"/>
                <a:cs typeface="Arial" pitchFamily="34" charset="-120"/>
              </a:rPr>
              <a:t>“Anthropic’s labor research?”</a:t>
            </a:r>
            <a:endParaRPr lang="en-US" sz="1350" dirty="0"/>
          </a:p>
        </p:txBody>
      </p:sp>
      <p:sp>
        <p:nvSpPr>
          <p:cNvPr id="13" name="Text 10"/>
          <p:cNvSpPr/>
          <p:nvPr/>
        </p:nvSpPr>
        <p:spPr>
          <a:xfrm>
            <a:off x="822960" y="4992624"/>
            <a:ext cx="10515600" cy="685800"/>
          </a:xfrm>
          <a:prstGeom prst="rect">
            <a:avLst/>
          </a:prstGeom>
          <a:noFill/>
          <a:ln/>
        </p:spPr>
        <p:txBody>
          <a:bodyPr wrap="square" lIns="0" tIns="0" rIns="0" bIns="0" rtlCol="0" anchor="ctr"/>
          <a:lstStyle/>
          <a:p>
            <a:pPr indent="0" marL="0">
              <a:buNone/>
            </a:pPr>
            <a:r>
              <a:rPr lang="en-US" sz="1150" dirty="0">
                <a:solidFill>
                  <a:srgbClr val="9DB0D9"/>
                </a:solidFill>
                <a:latin typeface="Arial" pitchFamily="34" charset="0"/>
                <a:ea typeface="Arial" pitchFamily="34" charset="-122"/>
                <a:cs typeface="Arial" pitchFamily="34" charset="-120"/>
              </a:rPr>
              <a:t>Same upstream dataset (Eloundou et al. 2023). Their 2026 work layered real Claude usage on it and found 97% of observed use inside tasks rated feasible — independent validation of my exposure input. Their 14% job-finding drop for 22-to-25-year-olds in exposed jobs is exactly my users’ stakes.</a:t>
            </a:r>
            <a:endParaRPr lang="en-US" sz="1150" dirty="0"/>
          </a:p>
        </p:txBody>
      </p:sp>
      <p:sp>
        <p:nvSpPr>
          <p:cNvPr id="14" name="Text 11"/>
          <p:cNvSpPr/>
          <p:nvPr/>
        </p:nvSpPr>
        <p:spPr>
          <a:xfrm>
            <a:off x="548640" y="6473952"/>
            <a:ext cx="3657600" cy="274320"/>
          </a:xfrm>
          <a:prstGeom prst="rect">
            <a:avLst/>
          </a:prstGeom>
          <a:noFill/>
          <a:ln/>
        </p:spPr>
        <p:txBody>
          <a:bodyPr wrap="square" lIns="0" tIns="0" rIns="0" bIns="0" rtlCol="0" anchor="ctr"/>
          <a:lstStyle/>
          <a:p>
            <a:pPr indent="0" marL="0">
              <a:buNone/>
            </a:pPr>
            <a:r>
              <a:rPr lang="en-US" sz="900" dirty="0">
                <a:solidFill>
                  <a:srgbClr val="5E6F9E"/>
                </a:solidFill>
                <a:latin typeface="Arial" pitchFamily="34" charset="0"/>
                <a:ea typeface="Arial" pitchFamily="34" charset="-122"/>
                <a:cs typeface="Arial" pitchFamily="34" charset="-120"/>
              </a:rPr>
              <a:t>CareerStar · ashleylibasci.com</a:t>
            </a:r>
            <a:endParaRPr lang="en-US" sz="900" dirty="0"/>
          </a:p>
        </p:txBody>
      </p:sp>
      <p:sp>
        <p:nvSpPr>
          <p:cNvPr id="15" name="Text 12"/>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5E6F9E"/>
                </a:solidFill>
                <a:latin typeface="Courier New" pitchFamily="34" charset="0"/>
                <a:ea typeface="Courier New" pitchFamily="34" charset="-122"/>
                <a:cs typeface="Courier New" pitchFamily="34" charset="-120"/>
              </a:rPr>
              <a:t>14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CareerStar — Rate career paths like stocks</dc:title>
  <dc:subject>PptxGenJS Presentation</dc:subject>
  <dc:creator>Ashley Libasci</dc:creator>
  <cp:lastModifiedBy>Ashley Libasci</cp:lastModifiedBy>
  <cp:revision>1</cp:revision>
  <dcterms:created xsi:type="dcterms:W3CDTF">2026-08-03T21:57:44Z</dcterms:created>
  <dcterms:modified xsi:type="dcterms:W3CDTF">2026-08-03T21:57:44Z</dcterms:modified>
</cp:coreProperties>
</file>