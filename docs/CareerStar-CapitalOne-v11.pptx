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Ashley. This summer I built a website that rates careers the way analysts rate stocks — and honestly, the site is only half the story. Today is really about the two things behind it: how a team of AI agents built most of it, and how it got onto the real internet. No background needed — I'll explain everything as we go.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shape of the next fifteen minutes, in three parts. Part one, the project: what the site does, why I made it, and the math inside it — which fits on one slide, I promise. Part two, the build — this is the part that surprises people: AI agents wrote most of the code, and I'll show you the framework that kept that from going off the rails. Part three, the launch: how it got onto the actual internet using Amazon's cloud, including the recipe if you ever want to put up your own site. And I'll close with the three things I'd steal from this summer if I were you. Quick intro first.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on me: I'm at UIUC studying math and computer science with a minor in data science. Right now I'm a cybersecurity intern at BCU and studying for my first AWS certification — keep both of those in mind, because the security job shows up in part three and the cert studying runs through this whole story. Off the clock I run, I scuba dive, and I spend as much time with my friends as I can. Okay — part one. The project.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what this project is and why I made it. Everyone I know is in the middle of picking a major or a career path, right while AI is reshuffling what those careers will look like. And when you search something like 'is nursing a safe career?', the internet gives you one of two things: a pep talk, or a doom score from a quiz — vibes, either way. What I wanted was the kind of answer an analyst gives about a stock: real numbers, named sources, and an honest 'it's close' when it's close. Nobody had built that, so I did.
So here's what it is. You type in the careers you're deciding between — say nursing versus software versus actuary — and each one gets a score out of 100. Higher means a stronger bet, and the reasoning is shown, not hidden.
Where do the numbers come from? The U.S. government, mostly — nothing I could fake. The Bureau of Labor Statistics — the agency that tracks the job market — publishes data on about 730 occupations: how many people work in each one, how fast it's expected to grow over the next decade, and what it typically pays. A second government database, O*NET, describes the skills each job actually uses day to day. And a published research study estimated, job by job, how much of the work today's AI could already do. My site combines those public sources — I didn't collect anything myself, which is the point: you can check my inputs.
Why five formulas? Because my formula is one opinion about how to weigh all that, and reasonable people would weigh it differently. So the site ships five: the Standard one — my headline formula, reward marked down by AI risk. The Growth optimist — just growth and pay, deliberately ignoring AI, betting the official forecasts already account for it. The Defensive one — safety first: if AI hits hard, how sheltered is this career? The Efficiency one — reward per unit of risk; a career has to earn its risk. And the Plain average — it just averages everything, and it exists as the baseline: if my clever formula can't beat a plain average, I want to know. You can switch between them live, and when they disagree, that disagreement is real information about uncertainty.
And the stars: they're graded on a curve, the way Morningstar rates mutual funds. Five stars doesn't mean 'nice job' — it means 'top 10 percent of all 730.' If most careers could get five stars, stars would mean nothing. Scarcity is what makes them information.
So that's what it does. But a score is only as good as the math behind it — so let me show you the actual formula. It's shorter than you think.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link and rate something live — nursing versus software versus actuary is a good trio. Show the verdict banner, the robustness chip, and flip one judge so they see the ranking react. Two minutes, tops, then back to the deck. If the wifi is bad, skip this — the screenshot on the last slide already showed the product.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model is four lines, and I want to explain WHY each line looks the way it does — not just show it.
Line one, Return. What do you actually get from a career? Two things the government measures: growth — will there be job openings when you graduate — and pay. Why half and half? Honest answer: I have no evidence that one matters more than the other, so I don't pretend to. Equal weights — and the site has sliders, so if you care more about pay than growth, you can shift it and watch the scores react. One catch before averaging: growth is a percent and pay is in dollars, and averaging a percent with dollars is meaningless. So first, every career gets a rank out of 730 on each ingredient — 'nursing is 74th percentile for growth' — and I combine ranks. That also matches the real question, which is never 'is nursing good in the abstract,' it's 'is nursing better than my alternatives.'
Line two, Risk — what could shrink that return? Two things. AI: the share of the job's day-to-day tasks that today's AI could already do, from a published research study. And volatility: how shaky the field's outlook is. Small confession there — nobody publishes 'career volatility' data, so I built a stand-in: fields projected to shrink get treated as shakier. It's disclosed on the site. Why does AI get 0.7 of the weight? Because 'what does AI do to this career' is the entire question this site exists to answer — volatility is just the sanity check.
Line three — why multiply instead of subtract? Picture a career with a huge reward and a huge risk. If you subtract, the big reward soaks up the risk and it still scores fine — the risk hides behind the paycheck. Multiplying discounts the reward IN PROPORTION to the risk, the way an investor risk-adjusts a return: double the risk, double the haircut. And the 0.6 caps the damage — even the riskiest career keeps at least 40% of its reward — because careers aren't stocks: they can't go to zero. People adapt, retrain, shift specialties.
Line four: blend in fit, 70/30. Why does the market get 70? Because a job you'd love that's disappearing is still disappearing — reality has to dominate. But fit matters at the margins: between two close careers, you'll actually stay in the one that suits you.
And the box at the bottom: the 0.7, the 0.6, the 70/30 — I picked them. There is no answer key of correct career choices to tune against, so instead of pretending precision, the site re-runs every ranking 729 times with those numbers wiggled up and down, plus under five rival formulas. When a ranking flips, the site says 'close call' instead of acting sure.
And that's part one — the project. A real formula, honestly stress-tested. Now here's the part people don't expect: I barely typed any of this. Part two is about who did. (2:30)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people hear 'AI wrote most of my code,' they usually picture the left column — vibe coding. You chat with an AI, paste what it gives you, and hope. Honestly, that's fine for a weekend experiment. I did something different: an agentic framework. Instead of one chat, a team of AI helpers, each with a specific job and a checklist. A plan gets written before any code. Every change re-runs 35 automated checks — think of them as 35 little tests that each poke one part of the code and complain if it breaks. And separate AI reviewers exist purely to find problems with what got built.
The fourth row needs a careful explanation, because it sounds like a contradiction: 'the AI doesn't do the math' — didn't AI build this thing? The key is that there are two different moments. When I DESIGNED the site, AI absolutely helped: agents brainstormed with me, challenged me, and typed most of the code. But the formula itself is a human decision — I chose it, it's written down, it's fixed, and it's public. Then there's the second moment: when YOU visit the site and get a score. At that moment, no AI is involved at all. The site does plain arithmetic using that fixed formula. Why insist on that? Because an AI model is unpredictable — ask it the same question twice, you can get two different answers, and there's no way to audit why it 'felt like' a 73. Arithmetic gives the same answer every single time, and anyone can redo it by hand and catch me if it's wrong. So: AI helped write the recipe. It never gets to cook the numbers.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I used is called BMAD. Think of it as a tiny software company where every employee is an AI and I'm the boss.
First, planning. A 'product manager' agent interviewed me — it just kept asking why — until we had a real written plan. Then an 'architect' agent locked seven rules the code must never break. Since the slide just says 'seven rules,' here they are, quickly: One — the whole site is one app in one programming language, so there's no second system to maintain. Two — all the math lives in one module, and the screen only displays what it's given, so there's exactly one place any number can come from. Three — the government datasets get combined ahead of time into a single file, so the live site never assembles data on the fly; that keeps it fast and makes every result reproducible. Four — the AI explains, it never decides: it may phrase a paragraph about a score that's already computed, but no code path lets it produce or change a number. Five — anything a visitor types is treated as data, never as instructions; that's the security rule — it blocks the classic trick where someone types 'ignore your rules and do X,' and it caps input length and request rates. Six — no accounts, no database; nothing you type gets stored. Seven — hosting happens exactly one way, the AWS setup on the next slide, so there's no hand-built server to misconfigure.
Then building: a 'developer' agent wrote the code one small task at a time — twenty-eight tasks, each with its own done-checklist — and the automated checks grew alongside, thirty-five in the end.
And my favorite part, attack: a cast of AI reviewers argues about every change — a quality checker, a design critic, a fact-checker, and one whose entire personality is finding problems — and I referee.
On the big rule at the bottom — 'the AI never computes a number' — let me head off the obvious question: couldn't the AI have created the formula? Helped, yes — the agents debated it with me. But the formula is a human decision, written down and frozen. The rule is about the RUNNING site: it never asks an AI for a number, because a number an AI makes up can't be audited, and a fixed formula can. If a score is ever wrong, you can trace exactly why.
That's part two — the build. So now I had a working site sitting on my laptop, which is a bit like having a great essay locked in a drawer. Part three: getting it in front of the world. (2:30)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hosting half. 'Hosting' just means: which computers actually serve your website when someone visits. I rent Amazon's instead of running my own.
Piece one, the code. It lives on GitHub — think of it as a shared drive for programmers, with full history. Important detail: what's on GitHub is just text files. Instructions for a website — not a running website. Something has to turn instructions into the real thing.
That's piece two, Amplify, and here's what 'turns it into a website' actually means. Amplify watches my GitHub. The moment I save a change, it does three things automatically: it BUILDS — follows my instructions and assembles the finished web pages and the little program that computes scores; it HOSTS — places all of that onto Amazon's computers; and it SWAPS — replaces the old version with the new one, with no downtime. I have never set up or even logged into a server. Saving my code IS the release.
Piece three, the address. Here's the thing about the internet: computers don't find websites by name — they find them by numeric addresses, like street addresses. Route 53 is the phone book. It holds the entry that says 'ashleylibasci.com lives at these Amazon computers.' When you type my domain, your browser quietly looks it up there first, then goes to the right place. And CloudFront handles speed: it keeps copies of the site in cities all over the world, so someone in Tokyo gets served from near Tokyo instead of waiting for data to cross the ocean.
The part I appreciate most: there's nothing for me to babysit — no server to patch at 2 a.m. Amazon handles the machines; I handle my code. I'm studying for the AWS Cloud Practitioner cert right now, and honestly, this little site is what made the flashcard concepts real.
That's the machinery. But if you only remember one slide from part three, make it the next one — the actual recipe, plus the lesson it taught me the hard way.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want to do this yourselves, this is genuinely the entire recipe — four steps.
Step one: put your code on GitHub. It's free, and it becomes the one true copy of your project — the thing Amazon will watch. Even if you've never coded, this is the same motion as putting a document in a shared drive.
Step two: connect AWS Amplify to it. You do this once, in a web console — you click 'new app,' point it at your GitHub project, and that's the setup. From that moment on, every time you save a change, the live site updates itself a few minutes later. There is no step where you configure a server, because there is no server you can see.
Step three: add your own domain. You buy a name you like — mine cost about as much as a pizza per year — tell Route 53 'this name belongs to this app,' and Amplify automatically sets up the padlock icon, the security certificate that makes browsers trust the site. That part used to be genuinely painful to do by hand; now it's a checkbox.
Step four is the one nobody puts in tutorials: test it like a stranger. Open your site from your phone on cellular, from a friend's laptop, and try to misuse it. The real internet behaves differently than your laptop — there's Amazon machinery between you and your visitors that you can't see from home. My spam protection — the thing that stops someone from hammering the site with thousands of requests — passed every test on my laptop and then never fired once in the real world. Not once. There's a spare slide with that whole story if anyone wants it in Q&amp;A — it's my favorite bug of the summer.
So: a project, a build, a launch. Let me leave you with what I'd actually take from all of it. (1:30)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my honest takeaways. Write the plan before the prompt — the discipline, not the AI, is what made this work. Admit what your model gets wrong — the awkward numbers on my site earned more trust than the good ones. And pick tools that make rigor fun — mine was BMAD — because a review process you enjoy is one you'll actually do. Last thing: my model is making bets about the next ten years. So in 2034, I'll grade those bets against what really happened and publish the results, hits and misses. Ratings agencies should eat their own cooking. Thanks — happy to take questions.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here. Everything past this slide is only for Q&amp;A — jump to whichever spare matches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bug story, if asked. I built rate limiting — a cap on how fast one visitor can hit the site. Textbook approach: identify visitors by network address, read from the standard spot in the request. In production: thirty rapid requests, zero blocked. Turns out Amazon's own infrastructure sits in the middle and stamps its own address in exactly the spot I was reading — so every request looked brand new. I was rate-limiting Amazon. The fix: read the right spot, add a global cap as a backstop, and pin it all down with an automated check. (1:30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96112" y="475488"/>
            <a:ext cx="10515600" cy="292608"/>
          </a:xfrm>
          <a:prstGeom prst="rect">
            <a:avLst/>
          </a:prstGeom>
          <a:noFill/>
          <a:ln/>
        </p:spPr>
        <p:txBody>
          <a:bodyPr wrap="square" rtlCol="0"/>
          <a:lstStyle>
            <a:lvl1pPr indent="0" marL="0">
              <a:buNone/>
              <a:defRPr lang="en-US" dirty="0"/>
            </a:lvl1pPr>
          </a:lstStyle>
          <a:p>
            <a:pPr indent="0" marL="0">
              <a:buNone/>
            </a:pPr>
            <a:endParaRPr lang="en-US" dirty="0"/>
          </a:p>
        </p:txBody>
      </p:sp>
      <p:sp>
        <p:nvSpPr>
          <p:cNvPr id="3" name="Text 0"/>
          <p:cNvSpPr/>
          <p:nvPr>
            <p:ph idx="101" type="title" hasCustomPrompt="1"/>
          </p:nvPr>
        </p:nvSpPr>
        <p:spPr>
          <a:xfrm>
            <a:off x="640080" y="841248"/>
            <a:ext cx="10908792" cy="91440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1069848" y="2011680"/>
            <a:ext cx="10058400" cy="182880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CLOSE">
    <p:bg>
      <p:bgPr>
        <a:solidFill>
          <a:srgbClr val="070D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841248"/>
            <a:ext cx="10908792" cy="914400"/>
          </a:xfrm>
          <a:prstGeom prst="rect">
            <a:avLst/>
          </a:prstGeom>
          <a:noFill/>
          <a:ln/>
        </p:spPr>
        <p:txBody>
          <a:bodyPr wrap="square" rtlCol="0"/>
          <a:lstStyle>
            <a:lvl1pPr indent="0" marL="0">
              <a:buNone/>
              <a:defRPr lang="en-US" dirty="0"/>
            </a:lvl1pPr>
          </a:lstStyle>
          <a:p>
            <a:pPr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www.linkedin.com/in/ashleylibasci/" TargetMode="External"/><Relationship Id="rId1"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ashleylibasci.com"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69864" y="1207008"/>
            <a:ext cx="621792" cy="649224"/>
          </a:xfrm>
          <a:prstGeom prst="rect">
            <a:avLst/>
          </a:prstGeom>
        </p:spPr>
      </p:pic>
      <p:sp>
        <p:nvSpPr>
          <p:cNvPr id="3" name="Text 0"/>
          <p:cNvSpPr/>
          <p:nvPr>
            <p:ph idx="100" type="title" hasCustomPrompt="1"/>
          </p:nvPr>
        </p:nvSpPr>
        <p:spPr>
          <a:xfrm>
            <a:off x="1069848" y="2011680"/>
            <a:ext cx="10058400" cy="1828800"/>
          </a:xfrm>
          <a:prstGeom prst="rect">
            <a:avLst/>
          </a:prstGeom>
          <a:noFill/>
          <a:ln/>
        </p:spPr>
        <p:txBody>
          <a:bodyPr wrap="square" lIns="0" tIns="0" rIns="0" bIns="0" rtlCol="0" anchor="t"/>
          <a:lstStyle/>
          <a:p>
            <a:pPr algn="ctr" indent="0" marL="0">
              <a:buNone/>
            </a:pPr>
            <a:r>
              <a:rPr lang="en-US" sz="3000" b="1" dirty="0">
                <a:solidFill>
                  <a:srgbClr val="0F172A"/>
                </a:solidFill>
                <a:latin typeface="Arial" pitchFamily="34" charset="0"/>
                <a:ea typeface="Arial" pitchFamily="34" charset="-122"/>
                <a:cs typeface="Arial" pitchFamily="34" charset="-120"/>
              </a:rPr>
              <a:t>Rating careers like stocks: exploring development with the BMAD AI agentic framework, and how to host a simple website on AWS</a:t>
            </a:r>
            <a:endParaRPr lang="en-US" sz="3000" dirty="0"/>
          </a:p>
        </p:txBody>
      </p:sp>
      <p:sp>
        <p:nvSpPr>
          <p:cNvPr id="4" name="Shape 1"/>
          <p:cNvSpPr/>
          <p:nvPr/>
        </p:nvSpPr>
        <p:spPr>
          <a:xfrm>
            <a:off x="5413248" y="4828032"/>
            <a:ext cx="1371600" cy="14630"/>
          </a:xfrm>
          <a:prstGeom prst="rect">
            <a:avLst/>
          </a:prstGeom>
          <a:solidFill>
            <a:srgbClr val="1D4ED8"/>
          </a:solidFill>
          <a:ln/>
        </p:spPr>
      </p:sp>
      <p:sp>
        <p:nvSpPr>
          <p:cNvPr id="5" name="Text 2"/>
          <p:cNvSpPr/>
          <p:nvPr/>
        </p:nvSpPr>
        <p:spPr>
          <a:xfrm>
            <a:off x="2898648" y="5074920"/>
            <a:ext cx="6400800" cy="1097280"/>
          </a:xfrm>
          <a:prstGeom prst="rect">
            <a:avLst/>
          </a:prstGeom>
          <a:noFill/>
          <a:ln/>
        </p:spPr>
        <p:txBody>
          <a:bodyPr wrap="square" lIns="0" tIns="0" rIns="0" bIns="0" rtlCol="0" anchor="t"/>
          <a:lstStyle/>
          <a:p>
            <a:pPr algn="ctr" indent="0" marL="0">
              <a:lnSpc>
                <a:spcPts val="2400"/>
              </a:lnSpc>
              <a:buNone/>
            </a:pPr>
            <a:r>
              <a:rPr lang="en-US" sz="1600" b="1" dirty="0">
                <a:solidFill>
                  <a:srgbClr val="0F172A"/>
                </a:solidFill>
                <a:latin typeface="Arial" pitchFamily="34" charset="0"/>
                <a:ea typeface="Arial" pitchFamily="34" charset="-122"/>
                <a:cs typeface="Arial" pitchFamily="34" charset="-120"/>
              </a:rPr>
              <a:t>Ashley Libasci</a:t>
            </a:r>
            <a:endParaRPr lang="en-US" sz="1500" dirty="0"/>
          </a:p>
          <a:p>
            <a:pPr algn="ctr" indent="0" marL="0">
              <a:lnSpc>
                <a:spcPts val="2400"/>
              </a:lnSpc>
              <a:buNone/>
            </a:pPr>
            <a:r>
              <a:rPr lang="en-US" sz="1400" dirty="0">
                <a:solidFill>
                  <a:srgbClr val="1D4ED8"/>
                </a:solidFill>
                <a:latin typeface="Arial" pitchFamily="34" charset="0"/>
                <a:ea typeface="Arial" pitchFamily="34" charset="-122"/>
                <a:cs typeface="Arial" pitchFamily="34" charset="-120"/>
              </a:rPr>
              <a:t>CareerStar — live at ashleylibasci.com</a:t>
            </a:r>
            <a:endParaRPr lang="en-US" sz="1500" dirty="0"/>
          </a:p>
          <a:p>
            <a:pPr algn="ctr" indent="0" marL="0">
              <a:lnSpc>
                <a:spcPts val="2400"/>
              </a:lnSpc>
              <a:buNone/>
            </a:pPr>
            <a:r>
              <a:rPr lang="en-US" sz="1400" dirty="0">
                <a:solidFill>
                  <a:srgbClr val="64748B"/>
                </a:solidFill>
                <a:latin typeface="Arial" pitchFamily="34" charset="0"/>
                <a:ea typeface="Arial" pitchFamily="34" charset="-122"/>
                <a:cs typeface="Arial" pitchFamily="34" charset="-120"/>
              </a:rPr>
              <a:t>Capital One · August 6,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THE PLAN</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One summer project, told in three parts</a:t>
            </a:r>
            <a:endParaRPr lang="en-US" sz="3000" dirty="0"/>
          </a:p>
        </p:txBody>
      </p:sp>
      <p:sp>
        <p:nvSpPr>
          <p:cNvPr id="5" name="Text 2"/>
          <p:cNvSpPr/>
          <p:nvPr/>
        </p:nvSpPr>
        <p:spPr>
          <a:xfrm>
            <a:off x="640080" y="2194560"/>
            <a:ext cx="548640" cy="502920"/>
          </a:xfrm>
          <a:prstGeom prst="rect">
            <a:avLst/>
          </a:prstGeom>
          <a:noFill/>
          <a:ln/>
        </p:spPr>
        <p:txBody>
          <a:bodyPr wrap="square" lIns="0" tIns="0" rIns="0" bIns="0" rtlCol="0" anchor="t"/>
          <a:lstStyle/>
          <a:p>
            <a:pPr algn="l" indent="0" marL="0">
              <a:buNone/>
            </a:pPr>
            <a:r>
              <a:rPr lang="en-US" sz="3000" b="1" dirty="0">
                <a:solidFill>
                  <a:srgbClr val="1D4ED8"/>
                </a:solidFill>
                <a:latin typeface="Arial" pitchFamily="34" charset="0"/>
                <a:ea typeface="Arial" pitchFamily="34" charset="-122"/>
                <a:cs typeface="Arial" pitchFamily="34" charset="-120"/>
              </a:rPr>
              <a:t>1</a:t>
            </a:r>
            <a:endParaRPr lang="en-US" sz="1500" dirty="0"/>
          </a:p>
        </p:txBody>
      </p:sp>
      <p:sp>
        <p:nvSpPr>
          <p:cNvPr id="6" name="Text 3"/>
          <p:cNvSpPr/>
          <p:nvPr/>
        </p:nvSpPr>
        <p:spPr>
          <a:xfrm>
            <a:off x="1371600" y="2240280"/>
            <a:ext cx="2651760" cy="411480"/>
          </a:xfrm>
          <a:prstGeom prst="rect">
            <a:avLst/>
          </a:prstGeom>
          <a:noFill/>
          <a:ln/>
        </p:spPr>
        <p:txBody>
          <a:bodyPr wrap="square" lIns="0" tIns="0" rIns="0" bIns="0" rtlCol="0" anchor="t"/>
          <a:lstStyle/>
          <a:p>
            <a:pPr algn="l" indent="0" marL="0">
              <a:buNone/>
            </a:pPr>
            <a:r>
              <a:rPr lang="en-US" sz="1900" b="1" dirty="0">
                <a:solidFill>
                  <a:srgbClr val="0F172A"/>
                </a:solidFill>
                <a:latin typeface="Arial" pitchFamily="34" charset="0"/>
                <a:ea typeface="Arial" pitchFamily="34" charset="-122"/>
                <a:cs typeface="Arial" pitchFamily="34" charset="-120"/>
              </a:rPr>
              <a:t>The project</a:t>
            </a:r>
            <a:endParaRPr lang="en-US" sz="1500" dirty="0"/>
          </a:p>
        </p:txBody>
      </p:sp>
      <p:sp>
        <p:nvSpPr>
          <p:cNvPr id="7" name="Text 4"/>
          <p:cNvSpPr/>
          <p:nvPr/>
        </p:nvSpPr>
        <p:spPr>
          <a:xfrm>
            <a:off x="4160520" y="2258568"/>
            <a:ext cx="7388352"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A site that rates careers like stocks — what it does, why I made it, and the four-line formula inside it.</a:t>
            </a:r>
            <a:endParaRPr lang="en-US" sz="1500" dirty="0"/>
          </a:p>
        </p:txBody>
      </p:sp>
      <p:sp>
        <p:nvSpPr>
          <p:cNvPr id="8" name="Shape 5"/>
          <p:cNvSpPr/>
          <p:nvPr/>
        </p:nvSpPr>
        <p:spPr>
          <a:xfrm>
            <a:off x="640080" y="3081528"/>
            <a:ext cx="10911535" cy="12802"/>
          </a:xfrm>
          <a:prstGeom prst="rect">
            <a:avLst/>
          </a:prstGeom>
          <a:solidFill>
            <a:srgbClr val="DDE5F2"/>
          </a:solidFill>
          <a:ln/>
        </p:spPr>
      </p:sp>
      <p:sp>
        <p:nvSpPr>
          <p:cNvPr id="9" name="Text 6"/>
          <p:cNvSpPr/>
          <p:nvPr/>
        </p:nvSpPr>
        <p:spPr>
          <a:xfrm>
            <a:off x="640080" y="3273552"/>
            <a:ext cx="548640" cy="502920"/>
          </a:xfrm>
          <a:prstGeom prst="rect">
            <a:avLst/>
          </a:prstGeom>
          <a:noFill/>
          <a:ln/>
        </p:spPr>
        <p:txBody>
          <a:bodyPr wrap="square" lIns="0" tIns="0" rIns="0" bIns="0" rtlCol="0" anchor="t"/>
          <a:lstStyle/>
          <a:p>
            <a:pPr algn="l" indent="0" marL="0">
              <a:buNone/>
            </a:pPr>
            <a:r>
              <a:rPr lang="en-US" sz="3000" b="1" dirty="0">
                <a:solidFill>
                  <a:srgbClr val="1D4ED8"/>
                </a:solidFill>
                <a:latin typeface="Arial" pitchFamily="34" charset="0"/>
                <a:ea typeface="Arial" pitchFamily="34" charset="-122"/>
                <a:cs typeface="Arial" pitchFamily="34" charset="-120"/>
              </a:rPr>
              <a:t>2</a:t>
            </a:r>
            <a:endParaRPr lang="en-US" sz="1500" dirty="0"/>
          </a:p>
        </p:txBody>
      </p:sp>
      <p:sp>
        <p:nvSpPr>
          <p:cNvPr id="10" name="Text 7"/>
          <p:cNvSpPr/>
          <p:nvPr/>
        </p:nvSpPr>
        <p:spPr>
          <a:xfrm>
            <a:off x="1371600" y="3319272"/>
            <a:ext cx="2651760" cy="411480"/>
          </a:xfrm>
          <a:prstGeom prst="rect">
            <a:avLst/>
          </a:prstGeom>
          <a:noFill/>
          <a:ln/>
        </p:spPr>
        <p:txBody>
          <a:bodyPr wrap="square" lIns="0" tIns="0" rIns="0" bIns="0" rtlCol="0" anchor="t"/>
          <a:lstStyle/>
          <a:p>
            <a:pPr algn="l" indent="0" marL="0">
              <a:buNone/>
            </a:pPr>
            <a:r>
              <a:rPr lang="en-US" sz="1900" b="1" dirty="0">
                <a:solidFill>
                  <a:srgbClr val="0F172A"/>
                </a:solidFill>
                <a:latin typeface="Arial" pitchFamily="34" charset="0"/>
                <a:ea typeface="Arial" pitchFamily="34" charset="-122"/>
                <a:cs typeface="Arial" pitchFamily="34" charset="-120"/>
              </a:rPr>
              <a:t>The build</a:t>
            </a:r>
            <a:endParaRPr lang="en-US" sz="1500" dirty="0"/>
          </a:p>
        </p:txBody>
      </p:sp>
      <p:sp>
        <p:nvSpPr>
          <p:cNvPr id="11" name="Text 8"/>
          <p:cNvSpPr/>
          <p:nvPr/>
        </p:nvSpPr>
        <p:spPr>
          <a:xfrm>
            <a:off x="4160520" y="3337560"/>
            <a:ext cx="7388352"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The part that surprises people: AI agents wrote most of it. How that works, and the framework — BMAD — that kept it honest.</a:t>
            </a:r>
            <a:endParaRPr lang="en-US" sz="1500" dirty="0"/>
          </a:p>
        </p:txBody>
      </p:sp>
      <p:sp>
        <p:nvSpPr>
          <p:cNvPr id="12" name="Shape 9"/>
          <p:cNvSpPr/>
          <p:nvPr/>
        </p:nvSpPr>
        <p:spPr>
          <a:xfrm>
            <a:off x="640080" y="4160520"/>
            <a:ext cx="10911535" cy="12802"/>
          </a:xfrm>
          <a:prstGeom prst="rect">
            <a:avLst/>
          </a:prstGeom>
          <a:solidFill>
            <a:srgbClr val="DDE5F2"/>
          </a:solidFill>
          <a:ln/>
        </p:spPr>
      </p:sp>
      <p:sp>
        <p:nvSpPr>
          <p:cNvPr id="13" name="Text 10"/>
          <p:cNvSpPr/>
          <p:nvPr/>
        </p:nvSpPr>
        <p:spPr>
          <a:xfrm>
            <a:off x="640080" y="4352544"/>
            <a:ext cx="548640" cy="502920"/>
          </a:xfrm>
          <a:prstGeom prst="rect">
            <a:avLst/>
          </a:prstGeom>
          <a:noFill/>
          <a:ln/>
        </p:spPr>
        <p:txBody>
          <a:bodyPr wrap="square" lIns="0" tIns="0" rIns="0" bIns="0" rtlCol="0" anchor="t"/>
          <a:lstStyle/>
          <a:p>
            <a:pPr algn="l" indent="0" marL="0">
              <a:buNone/>
            </a:pPr>
            <a:r>
              <a:rPr lang="en-US" sz="3000" b="1" dirty="0">
                <a:solidFill>
                  <a:srgbClr val="1D4ED8"/>
                </a:solidFill>
                <a:latin typeface="Arial" pitchFamily="34" charset="0"/>
                <a:ea typeface="Arial" pitchFamily="34" charset="-122"/>
                <a:cs typeface="Arial" pitchFamily="34" charset="-120"/>
              </a:rPr>
              <a:t>3</a:t>
            </a:r>
            <a:endParaRPr lang="en-US" sz="1500" dirty="0"/>
          </a:p>
        </p:txBody>
      </p:sp>
      <p:sp>
        <p:nvSpPr>
          <p:cNvPr id="14" name="Text 11"/>
          <p:cNvSpPr/>
          <p:nvPr/>
        </p:nvSpPr>
        <p:spPr>
          <a:xfrm>
            <a:off x="1371600" y="4398264"/>
            <a:ext cx="2651760" cy="411480"/>
          </a:xfrm>
          <a:prstGeom prst="rect">
            <a:avLst/>
          </a:prstGeom>
          <a:noFill/>
          <a:ln/>
        </p:spPr>
        <p:txBody>
          <a:bodyPr wrap="square" lIns="0" tIns="0" rIns="0" bIns="0" rtlCol="0" anchor="t"/>
          <a:lstStyle/>
          <a:p>
            <a:pPr algn="l" indent="0" marL="0">
              <a:buNone/>
            </a:pPr>
            <a:r>
              <a:rPr lang="en-US" sz="1900" b="1" dirty="0">
                <a:solidFill>
                  <a:srgbClr val="0F172A"/>
                </a:solidFill>
                <a:latin typeface="Arial" pitchFamily="34" charset="0"/>
                <a:ea typeface="Arial" pitchFamily="34" charset="-122"/>
                <a:cs typeface="Arial" pitchFamily="34" charset="-120"/>
              </a:rPr>
              <a:t>The launch</a:t>
            </a:r>
            <a:endParaRPr lang="en-US" sz="1500" dirty="0"/>
          </a:p>
        </p:txBody>
      </p:sp>
      <p:sp>
        <p:nvSpPr>
          <p:cNvPr id="15" name="Text 12"/>
          <p:cNvSpPr/>
          <p:nvPr/>
        </p:nvSpPr>
        <p:spPr>
          <a:xfrm>
            <a:off x="4160520" y="4416552"/>
            <a:ext cx="7388352"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Getting it onto the real internet with AWS — and the four-step recipe if you want to do the same.</a:t>
            </a:r>
            <a:endParaRPr lang="en-US" sz="1500" dirty="0"/>
          </a:p>
        </p:txBody>
      </p:sp>
      <p:sp>
        <p:nvSpPr>
          <p:cNvPr id="16" name="Shape 13"/>
          <p:cNvSpPr/>
          <p:nvPr/>
        </p:nvSpPr>
        <p:spPr>
          <a:xfrm>
            <a:off x="640080" y="5239512"/>
            <a:ext cx="10911535" cy="12802"/>
          </a:xfrm>
          <a:prstGeom prst="rect">
            <a:avLst/>
          </a:prstGeom>
          <a:solidFill>
            <a:srgbClr val="DDE5F2"/>
          </a:solidFill>
          <a:ln/>
        </p:spPr>
      </p:sp>
      <p:sp>
        <p:nvSpPr>
          <p:cNvPr id="17" name="Text 14"/>
          <p:cNvSpPr/>
          <p:nvPr/>
        </p:nvSpPr>
        <p:spPr>
          <a:xfrm>
            <a:off x="640080" y="5715000"/>
            <a:ext cx="10911535" cy="365760"/>
          </a:xfrm>
          <a:prstGeom prst="rect">
            <a:avLst/>
          </a:prstGeom>
          <a:noFill/>
          <a:ln/>
        </p:spPr>
        <p:txBody>
          <a:bodyPr wrap="square" lIns="0" tIns="0" rIns="0" bIns="0" rtlCol="0" anchor="t"/>
          <a:lstStyle/>
          <a:p>
            <a:pPr algn="l" indent="0" marL="0">
              <a:buNone/>
            </a:pPr>
            <a:r>
              <a:rPr lang="en-US" sz="1600" b="1" dirty="0">
                <a:solidFill>
                  <a:srgbClr val="0F172A"/>
                </a:solidFill>
                <a:latin typeface="Arial" pitchFamily="34" charset="0"/>
                <a:ea typeface="Arial" pitchFamily="34" charset="-122"/>
                <a:cs typeface="Arial" pitchFamily="34" charset="-120"/>
              </a:rPr>
              <a:t>And at the end: the three things from this summer I’d tell you to steal.</a:t>
            </a:r>
            <a:endParaRPr lang="en-US" sz="1500" dirty="0"/>
          </a:p>
        </p:txBody>
      </p:sp>
      <p:sp>
        <p:nvSpPr>
          <p:cNvPr id="18" name="Text 15"/>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BEFORE WE START</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Hi, I’m Ashley Libasci</a:t>
            </a:r>
            <a:endParaRPr lang="en-US" sz="3000" dirty="0"/>
          </a:p>
        </p:txBody>
      </p:sp>
      <p:sp>
        <p:nvSpPr>
          <p:cNvPr id="5" name="Text 2"/>
          <p:cNvSpPr/>
          <p:nvPr/>
        </p:nvSpPr>
        <p:spPr>
          <a:xfrm>
            <a:off x="640080" y="2286000"/>
            <a:ext cx="3017520" cy="457200"/>
          </a:xfrm>
          <a:prstGeom prst="rect">
            <a:avLst/>
          </a:prstGeom>
          <a:noFill/>
          <a:ln/>
        </p:spPr>
        <p:txBody>
          <a:bodyPr wrap="square" lIns="0" tIns="0" rIns="0" bIns="0" rtlCol="0" anchor="t"/>
          <a:lstStyle/>
          <a:p>
            <a:pPr algn="l" indent="0" marL="0">
              <a:buNone/>
            </a:pPr>
            <a:r>
              <a:rPr lang="en-US" sz="2000" b="1" dirty="0">
                <a:solidFill>
                  <a:srgbClr val="1D4ED8"/>
                </a:solidFill>
                <a:latin typeface="Arial" pitchFamily="34" charset="0"/>
                <a:ea typeface="Arial" pitchFamily="34" charset="-122"/>
                <a:cs typeface="Arial" pitchFamily="34" charset="-120"/>
              </a:rPr>
              <a:t>School</a:t>
            </a:r>
            <a:endParaRPr lang="en-US" sz="1500" dirty="0"/>
          </a:p>
        </p:txBody>
      </p:sp>
      <p:sp>
        <p:nvSpPr>
          <p:cNvPr id="6" name="Text 3"/>
          <p:cNvSpPr/>
          <p:nvPr/>
        </p:nvSpPr>
        <p:spPr>
          <a:xfrm>
            <a:off x="3931920" y="2322576"/>
            <a:ext cx="7616952" cy="68580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University of Illinois Urbana-Champaign, studying Math + CS with a minor in Data Science.</a:t>
            </a:r>
            <a:endParaRPr lang="en-US" sz="1500" dirty="0"/>
          </a:p>
        </p:txBody>
      </p:sp>
      <p:sp>
        <p:nvSpPr>
          <p:cNvPr id="7" name="Shape 4"/>
          <p:cNvSpPr/>
          <p:nvPr/>
        </p:nvSpPr>
        <p:spPr>
          <a:xfrm>
            <a:off x="640080" y="3035808"/>
            <a:ext cx="10911535" cy="12802"/>
          </a:xfrm>
          <a:prstGeom prst="rect">
            <a:avLst/>
          </a:prstGeom>
          <a:solidFill>
            <a:srgbClr val="DDE5F2"/>
          </a:solidFill>
          <a:ln/>
        </p:spPr>
      </p:sp>
      <p:sp>
        <p:nvSpPr>
          <p:cNvPr id="8" name="Text 5"/>
          <p:cNvSpPr/>
          <p:nvPr/>
        </p:nvSpPr>
        <p:spPr>
          <a:xfrm>
            <a:off x="640080" y="3255264"/>
            <a:ext cx="3017520" cy="457200"/>
          </a:xfrm>
          <a:prstGeom prst="rect">
            <a:avLst/>
          </a:prstGeom>
          <a:noFill/>
          <a:ln/>
        </p:spPr>
        <p:txBody>
          <a:bodyPr wrap="square" lIns="0" tIns="0" rIns="0" bIns="0" rtlCol="0" anchor="t"/>
          <a:lstStyle/>
          <a:p>
            <a:pPr algn="l" indent="0" marL="0">
              <a:buNone/>
            </a:pPr>
            <a:r>
              <a:rPr lang="en-US" sz="2000" b="1" dirty="0">
                <a:solidFill>
                  <a:srgbClr val="1D4ED8"/>
                </a:solidFill>
                <a:latin typeface="Arial" pitchFamily="34" charset="0"/>
                <a:ea typeface="Arial" pitchFamily="34" charset="-122"/>
                <a:cs typeface="Arial" pitchFamily="34" charset="-120"/>
              </a:rPr>
              <a:t>Right now</a:t>
            </a:r>
            <a:endParaRPr lang="en-US" sz="1500" dirty="0"/>
          </a:p>
        </p:txBody>
      </p:sp>
      <p:sp>
        <p:nvSpPr>
          <p:cNvPr id="9" name="Text 6"/>
          <p:cNvSpPr/>
          <p:nvPr/>
        </p:nvSpPr>
        <p:spPr>
          <a:xfrm>
            <a:off x="3931920" y="3291840"/>
            <a:ext cx="7616952" cy="68580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Cybersecurity intern at BCU, and studying for my first AWS certification.</a:t>
            </a:r>
            <a:endParaRPr lang="en-US" sz="1500" dirty="0"/>
          </a:p>
        </p:txBody>
      </p:sp>
      <p:sp>
        <p:nvSpPr>
          <p:cNvPr id="10" name="Shape 7"/>
          <p:cNvSpPr/>
          <p:nvPr/>
        </p:nvSpPr>
        <p:spPr>
          <a:xfrm>
            <a:off x="640080" y="4005072"/>
            <a:ext cx="10911535" cy="12802"/>
          </a:xfrm>
          <a:prstGeom prst="rect">
            <a:avLst/>
          </a:prstGeom>
          <a:solidFill>
            <a:srgbClr val="DDE5F2"/>
          </a:solidFill>
          <a:ln/>
        </p:spPr>
      </p:sp>
      <p:sp>
        <p:nvSpPr>
          <p:cNvPr id="11" name="Text 8"/>
          <p:cNvSpPr/>
          <p:nvPr/>
        </p:nvSpPr>
        <p:spPr>
          <a:xfrm>
            <a:off x="640080" y="4224528"/>
            <a:ext cx="3017520" cy="457200"/>
          </a:xfrm>
          <a:prstGeom prst="rect">
            <a:avLst/>
          </a:prstGeom>
          <a:noFill/>
          <a:ln/>
        </p:spPr>
        <p:txBody>
          <a:bodyPr wrap="square" lIns="0" tIns="0" rIns="0" bIns="0" rtlCol="0" anchor="t"/>
          <a:lstStyle/>
          <a:p>
            <a:pPr algn="l" indent="0" marL="0">
              <a:buNone/>
            </a:pPr>
            <a:r>
              <a:rPr lang="en-US" sz="2000" b="1" dirty="0">
                <a:solidFill>
                  <a:srgbClr val="1D4ED8"/>
                </a:solidFill>
                <a:latin typeface="Arial" pitchFamily="34" charset="0"/>
                <a:ea typeface="Arial" pitchFamily="34" charset="-122"/>
                <a:cs typeface="Arial" pitchFamily="34" charset="-120"/>
              </a:rPr>
              <a:t>This summer</a:t>
            </a:r>
            <a:endParaRPr lang="en-US" sz="1500" dirty="0"/>
          </a:p>
        </p:txBody>
      </p:sp>
      <p:sp>
        <p:nvSpPr>
          <p:cNvPr id="12" name="Text 9"/>
          <p:cNvSpPr/>
          <p:nvPr/>
        </p:nvSpPr>
        <p:spPr>
          <a:xfrm>
            <a:off x="3931920" y="4261104"/>
            <a:ext cx="7616952" cy="68580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I built CareerStar, a site that scores careers — it’s live at ashleylibasci.com. How it got built is what this talk is about.</a:t>
            </a:r>
            <a:endParaRPr lang="en-US" sz="1500" dirty="0"/>
          </a:p>
        </p:txBody>
      </p:sp>
      <p:sp>
        <p:nvSpPr>
          <p:cNvPr id="13" name="Shape 10"/>
          <p:cNvSpPr/>
          <p:nvPr/>
        </p:nvSpPr>
        <p:spPr>
          <a:xfrm>
            <a:off x="640080" y="4974336"/>
            <a:ext cx="10911535" cy="12802"/>
          </a:xfrm>
          <a:prstGeom prst="rect">
            <a:avLst/>
          </a:prstGeom>
          <a:solidFill>
            <a:srgbClr val="DDE5F2"/>
          </a:solidFill>
          <a:ln/>
        </p:spPr>
      </p:sp>
      <p:sp>
        <p:nvSpPr>
          <p:cNvPr id="14" name="Text 11"/>
          <p:cNvSpPr/>
          <p:nvPr/>
        </p:nvSpPr>
        <p:spPr>
          <a:xfrm>
            <a:off x="640080" y="5193792"/>
            <a:ext cx="3017520" cy="457200"/>
          </a:xfrm>
          <a:prstGeom prst="rect">
            <a:avLst/>
          </a:prstGeom>
          <a:noFill/>
          <a:ln/>
        </p:spPr>
        <p:txBody>
          <a:bodyPr wrap="square" lIns="0" tIns="0" rIns="0" bIns="0" rtlCol="0" anchor="t"/>
          <a:lstStyle/>
          <a:p>
            <a:pPr algn="l" indent="0" marL="0">
              <a:buNone/>
            </a:pPr>
            <a:r>
              <a:rPr lang="en-US" sz="2000" b="1" dirty="0">
                <a:solidFill>
                  <a:srgbClr val="1D4ED8"/>
                </a:solidFill>
                <a:latin typeface="Arial" pitchFamily="34" charset="0"/>
                <a:ea typeface="Arial" pitchFamily="34" charset="-122"/>
                <a:cs typeface="Arial" pitchFamily="34" charset="-120"/>
              </a:rPr>
              <a:t>Off the clock</a:t>
            </a:r>
            <a:endParaRPr lang="en-US" sz="1500" dirty="0"/>
          </a:p>
        </p:txBody>
      </p:sp>
      <p:sp>
        <p:nvSpPr>
          <p:cNvPr id="15" name="Text 12"/>
          <p:cNvSpPr/>
          <p:nvPr/>
        </p:nvSpPr>
        <p:spPr>
          <a:xfrm>
            <a:off x="3931920" y="5230368"/>
            <a:ext cx="7616952" cy="685800"/>
          </a:xfrm>
          <a:prstGeom prst="rect">
            <a:avLst/>
          </a:prstGeom>
          <a:noFill/>
          <a:ln/>
        </p:spPr>
        <p:txBody>
          <a:bodyPr wrap="square" lIns="0" tIns="0" rIns="0" bIns="0" rtlCol="0" anchor="t"/>
          <a:lstStyle/>
          <a:p>
            <a:pPr algn="l" indent="0" marL="0">
              <a:buNone/>
            </a:pPr>
            <a:r>
              <a:rPr lang="en-US" sz="1600" dirty="0">
                <a:solidFill>
                  <a:srgbClr val="0F172A"/>
                </a:solidFill>
                <a:latin typeface="Arial" pitchFamily="34" charset="0"/>
                <a:ea typeface="Arial" pitchFamily="34" charset="-122"/>
                <a:cs typeface="Arial" pitchFamily="34" charset="-120"/>
              </a:rPr>
              <a:t>Running, scuba diving, spending time with friends.</a:t>
            </a:r>
            <a:endParaRPr lang="en-US" sz="1500" dirty="0"/>
          </a:p>
        </p:txBody>
      </p:sp>
      <p:sp>
        <p:nvSpPr>
          <p:cNvPr id="16" name="Shape 13"/>
          <p:cNvSpPr/>
          <p:nvPr/>
        </p:nvSpPr>
        <p:spPr>
          <a:xfrm>
            <a:off x="640080" y="5943600"/>
            <a:ext cx="10911535" cy="12802"/>
          </a:xfrm>
          <a:prstGeom prst="rect">
            <a:avLst/>
          </a:prstGeom>
          <a:solidFill>
            <a:srgbClr val="DDE5F2"/>
          </a:solidFill>
          <a:ln/>
        </p:spPr>
      </p:sp>
      <p:sp>
        <p:nvSpPr>
          <p:cNvPr id="17" name="Text 14"/>
          <p:cNvSpPr/>
          <p:nvPr/>
        </p:nvSpPr>
        <p:spPr>
          <a:xfrm>
            <a:off x="640080" y="6263640"/>
            <a:ext cx="5486400" cy="274320"/>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LinkedIn: </a:t>
            </a:r>
            <a:pPr indent="0" marL="0">
              <a:buNone/>
            </a:pPr>
            <a:r>
              <a:rPr lang="en-US" sz="1300" u="sng" dirty="0">
                <a:solidFill>
                  <a:srgbClr val="1D4ED8"/>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linkedin.com/in/ashleylibasci</a:t>
            </a:r>
            <a:endParaRPr lang="en-US" sz="1300" dirty="0"/>
          </a:p>
        </p:txBody>
      </p:sp>
      <p:sp>
        <p:nvSpPr>
          <p:cNvPr id="18" name="Text 15"/>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PART 1 · THE PROJECT</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CareerStar: what it is, and why I built it</a:t>
            </a:r>
            <a:endParaRPr lang="en-US" sz="3000" dirty="0"/>
          </a:p>
        </p:txBody>
      </p:sp>
      <p:sp>
        <p:nvSpPr>
          <p:cNvPr id="5" name="Text 2"/>
          <p:cNvSpPr/>
          <p:nvPr/>
        </p:nvSpPr>
        <p:spPr>
          <a:xfrm>
            <a:off x="640080" y="1810512"/>
            <a:ext cx="10911535" cy="603504"/>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People my age are picking careers while AI reshuffles them — and the internet’s answers are either pep talks or doom scores. </a:t>
            </a:r>
            <a:pPr algn="l" indent="0" marL="0">
              <a:buNone/>
            </a:pPr>
            <a:r>
              <a:rPr lang="en-US" sz="1500" b="1" dirty="0">
                <a:solidFill>
                  <a:srgbClr val="0F172A"/>
                </a:solidFill>
                <a:latin typeface="Arial" pitchFamily="34" charset="0"/>
                <a:ea typeface="Arial" pitchFamily="34" charset="-122"/>
                <a:cs typeface="Arial" pitchFamily="34" charset="-120"/>
              </a:rPr>
              <a:t>So I built the tool I wanted: type in the careers you’re weighing, get a score out of 100 for each, with the reasoning shown.</a:t>
            </a:r>
            <a:endParaRPr lang="en-US" sz="1500" dirty="0"/>
          </a:p>
        </p:txBody>
      </p:sp>
      <p:pic>
        <p:nvPicPr>
          <p:cNvPr id="6" name="Image 1" descr="preencoded.png">    </p:cNvPr>
          <p:cNvPicPr>
            <a:picLocks noChangeAspect="1"/>
          </p:cNvPicPr>
          <p:nvPr/>
        </p:nvPicPr>
        <p:blipFill>
          <a:blip r:embed="rId2"/>
          <a:stretch>
            <a:fillRect/>
          </a:stretch>
        </p:blipFill>
        <p:spPr>
          <a:xfrm>
            <a:off x="640080" y="2514600"/>
            <a:ext cx="3377596" cy="3611880"/>
          </a:xfrm>
          <a:prstGeom prst="rect">
            <a:avLst/>
          </a:prstGeom>
        </p:spPr>
      </p:pic>
      <p:sp>
        <p:nvSpPr>
          <p:cNvPr id="7" name="Shape 3"/>
          <p:cNvSpPr/>
          <p:nvPr/>
        </p:nvSpPr>
        <p:spPr>
          <a:xfrm>
            <a:off x="621792" y="2496312"/>
            <a:ext cx="3414172" cy="3648456"/>
          </a:xfrm>
          <a:prstGeom prst="rect">
            <a:avLst/>
          </a:prstGeom>
          <a:solidFill>
            <a:srgbClr val="FFFFFF">
              <a:alpha val="0"/>
            </a:srgbClr>
          </a:solidFill>
          <a:ln w="12700">
            <a:solidFill>
              <a:srgbClr val="DDE5F2"/>
            </a:solidFill>
            <a:prstDash val="solid"/>
          </a:ln>
        </p:spPr>
      </p:sp>
      <p:sp>
        <p:nvSpPr>
          <p:cNvPr id="8" name="Text 4"/>
          <p:cNvSpPr/>
          <p:nvPr/>
        </p:nvSpPr>
        <p:spPr>
          <a:xfrm>
            <a:off x="640080" y="6217920"/>
            <a:ext cx="3560476" cy="274320"/>
          </a:xfrm>
          <a:prstGeom prst="rect">
            <a:avLst/>
          </a:prstGeom>
          <a:noFill/>
          <a:ln/>
        </p:spPr>
        <p:txBody>
          <a:bodyPr wrap="square" lIns="0" tIns="0" rIns="0" bIns="0" rtlCol="0" anchor="t"/>
          <a:lstStyle/>
          <a:p>
            <a:pPr algn="l" indent="0" marL="0">
              <a:buNone/>
            </a:pPr>
            <a:r>
              <a:rPr lang="en-US" sz="1300" dirty="0">
                <a:solidFill>
                  <a:srgbClr val="64748B"/>
                </a:solidFill>
                <a:latin typeface="Arial" pitchFamily="34" charset="0"/>
                <a:ea typeface="Arial" pitchFamily="34" charset="-122"/>
                <a:cs typeface="Arial" pitchFamily="34" charset="-120"/>
              </a:rPr>
              <a:t>ashleylibasci.com/rate — the live site</a:t>
            </a:r>
            <a:endParaRPr lang="en-US" sz="1500" dirty="0"/>
          </a:p>
        </p:txBody>
      </p:sp>
      <p:sp>
        <p:nvSpPr>
          <p:cNvPr id="9" name="Text 5"/>
          <p:cNvSpPr/>
          <p:nvPr/>
        </p:nvSpPr>
        <p:spPr>
          <a:xfrm>
            <a:off x="4434840" y="2624328"/>
            <a:ext cx="1325880" cy="548640"/>
          </a:xfrm>
          <a:prstGeom prst="rect">
            <a:avLst/>
          </a:prstGeom>
          <a:noFill/>
          <a:ln/>
        </p:spPr>
        <p:txBody>
          <a:bodyPr wrap="square" lIns="0" tIns="0" rIns="0" bIns="0" rtlCol="0" anchor="t"/>
          <a:lstStyle/>
          <a:p>
            <a:pPr algn="l" indent="0" marL="0">
              <a:buNone/>
            </a:pPr>
            <a:r>
              <a:rPr lang="en-US" sz="3400" b="1" dirty="0">
                <a:solidFill>
                  <a:srgbClr val="1D4ED8"/>
                </a:solidFill>
                <a:latin typeface="Arial" pitchFamily="34" charset="0"/>
                <a:ea typeface="Arial" pitchFamily="34" charset="-122"/>
                <a:cs typeface="Arial" pitchFamily="34" charset="-120"/>
              </a:rPr>
              <a:t>730</a:t>
            </a:r>
            <a:endParaRPr lang="en-US" sz="1500" dirty="0"/>
          </a:p>
        </p:txBody>
      </p:sp>
      <p:sp>
        <p:nvSpPr>
          <p:cNvPr id="10" name="Text 6"/>
          <p:cNvSpPr/>
          <p:nvPr/>
        </p:nvSpPr>
        <p:spPr>
          <a:xfrm>
            <a:off x="5806440" y="2715768"/>
            <a:ext cx="5742432" cy="685800"/>
          </a:xfrm>
          <a:prstGeom prst="rect">
            <a:avLst/>
          </a:prstGeom>
          <a:noFill/>
          <a:ln/>
        </p:spPr>
        <p:txBody>
          <a:bodyPr wrap="square" lIns="0" tIns="0" rIns="0" bIns="0" rtlCol="0" anchor="t"/>
          <a:lstStyle/>
          <a:p>
            <a:pPr algn="l" indent="0" marL="0">
              <a:buNone/>
            </a:pPr>
            <a:r>
              <a:rPr lang="en-US" sz="1500" dirty="0">
                <a:solidFill>
                  <a:srgbClr val="0F172A"/>
                </a:solidFill>
                <a:latin typeface="Arial" pitchFamily="34" charset="0"/>
                <a:ea typeface="Arial" pitchFamily="34" charset="-122"/>
                <a:cs typeface="Arial" pitchFamily="34" charset="-120"/>
              </a:rPr>
              <a:t>occupations scored — every job the U.S. Labor Department publishes numbers on: headcount, expected growth, typical pay</a:t>
            </a:r>
            <a:endParaRPr lang="en-US" sz="1500" dirty="0"/>
          </a:p>
        </p:txBody>
      </p:sp>
      <p:sp>
        <p:nvSpPr>
          <p:cNvPr id="11" name="Shape 7"/>
          <p:cNvSpPr/>
          <p:nvPr/>
        </p:nvSpPr>
        <p:spPr>
          <a:xfrm>
            <a:off x="4434840" y="3483864"/>
            <a:ext cx="7114032" cy="12802"/>
          </a:xfrm>
          <a:prstGeom prst="rect">
            <a:avLst/>
          </a:prstGeom>
          <a:solidFill>
            <a:srgbClr val="DDE5F2"/>
          </a:solidFill>
          <a:ln/>
        </p:spPr>
      </p:sp>
      <p:sp>
        <p:nvSpPr>
          <p:cNvPr id="12" name="Text 8"/>
          <p:cNvSpPr/>
          <p:nvPr/>
        </p:nvSpPr>
        <p:spPr>
          <a:xfrm>
            <a:off x="4434840" y="3630168"/>
            <a:ext cx="1325880" cy="548640"/>
          </a:xfrm>
          <a:prstGeom prst="rect">
            <a:avLst/>
          </a:prstGeom>
          <a:noFill/>
          <a:ln/>
        </p:spPr>
        <p:txBody>
          <a:bodyPr wrap="square" lIns="0" tIns="0" rIns="0" bIns="0" rtlCol="0" anchor="t"/>
          <a:lstStyle/>
          <a:p>
            <a:pPr algn="l" indent="0" marL="0">
              <a:buNone/>
            </a:pPr>
            <a:r>
              <a:rPr lang="en-US" sz="3400" b="1" dirty="0">
                <a:solidFill>
                  <a:srgbClr val="1D4ED8"/>
                </a:solidFill>
                <a:latin typeface="Arial" pitchFamily="34" charset="0"/>
                <a:ea typeface="Arial" pitchFamily="34" charset="-122"/>
                <a:cs typeface="Arial" pitchFamily="34" charset="-120"/>
              </a:rPr>
              <a:t>5</a:t>
            </a:r>
            <a:endParaRPr lang="en-US" sz="1500" dirty="0"/>
          </a:p>
        </p:txBody>
      </p:sp>
      <p:sp>
        <p:nvSpPr>
          <p:cNvPr id="13" name="Text 9"/>
          <p:cNvSpPr/>
          <p:nvPr/>
        </p:nvSpPr>
        <p:spPr>
          <a:xfrm>
            <a:off x="5806440" y="3721608"/>
            <a:ext cx="5742432" cy="685800"/>
          </a:xfrm>
          <a:prstGeom prst="rect">
            <a:avLst/>
          </a:prstGeom>
          <a:noFill/>
          <a:ln/>
        </p:spPr>
        <p:txBody>
          <a:bodyPr wrap="square" lIns="0" tIns="0" rIns="0" bIns="0" rtlCol="0" anchor="t"/>
          <a:lstStyle/>
          <a:p>
            <a:pPr algn="l" indent="0" marL="0">
              <a:buNone/>
            </a:pPr>
            <a:r>
              <a:rPr lang="en-US" sz="1500" dirty="0">
                <a:solidFill>
                  <a:srgbClr val="0F172A"/>
                </a:solidFill>
                <a:latin typeface="Arial" pitchFamily="34" charset="0"/>
                <a:ea typeface="Arial" pitchFamily="34" charset="-122"/>
                <a:cs typeface="Arial" pitchFamily="34" charset="-120"/>
              </a:rPr>
              <a:t>different scoring formulas — flip between them and see whether the answer holds up</a:t>
            </a:r>
            <a:endParaRPr lang="en-US" sz="1500" dirty="0"/>
          </a:p>
        </p:txBody>
      </p:sp>
      <p:sp>
        <p:nvSpPr>
          <p:cNvPr id="14" name="Shape 10"/>
          <p:cNvSpPr/>
          <p:nvPr/>
        </p:nvSpPr>
        <p:spPr>
          <a:xfrm>
            <a:off x="4434840" y="4489704"/>
            <a:ext cx="7114032" cy="12802"/>
          </a:xfrm>
          <a:prstGeom prst="rect">
            <a:avLst/>
          </a:prstGeom>
          <a:solidFill>
            <a:srgbClr val="DDE5F2"/>
          </a:solidFill>
          <a:ln/>
        </p:spPr>
      </p:sp>
      <p:sp>
        <p:nvSpPr>
          <p:cNvPr id="15" name="Text 11"/>
          <p:cNvSpPr/>
          <p:nvPr/>
        </p:nvSpPr>
        <p:spPr>
          <a:xfrm>
            <a:off x="4434840" y="4636008"/>
            <a:ext cx="1325880" cy="548640"/>
          </a:xfrm>
          <a:prstGeom prst="rect">
            <a:avLst/>
          </a:prstGeom>
          <a:noFill/>
          <a:ln/>
        </p:spPr>
        <p:txBody>
          <a:bodyPr wrap="square" lIns="0" tIns="0" rIns="0" bIns="0" rtlCol="0" anchor="t"/>
          <a:lstStyle/>
          <a:p>
            <a:pPr algn="l" indent="0" marL="0">
              <a:buNone/>
            </a:pPr>
            <a:r>
              <a:rPr lang="en-US" sz="3400" b="1" dirty="0">
                <a:solidFill>
                  <a:srgbClr val="1D4ED8"/>
                </a:solidFill>
                <a:latin typeface="Arial" pitchFamily="34" charset="0"/>
                <a:ea typeface="Arial" pitchFamily="34" charset="-122"/>
                <a:cs typeface="Arial" pitchFamily="34" charset="-120"/>
              </a:rPr>
              <a:t>10%</a:t>
            </a:r>
            <a:endParaRPr lang="en-US" sz="1500" dirty="0"/>
          </a:p>
        </p:txBody>
      </p:sp>
      <p:sp>
        <p:nvSpPr>
          <p:cNvPr id="16" name="Text 12"/>
          <p:cNvSpPr/>
          <p:nvPr/>
        </p:nvSpPr>
        <p:spPr>
          <a:xfrm>
            <a:off x="5806440" y="4727448"/>
            <a:ext cx="5742432" cy="685800"/>
          </a:xfrm>
          <a:prstGeom prst="rect">
            <a:avLst/>
          </a:prstGeom>
          <a:noFill/>
          <a:ln/>
        </p:spPr>
        <p:txBody>
          <a:bodyPr wrap="square" lIns="0" tIns="0" rIns="0" bIns="0" rtlCol="0" anchor="t"/>
          <a:lstStyle/>
          <a:p>
            <a:pPr algn="l" indent="0" marL="0">
              <a:buNone/>
            </a:pPr>
            <a:r>
              <a:rPr lang="en-US" sz="1500" dirty="0">
                <a:solidFill>
                  <a:srgbClr val="0F172A"/>
                </a:solidFill>
                <a:latin typeface="Arial" pitchFamily="34" charset="0"/>
                <a:ea typeface="Arial" pitchFamily="34" charset="-122"/>
                <a:cs typeface="Arial" pitchFamily="34" charset="-120"/>
              </a:rPr>
              <a:t>of careers get five stars, and that’s a hard cap — if most careers could get five stars, stars would mean nothing</a:t>
            </a:r>
            <a:endParaRPr lang="en-US" sz="1500" dirty="0"/>
          </a:p>
        </p:txBody>
      </p:sp>
      <p:sp>
        <p:nvSpPr>
          <p:cNvPr id="17" name="Shape 13"/>
          <p:cNvSpPr/>
          <p:nvPr/>
        </p:nvSpPr>
        <p:spPr>
          <a:xfrm>
            <a:off x="4434840" y="5806440"/>
            <a:ext cx="7114032" cy="12802"/>
          </a:xfrm>
          <a:prstGeom prst="rect">
            <a:avLst/>
          </a:prstGeom>
          <a:solidFill>
            <a:srgbClr val="DDE5F2"/>
          </a:solidFill>
          <a:ln/>
        </p:spPr>
      </p:sp>
      <p:sp>
        <p:nvSpPr>
          <p:cNvPr id="18" name="Text 14"/>
          <p:cNvSpPr/>
          <p:nvPr/>
        </p:nvSpPr>
        <p:spPr>
          <a:xfrm>
            <a:off x="4434840" y="5989320"/>
            <a:ext cx="6858000" cy="640080"/>
          </a:xfrm>
          <a:prstGeom prst="rect">
            <a:avLst/>
          </a:prstGeom>
          <a:noFill/>
          <a:ln/>
        </p:spPr>
        <p:txBody>
          <a:bodyPr wrap="square" lIns="0" tIns="0" rIns="0" bIns="0" rtlCol="0" anchor="t"/>
          <a:lstStyle/>
          <a:p>
            <a:pPr algn="l" indent="0" marL="0">
              <a:buNone/>
            </a:pPr>
            <a:r>
              <a:rPr lang="en-US" sz="1500" b="1" dirty="0">
                <a:solidFill>
                  <a:srgbClr val="0F172A"/>
                </a:solidFill>
                <a:latin typeface="Arial" pitchFamily="34" charset="0"/>
                <a:ea typeface="Arial" pitchFamily="34" charset="-122"/>
                <a:cs typeface="Arial" pitchFamily="34" charset="-120"/>
              </a:rPr>
              <a:t>Everything in the score is public data: growth, pay, and how much of the work AI can already do.</a:t>
            </a:r>
            <a:endParaRPr lang="en-US" sz="1500" dirty="0"/>
          </a:p>
        </p:txBody>
      </p:sp>
      <p:sp>
        <p:nvSpPr>
          <p:cNvPr id="19" name="Text 15"/>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PART 1 · THE PROJECT</a:t>
            </a:r>
            <a:endParaRPr lang="en-US" sz="1400" dirty="0"/>
          </a:p>
        </p:txBody>
      </p:sp>
      <p:pic>
        <p:nvPicPr>
          <p:cNvPr id="4" name="Image 1" descr="preencoded.png">    </p:cNvPr>
          <p:cNvPicPr>
            <a:picLocks noChangeAspect="1"/>
          </p:cNvPicPr>
          <p:nvPr/>
        </p:nvPicPr>
        <p:blipFill>
          <a:blip r:embed="rId2"/>
          <a:stretch>
            <a:fillRect/>
          </a:stretch>
        </p:blipFill>
        <p:spPr>
          <a:xfrm>
            <a:off x="5769864" y="2103120"/>
            <a:ext cx="621792" cy="649224"/>
          </a:xfrm>
          <a:prstGeom prst="rect">
            <a:avLst/>
          </a:prstGeom>
        </p:spPr>
      </p:pic>
      <p:sp>
        <p:nvSpPr>
          <p:cNvPr id="5" name="Text 1"/>
          <p:cNvSpPr/>
          <p:nvPr/>
        </p:nvSpPr>
        <p:spPr>
          <a:xfrm>
            <a:off x="1069848" y="2926080"/>
            <a:ext cx="10058400" cy="822960"/>
          </a:xfrm>
          <a:prstGeom prst="rect">
            <a:avLst/>
          </a:prstGeom>
          <a:noFill/>
          <a:ln/>
        </p:spPr>
        <p:txBody>
          <a:bodyPr wrap="square" lIns="0" tIns="0" rIns="0" bIns="0" rtlCol="0" anchor="ctr"/>
          <a:lstStyle/>
          <a:p>
            <a:pPr algn="ctr" indent="0" marL="0">
              <a:buNone/>
            </a:pPr>
            <a:r>
              <a:rPr lang="en-US" sz="4800" b="1" dirty="0">
                <a:solidFill>
                  <a:srgbClr val="0F172A"/>
                </a:solidFill>
                <a:latin typeface="Arial" pitchFamily="34" charset="0"/>
                <a:ea typeface="Arial" pitchFamily="34" charset="-122"/>
                <a:cs typeface="Arial" pitchFamily="34" charset="-120"/>
              </a:rPr>
              <a:t>Demo</a:t>
            </a:r>
            <a:endParaRPr lang="en-US" sz="4800" dirty="0"/>
          </a:p>
        </p:txBody>
      </p:sp>
      <p:sp>
        <p:nvSpPr>
          <p:cNvPr id="6" name="Text 2"/>
          <p:cNvSpPr/>
          <p:nvPr/>
        </p:nvSpPr>
        <p:spPr>
          <a:xfrm>
            <a:off x="1069848" y="3840480"/>
            <a:ext cx="10058400" cy="548640"/>
          </a:xfrm>
          <a:prstGeom prst="rect">
            <a:avLst/>
          </a:prstGeom>
          <a:noFill/>
          <a:ln/>
        </p:spPr>
        <p:txBody>
          <a:bodyPr wrap="square" lIns="0" tIns="0" rIns="0" bIns="0" rtlCol="0" anchor="ctr"/>
          <a:lstStyle/>
          <a:p>
            <a:pPr algn="ctr" indent="0" marL="0">
              <a:buNone/>
            </a:pPr>
            <a:r>
              <a:rPr lang="en-US" sz="3000" b="1" u="sng" dirty="0">
                <a:solidFill>
                  <a:srgbClr val="1D4ED8"/>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ashleylibasci.com</a:t>
            </a:r>
            <a:endParaRPr lang="en-US" sz="3000" dirty="0"/>
          </a:p>
        </p:txBody>
      </p:sp>
      <p:sp>
        <p:nvSpPr>
          <p:cNvPr id="7" name="Text 3"/>
          <p:cNvSpPr/>
          <p:nvPr/>
        </p:nvSpPr>
        <p:spPr>
          <a:xfrm>
            <a:off x="1069848" y="4480560"/>
            <a:ext cx="10058400" cy="274320"/>
          </a:xfrm>
          <a:prstGeom prst="rect">
            <a:avLst/>
          </a:prstGeom>
          <a:noFill/>
          <a:ln/>
        </p:spPr>
        <p:txBody>
          <a:bodyPr wrap="square" lIns="0" tIns="0" rIns="0" bIns="0" rtlCol="0" anchor="t"/>
          <a:lstStyle/>
          <a:p>
            <a:pPr algn="ctr" indent="0" marL="0">
              <a:buNone/>
            </a:pPr>
            <a:r>
              <a:rPr lang="en-US" sz="1400" dirty="0">
                <a:solidFill>
                  <a:srgbClr val="64748B"/>
                </a:solidFill>
                <a:latin typeface="Arial" pitchFamily="34" charset="0"/>
                <a:ea typeface="Arial" pitchFamily="34" charset="-122"/>
                <a:cs typeface="Arial" pitchFamily="34" charset="-120"/>
              </a:rPr>
              <a:t>click to open the live site</a:t>
            </a:r>
            <a:endParaRPr lang="en-US" sz="1500" dirty="0"/>
          </a:p>
        </p:txBody>
      </p:sp>
      <p:sp>
        <p:nvSpPr>
          <p:cNvPr id="8" name="Text 4"/>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5</a:t>
            </a:r>
            <a:endParaRPr lang="en-US" sz="1400" dirty="0"/>
          </a:p>
        </p:txBody>
      </p:sp>
      <p:sp>
        <p:nvSpPr>
          <p:cNvPr id="10" name="Text 0"/>
          <p:cNvSpPr/>
          <p:nvPr>
            <p:ph idx="101" type="title" hasCustomPrompt="1"/>
          </p:nvPr>
        </p:nvSpPr>
        <p:spPr>
          <a:xfrm>
            <a:off x="640080" y="841248"/>
            <a:ext cx="10908792" cy="914400"/>
          </a:xfrm>
          <a:prstGeom prst="rect">
            <a:avLst/>
          </a:prstGeom>
          <a:noFill/>
          <a:ln/>
        </p:spPr>
        <p:txBody>
          <a:bodyPr wrap="square" lIns="0" tIns="0" rIns="0" bIns="0" rtlCol="0"/>
          <a:lstStyle/>
          <a:p>
            <a:pPr indent="0" marL="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PART 1 · THE PROJECT</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The whole formula is four lines</a:t>
            </a:r>
            <a:endParaRPr lang="en-US" sz="3000" dirty="0"/>
          </a:p>
        </p:txBody>
      </p:sp>
      <p:sp>
        <p:nvSpPr>
          <p:cNvPr id="5" name="Text 2"/>
          <p:cNvSpPr/>
          <p:nvPr/>
        </p:nvSpPr>
        <p:spPr>
          <a:xfrm>
            <a:off x="640080" y="1847088"/>
            <a:ext cx="10911535" cy="502920"/>
          </a:xfrm>
          <a:prstGeom prst="rect">
            <a:avLst/>
          </a:prstGeom>
          <a:noFill/>
          <a:ln/>
        </p:spPr>
        <p:txBody>
          <a:bodyPr wrap="square" lIns="0" tIns="0" rIns="0" bIns="0" rtlCol="0" anchor="t"/>
          <a:lstStyle/>
          <a:p>
            <a:pPr algn="l" indent="0" marL="0">
              <a:buNone/>
            </a:pPr>
            <a:r>
              <a:rPr lang="en-US" sz="1400" b="1" dirty="0">
                <a:solidFill>
                  <a:srgbClr val="0F172A"/>
                </a:solidFill>
                <a:latin typeface="Arial" pitchFamily="34" charset="0"/>
                <a:ea typeface="Arial" pitchFamily="34" charset="-122"/>
                <a:cs typeface="Arial" pitchFamily="34" charset="-120"/>
              </a:rPr>
              <a:t>The ingredients:  </a:t>
            </a:r>
            <a:pPr algn="l" indent="0" marL="0">
              <a:buNone/>
            </a:pPr>
            <a:r>
              <a:rPr lang="en-US" sz="1400" dirty="0">
                <a:solidFill>
                  <a:srgbClr val="64748B"/>
                </a:solidFill>
                <a:latin typeface="Arial" pitchFamily="34" charset="0"/>
                <a:ea typeface="Arial" pitchFamily="34" charset="-122"/>
                <a:cs typeface="Arial" pitchFamily="34" charset="-120"/>
              </a:rPr>
              <a:t>growth = how fast jobs are being added · pay = typical salary · AI = how much of the work AI can already do · volatility = how shaky the field’s outlook is · fit = match to your interests</a:t>
            </a:r>
            <a:endParaRPr lang="en-US" sz="1500" dirty="0"/>
          </a:p>
        </p:txBody>
      </p:sp>
      <p:sp>
        <p:nvSpPr>
          <p:cNvPr id="6" name="Text 3"/>
          <p:cNvSpPr/>
          <p:nvPr/>
        </p:nvSpPr>
        <p:spPr>
          <a:xfrm>
            <a:off x="640080" y="2487168"/>
            <a:ext cx="5577840" cy="457200"/>
          </a:xfrm>
          <a:prstGeom prst="rect">
            <a:avLst/>
          </a:prstGeom>
          <a:noFill/>
          <a:ln/>
        </p:spPr>
        <p:txBody>
          <a:bodyPr wrap="square" lIns="0" tIns="0" rIns="0" bIns="0" rtlCol="0" anchor="t"/>
          <a:lstStyle/>
          <a:p>
            <a:pPr algn="l" indent="0" marL="0">
              <a:buNone/>
            </a:pPr>
            <a:r>
              <a:rPr lang="en-US" sz="1900" b="1" dirty="0">
                <a:solidFill>
                  <a:srgbClr val="0F172A"/>
                </a:solidFill>
                <a:latin typeface="Arial" pitchFamily="34" charset="0"/>
                <a:ea typeface="Arial" pitchFamily="34" charset="-122"/>
                <a:cs typeface="Arial" pitchFamily="34" charset="-120"/>
              </a:rPr>
              <a:t>Return  =  ½ growth  +  ½ pay</a:t>
            </a:r>
            <a:endParaRPr lang="en-US" sz="1500" dirty="0"/>
          </a:p>
        </p:txBody>
      </p:sp>
      <p:sp>
        <p:nvSpPr>
          <p:cNvPr id="7" name="Text 4"/>
          <p:cNvSpPr/>
          <p:nvPr/>
        </p:nvSpPr>
        <p:spPr>
          <a:xfrm>
            <a:off x="6400800" y="2523744"/>
            <a:ext cx="5148072" cy="566928"/>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what you get — each as a rank against all 730, because you can’t average a percent with dollars</a:t>
            </a:r>
            <a:endParaRPr lang="en-US" sz="1500" dirty="0"/>
          </a:p>
        </p:txBody>
      </p:sp>
      <p:sp>
        <p:nvSpPr>
          <p:cNvPr id="8" name="Shape 5"/>
          <p:cNvSpPr/>
          <p:nvPr/>
        </p:nvSpPr>
        <p:spPr>
          <a:xfrm>
            <a:off x="640080" y="3054096"/>
            <a:ext cx="10911535" cy="12802"/>
          </a:xfrm>
          <a:prstGeom prst="rect">
            <a:avLst/>
          </a:prstGeom>
          <a:solidFill>
            <a:srgbClr val="DDE5F2"/>
          </a:solidFill>
          <a:ln/>
        </p:spPr>
      </p:sp>
      <p:sp>
        <p:nvSpPr>
          <p:cNvPr id="9" name="Text 6"/>
          <p:cNvSpPr/>
          <p:nvPr/>
        </p:nvSpPr>
        <p:spPr>
          <a:xfrm>
            <a:off x="640080" y="3255264"/>
            <a:ext cx="5577840" cy="457200"/>
          </a:xfrm>
          <a:prstGeom prst="rect">
            <a:avLst/>
          </a:prstGeom>
          <a:noFill/>
          <a:ln/>
        </p:spPr>
        <p:txBody>
          <a:bodyPr wrap="square" lIns="0" tIns="0" rIns="0" bIns="0" rtlCol="0" anchor="t"/>
          <a:lstStyle/>
          <a:p>
            <a:pPr algn="l" indent="0" marL="0">
              <a:buNone/>
            </a:pPr>
            <a:r>
              <a:rPr lang="en-US" sz="1900" b="1" dirty="0">
                <a:solidFill>
                  <a:srgbClr val="0F172A"/>
                </a:solidFill>
                <a:latin typeface="Arial" pitchFamily="34" charset="0"/>
                <a:ea typeface="Arial" pitchFamily="34" charset="-122"/>
                <a:cs typeface="Arial" pitchFamily="34" charset="-120"/>
              </a:rPr>
              <a:t>Risk  =  0.7 AI  +  0.3 volatility</a:t>
            </a:r>
            <a:endParaRPr lang="en-US" sz="1500" dirty="0"/>
          </a:p>
        </p:txBody>
      </p:sp>
      <p:sp>
        <p:nvSpPr>
          <p:cNvPr id="10" name="Text 7"/>
          <p:cNvSpPr/>
          <p:nvPr/>
        </p:nvSpPr>
        <p:spPr>
          <a:xfrm>
            <a:off x="6400800" y="3291840"/>
            <a:ext cx="5148072" cy="566928"/>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what can shrink it — AI gets most of the weight, because AI risk is the whole point of the site</a:t>
            </a:r>
            <a:endParaRPr lang="en-US" sz="1500" dirty="0"/>
          </a:p>
        </p:txBody>
      </p:sp>
      <p:sp>
        <p:nvSpPr>
          <p:cNvPr id="11" name="Shape 8"/>
          <p:cNvSpPr/>
          <p:nvPr/>
        </p:nvSpPr>
        <p:spPr>
          <a:xfrm>
            <a:off x="640080" y="3822192"/>
            <a:ext cx="10911535" cy="12802"/>
          </a:xfrm>
          <a:prstGeom prst="rect">
            <a:avLst/>
          </a:prstGeom>
          <a:solidFill>
            <a:srgbClr val="DDE5F2"/>
          </a:solidFill>
          <a:ln/>
        </p:spPr>
      </p:sp>
      <p:sp>
        <p:nvSpPr>
          <p:cNvPr id="12" name="Text 9"/>
          <p:cNvSpPr/>
          <p:nvPr/>
        </p:nvSpPr>
        <p:spPr>
          <a:xfrm>
            <a:off x="640080" y="4023360"/>
            <a:ext cx="5577840" cy="457200"/>
          </a:xfrm>
          <a:prstGeom prst="rect">
            <a:avLst/>
          </a:prstGeom>
          <a:noFill/>
          <a:ln/>
        </p:spPr>
        <p:txBody>
          <a:bodyPr wrap="square" lIns="0" tIns="0" rIns="0" bIns="0" rtlCol="0" anchor="t"/>
          <a:lstStyle/>
          <a:p>
            <a:pPr algn="l" indent="0" marL="0">
              <a:buNone/>
            </a:pPr>
            <a:r>
              <a:rPr lang="en-US" sz="1900" b="1" dirty="0">
                <a:solidFill>
                  <a:srgbClr val="0F172A"/>
                </a:solidFill>
                <a:latin typeface="Arial" pitchFamily="34" charset="0"/>
                <a:ea typeface="Arial" pitchFamily="34" charset="-122"/>
                <a:cs typeface="Arial" pitchFamily="34" charset="-120"/>
              </a:rPr>
              <a:t>Value  =  Return × (1 − 0.6 Risk)</a:t>
            </a:r>
            <a:endParaRPr lang="en-US" sz="1500" dirty="0"/>
          </a:p>
        </p:txBody>
      </p:sp>
      <p:sp>
        <p:nvSpPr>
          <p:cNvPr id="13" name="Text 10"/>
          <p:cNvSpPr/>
          <p:nvPr/>
        </p:nvSpPr>
        <p:spPr>
          <a:xfrm>
            <a:off x="6400800" y="4059936"/>
            <a:ext cx="5148072" cy="566928"/>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multiply, don’t subtract — so a big reward can’t hide a big risk. Risk erases 60% at most</a:t>
            </a:r>
            <a:endParaRPr lang="en-US" sz="1500" dirty="0"/>
          </a:p>
        </p:txBody>
      </p:sp>
      <p:sp>
        <p:nvSpPr>
          <p:cNvPr id="14" name="Shape 11"/>
          <p:cNvSpPr/>
          <p:nvPr/>
        </p:nvSpPr>
        <p:spPr>
          <a:xfrm>
            <a:off x="640080" y="4590288"/>
            <a:ext cx="10911535" cy="12802"/>
          </a:xfrm>
          <a:prstGeom prst="rect">
            <a:avLst/>
          </a:prstGeom>
          <a:solidFill>
            <a:srgbClr val="DDE5F2"/>
          </a:solidFill>
          <a:ln/>
        </p:spPr>
      </p:sp>
      <p:sp>
        <p:nvSpPr>
          <p:cNvPr id="15" name="Text 12"/>
          <p:cNvSpPr/>
          <p:nvPr/>
        </p:nvSpPr>
        <p:spPr>
          <a:xfrm>
            <a:off x="640080" y="4791456"/>
            <a:ext cx="5577840" cy="457200"/>
          </a:xfrm>
          <a:prstGeom prst="rect">
            <a:avLst/>
          </a:prstGeom>
          <a:noFill/>
          <a:ln/>
        </p:spPr>
        <p:txBody>
          <a:bodyPr wrap="square" lIns="0" tIns="0" rIns="0" bIns="0" rtlCol="0" anchor="t"/>
          <a:lstStyle/>
          <a:p>
            <a:pPr algn="l" indent="0" marL="0">
              <a:buNone/>
            </a:pPr>
            <a:r>
              <a:rPr lang="en-US" sz="1900" b="1" dirty="0">
                <a:solidFill>
                  <a:srgbClr val="0F172A"/>
                </a:solidFill>
                <a:latin typeface="Arial" pitchFamily="34" charset="0"/>
                <a:ea typeface="Arial" pitchFamily="34" charset="-122"/>
                <a:cs typeface="Arial" pitchFamily="34" charset="-120"/>
              </a:rPr>
              <a:t>Score  =  70% Value  +  30% Fit</a:t>
            </a:r>
            <a:endParaRPr lang="en-US" sz="1500" dirty="0"/>
          </a:p>
        </p:txBody>
      </p:sp>
      <p:sp>
        <p:nvSpPr>
          <p:cNvPr id="16" name="Text 13"/>
          <p:cNvSpPr/>
          <p:nvPr/>
        </p:nvSpPr>
        <p:spPr>
          <a:xfrm>
            <a:off x="6400800" y="4828032"/>
            <a:ext cx="5148072" cy="566928"/>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then mix in how well it fits you — final score out of 100</a:t>
            </a:r>
            <a:endParaRPr lang="en-US" sz="1500" dirty="0"/>
          </a:p>
        </p:txBody>
      </p:sp>
      <p:sp>
        <p:nvSpPr>
          <p:cNvPr id="17" name="Shape 14"/>
          <p:cNvSpPr/>
          <p:nvPr/>
        </p:nvSpPr>
        <p:spPr>
          <a:xfrm>
            <a:off x="640080" y="5358384"/>
            <a:ext cx="10911535" cy="12802"/>
          </a:xfrm>
          <a:prstGeom prst="rect">
            <a:avLst/>
          </a:prstGeom>
          <a:solidFill>
            <a:srgbClr val="DDE5F2"/>
          </a:solidFill>
          <a:ln/>
        </p:spPr>
      </p:sp>
      <p:sp>
        <p:nvSpPr>
          <p:cNvPr id="18" name="Text 15"/>
          <p:cNvSpPr/>
          <p:nvPr/>
        </p:nvSpPr>
        <p:spPr>
          <a:xfrm>
            <a:off x="640080" y="5596128"/>
            <a:ext cx="10911535" cy="960120"/>
          </a:xfrm>
          <a:prstGeom prst="roundRect">
            <a:avLst>
              <a:gd name="adj" fmla="val 7619"/>
            </a:avLst>
          </a:prstGeom>
          <a:solidFill>
            <a:srgbClr val="EFF3FB"/>
          </a:solidFill>
          <a:ln w="12700">
            <a:solidFill>
              <a:srgbClr val="DDE5F2"/>
            </a:solidFill>
          </a:ln>
        </p:spPr>
        <p:txBody>
          <a:bodyPr wrap="square" lIns="177800" tIns="177800" rIns="177800" bIns="177800" rtlCol="0" anchor="ctr"/>
          <a:lstStyle/>
          <a:p>
            <a:pPr algn="l" indent="0" marL="0">
              <a:buNone/>
            </a:pPr>
            <a:r>
              <a:rPr lang="en-US" sz="1500" b="1" dirty="0">
                <a:solidFill>
                  <a:srgbClr val="0F172A"/>
                </a:solidFill>
                <a:latin typeface="Arial" pitchFamily="34" charset="0"/>
                <a:ea typeface="Arial" pitchFamily="34" charset="-122"/>
                <a:cs typeface="Arial" pitchFamily="34" charset="-120"/>
              </a:rPr>
              <a:t>Honesty about the 0.7 and the 0.6: I picked them.  </a:t>
            </a:r>
            <a:pPr algn="l" indent="0" marL="0">
              <a:buNone/>
            </a:pPr>
            <a:r>
              <a:rPr lang="en-US" sz="1500" dirty="0">
                <a:solidFill>
                  <a:srgbClr val="64748B"/>
                </a:solidFill>
                <a:latin typeface="Arial" pitchFamily="34" charset="0"/>
                <a:ea typeface="Arial" pitchFamily="34" charset="-122"/>
                <a:cs typeface="Arial" pitchFamily="34" charset="-120"/>
              </a:rPr>
              <a:t>There’s no answer key for career choices, so there’s nothing to tune them against. Instead, the site re-computes every ranking 729 times with those numbers wiggled up and down, plus with five rival formulas — and when the answer flips, it says “close call” instead of pretending to be sure.</a:t>
            </a:r>
            <a:endParaRPr lang="en-US" sz="1500" dirty="0"/>
          </a:p>
        </p:txBody>
      </p:sp>
      <p:sp>
        <p:nvSpPr>
          <p:cNvPr id="19" name="Text 16"/>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PART 2 · THE BUILD</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Same AI. Very different results.</a:t>
            </a:r>
            <a:endParaRPr lang="en-US" sz="3000" dirty="0"/>
          </a:p>
        </p:txBody>
      </p:sp>
      <p:sp>
        <p:nvSpPr>
          <p:cNvPr id="5" name="Text 2"/>
          <p:cNvSpPr/>
          <p:nvPr/>
        </p:nvSpPr>
        <p:spPr>
          <a:xfrm>
            <a:off x="640080" y="2057400"/>
            <a:ext cx="5257800" cy="292608"/>
          </a:xfrm>
          <a:prstGeom prst="rect">
            <a:avLst/>
          </a:prstGeom>
          <a:noFill/>
          <a:ln/>
        </p:spPr>
        <p:txBody>
          <a:bodyPr wrap="square" lIns="0" tIns="0" rIns="0" bIns="0" rtlCol="0" anchor="t"/>
          <a:lstStyle/>
          <a:p>
            <a:pPr algn="l" indent="0" marL="0">
              <a:buNone/>
            </a:pPr>
            <a:r>
              <a:rPr lang="en-US" sz="1500" b="1" spc="250" kern="0" dirty="0">
                <a:solidFill>
                  <a:srgbClr val="64748B"/>
                </a:solidFill>
                <a:latin typeface="Arial" pitchFamily="34" charset="0"/>
                <a:ea typeface="Arial" pitchFamily="34" charset="-122"/>
                <a:cs typeface="Arial" pitchFamily="34" charset="-120"/>
              </a:rPr>
              <a:t>VIBE CODING</a:t>
            </a:r>
            <a:endParaRPr lang="en-US" sz="1500" dirty="0"/>
          </a:p>
        </p:txBody>
      </p:sp>
      <p:sp>
        <p:nvSpPr>
          <p:cNvPr id="6" name="Text 3"/>
          <p:cNvSpPr/>
          <p:nvPr/>
        </p:nvSpPr>
        <p:spPr>
          <a:xfrm>
            <a:off x="640080" y="2377440"/>
            <a:ext cx="5257800" cy="274320"/>
          </a:xfrm>
          <a:prstGeom prst="rect">
            <a:avLst/>
          </a:prstGeom>
          <a:noFill/>
          <a:ln/>
        </p:spPr>
        <p:txBody>
          <a:bodyPr wrap="square" lIns="0" tIns="0" rIns="0" bIns="0" rtlCol="0" anchor="t"/>
          <a:lstStyle/>
          <a:p>
            <a:pPr algn="l" indent="0" marL="0">
              <a:buNone/>
            </a:pPr>
            <a:r>
              <a:rPr lang="en-US" sz="1300" i="1" dirty="0">
                <a:solidFill>
                  <a:srgbClr val="64748B"/>
                </a:solidFill>
                <a:latin typeface="Arial" pitchFamily="34" charset="0"/>
                <a:ea typeface="Arial" pitchFamily="34" charset="-122"/>
                <a:cs typeface="Arial" pitchFamily="34" charset="-120"/>
              </a:rPr>
              <a:t>chatting with an AI until something runs</a:t>
            </a:r>
            <a:endParaRPr lang="en-US" sz="1500" dirty="0"/>
          </a:p>
        </p:txBody>
      </p:sp>
      <p:sp>
        <p:nvSpPr>
          <p:cNvPr id="7" name="Text 4"/>
          <p:cNvSpPr/>
          <p:nvPr/>
        </p:nvSpPr>
        <p:spPr>
          <a:xfrm>
            <a:off x="6291072" y="2057400"/>
            <a:ext cx="5257800" cy="292608"/>
          </a:xfrm>
          <a:prstGeom prst="rect">
            <a:avLst/>
          </a:prstGeom>
          <a:noFill/>
          <a:ln/>
        </p:spPr>
        <p:txBody>
          <a:bodyPr wrap="square" lIns="0" tIns="0" rIns="0" bIns="0" rtlCol="0" anchor="t"/>
          <a:lstStyle/>
          <a:p>
            <a:pPr algn="l" indent="0" marL="0">
              <a:buNone/>
            </a:pPr>
            <a:r>
              <a:rPr lang="en-US" sz="1500" b="1" spc="250" kern="0" dirty="0">
                <a:solidFill>
                  <a:srgbClr val="1D4ED8"/>
                </a:solidFill>
                <a:latin typeface="Arial" pitchFamily="34" charset="0"/>
                <a:ea typeface="Arial" pitchFamily="34" charset="-122"/>
                <a:cs typeface="Arial" pitchFamily="34" charset="-120"/>
              </a:rPr>
              <a:t>AGENTIC FRAMEWORK</a:t>
            </a:r>
            <a:endParaRPr lang="en-US" sz="1500" dirty="0"/>
          </a:p>
        </p:txBody>
      </p:sp>
      <p:sp>
        <p:nvSpPr>
          <p:cNvPr id="8" name="Text 5"/>
          <p:cNvSpPr/>
          <p:nvPr/>
        </p:nvSpPr>
        <p:spPr>
          <a:xfrm>
            <a:off x="6291072" y="2377440"/>
            <a:ext cx="5257800" cy="274320"/>
          </a:xfrm>
          <a:prstGeom prst="rect">
            <a:avLst/>
          </a:prstGeom>
          <a:noFill/>
          <a:ln/>
        </p:spPr>
        <p:txBody>
          <a:bodyPr wrap="square" lIns="0" tIns="0" rIns="0" bIns="0" rtlCol="0" anchor="t"/>
          <a:lstStyle/>
          <a:p>
            <a:pPr algn="l" indent="0" marL="0">
              <a:buNone/>
            </a:pPr>
            <a:r>
              <a:rPr lang="en-US" sz="1300" i="1" dirty="0">
                <a:solidFill>
                  <a:srgbClr val="64748B"/>
                </a:solidFill>
                <a:latin typeface="Arial" pitchFamily="34" charset="0"/>
                <a:ea typeface="Arial" pitchFamily="34" charset="-122"/>
                <a:cs typeface="Arial" pitchFamily="34" charset="-120"/>
              </a:rPr>
              <a:t>a team of AI helpers, each with a job and a checklist</a:t>
            </a:r>
            <a:endParaRPr lang="en-US" sz="1500" dirty="0"/>
          </a:p>
        </p:txBody>
      </p:sp>
      <p:sp>
        <p:nvSpPr>
          <p:cNvPr id="9" name="Shape 6"/>
          <p:cNvSpPr/>
          <p:nvPr/>
        </p:nvSpPr>
        <p:spPr>
          <a:xfrm>
            <a:off x="640080" y="2724912"/>
            <a:ext cx="5257800" cy="12802"/>
          </a:xfrm>
          <a:prstGeom prst="rect">
            <a:avLst/>
          </a:prstGeom>
          <a:solidFill>
            <a:srgbClr val="DDE5F2"/>
          </a:solidFill>
          <a:ln/>
        </p:spPr>
      </p:sp>
      <p:sp>
        <p:nvSpPr>
          <p:cNvPr id="10" name="Shape 7"/>
          <p:cNvSpPr/>
          <p:nvPr/>
        </p:nvSpPr>
        <p:spPr>
          <a:xfrm>
            <a:off x="6291072" y="2724912"/>
            <a:ext cx="5257800" cy="12802"/>
          </a:xfrm>
          <a:prstGeom prst="rect">
            <a:avLst/>
          </a:prstGeom>
          <a:solidFill>
            <a:srgbClr val="1D4ED8"/>
          </a:solidFill>
          <a:ln/>
        </p:spPr>
      </p:sp>
      <p:sp>
        <p:nvSpPr>
          <p:cNvPr id="11" name="Text 8"/>
          <p:cNvSpPr/>
          <p:nvPr/>
        </p:nvSpPr>
        <p:spPr>
          <a:xfrm>
            <a:off x="640080" y="2944368"/>
            <a:ext cx="5257800" cy="475488"/>
          </a:xfrm>
          <a:prstGeom prst="rect">
            <a:avLst/>
          </a:prstGeom>
          <a:noFill/>
          <a:ln/>
        </p:spPr>
        <p:txBody>
          <a:bodyPr wrap="square" lIns="0" tIns="0" rIns="0" bIns="0" rtlCol="0" anchor="ctr"/>
          <a:lstStyle/>
          <a:p>
            <a:pPr algn="l" indent="0" marL="0">
              <a:buNone/>
            </a:pPr>
            <a:r>
              <a:rPr lang="en-US" sz="1500" dirty="0">
                <a:solidFill>
                  <a:srgbClr val="64748B"/>
                </a:solidFill>
                <a:latin typeface="Arial" pitchFamily="34" charset="0"/>
                <a:ea typeface="Arial" pitchFamily="34" charset="-122"/>
                <a:cs typeface="Arial" pitchFamily="34" charset="-120"/>
              </a:rPr>
              <a:t>You prompt, paste, and hope</a:t>
            </a:r>
            <a:endParaRPr lang="en-US" sz="1500" dirty="0"/>
          </a:p>
        </p:txBody>
      </p:sp>
      <p:sp>
        <p:nvSpPr>
          <p:cNvPr id="12" name="Text 9"/>
          <p:cNvSpPr/>
          <p:nvPr/>
        </p:nvSpPr>
        <p:spPr>
          <a:xfrm>
            <a:off x="6291072" y="2944368"/>
            <a:ext cx="5257800" cy="475488"/>
          </a:xfrm>
          <a:prstGeom prst="rect">
            <a:avLst/>
          </a:prstGeom>
          <a:noFill/>
          <a:ln/>
        </p:spPr>
        <p:txBody>
          <a:bodyPr wrap="square" lIns="0" tIns="0" rIns="0" bIns="0" rtlCol="0" anchor="ctr"/>
          <a:lstStyle/>
          <a:p>
            <a:pPr algn="l" indent="0" marL="0">
              <a:buNone/>
            </a:pPr>
            <a:r>
              <a:rPr lang="en-US" sz="1500" b="1" dirty="0">
                <a:solidFill>
                  <a:srgbClr val="0F172A"/>
                </a:solidFill>
                <a:latin typeface="Arial" pitchFamily="34" charset="0"/>
                <a:ea typeface="Arial" pitchFamily="34" charset="-122"/>
                <a:cs typeface="Arial" pitchFamily="34" charset="-120"/>
              </a:rPr>
              <a:t>A written plan exists before any code does</a:t>
            </a:r>
            <a:endParaRPr lang="en-US" sz="1500" dirty="0"/>
          </a:p>
        </p:txBody>
      </p:sp>
      <p:sp>
        <p:nvSpPr>
          <p:cNvPr id="13" name="Text 10"/>
          <p:cNvSpPr/>
          <p:nvPr/>
        </p:nvSpPr>
        <p:spPr>
          <a:xfrm>
            <a:off x="640080" y="3493008"/>
            <a:ext cx="5257800" cy="475488"/>
          </a:xfrm>
          <a:prstGeom prst="rect">
            <a:avLst/>
          </a:prstGeom>
          <a:noFill/>
          <a:ln/>
        </p:spPr>
        <p:txBody>
          <a:bodyPr wrap="square" lIns="0" tIns="0" rIns="0" bIns="0" rtlCol="0" anchor="ctr"/>
          <a:lstStyle/>
          <a:p>
            <a:pPr algn="l" indent="0" marL="0">
              <a:buNone/>
            </a:pPr>
            <a:r>
              <a:rPr lang="en-US" sz="1500" dirty="0">
                <a:solidFill>
                  <a:srgbClr val="64748B"/>
                </a:solidFill>
                <a:latin typeface="Arial" pitchFamily="34" charset="0"/>
                <a:ea typeface="Arial" pitchFamily="34" charset="-122"/>
                <a:cs typeface="Arial" pitchFamily="34" charset="-120"/>
              </a:rPr>
              <a:t>You accept whatever runs</a:t>
            </a:r>
            <a:endParaRPr lang="en-US" sz="1500" dirty="0"/>
          </a:p>
        </p:txBody>
      </p:sp>
      <p:sp>
        <p:nvSpPr>
          <p:cNvPr id="14" name="Text 11"/>
          <p:cNvSpPr/>
          <p:nvPr/>
        </p:nvSpPr>
        <p:spPr>
          <a:xfrm>
            <a:off x="6291072" y="3493008"/>
            <a:ext cx="5257800" cy="475488"/>
          </a:xfrm>
          <a:prstGeom prst="rect">
            <a:avLst/>
          </a:prstGeom>
          <a:noFill/>
          <a:ln/>
        </p:spPr>
        <p:txBody>
          <a:bodyPr wrap="square" lIns="0" tIns="0" rIns="0" bIns="0" rtlCol="0" anchor="ctr"/>
          <a:lstStyle/>
          <a:p>
            <a:pPr algn="l" indent="0" marL="0">
              <a:buNone/>
            </a:pPr>
            <a:r>
              <a:rPr lang="en-US" sz="1500" b="1" dirty="0">
                <a:solidFill>
                  <a:srgbClr val="0F172A"/>
                </a:solidFill>
                <a:latin typeface="Arial" pitchFamily="34" charset="0"/>
                <a:ea typeface="Arial" pitchFamily="34" charset="-122"/>
                <a:cs typeface="Arial" pitchFamily="34" charset="-120"/>
              </a:rPr>
              <a:t>35 automated checks re-run on every change</a:t>
            </a:r>
            <a:endParaRPr lang="en-US" sz="1500" dirty="0"/>
          </a:p>
        </p:txBody>
      </p:sp>
      <p:sp>
        <p:nvSpPr>
          <p:cNvPr id="15" name="Text 12"/>
          <p:cNvSpPr/>
          <p:nvPr/>
        </p:nvSpPr>
        <p:spPr>
          <a:xfrm>
            <a:off x="640080" y="4041648"/>
            <a:ext cx="5257800" cy="475488"/>
          </a:xfrm>
          <a:prstGeom prst="rect">
            <a:avLst/>
          </a:prstGeom>
          <a:noFill/>
          <a:ln/>
        </p:spPr>
        <p:txBody>
          <a:bodyPr wrap="square" lIns="0" tIns="0" rIns="0" bIns="0" rtlCol="0" anchor="ctr"/>
          <a:lstStyle/>
          <a:p>
            <a:pPr algn="l" indent="0" marL="0">
              <a:buNone/>
            </a:pPr>
            <a:r>
              <a:rPr lang="en-US" sz="1500" dirty="0">
                <a:solidFill>
                  <a:srgbClr val="64748B"/>
                </a:solidFill>
                <a:latin typeface="Arial" pitchFamily="34" charset="0"/>
                <a:ea typeface="Arial" pitchFamily="34" charset="-122"/>
                <a:cs typeface="Arial" pitchFamily="34" charset="-120"/>
              </a:rPr>
              <a:t>One agreeable assistant</a:t>
            </a:r>
            <a:endParaRPr lang="en-US" sz="1500" dirty="0"/>
          </a:p>
        </p:txBody>
      </p:sp>
      <p:sp>
        <p:nvSpPr>
          <p:cNvPr id="16" name="Text 13"/>
          <p:cNvSpPr/>
          <p:nvPr/>
        </p:nvSpPr>
        <p:spPr>
          <a:xfrm>
            <a:off x="6291072" y="4041648"/>
            <a:ext cx="5257800" cy="475488"/>
          </a:xfrm>
          <a:prstGeom prst="rect">
            <a:avLst/>
          </a:prstGeom>
          <a:noFill/>
          <a:ln/>
        </p:spPr>
        <p:txBody>
          <a:bodyPr wrap="square" lIns="0" tIns="0" rIns="0" bIns="0" rtlCol="0" anchor="ctr"/>
          <a:lstStyle/>
          <a:p>
            <a:pPr algn="l" indent="0" marL="0">
              <a:buNone/>
            </a:pPr>
            <a:r>
              <a:rPr lang="en-US" sz="1500" b="1" dirty="0">
                <a:solidFill>
                  <a:srgbClr val="0F172A"/>
                </a:solidFill>
                <a:latin typeface="Arial" pitchFamily="34" charset="0"/>
                <a:ea typeface="Arial" pitchFamily="34" charset="-122"/>
                <a:cs typeface="Arial" pitchFamily="34" charset="-120"/>
              </a:rPr>
              <a:t>Several AI reviewers whose only job is finding problems</a:t>
            </a:r>
            <a:endParaRPr lang="en-US" sz="1500" dirty="0"/>
          </a:p>
        </p:txBody>
      </p:sp>
      <p:sp>
        <p:nvSpPr>
          <p:cNvPr id="17" name="Text 14"/>
          <p:cNvSpPr/>
          <p:nvPr/>
        </p:nvSpPr>
        <p:spPr>
          <a:xfrm>
            <a:off x="640080" y="4590288"/>
            <a:ext cx="5257800" cy="475488"/>
          </a:xfrm>
          <a:prstGeom prst="rect">
            <a:avLst/>
          </a:prstGeom>
          <a:noFill/>
          <a:ln/>
        </p:spPr>
        <p:txBody>
          <a:bodyPr wrap="square" lIns="0" tIns="0" rIns="0" bIns="0" rtlCol="0" anchor="ctr"/>
          <a:lstStyle/>
          <a:p>
            <a:pPr algn="l" indent="0" marL="0">
              <a:buNone/>
            </a:pPr>
            <a:r>
              <a:rPr lang="en-US" sz="1500" dirty="0">
                <a:solidFill>
                  <a:srgbClr val="64748B"/>
                </a:solidFill>
                <a:latin typeface="Arial" pitchFamily="34" charset="0"/>
                <a:ea typeface="Arial" pitchFamily="34" charset="-122"/>
                <a:cs typeface="Arial" pitchFamily="34" charset="-120"/>
              </a:rPr>
              <a:t>The AI does the math</a:t>
            </a:r>
            <a:endParaRPr lang="en-US" sz="1500" dirty="0"/>
          </a:p>
        </p:txBody>
      </p:sp>
      <p:sp>
        <p:nvSpPr>
          <p:cNvPr id="18" name="Text 15"/>
          <p:cNvSpPr/>
          <p:nvPr/>
        </p:nvSpPr>
        <p:spPr>
          <a:xfrm>
            <a:off x="6291072" y="4590288"/>
            <a:ext cx="5257800" cy="475488"/>
          </a:xfrm>
          <a:prstGeom prst="rect">
            <a:avLst/>
          </a:prstGeom>
          <a:noFill/>
          <a:ln/>
        </p:spPr>
        <p:txBody>
          <a:bodyPr wrap="square" lIns="0" tIns="0" rIns="0" bIns="0" rtlCol="0" anchor="ctr"/>
          <a:lstStyle/>
          <a:p>
            <a:pPr algn="l" indent="0" marL="0">
              <a:buNone/>
            </a:pPr>
            <a:r>
              <a:rPr lang="en-US" sz="1500" b="1" dirty="0">
                <a:solidFill>
                  <a:srgbClr val="0F172A"/>
                </a:solidFill>
                <a:latin typeface="Arial" pitchFamily="34" charset="0"/>
                <a:ea typeface="Arial" pitchFamily="34" charset="-122"/>
                <a:cs typeface="Arial" pitchFamily="34" charset="-120"/>
              </a:rPr>
              <a:t>The math is a fixed formula — same inputs, same score, anyone can re-check it</a:t>
            </a:r>
            <a:endParaRPr lang="en-US" sz="1500" dirty="0"/>
          </a:p>
        </p:txBody>
      </p:sp>
      <p:sp>
        <p:nvSpPr>
          <p:cNvPr id="19" name="Text 16"/>
          <p:cNvSpPr/>
          <p:nvPr/>
        </p:nvSpPr>
        <p:spPr>
          <a:xfrm>
            <a:off x="640080" y="5138928"/>
            <a:ext cx="5257800" cy="475488"/>
          </a:xfrm>
          <a:prstGeom prst="rect">
            <a:avLst/>
          </a:prstGeom>
          <a:noFill/>
          <a:ln/>
        </p:spPr>
        <p:txBody>
          <a:bodyPr wrap="square" lIns="0" tIns="0" rIns="0" bIns="0" rtlCol="0" anchor="ctr"/>
          <a:lstStyle/>
          <a:p>
            <a:pPr algn="l" indent="0" marL="0">
              <a:buNone/>
            </a:pPr>
            <a:r>
              <a:rPr lang="en-US" sz="1500" dirty="0">
                <a:solidFill>
                  <a:srgbClr val="64748B"/>
                </a:solidFill>
                <a:latin typeface="Arial" pitchFamily="34" charset="0"/>
                <a:ea typeface="Arial" pitchFamily="34" charset="-122"/>
                <a:cs typeface="Arial" pitchFamily="34" charset="-120"/>
              </a:rPr>
              <a:t>“Trust me, it works”</a:t>
            </a:r>
            <a:endParaRPr lang="en-US" sz="1500" dirty="0"/>
          </a:p>
        </p:txBody>
      </p:sp>
      <p:sp>
        <p:nvSpPr>
          <p:cNvPr id="20" name="Text 17"/>
          <p:cNvSpPr/>
          <p:nvPr/>
        </p:nvSpPr>
        <p:spPr>
          <a:xfrm>
            <a:off x="6291072" y="5138928"/>
            <a:ext cx="5257800" cy="475488"/>
          </a:xfrm>
          <a:prstGeom prst="rect">
            <a:avLst/>
          </a:prstGeom>
          <a:noFill/>
          <a:ln/>
        </p:spPr>
        <p:txBody>
          <a:bodyPr wrap="square" lIns="0" tIns="0" rIns="0" bIns="0" rtlCol="0" anchor="ctr"/>
          <a:lstStyle/>
          <a:p>
            <a:pPr algn="l" indent="0" marL="0">
              <a:buNone/>
            </a:pPr>
            <a:r>
              <a:rPr lang="en-US" sz="1500" b="1" dirty="0">
                <a:solidFill>
                  <a:srgbClr val="0F172A"/>
                </a:solidFill>
                <a:latin typeface="Arial" pitchFamily="34" charset="0"/>
                <a:ea typeface="Arial" pitchFamily="34" charset="-122"/>
                <a:cs typeface="Arial" pitchFamily="34" charset="-120"/>
              </a:rPr>
              <a:t>The data, the code, and the test results are all public</a:t>
            </a:r>
            <a:endParaRPr lang="en-US" sz="1500" dirty="0"/>
          </a:p>
        </p:txBody>
      </p:sp>
      <p:sp>
        <p:nvSpPr>
          <p:cNvPr id="21" name="Shape 18"/>
          <p:cNvSpPr/>
          <p:nvPr/>
        </p:nvSpPr>
        <p:spPr>
          <a:xfrm>
            <a:off x="640080" y="5806440"/>
            <a:ext cx="10911535" cy="12802"/>
          </a:xfrm>
          <a:prstGeom prst="rect">
            <a:avLst/>
          </a:prstGeom>
          <a:solidFill>
            <a:srgbClr val="DDE5F2"/>
          </a:solidFill>
          <a:ln/>
        </p:spPr>
      </p:sp>
      <p:sp>
        <p:nvSpPr>
          <p:cNvPr id="22" name="Text 19"/>
          <p:cNvSpPr/>
          <p:nvPr/>
        </p:nvSpPr>
        <p:spPr>
          <a:xfrm>
            <a:off x="640080" y="5989320"/>
            <a:ext cx="10911535" cy="365760"/>
          </a:xfrm>
          <a:prstGeom prst="rect">
            <a:avLst/>
          </a:prstGeom>
          <a:noFill/>
          <a:ln/>
        </p:spPr>
        <p:txBody>
          <a:bodyPr wrap="square" lIns="0" tIns="0" rIns="0" bIns="0" rtlCol="0" anchor="t"/>
          <a:lstStyle/>
          <a:p>
            <a:pPr algn="l" indent="0" marL="0">
              <a:buNone/>
            </a:pPr>
            <a:r>
              <a:rPr lang="en-US" sz="1600" b="1" dirty="0">
                <a:solidFill>
                  <a:srgbClr val="0F172A"/>
                </a:solidFill>
                <a:latin typeface="Arial" pitchFamily="34" charset="0"/>
                <a:ea typeface="Arial" pitchFamily="34" charset="-122"/>
                <a:cs typeface="Arial" pitchFamily="34" charset="-120"/>
              </a:rPr>
              <a:t>The AI typed most of this project either way. The discipline around it is the difference.</a:t>
            </a:r>
            <a:endParaRPr lang="en-US" sz="1500" dirty="0"/>
          </a:p>
        </p:txBody>
      </p:sp>
      <p:sp>
        <p:nvSpPr>
          <p:cNvPr id="23" name="Text 20"/>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PART 2 · THE BUILD</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BMAD: my AI team, and what each agent does</a:t>
            </a:r>
            <a:endParaRPr lang="en-US" sz="3000" dirty="0"/>
          </a:p>
        </p:txBody>
      </p:sp>
      <p:sp>
        <p:nvSpPr>
          <p:cNvPr id="5" name="Text 2"/>
          <p:cNvSpPr/>
          <p:nvPr/>
        </p:nvSpPr>
        <p:spPr>
          <a:xfrm>
            <a:off x="640080" y="1828800"/>
            <a:ext cx="10911535" cy="32004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BMAD is a free, open-source framework that turns AI into a small team — like a tiny software company where I’m the boss.</a:t>
            </a:r>
            <a:endParaRPr lang="en-US" sz="1500" dirty="0"/>
          </a:p>
        </p:txBody>
      </p:sp>
      <p:sp>
        <p:nvSpPr>
          <p:cNvPr id="6" name="Text 3"/>
          <p:cNvSpPr/>
          <p:nvPr/>
        </p:nvSpPr>
        <p:spPr>
          <a:xfrm>
            <a:off x="640080" y="2286000"/>
            <a:ext cx="3246120" cy="2606040"/>
          </a:xfrm>
          <a:prstGeom prst="roundRect">
            <a:avLst>
              <a:gd name="adj" fmla="val 2807"/>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PLAN</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A “product manager” agent grilled me with why-questions until we had a written plan. An “architect” agent set 7 rules the code must never break.</a:t>
            </a:r>
            <a:endParaRPr lang="en-US" sz="1500" dirty="0"/>
          </a:p>
          <a:p>
            <a:pPr algn="l" indent="0" marL="0">
              <a:buNone/>
            </a:pPr>
            <a:endParaRPr lang="en-US" sz="1500" dirty="0"/>
          </a:p>
          <a:p>
            <a:pPr algn="l" indent="0" marL="0">
              <a:buNone/>
            </a:pPr>
            <a:r>
              <a:rPr lang="en-US" sz="1400" b="1" dirty="0">
                <a:solidFill>
                  <a:srgbClr val="1D4ED8"/>
                </a:solidFill>
                <a:latin typeface="Arial" pitchFamily="34" charset="0"/>
                <a:ea typeface="Arial" pitchFamily="34" charset="-122"/>
                <a:cs typeface="Arial" pitchFamily="34" charset="-120"/>
              </a:rPr>
              <a:t>1 written plan · 7 rules</a:t>
            </a:r>
            <a:endParaRPr lang="en-US" sz="1500" dirty="0"/>
          </a:p>
        </p:txBody>
      </p:sp>
      <p:sp>
        <p:nvSpPr>
          <p:cNvPr id="7" name="Text 4"/>
          <p:cNvSpPr/>
          <p:nvPr/>
        </p:nvSpPr>
        <p:spPr>
          <a:xfrm>
            <a:off x="4471416" y="2286000"/>
            <a:ext cx="3246120" cy="2606040"/>
          </a:xfrm>
          <a:prstGeom prst="roundRect">
            <a:avLst>
              <a:gd name="adj" fmla="val 2807"/>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BUILD</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A “developer” agent wrote the code one small task at a time — 28 tasks, each with its own done-checklist and automated checks.</a:t>
            </a:r>
            <a:endParaRPr lang="en-US" sz="1500" dirty="0"/>
          </a:p>
          <a:p>
            <a:pPr algn="l" indent="0" marL="0">
              <a:buNone/>
            </a:pPr>
            <a:endParaRPr lang="en-US" sz="1500" dirty="0"/>
          </a:p>
          <a:p>
            <a:pPr algn="l" indent="0" marL="0">
              <a:buNone/>
            </a:pPr>
            <a:r>
              <a:rPr lang="en-US" sz="1400" b="1" dirty="0">
                <a:solidFill>
                  <a:srgbClr val="1D4ED8"/>
                </a:solidFill>
                <a:latin typeface="Arial" pitchFamily="34" charset="0"/>
                <a:ea typeface="Arial" pitchFamily="34" charset="-122"/>
                <a:cs typeface="Arial" pitchFamily="34" charset="-120"/>
              </a:rPr>
              <a:t>7 phases · 28 tasks · 35 checks</a:t>
            </a:r>
            <a:endParaRPr lang="en-US" sz="1500" dirty="0"/>
          </a:p>
        </p:txBody>
      </p:sp>
      <p:sp>
        <p:nvSpPr>
          <p:cNvPr id="8" name="Text 5"/>
          <p:cNvSpPr/>
          <p:nvPr/>
        </p:nvSpPr>
        <p:spPr>
          <a:xfrm>
            <a:off x="8302752" y="2286000"/>
            <a:ext cx="3246120" cy="2606040"/>
          </a:xfrm>
          <a:prstGeom prst="roundRect">
            <a:avLst>
              <a:gd name="adj" fmla="val 2807"/>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ATTACK</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A cast of AI reviewers argues over every change — a quality checker, a design critic, a fact-checker, one professional grump. I referee.</a:t>
            </a:r>
            <a:endParaRPr lang="en-US" sz="1500" dirty="0"/>
          </a:p>
          <a:p>
            <a:pPr algn="l" indent="0" marL="0">
              <a:buNone/>
            </a:pPr>
            <a:endParaRPr lang="en-US" sz="1500" dirty="0"/>
          </a:p>
          <a:p>
            <a:pPr algn="l" indent="0" marL="0">
              <a:buNone/>
            </a:pPr>
            <a:r>
              <a:rPr lang="en-US" sz="1400" b="1" dirty="0">
                <a:solidFill>
                  <a:srgbClr val="1D4ED8"/>
                </a:solidFill>
                <a:latin typeface="Arial" pitchFamily="34" charset="0"/>
                <a:ea typeface="Arial" pitchFamily="34" charset="-122"/>
                <a:cs typeface="Arial" pitchFamily="34" charset="-120"/>
              </a:rPr>
              <a:t>every change gets reviewed</a:t>
            </a:r>
            <a:endParaRPr lang="en-US" sz="1500" dirty="0"/>
          </a:p>
        </p:txBody>
      </p:sp>
      <p:sp>
        <p:nvSpPr>
          <p:cNvPr id="9" name="Text 6"/>
          <p:cNvSpPr/>
          <p:nvPr/>
        </p:nvSpPr>
        <p:spPr>
          <a:xfrm>
            <a:off x="3950208" y="3337560"/>
            <a:ext cx="457200" cy="457200"/>
          </a:xfrm>
          <a:prstGeom prst="rect">
            <a:avLst/>
          </a:prstGeom>
          <a:noFill/>
          <a:ln/>
        </p:spPr>
        <p:txBody>
          <a:bodyPr wrap="square" lIns="0" tIns="0" rIns="0" bIns="0" rtlCol="0" anchor="ctr"/>
          <a:lstStyle/>
          <a:p>
            <a:pPr algn="ctr" indent="0" marL="0">
              <a:buNone/>
            </a:pPr>
            <a:r>
              <a:rPr lang="en-US" sz="2400" b="1" dirty="0">
                <a:solidFill>
                  <a:srgbClr val="1D4ED8"/>
                </a:solidFill>
                <a:latin typeface="Arial" pitchFamily="34" charset="0"/>
                <a:ea typeface="Arial" pitchFamily="34" charset="-122"/>
                <a:cs typeface="Arial" pitchFamily="34" charset="-120"/>
              </a:rPr>
              <a:t>→</a:t>
            </a:r>
            <a:endParaRPr lang="en-US" sz="2400" dirty="0"/>
          </a:p>
        </p:txBody>
      </p:sp>
      <p:sp>
        <p:nvSpPr>
          <p:cNvPr id="10" name="Text 7"/>
          <p:cNvSpPr/>
          <p:nvPr/>
        </p:nvSpPr>
        <p:spPr>
          <a:xfrm>
            <a:off x="7781544" y="3337560"/>
            <a:ext cx="457200" cy="457200"/>
          </a:xfrm>
          <a:prstGeom prst="rect">
            <a:avLst/>
          </a:prstGeom>
          <a:noFill/>
          <a:ln/>
        </p:spPr>
        <p:txBody>
          <a:bodyPr wrap="square" lIns="0" tIns="0" rIns="0" bIns="0" rtlCol="0" anchor="ctr"/>
          <a:lstStyle/>
          <a:p>
            <a:pPr algn="ctr" indent="0" marL="0">
              <a:buNone/>
            </a:pPr>
            <a:r>
              <a:rPr lang="en-US" sz="2400" b="1" dirty="0">
                <a:solidFill>
                  <a:srgbClr val="1D4ED8"/>
                </a:solidFill>
                <a:latin typeface="Arial" pitchFamily="34" charset="0"/>
                <a:ea typeface="Arial" pitchFamily="34" charset="-122"/>
                <a:cs typeface="Arial" pitchFamily="34" charset="-120"/>
              </a:rPr>
              <a:t>→</a:t>
            </a:r>
            <a:endParaRPr lang="en-US" sz="2400" dirty="0"/>
          </a:p>
        </p:txBody>
      </p:sp>
      <p:sp>
        <p:nvSpPr>
          <p:cNvPr id="11" name="Shape 8"/>
          <p:cNvSpPr/>
          <p:nvPr/>
        </p:nvSpPr>
        <p:spPr>
          <a:xfrm>
            <a:off x="640080" y="5138928"/>
            <a:ext cx="10911535" cy="12802"/>
          </a:xfrm>
          <a:prstGeom prst="rect">
            <a:avLst/>
          </a:prstGeom>
          <a:solidFill>
            <a:srgbClr val="DDE5F2"/>
          </a:solidFill>
          <a:ln/>
        </p:spPr>
      </p:sp>
      <p:sp>
        <p:nvSpPr>
          <p:cNvPr id="12" name="Text 9"/>
          <p:cNvSpPr/>
          <p:nvPr/>
        </p:nvSpPr>
        <p:spPr>
          <a:xfrm>
            <a:off x="640080" y="5303520"/>
            <a:ext cx="10911535" cy="2743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The rule that mattered most —</a:t>
            </a:r>
            <a:endParaRPr lang="en-US" sz="1500" dirty="0"/>
          </a:p>
        </p:txBody>
      </p:sp>
      <p:sp>
        <p:nvSpPr>
          <p:cNvPr id="13" name="Text 10"/>
          <p:cNvSpPr/>
          <p:nvPr/>
        </p:nvSpPr>
        <p:spPr>
          <a:xfrm>
            <a:off x="640080" y="5596128"/>
            <a:ext cx="10911535" cy="411480"/>
          </a:xfrm>
          <a:prstGeom prst="rect">
            <a:avLst/>
          </a:prstGeom>
          <a:noFill/>
          <a:ln/>
        </p:spPr>
        <p:txBody>
          <a:bodyPr wrap="square" lIns="0" tIns="0" rIns="0" bIns="0" rtlCol="0" anchor="t"/>
          <a:lstStyle/>
          <a:p>
            <a:pPr algn="l" indent="0" marL="0">
              <a:buNone/>
            </a:pPr>
            <a:r>
              <a:rPr lang="en-US" sz="2200" b="1" dirty="0">
                <a:solidFill>
                  <a:srgbClr val="1D4ED8"/>
                </a:solidFill>
                <a:latin typeface="Arial" pitchFamily="34" charset="0"/>
                <a:ea typeface="Arial" pitchFamily="34" charset="-122"/>
                <a:cs typeface="Arial" pitchFamily="34" charset="-120"/>
              </a:rPr>
              <a:t>“The AI never computes a number.”</a:t>
            </a:r>
            <a:endParaRPr lang="en-US" sz="1500" dirty="0"/>
          </a:p>
        </p:txBody>
      </p:sp>
      <p:sp>
        <p:nvSpPr>
          <p:cNvPr id="14" name="Text 11"/>
          <p:cNvSpPr/>
          <p:nvPr/>
        </p:nvSpPr>
        <p:spPr>
          <a:xfrm>
            <a:off x="640080" y="6035040"/>
            <a:ext cx="10058400" cy="457200"/>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AI helped design the formula — but the live site never asks an AI for a number. Arithmetic can be checked; an AI’s guess can’t.</a:t>
            </a:r>
            <a:endParaRPr lang="en-US" sz="1500" dirty="0"/>
          </a:p>
        </p:txBody>
      </p:sp>
      <p:sp>
        <p:nvSpPr>
          <p:cNvPr id="15" name="Text 12"/>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8</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PART 3 · THE LAUNCH</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Putting it on the internet: the three pieces</a:t>
            </a:r>
            <a:endParaRPr lang="en-US" sz="3000" dirty="0"/>
          </a:p>
        </p:txBody>
      </p:sp>
      <p:sp>
        <p:nvSpPr>
          <p:cNvPr id="5" name="Text 2"/>
          <p:cNvSpPr/>
          <p:nvPr/>
        </p:nvSpPr>
        <p:spPr>
          <a:xfrm>
            <a:off x="640080" y="1828800"/>
            <a:ext cx="10911535" cy="32004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“Hosting” just means: which computers serve your website to the world. I rent Amazon’s instead of running my own.</a:t>
            </a:r>
            <a:endParaRPr lang="en-US" sz="1500" dirty="0"/>
          </a:p>
        </p:txBody>
      </p:sp>
      <p:sp>
        <p:nvSpPr>
          <p:cNvPr id="6" name="Text 3"/>
          <p:cNvSpPr/>
          <p:nvPr/>
        </p:nvSpPr>
        <p:spPr>
          <a:xfrm>
            <a:off x="640080" y="2286000"/>
            <a:ext cx="3246120" cy="2331720"/>
          </a:xfrm>
          <a:prstGeom prst="roundRect">
            <a:avLst>
              <a:gd name="adj" fmla="val 3137"/>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THE CODE</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Lives on GitHub — a site where programmers keep their projects. My code there is just text files: instructions for a website, not a running one.</a:t>
            </a:r>
            <a:endParaRPr lang="en-US" sz="1500" dirty="0"/>
          </a:p>
        </p:txBody>
      </p:sp>
      <p:sp>
        <p:nvSpPr>
          <p:cNvPr id="7" name="Text 4"/>
          <p:cNvSpPr/>
          <p:nvPr/>
        </p:nvSpPr>
        <p:spPr>
          <a:xfrm>
            <a:off x="4471416" y="2286000"/>
            <a:ext cx="3246120" cy="2331720"/>
          </a:xfrm>
          <a:prstGeom prst="roundRect">
            <a:avLst>
              <a:gd name="adj" fmla="val 3137"/>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THE ENGINE</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AWS Amplify watches my GitHub. When I save a change, it follows those instructions, assembles the actual web pages, and runs them on Amazon’s computers.</a:t>
            </a:r>
            <a:endParaRPr lang="en-US" sz="1500" dirty="0"/>
          </a:p>
        </p:txBody>
      </p:sp>
      <p:sp>
        <p:nvSpPr>
          <p:cNvPr id="8" name="Text 5"/>
          <p:cNvSpPr/>
          <p:nvPr/>
        </p:nvSpPr>
        <p:spPr>
          <a:xfrm>
            <a:off x="8302752" y="2286000"/>
            <a:ext cx="3246120" cy="2331720"/>
          </a:xfrm>
          <a:prstGeom prst="roundRect">
            <a:avLst>
              <a:gd name="adj" fmla="val 3137"/>
            </a:avLst>
          </a:prstGeom>
          <a:solidFill>
            <a:srgbClr val="EFF3FB"/>
          </a:solidFill>
          <a:ln w="12700">
            <a:solidFill>
              <a:srgbClr val="DDE5F2"/>
            </a:solidFill>
          </a:ln>
        </p:spPr>
        <p:txBody>
          <a:bodyPr wrap="square" lIns="203200" tIns="203200" rIns="203200" bIns="203200" rtlCol="0" anchor="t"/>
          <a:lstStyle/>
          <a:p>
            <a:pPr algn="l" indent="0" marL="0">
              <a:buNone/>
            </a:pPr>
            <a:r>
              <a:rPr lang="en-US" sz="1900" b="1" spc="200" kern="0" dirty="0">
                <a:solidFill>
                  <a:srgbClr val="1D4ED8"/>
                </a:solidFill>
                <a:latin typeface="Arial" pitchFamily="34" charset="0"/>
                <a:ea typeface="Arial" pitchFamily="34" charset="-122"/>
                <a:cs typeface="Arial" pitchFamily="34" charset="-120"/>
              </a:rPr>
              <a:t>THE ADDRESS</a:t>
            </a:r>
            <a:endParaRPr lang="en-US" sz="1500" dirty="0"/>
          </a:p>
          <a:p>
            <a:pPr algn="l" indent="0" marL="0">
              <a:buNone/>
            </a:pPr>
            <a:endParaRPr lang="en-US" sz="1500" dirty="0"/>
          </a:p>
          <a:p>
            <a:pPr algn="l" indent="0" marL="0">
              <a:buNone/>
            </a:pPr>
            <a:r>
              <a:rPr lang="en-US" sz="1500" dirty="0">
                <a:solidFill>
                  <a:srgbClr val="0F172A"/>
                </a:solidFill>
                <a:latin typeface="Arial" pitchFamily="34" charset="0"/>
                <a:ea typeface="Arial" pitchFamily="34" charset="-122"/>
                <a:cs typeface="Arial" pitchFamily="34" charset="-120"/>
              </a:rPr>
              <a:t>Route 53 is the internet’s phone book: it turns the name ashleylibasci.com into the location of those computers. CloudFront keeps copies worldwide, for speed.</a:t>
            </a:r>
            <a:endParaRPr lang="en-US" sz="1500" dirty="0"/>
          </a:p>
        </p:txBody>
      </p:sp>
      <p:sp>
        <p:nvSpPr>
          <p:cNvPr id="9" name="Text 6"/>
          <p:cNvSpPr/>
          <p:nvPr/>
        </p:nvSpPr>
        <p:spPr>
          <a:xfrm>
            <a:off x="3950208" y="3154680"/>
            <a:ext cx="457200" cy="457200"/>
          </a:xfrm>
          <a:prstGeom prst="rect">
            <a:avLst/>
          </a:prstGeom>
          <a:noFill/>
          <a:ln/>
        </p:spPr>
        <p:txBody>
          <a:bodyPr wrap="square" lIns="0" tIns="0" rIns="0" bIns="0" rtlCol="0" anchor="ctr"/>
          <a:lstStyle/>
          <a:p>
            <a:pPr algn="ctr" indent="0" marL="0">
              <a:buNone/>
            </a:pPr>
            <a:r>
              <a:rPr lang="en-US" sz="2400" b="1" dirty="0">
                <a:solidFill>
                  <a:srgbClr val="1D4ED8"/>
                </a:solidFill>
                <a:latin typeface="Arial" pitchFamily="34" charset="0"/>
                <a:ea typeface="Arial" pitchFamily="34" charset="-122"/>
                <a:cs typeface="Arial" pitchFamily="34" charset="-120"/>
              </a:rPr>
              <a:t>→</a:t>
            </a:r>
            <a:endParaRPr lang="en-US" sz="2400" dirty="0"/>
          </a:p>
        </p:txBody>
      </p:sp>
      <p:sp>
        <p:nvSpPr>
          <p:cNvPr id="10" name="Text 7"/>
          <p:cNvSpPr/>
          <p:nvPr/>
        </p:nvSpPr>
        <p:spPr>
          <a:xfrm>
            <a:off x="7781544" y="3154680"/>
            <a:ext cx="457200" cy="457200"/>
          </a:xfrm>
          <a:prstGeom prst="rect">
            <a:avLst/>
          </a:prstGeom>
          <a:noFill/>
          <a:ln/>
        </p:spPr>
        <p:txBody>
          <a:bodyPr wrap="square" lIns="0" tIns="0" rIns="0" bIns="0" rtlCol="0" anchor="ctr"/>
          <a:lstStyle/>
          <a:p>
            <a:pPr algn="ctr" indent="0" marL="0">
              <a:buNone/>
            </a:pPr>
            <a:r>
              <a:rPr lang="en-US" sz="2400" b="1" dirty="0">
                <a:solidFill>
                  <a:srgbClr val="1D4ED8"/>
                </a:solidFill>
                <a:latin typeface="Arial" pitchFamily="34" charset="0"/>
                <a:ea typeface="Arial" pitchFamily="34" charset="-122"/>
                <a:cs typeface="Arial" pitchFamily="34" charset="-120"/>
              </a:rPr>
              <a:t>→</a:t>
            </a:r>
            <a:endParaRPr lang="en-US" sz="2400" dirty="0"/>
          </a:p>
        </p:txBody>
      </p:sp>
      <p:sp>
        <p:nvSpPr>
          <p:cNvPr id="11" name="Shape 8"/>
          <p:cNvSpPr/>
          <p:nvPr/>
        </p:nvSpPr>
        <p:spPr>
          <a:xfrm>
            <a:off x="640080" y="4937760"/>
            <a:ext cx="10911535" cy="12802"/>
          </a:xfrm>
          <a:prstGeom prst="rect">
            <a:avLst/>
          </a:prstGeom>
          <a:solidFill>
            <a:srgbClr val="DDE5F2"/>
          </a:solidFill>
          <a:ln/>
        </p:spPr>
      </p:sp>
      <p:sp>
        <p:nvSpPr>
          <p:cNvPr id="12" name="Text 9"/>
          <p:cNvSpPr/>
          <p:nvPr/>
        </p:nvSpPr>
        <p:spPr>
          <a:xfrm>
            <a:off x="640080" y="5166360"/>
            <a:ext cx="10911535" cy="365760"/>
          </a:xfrm>
          <a:prstGeom prst="rect">
            <a:avLst/>
          </a:prstGeom>
          <a:noFill/>
          <a:ln/>
        </p:spPr>
        <p:txBody>
          <a:bodyPr wrap="square" lIns="0" tIns="0" rIns="0" bIns="0" rtlCol="0" anchor="t"/>
          <a:lstStyle/>
          <a:p>
            <a:pPr algn="l" indent="0" marL="0">
              <a:buNone/>
            </a:pPr>
            <a:r>
              <a:rPr lang="en-US" sz="1600" b="1" dirty="0">
                <a:solidFill>
                  <a:srgbClr val="0F172A"/>
                </a:solidFill>
                <a:latin typeface="Arial" pitchFamily="34" charset="0"/>
                <a:ea typeface="Arial" pitchFamily="34" charset="-122"/>
                <a:cs typeface="Arial" pitchFamily="34" charset="-120"/>
              </a:rPr>
              <a:t>No servers to babysit, nothing to patch at 2 a.m. — Amazon handles that part, I handle my code.</a:t>
            </a:r>
            <a:endParaRPr lang="en-US" sz="1500" dirty="0"/>
          </a:p>
        </p:txBody>
      </p:sp>
      <p:sp>
        <p:nvSpPr>
          <p:cNvPr id="13" name="Text 10"/>
          <p:cNvSpPr/>
          <p:nvPr/>
        </p:nvSpPr>
        <p:spPr>
          <a:xfrm>
            <a:off x="640080" y="5623560"/>
            <a:ext cx="10911535" cy="365760"/>
          </a:xfrm>
          <a:prstGeom prst="rect">
            <a:avLst/>
          </a:prstGeom>
          <a:noFill/>
          <a:ln/>
        </p:spPr>
        <p:txBody>
          <a:bodyPr wrap="square" lIns="0" tIns="0" rIns="0" bIns="0" rtlCol="0" anchor="t"/>
          <a:lstStyle/>
          <a:p>
            <a:pPr algn="l" indent="0" marL="0">
              <a:buNone/>
            </a:pPr>
            <a:r>
              <a:rPr lang="en-US" sz="1400" i="1" dirty="0">
                <a:solidFill>
                  <a:srgbClr val="64748B"/>
                </a:solidFill>
                <a:latin typeface="Arial" pitchFamily="34" charset="0"/>
                <a:ea typeface="Arial" pitchFamily="34" charset="-122"/>
                <a:cs typeface="Arial" pitchFamily="34" charset="-120"/>
              </a:rPr>
              <a:t>This setup is most of what the AWS Cloud Practitioner exam covers — I’m studying for it now, and this project made the flashcards real.</a:t>
            </a:r>
            <a:endParaRPr lang="en-US" sz="1500" dirty="0"/>
          </a:p>
        </p:txBody>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9</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PART 3 · THE LAUNCH</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Want your own site? Here’s the whole recipe</a:t>
            </a:r>
            <a:endParaRPr lang="en-US" sz="3000" dirty="0"/>
          </a:p>
        </p:txBody>
      </p:sp>
      <p:sp>
        <p:nvSpPr>
          <p:cNvPr id="5" name="Text 2"/>
          <p:cNvSpPr/>
          <p:nvPr/>
        </p:nvSpPr>
        <p:spPr>
          <a:xfrm>
            <a:off x="640080" y="2075688"/>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1</a:t>
            </a:r>
            <a:endParaRPr lang="en-US" sz="1500" dirty="0"/>
          </a:p>
        </p:txBody>
      </p:sp>
      <p:sp>
        <p:nvSpPr>
          <p:cNvPr id="6" name="Text 3"/>
          <p:cNvSpPr/>
          <p:nvPr/>
        </p:nvSpPr>
        <p:spPr>
          <a:xfrm>
            <a:off x="1234440" y="2103120"/>
            <a:ext cx="2651760" cy="68580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Put your code on GitHub</a:t>
            </a:r>
            <a:endParaRPr lang="en-US" sz="1500" dirty="0"/>
          </a:p>
        </p:txBody>
      </p:sp>
      <p:sp>
        <p:nvSpPr>
          <p:cNvPr id="7" name="Text 4"/>
          <p:cNvSpPr/>
          <p:nvPr/>
        </p:nvSpPr>
        <p:spPr>
          <a:xfrm>
            <a:off x="4023360" y="2121408"/>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It’s free. Your project lives there, and it becomes the one true copy that Amazon watches.</a:t>
            </a:r>
            <a:endParaRPr lang="en-US" sz="1500" dirty="0"/>
          </a:p>
        </p:txBody>
      </p:sp>
      <p:sp>
        <p:nvSpPr>
          <p:cNvPr id="8" name="Shape 5"/>
          <p:cNvSpPr/>
          <p:nvPr/>
        </p:nvSpPr>
        <p:spPr>
          <a:xfrm>
            <a:off x="640080" y="2871216"/>
            <a:ext cx="10911535" cy="12802"/>
          </a:xfrm>
          <a:prstGeom prst="rect">
            <a:avLst/>
          </a:prstGeom>
          <a:solidFill>
            <a:srgbClr val="DDE5F2"/>
          </a:solidFill>
          <a:ln/>
        </p:spPr>
      </p:sp>
      <p:sp>
        <p:nvSpPr>
          <p:cNvPr id="9" name="Text 6"/>
          <p:cNvSpPr/>
          <p:nvPr/>
        </p:nvSpPr>
        <p:spPr>
          <a:xfrm>
            <a:off x="640080" y="3026664"/>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2</a:t>
            </a:r>
            <a:endParaRPr lang="en-US" sz="1500" dirty="0"/>
          </a:p>
        </p:txBody>
      </p:sp>
      <p:sp>
        <p:nvSpPr>
          <p:cNvPr id="10" name="Text 7"/>
          <p:cNvSpPr/>
          <p:nvPr/>
        </p:nvSpPr>
        <p:spPr>
          <a:xfrm>
            <a:off x="1234440" y="3054096"/>
            <a:ext cx="2651760" cy="68580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Connect AWS Amplify</a:t>
            </a:r>
            <a:endParaRPr lang="en-US" sz="1500" dirty="0"/>
          </a:p>
        </p:txBody>
      </p:sp>
      <p:sp>
        <p:nvSpPr>
          <p:cNvPr id="11" name="Text 8"/>
          <p:cNvSpPr/>
          <p:nvPr/>
        </p:nvSpPr>
        <p:spPr>
          <a:xfrm>
            <a:off x="4023360" y="3072384"/>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Point Amplify at your GitHub once. After that, every change you save goes live on its own — no servers to set up, ever.</a:t>
            </a:r>
            <a:endParaRPr lang="en-US" sz="1500" dirty="0"/>
          </a:p>
        </p:txBody>
      </p:sp>
      <p:sp>
        <p:nvSpPr>
          <p:cNvPr id="12" name="Shape 9"/>
          <p:cNvSpPr/>
          <p:nvPr/>
        </p:nvSpPr>
        <p:spPr>
          <a:xfrm>
            <a:off x="640080" y="3822192"/>
            <a:ext cx="10911535" cy="12802"/>
          </a:xfrm>
          <a:prstGeom prst="rect">
            <a:avLst/>
          </a:prstGeom>
          <a:solidFill>
            <a:srgbClr val="DDE5F2"/>
          </a:solidFill>
          <a:ln/>
        </p:spPr>
      </p:sp>
      <p:sp>
        <p:nvSpPr>
          <p:cNvPr id="13" name="Text 10"/>
          <p:cNvSpPr/>
          <p:nvPr/>
        </p:nvSpPr>
        <p:spPr>
          <a:xfrm>
            <a:off x="640080" y="3977640"/>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3</a:t>
            </a:r>
            <a:endParaRPr lang="en-US" sz="1500" dirty="0"/>
          </a:p>
        </p:txBody>
      </p:sp>
      <p:sp>
        <p:nvSpPr>
          <p:cNvPr id="14" name="Text 11"/>
          <p:cNvSpPr/>
          <p:nvPr/>
        </p:nvSpPr>
        <p:spPr>
          <a:xfrm>
            <a:off x="1234440" y="4005072"/>
            <a:ext cx="2651760" cy="68580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Add your own domain</a:t>
            </a:r>
            <a:endParaRPr lang="en-US" sz="1500" dirty="0"/>
          </a:p>
        </p:txBody>
      </p:sp>
      <p:sp>
        <p:nvSpPr>
          <p:cNvPr id="15" name="Text 12"/>
          <p:cNvSpPr/>
          <p:nvPr/>
        </p:nvSpPr>
        <p:spPr>
          <a:xfrm>
            <a:off x="4023360" y="4023360"/>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Buy a name you like, point it using Route 53, and Amplify sets up the padlock icon (the security certificate) for you.</a:t>
            </a:r>
            <a:endParaRPr lang="en-US" sz="1500" dirty="0"/>
          </a:p>
        </p:txBody>
      </p:sp>
      <p:sp>
        <p:nvSpPr>
          <p:cNvPr id="16" name="Shape 13"/>
          <p:cNvSpPr/>
          <p:nvPr/>
        </p:nvSpPr>
        <p:spPr>
          <a:xfrm>
            <a:off x="640080" y="4773168"/>
            <a:ext cx="10911535" cy="12802"/>
          </a:xfrm>
          <a:prstGeom prst="rect">
            <a:avLst/>
          </a:prstGeom>
          <a:solidFill>
            <a:srgbClr val="DDE5F2"/>
          </a:solidFill>
          <a:ln/>
        </p:spPr>
      </p:sp>
      <p:sp>
        <p:nvSpPr>
          <p:cNvPr id="17" name="Text 14"/>
          <p:cNvSpPr/>
          <p:nvPr/>
        </p:nvSpPr>
        <p:spPr>
          <a:xfrm>
            <a:off x="640080" y="4928616"/>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4</a:t>
            </a:r>
            <a:endParaRPr lang="en-US" sz="1500" dirty="0"/>
          </a:p>
        </p:txBody>
      </p:sp>
      <p:sp>
        <p:nvSpPr>
          <p:cNvPr id="18" name="Text 15"/>
          <p:cNvSpPr/>
          <p:nvPr/>
        </p:nvSpPr>
        <p:spPr>
          <a:xfrm>
            <a:off x="1234440" y="4956048"/>
            <a:ext cx="2651760" cy="68580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Then test it like a stranger</a:t>
            </a:r>
            <a:endParaRPr lang="en-US" sz="1500" dirty="0"/>
          </a:p>
        </p:txBody>
      </p:sp>
      <p:sp>
        <p:nvSpPr>
          <p:cNvPr id="19" name="Text 16"/>
          <p:cNvSpPr/>
          <p:nvPr/>
        </p:nvSpPr>
        <p:spPr>
          <a:xfrm>
            <a:off x="4023360" y="4974336"/>
            <a:ext cx="7525512" cy="68580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The real internet behaves differently than your laptop. My spam protection passed every test at home — and never fired once out in the real world.</a:t>
            </a:r>
            <a:endParaRPr lang="en-US" sz="1500" dirty="0"/>
          </a:p>
        </p:txBody>
      </p:sp>
      <p:sp>
        <p:nvSpPr>
          <p:cNvPr id="20" name="Shape 17"/>
          <p:cNvSpPr/>
          <p:nvPr/>
        </p:nvSpPr>
        <p:spPr>
          <a:xfrm>
            <a:off x="640080" y="5724144"/>
            <a:ext cx="10911535" cy="12802"/>
          </a:xfrm>
          <a:prstGeom prst="rect">
            <a:avLst/>
          </a:prstGeom>
          <a:solidFill>
            <a:srgbClr val="DDE5F2"/>
          </a:solidFill>
          <a:ln/>
        </p:spPr>
      </p:sp>
      <p:sp>
        <p:nvSpPr>
          <p:cNvPr id="21" name="Text 18"/>
          <p:cNvSpPr/>
          <p:nvPr/>
        </p:nvSpPr>
        <p:spPr>
          <a:xfrm>
            <a:off x="640080" y="5989320"/>
            <a:ext cx="10911535" cy="411480"/>
          </a:xfrm>
          <a:prstGeom prst="rect">
            <a:avLst/>
          </a:prstGeom>
          <a:noFill/>
          <a:ln/>
        </p:spPr>
        <p:txBody>
          <a:bodyPr wrap="square" lIns="0" tIns="0" rIns="0" bIns="0" rtlCol="0" anchor="t"/>
          <a:lstStyle/>
          <a:p>
            <a:pPr algn="ctr" indent="0" marL="0">
              <a:buNone/>
            </a:pPr>
            <a:r>
              <a:rPr lang="en-US" sz="1700" b="1" dirty="0">
                <a:solidFill>
                  <a:srgbClr val="0F172A"/>
                </a:solidFill>
                <a:latin typeface="Arial" pitchFamily="34" charset="0"/>
                <a:ea typeface="Arial" pitchFamily="34" charset="-122"/>
                <a:cs typeface="Arial" pitchFamily="34" charset="-120"/>
              </a:rPr>
              <a:t>Setting this up taught me more about AWS than the practice exams did.</a:t>
            </a:r>
            <a:endParaRPr lang="en-US" sz="1500" dirty="0"/>
          </a:p>
        </p:txBody>
      </p:sp>
      <p:sp>
        <p:nvSpPr>
          <p:cNvPr id="22" name="Text 19"/>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201168" cy="210312"/>
          </a:xfrm>
          <a:prstGeom prst="rect">
            <a:avLst/>
          </a:prstGeom>
        </p:spPr>
      </p:pic>
      <p:sp>
        <p:nvSpPr>
          <p:cNvPr id="3" name="Text 0"/>
          <p:cNvSpPr/>
          <p:nvPr>
            <p:ph idx="100"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E8EEFC"/>
                </a:solidFill>
                <a:latin typeface="Arial" pitchFamily="34" charset="0"/>
                <a:ea typeface="Arial" pitchFamily="34" charset="-122"/>
                <a:cs typeface="Arial" pitchFamily="34" charset="-120"/>
              </a:rPr>
              <a:t>What I’d tell you to steal</a:t>
            </a:r>
            <a:endParaRPr lang="en-US" sz="3000" dirty="0"/>
          </a:p>
        </p:txBody>
      </p:sp>
      <p:sp>
        <p:nvSpPr>
          <p:cNvPr id="4" name="Text 1"/>
          <p:cNvSpPr/>
          <p:nvPr/>
        </p:nvSpPr>
        <p:spPr>
          <a:xfrm>
            <a:off x="640080" y="2194560"/>
            <a:ext cx="6949440" cy="384048"/>
          </a:xfrm>
          <a:prstGeom prst="rect">
            <a:avLst/>
          </a:prstGeom>
          <a:noFill/>
          <a:ln/>
        </p:spPr>
        <p:txBody>
          <a:bodyPr wrap="square" lIns="0" tIns="0" rIns="0" bIns="0" rtlCol="0" anchor="t"/>
          <a:lstStyle/>
          <a:p>
            <a:pPr algn="l" indent="0" marL="0">
              <a:buNone/>
            </a:pPr>
            <a:r>
              <a:rPr lang="en-US" sz="2000" b="1" dirty="0">
                <a:solidFill>
                  <a:srgbClr val="E8EEFC"/>
                </a:solidFill>
                <a:latin typeface="Arial" pitchFamily="34" charset="0"/>
                <a:ea typeface="Arial" pitchFamily="34" charset="-122"/>
                <a:cs typeface="Arial" pitchFamily="34" charset="-120"/>
              </a:rPr>
              <a:t>Write the plan before the prompt</a:t>
            </a:r>
            <a:endParaRPr lang="en-US" sz="1500" dirty="0"/>
          </a:p>
        </p:txBody>
      </p:sp>
      <p:sp>
        <p:nvSpPr>
          <p:cNvPr id="5" name="Text 2"/>
          <p:cNvSpPr/>
          <p:nvPr/>
        </p:nvSpPr>
        <p:spPr>
          <a:xfrm>
            <a:off x="640080" y="2615184"/>
            <a:ext cx="6949440" cy="36576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the discipline, not the AI, is what made this work</a:t>
            </a:r>
            <a:endParaRPr lang="en-US" sz="1500" dirty="0"/>
          </a:p>
        </p:txBody>
      </p:sp>
      <p:sp>
        <p:nvSpPr>
          <p:cNvPr id="6" name="Shape 3"/>
          <p:cNvSpPr/>
          <p:nvPr/>
        </p:nvSpPr>
        <p:spPr>
          <a:xfrm>
            <a:off x="640080" y="3108960"/>
            <a:ext cx="6949440" cy="12802"/>
          </a:xfrm>
          <a:prstGeom prst="rect">
            <a:avLst/>
          </a:prstGeom>
          <a:solidFill>
            <a:srgbClr val="24325C"/>
          </a:solidFill>
          <a:ln/>
        </p:spPr>
      </p:sp>
      <p:sp>
        <p:nvSpPr>
          <p:cNvPr id="7" name="Text 4"/>
          <p:cNvSpPr/>
          <p:nvPr/>
        </p:nvSpPr>
        <p:spPr>
          <a:xfrm>
            <a:off x="640080" y="3364992"/>
            <a:ext cx="6949440" cy="384048"/>
          </a:xfrm>
          <a:prstGeom prst="rect">
            <a:avLst/>
          </a:prstGeom>
          <a:noFill/>
          <a:ln/>
        </p:spPr>
        <p:txBody>
          <a:bodyPr wrap="square" lIns="0" tIns="0" rIns="0" bIns="0" rtlCol="0" anchor="t"/>
          <a:lstStyle/>
          <a:p>
            <a:pPr algn="l" indent="0" marL="0">
              <a:buNone/>
            </a:pPr>
            <a:r>
              <a:rPr lang="en-US" sz="2000" b="1" dirty="0">
                <a:solidFill>
                  <a:srgbClr val="E8EEFC"/>
                </a:solidFill>
                <a:latin typeface="Arial" pitchFamily="34" charset="0"/>
                <a:ea typeface="Arial" pitchFamily="34" charset="-122"/>
                <a:cs typeface="Arial" pitchFamily="34" charset="-120"/>
              </a:rPr>
              <a:t>Admit what your model gets wrong</a:t>
            </a:r>
            <a:endParaRPr lang="en-US" sz="1500" dirty="0"/>
          </a:p>
        </p:txBody>
      </p:sp>
      <p:sp>
        <p:nvSpPr>
          <p:cNvPr id="8" name="Text 5"/>
          <p:cNvSpPr/>
          <p:nvPr/>
        </p:nvSpPr>
        <p:spPr>
          <a:xfrm>
            <a:off x="640080" y="3785616"/>
            <a:ext cx="6949440" cy="36576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the awkward numbers earned more trust than the good ones</a:t>
            </a:r>
            <a:endParaRPr lang="en-US" sz="1500" dirty="0"/>
          </a:p>
        </p:txBody>
      </p:sp>
      <p:sp>
        <p:nvSpPr>
          <p:cNvPr id="9" name="Shape 6"/>
          <p:cNvSpPr/>
          <p:nvPr/>
        </p:nvSpPr>
        <p:spPr>
          <a:xfrm>
            <a:off x="640080" y="4279392"/>
            <a:ext cx="6949440" cy="12802"/>
          </a:xfrm>
          <a:prstGeom prst="rect">
            <a:avLst/>
          </a:prstGeom>
          <a:solidFill>
            <a:srgbClr val="24325C"/>
          </a:solidFill>
          <a:ln/>
        </p:spPr>
      </p:sp>
      <p:sp>
        <p:nvSpPr>
          <p:cNvPr id="10" name="Text 7"/>
          <p:cNvSpPr/>
          <p:nvPr/>
        </p:nvSpPr>
        <p:spPr>
          <a:xfrm>
            <a:off x="640080" y="4535424"/>
            <a:ext cx="6949440" cy="384048"/>
          </a:xfrm>
          <a:prstGeom prst="rect">
            <a:avLst/>
          </a:prstGeom>
          <a:noFill/>
          <a:ln/>
        </p:spPr>
        <p:txBody>
          <a:bodyPr wrap="square" lIns="0" tIns="0" rIns="0" bIns="0" rtlCol="0" anchor="t"/>
          <a:lstStyle/>
          <a:p>
            <a:pPr algn="l" indent="0" marL="0">
              <a:buNone/>
            </a:pPr>
            <a:r>
              <a:rPr lang="en-US" sz="2000" b="1" dirty="0">
                <a:solidFill>
                  <a:srgbClr val="E8EEFC"/>
                </a:solidFill>
                <a:latin typeface="Arial" pitchFamily="34" charset="0"/>
                <a:ea typeface="Arial" pitchFamily="34" charset="-122"/>
                <a:cs typeface="Arial" pitchFamily="34" charset="-120"/>
              </a:rPr>
              <a:t>Pick tools that make rigor fun — mine was BMAD</a:t>
            </a:r>
            <a:endParaRPr lang="en-US" sz="1500" dirty="0"/>
          </a:p>
        </p:txBody>
      </p:sp>
      <p:sp>
        <p:nvSpPr>
          <p:cNvPr id="11" name="Text 8"/>
          <p:cNvSpPr/>
          <p:nvPr/>
        </p:nvSpPr>
        <p:spPr>
          <a:xfrm>
            <a:off x="640080" y="4956048"/>
            <a:ext cx="6949440" cy="365760"/>
          </a:xfrm>
          <a:prstGeom prst="rect">
            <a:avLst/>
          </a:prstGeom>
          <a:noFill/>
          <a:ln/>
        </p:spPr>
        <p:txBody>
          <a:bodyPr wrap="square" lIns="0" tIns="0" rIns="0" bIns="0" rtlCol="0" anchor="t"/>
          <a:lstStyle/>
          <a:p>
            <a:pPr algn="l" indent="0" marL="0">
              <a:buNone/>
            </a:pPr>
            <a:r>
              <a:rPr lang="en-US" sz="1500" dirty="0">
                <a:solidFill>
                  <a:srgbClr val="9DB0D9"/>
                </a:solidFill>
                <a:latin typeface="Arial" pitchFamily="34" charset="0"/>
                <a:ea typeface="Arial" pitchFamily="34" charset="-122"/>
                <a:cs typeface="Arial" pitchFamily="34" charset="-120"/>
              </a:rPr>
              <a:t>review you enjoy is review you’ll actually do</a:t>
            </a:r>
            <a:endParaRPr lang="en-US" sz="1500" dirty="0"/>
          </a:p>
        </p:txBody>
      </p:sp>
      <p:sp>
        <p:nvSpPr>
          <p:cNvPr id="12" name="Shape 9"/>
          <p:cNvSpPr/>
          <p:nvPr/>
        </p:nvSpPr>
        <p:spPr>
          <a:xfrm>
            <a:off x="640080" y="5449824"/>
            <a:ext cx="6949440" cy="12802"/>
          </a:xfrm>
          <a:prstGeom prst="rect">
            <a:avLst/>
          </a:prstGeom>
          <a:solidFill>
            <a:srgbClr val="24325C"/>
          </a:solidFill>
          <a:ln/>
        </p:spPr>
      </p:sp>
      <p:sp>
        <p:nvSpPr>
          <p:cNvPr id="13" name="Text 10"/>
          <p:cNvSpPr/>
          <p:nvPr/>
        </p:nvSpPr>
        <p:spPr>
          <a:xfrm>
            <a:off x="8092440" y="2194560"/>
            <a:ext cx="3456432" cy="3108960"/>
          </a:xfrm>
          <a:prstGeom prst="roundRect">
            <a:avLst>
              <a:gd name="adj" fmla="val 2353"/>
            </a:avLst>
          </a:prstGeom>
          <a:solidFill>
            <a:srgbClr val="101A38"/>
          </a:solidFill>
          <a:ln w="12700">
            <a:solidFill>
              <a:srgbClr val="24325C"/>
            </a:solidFill>
          </a:ln>
        </p:spPr>
        <p:txBody>
          <a:bodyPr wrap="square" lIns="228600" tIns="228600" rIns="228600" bIns="228600" rtlCol="0" anchor="t"/>
          <a:lstStyle/>
          <a:p>
            <a:pPr algn="l" indent="0" marL="0">
              <a:buNone/>
            </a:pPr>
            <a:r>
              <a:rPr lang="en-US" sz="4400" b="1" dirty="0">
                <a:solidFill>
                  <a:srgbClr val="FFFFFF"/>
                </a:solidFill>
                <a:latin typeface="Arial" pitchFamily="34" charset="0"/>
                <a:ea typeface="Arial" pitchFamily="34" charset="-122"/>
                <a:cs typeface="Arial" pitchFamily="34" charset="-120"/>
              </a:rPr>
              <a:t>2034</a:t>
            </a:r>
            <a:endParaRPr lang="en-US" sz="1500" dirty="0"/>
          </a:p>
          <a:p>
            <a:pPr algn="l" indent="0" marL="0">
              <a:buNone/>
            </a:pPr>
            <a:endParaRPr lang="en-US" sz="1500" dirty="0"/>
          </a:p>
          <a:p>
            <a:pPr algn="l" indent="0" marL="0">
              <a:buNone/>
            </a:pPr>
            <a:r>
              <a:rPr lang="en-US" sz="1500" dirty="0">
                <a:solidFill>
                  <a:srgbClr val="9DB0D9"/>
                </a:solidFill>
                <a:latin typeface="Arial" pitchFamily="34" charset="0"/>
                <a:ea typeface="Arial" pitchFamily="34" charset="-122"/>
                <a:cs typeface="Arial" pitchFamily="34" charset="-120"/>
              </a:rPr>
              <a:t>My model makes bets about the next decade — so in 2034 I’ll grade them against what really happened, and publish it.</a:t>
            </a:r>
            <a:endParaRPr lang="en-US" sz="1500" dirty="0"/>
          </a:p>
          <a:p>
            <a:pPr algn="l" indent="0" marL="0">
              <a:buNone/>
            </a:pPr>
            <a:endParaRPr lang="en-US" sz="1500" dirty="0"/>
          </a:p>
          <a:p>
            <a:pPr algn="l" indent="0" marL="0">
              <a:buNone/>
            </a:pPr>
            <a:r>
              <a:rPr lang="en-US" sz="1500" b="1" i="1" dirty="0">
                <a:solidFill>
                  <a:srgbClr val="6EE7B7"/>
                </a:solidFill>
                <a:latin typeface="Arial" pitchFamily="34" charset="0"/>
                <a:ea typeface="Arial" pitchFamily="34" charset="-122"/>
                <a:cs typeface="Arial" pitchFamily="34" charset="-120"/>
              </a:rPr>
              <a:t>Ratings agencies should eat their own cooking.</a:t>
            </a:r>
            <a:endParaRPr lang="en-US" sz="1500" dirty="0"/>
          </a:p>
        </p:txBody>
      </p:sp>
      <p:sp>
        <p:nvSpPr>
          <p:cNvPr id="14" name="Shape 11"/>
          <p:cNvSpPr/>
          <p:nvPr/>
        </p:nvSpPr>
        <p:spPr>
          <a:xfrm>
            <a:off x="640080" y="5806440"/>
            <a:ext cx="10911535" cy="12802"/>
          </a:xfrm>
          <a:prstGeom prst="rect">
            <a:avLst/>
          </a:prstGeom>
          <a:solidFill>
            <a:srgbClr val="4F74F0"/>
          </a:solidFill>
          <a:ln/>
        </p:spPr>
      </p:sp>
      <p:sp>
        <p:nvSpPr>
          <p:cNvPr id="15" name="Text 12"/>
          <p:cNvSpPr/>
          <p:nvPr/>
        </p:nvSpPr>
        <p:spPr>
          <a:xfrm>
            <a:off x="640080" y="6035040"/>
            <a:ext cx="10911535" cy="411480"/>
          </a:xfrm>
          <a:prstGeom prst="rect">
            <a:avLst/>
          </a:prstGeom>
          <a:noFill/>
          <a:ln/>
        </p:spPr>
        <p:txBody>
          <a:bodyPr wrap="square" lIns="0" tIns="0" rIns="0" bIns="0" rtlCol="0" anchor="t"/>
          <a:lstStyle/>
          <a:p>
            <a:pPr algn="ctr" indent="0" marL="0">
              <a:buNone/>
            </a:pPr>
            <a:r>
              <a:rPr lang="en-US" sz="1500" dirty="0">
                <a:solidFill>
                  <a:srgbClr val="E8EEFC"/>
                </a:solidFill>
                <a:latin typeface="Arial" pitchFamily="34" charset="0"/>
                <a:ea typeface="Arial" pitchFamily="34" charset="-122"/>
                <a:cs typeface="Arial" pitchFamily="34" charset="-120"/>
              </a:rPr>
              <a:t>Thanks — questions?    ashleylibasci.com  ·  github.com/ashleylibasci/careerstar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2743200"/>
            <a:ext cx="10911535" cy="548640"/>
          </a:xfrm>
          <a:prstGeom prst="rect">
            <a:avLst/>
          </a:prstGeom>
          <a:noFill/>
          <a:ln/>
        </p:spPr>
        <p:txBody>
          <a:bodyPr wrap="square" lIns="0" tIns="0" rIns="0" bIns="0" rtlCol="0" anchor="t"/>
          <a:lstStyle/>
          <a:p>
            <a:pPr algn="ctr" indent="0" marL="0">
              <a:buNone/>
            </a:pPr>
            <a:r>
              <a:rPr lang="en-US" sz="3400" b="1" dirty="0">
                <a:solidFill>
                  <a:srgbClr val="0F172A"/>
                </a:solidFill>
                <a:latin typeface="Arial" pitchFamily="34" charset="0"/>
                <a:ea typeface="Arial" pitchFamily="34" charset="-122"/>
                <a:cs typeface="Arial" pitchFamily="34" charset="-120"/>
              </a:rPr>
              <a:t>That’s the talk.</a:t>
            </a:r>
            <a:endParaRPr lang="en-US" sz="1500" dirty="0"/>
          </a:p>
        </p:txBody>
      </p:sp>
      <p:sp>
        <p:nvSpPr>
          <p:cNvPr id="3" name="Text 1"/>
          <p:cNvSpPr/>
          <p:nvPr/>
        </p:nvSpPr>
        <p:spPr>
          <a:xfrm>
            <a:off x="2468880" y="3429000"/>
            <a:ext cx="7251192" cy="548640"/>
          </a:xfrm>
          <a:prstGeom prst="rect">
            <a:avLst/>
          </a:prstGeom>
          <a:noFill/>
          <a:ln/>
        </p:spPr>
        <p:txBody>
          <a:bodyPr wrap="square" lIns="0" tIns="0" rIns="0" bIns="0" rtlCol="0" anchor="t"/>
          <a:lstStyle/>
          <a:p>
            <a:pPr algn="ctr" indent="0" marL="0">
              <a:buNone/>
            </a:pPr>
            <a:r>
              <a:rPr lang="en-US" sz="1600" dirty="0">
                <a:solidFill>
                  <a:srgbClr val="64748B"/>
                </a:solidFill>
                <a:latin typeface="Arial" pitchFamily="34" charset="0"/>
                <a:ea typeface="Arial" pitchFamily="34" charset="-122"/>
                <a:cs typeface="Arial" pitchFamily="34" charset="-120"/>
              </a:rPr>
              <a:t>The slides after this one are spares — answers I prepared in case someone asks. They’re not part of the presentation.</a:t>
            </a:r>
            <a:endParaRPr lang="en-US" sz="1500" dirty="0"/>
          </a:p>
        </p:txBody>
      </p:sp>
      <p:sp>
        <p:nvSpPr>
          <p:cNvPr id="4" name="Text 2"/>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12</a:t>
            </a:r>
            <a:endParaRPr lang="en-US" sz="1400" dirty="0"/>
          </a:p>
        </p:txBody>
      </p:sp>
      <p:sp>
        <p:nvSpPr>
          <p:cNvPr id="6"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endParaRPr lang="en-US" dirty="0"/>
          </a:p>
        </p:txBody>
      </p:sp>
      <p:sp>
        <p:nvSpPr>
          <p:cNvPr id="7" name="Text 0"/>
          <p:cNvSpPr/>
          <p:nvPr>
            <p:ph idx="101" type="title" hasCustomPrompt="1"/>
          </p:nvPr>
        </p:nvSpPr>
        <p:spPr>
          <a:xfrm>
            <a:off x="640080" y="841248"/>
            <a:ext cx="10908792" cy="914400"/>
          </a:xfrm>
          <a:prstGeom prst="rect">
            <a:avLst/>
          </a:prstGeom>
          <a:noFill/>
          <a:ln/>
        </p:spPr>
        <p:txBody>
          <a:bodyPr wrap="square" lIns="0" tIns="0" rIns="0" bIns="0" rtlCol="0"/>
          <a:lstStyle/>
          <a:p>
            <a:pPr indent="0" marL="0">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SPARE · ONLY IF SOMEONE ASKS</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3000" b="1" dirty="0">
                <a:solidFill>
                  <a:srgbClr val="0F172A"/>
                </a:solidFill>
                <a:latin typeface="Arial" pitchFamily="34" charset="0"/>
                <a:ea typeface="Arial" pitchFamily="34" charset="-122"/>
                <a:cs typeface="Arial" pitchFamily="34" charset="-120"/>
              </a:rPr>
              <a:t>The spam blocker that never blocked anyone</a:t>
            </a:r>
            <a:endParaRPr lang="en-US" sz="3000" dirty="0"/>
          </a:p>
        </p:txBody>
      </p:sp>
      <p:sp>
        <p:nvSpPr>
          <p:cNvPr id="5" name="Text 2"/>
          <p:cNvSpPr/>
          <p:nvPr/>
        </p:nvSpPr>
        <p:spPr>
          <a:xfrm>
            <a:off x="640080" y="2075688"/>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1</a:t>
            </a:r>
            <a:endParaRPr lang="en-US" sz="1500" dirty="0"/>
          </a:p>
        </p:txBody>
      </p:sp>
      <p:sp>
        <p:nvSpPr>
          <p:cNvPr id="6" name="Text 3"/>
          <p:cNvSpPr/>
          <p:nvPr/>
        </p:nvSpPr>
        <p:spPr>
          <a:xfrm>
            <a:off x="1234440" y="2103120"/>
            <a:ext cx="2651760" cy="68580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What I built</a:t>
            </a:r>
            <a:endParaRPr lang="en-US" sz="1500" dirty="0"/>
          </a:p>
        </p:txBody>
      </p:sp>
      <p:sp>
        <p:nvSpPr>
          <p:cNvPr id="7" name="Text 4"/>
          <p:cNvSpPr/>
          <p:nvPr/>
        </p:nvSpPr>
        <p:spPr>
          <a:xfrm>
            <a:off x="4023360" y="2121408"/>
            <a:ext cx="7525512" cy="777240"/>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A limit on how fast any one visitor can hit the site — standard protection against spam and abuse. It keys off each visitor’s network address.</a:t>
            </a:r>
            <a:endParaRPr lang="en-US" sz="1500" dirty="0"/>
          </a:p>
        </p:txBody>
      </p:sp>
      <p:sp>
        <p:nvSpPr>
          <p:cNvPr id="8" name="Shape 5"/>
          <p:cNvSpPr/>
          <p:nvPr/>
        </p:nvSpPr>
        <p:spPr>
          <a:xfrm>
            <a:off x="640080" y="2944368"/>
            <a:ext cx="10911535" cy="12802"/>
          </a:xfrm>
          <a:prstGeom prst="rect">
            <a:avLst/>
          </a:prstGeom>
          <a:solidFill>
            <a:srgbClr val="DDE5F2"/>
          </a:solidFill>
          <a:ln/>
        </p:spPr>
      </p:sp>
      <p:sp>
        <p:nvSpPr>
          <p:cNvPr id="9" name="Text 6"/>
          <p:cNvSpPr/>
          <p:nvPr/>
        </p:nvSpPr>
        <p:spPr>
          <a:xfrm>
            <a:off x="640080" y="3099816"/>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2</a:t>
            </a:r>
            <a:endParaRPr lang="en-US" sz="1500" dirty="0"/>
          </a:p>
        </p:txBody>
      </p:sp>
      <p:sp>
        <p:nvSpPr>
          <p:cNvPr id="10" name="Text 7"/>
          <p:cNvSpPr/>
          <p:nvPr/>
        </p:nvSpPr>
        <p:spPr>
          <a:xfrm>
            <a:off x="1234440" y="3127248"/>
            <a:ext cx="2651760" cy="68580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What actually happened</a:t>
            </a:r>
            <a:endParaRPr lang="en-US" sz="1500" dirty="0"/>
          </a:p>
        </p:txBody>
      </p:sp>
      <p:sp>
        <p:nvSpPr>
          <p:cNvPr id="11" name="Text 8"/>
          <p:cNvSpPr/>
          <p:nvPr/>
        </p:nvSpPr>
        <p:spPr>
          <a:xfrm>
            <a:off x="4023360" y="3145536"/>
            <a:ext cx="7525512" cy="777240"/>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Out on the real internet: 30 rapid-fire requests, zero blocked. Every request looked like a brand-new visitor.</a:t>
            </a:r>
            <a:endParaRPr lang="en-US" sz="1500" dirty="0"/>
          </a:p>
        </p:txBody>
      </p:sp>
      <p:sp>
        <p:nvSpPr>
          <p:cNvPr id="12" name="Shape 9"/>
          <p:cNvSpPr/>
          <p:nvPr/>
        </p:nvSpPr>
        <p:spPr>
          <a:xfrm>
            <a:off x="640080" y="3968496"/>
            <a:ext cx="10911535" cy="12802"/>
          </a:xfrm>
          <a:prstGeom prst="rect">
            <a:avLst/>
          </a:prstGeom>
          <a:solidFill>
            <a:srgbClr val="DDE5F2"/>
          </a:solidFill>
          <a:ln/>
        </p:spPr>
      </p:sp>
      <p:sp>
        <p:nvSpPr>
          <p:cNvPr id="13" name="Text 10"/>
          <p:cNvSpPr/>
          <p:nvPr/>
        </p:nvSpPr>
        <p:spPr>
          <a:xfrm>
            <a:off x="640080" y="4123944"/>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3</a:t>
            </a:r>
            <a:endParaRPr lang="en-US" sz="1500" dirty="0"/>
          </a:p>
        </p:txBody>
      </p:sp>
      <p:sp>
        <p:nvSpPr>
          <p:cNvPr id="14" name="Text 11"/>
          <p:cNvSpPr/>
          <p:nvPr/>
        </p:nvSpPr>
        <p:spPr>
          <a:xfrm>
            <a:off x="1234440" y="4151376"/>
            <a:ext cx="2651760" cy="68580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Why</a:t>
            </a:r>
            <a:endParaRPr lang="en-US" sz="1500" dirty="0"/>
          </a:p>
        </p:txBody>
      </p:sp>
      <p:sp>
        <p:nvSpPr>
          <p:cNvPr id="15" name="Text 12"/>
          <p:cNvSpPr/>
          <p:nvPr/>
        </p:nvSpPr>
        <p:spPr>
          <a:xfrm>
            <a:off x="4023360" y="4169664"/>
            <a:ext cx="7525512" cy="777240"/>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Amazon’s own machinery sits between visitors and my site, and it stamps its own address onto every request — in the exact spot my code was reading. I was rate-limiting Amazon, not the visitor.</a:t>
            </a:r>
            <a:endParaRPr lang="en-US" sz="1500" dirty="0"/>
          </a:p>
        </p:txBody>
      </p:sp>
      <p:sp>
        <p:nvSpPr>
          <p:cNvPr id="16" name="Shape 13"/>
          <p:cNvSpPr/>
          <p:nvPr/>
        </p:nvSpPr>
        <p:spPr>
          <a:xfrm>
            <a:off x="640080" y="4992624"/>
            <a:ext cx="10911535" cy="12802"/>
          </a:xfrm>
          <a:prstGeom prst="rect">
            <a:avLst/>
          </a:prstGeom>
          <a:solidFill>
            <a:srgbClr val="DDE5F2"/>
          </a:solidFill>
          <a:ln/>
        </p:spPr>
      </p:sp>
      <p:sp>
        <p:nvSpPr>
          <p:cNvPr id="17" name="Text 14"/>
          <p:cNvSpPr/>
          <p:nvPr/>
        </p:nvSpPr>
        <p:spPr>
          <a:xfrm>
            <a:off x="640080" y="5148072"/>
            <a:ext cx="457200" cy="457200"/>
          </a:xfrm>
          <a:prstGeom prst="rect">
            <a:avLst/>
          </a:prstGeom>
          <a:noFill/>
          <a:ln/>
        </p:spPr>
        <p:txBody>
          <a:bodyPr wrap="square" lIns="0" tIns="0" rIns="0" bIns="0" rtlCol="0" anchor="t"/>
          <a:lstStyle/>
          <a:p>
            <a:pPr algn="l" indent="0" marL="0">
              <a:buNone/>
            </a:pPr>
            <a:r>
              <a:rPr lang="en-US" sz="2600" b="1" dirty="0">
                <a:solidFill>
                  <a:srgbClr val="1D4ED8"/>
                </a:solidFill>
                <a:latin typeface="Arial" pitchFamily="34" charset="0"/>
                <a:ea typeface="Arial" pitchFamily="34" charset="-122"/>
                <a:cs typeface="Arial" pitchFamily="34" charset="-120"/>
              </a:rPr>
              <a:t>4</a:t>
            </a:r>
            <a:endParaRPr lang="en-US" sz="1500" dirty="0"/>
          </a:p>
        </p:txBody>
      </p:sp>
      <p:sp>
        <p:nvSpPr>
          <p:cNvPr id="18" name="Text 15"/>
          <p:cNvSpPr/>
          <p:nvPr/>
        </p:nvSpPr>
        <p:spPr>
          <a:xfrm>
            <a:off x="1234440" y="5175504"/>
            <a:ext cx="2651760" cy="685800"/>
          </a:xfrm>
          <a:prstGeom prst="rect">
            <a:avLst/>
          </a:prstGeom>
          <a:noFill/>
          <a:ln/>
        </p:spPr>
        <p:txBody>
          <a:bodyPr wrap="square" lIns="0" tIns="0" rIns="0" bIns="0" rtlCol="0" anchor="t"/>
          <a:lstStyle/>
          <a:p>
            <a:pPr algn="l" indent="0" marL="0">
              <a:buNone/>
            </a:pPr>
            <a:r>
              <a:rPr lang="en-US" sz="1700" b="1" dirty="0">
                <a:solidFill>
                  <a:srgbClr val="0F172A"/>
                </a:solidFill>
                <a:latin typeface="Arial" pitchFamily="34" charset="0"/>
                <a:ea typeface="Arial" pitchFamily="34" charset="-122"/>
                <a:cs typeface="Arial" pitchFamily="34" charset="-120"/>
              </a:rPr>
              <a:t>The fix</a:t>
            </a:r>
            <a:endParaRPr lang="en-US" sz="1500" dirty="0"/>
          </a:p>
        </p:txBody>
      </p:sp>
      <p:sp>
        <p:nvSpPr>
          <p:cNvPr id="19" name="Text 16"/>
          <p:cNvSpPr/>
          <p:nvPr/>
        </p:nvSpPr>
        <p:spPr>
          <a:xfrm>
            <a:off x="4023360" y="5193792"/>
            <a:ext cx="7525512" cy="777240"/>
          </a:xfrm>
          <a:prstGeom prst="rect">
            <a:avLst/>
          </a:prstGeom>
          <a:noFill/>
          <a:ln/>
        </p:spPr>
        <p:txBody>
          <a:bodyPr wrap="square" lIns="0" tIns="0" rIns="0" bIns="0" rtlCol="0" anchor="t"/>
          <a:lstStyle/>
          <a:p>
            <a:pPr algn="l" indent="0" marL="0">
              <a:buNone/>
            </a:pPr>
            <a:r>
              <a:rPr lang="en-US" sz="1400" dirty="0">
                <a:solidFill>
                  <a:srgbClr val="64748B"/>
                </a:solidFill>
                <a:latin typeface="Arial" pitchFamily="34" charset="0"/>
                <a:ea typeface="Arial" pitchFamily="34" charset="-122"/>
                <a:cs typeface="Arial" pitchFamily="34" charset="-120"/>
              </a:rPr>
              <a:t>Read the address from the right spot, add an overall cap as a safety net, and add an automated check so it can never silently break that way again.</a:t>
            </a:r>
            <a:endParaRPr lang="en-US" sz="1500" dirty="0"/>
          </a:p>
        </p:txBody>
      </p:sp>
      <p:sp>
        <p:nvSpPr>
          <p:cNvPr id="20" name="Shape 17"/>
          <p:cNvSpPr/>
          <p:nvPr/>
        </p:nvSpPr>
        <p:spPr>
          <a:xfrm>
            <a:off x="640080" y="6016752"/>
            <a:ext cx="10911535" cy="12802"/>
          </a:xfrm>
          <a:prstGeom prst="rect">
            <a:avLst/>
          </a:prstGeom>
          <a:solidFill>
            <a:srgbClr val="DDE5F2"/>
          </a:solidFill>
          <a:ln/>
        </p:spPr>
      </p:sp>
      <p:sp>
        <p:nvSpPr>
          <p:cNvPr id="21" name="Text 18"/>
          <p:cNvSpPr/>
          <p:nvPr/>
        </p:nvSpPr>
        <p:spPr>
          <a:xfrm>
            <a:off x="640080" y="6263640"/>
            <a:ext cx="10911535" cy="365760"/>
          </a:xfrm>
          <a:prstGeom prst="rect">
            <a:avLst/>
          </a:prstGeom>
          <a:noFill/>
          <a:ln/>
        </p:spPr>
        <p:txBody>
          <a:bodyPr wrap="square" lIns="0" tIns="0" rIns="0" bIns="0" rtlCol="0" anchor="t"/>
          <a:lstStyle/>
          <a:p>
            <a:pPr algn="ctr" indent="0" marL="0">
              <a:buNone/>
            </a:pPr>
            <a:r>
              <a:rPr lang="en-US" sz="1700" b="1" dirty="0">
                <a:solidFill>
                  <a:srgbClr val="1D4ED8"/>
                </a:solidFill>
                <a:latin typeface="Arial" pitchFamily="34" charset="0"/>
                <a:ea typeface="Arial" pitchFamily="34" charset="-122"/>
                <a:cs typeface="Arial" pitchFamily="34" charset="-120"/>
              </a:rPr>
              <a:t>Practice exams don’t teach you this. Production does.</a:t>
            </a:r>
            <a:endParaRPr lang="en-US" sz="1500" dirty="0"/>
          </a:p>
        </p:txBody>
      </p:sp>
      <p:sp>
        <p:nvSpPr>
          <p:cNvPr id="22" name="Text 19"/>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13</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SPARE · ONLY IF SOMEONE ASKS</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2800" b="1" dirty="0">
                <a:solidFill>
                  <a:srgbClr val="0F172A"/>
                </a:solidFill>
                <a:latin typeface="Arial" pitchFamily="34" charset="0"/>
                <a:ea typeface="Arial" pitchFamily="34" charset="-122"/>
                <a:cs typeface="Arial" pitchFamily="34" charset="-120"/>
              </a:rPr>
              <a:t>About those judgment-call numbers</a:t>
            </a:r>
            <a:endParaRPr lang="en-US" sz="2800" dirty="0"/>
          </a:p>
        </p:txBody>
      </p:sp>
      <p:sp>
        <p:nvSpPr>
          <p:cNvPr id="5" name="Text 2"/>
          <p:cNvSpPr/>
          <p:nvPr/>
        </p:nvSpPr>
        <p:spPr>
          <a:xfrm>
            <a:off x="640080" y="2148840"/>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“Why 0.7 and not 0.6?”</a:t>
            </a:r>
            <a:endParaRPr lang="en-US" sz="1500" dirty="0"/>
          </a:p>
        </p:txBody>
      </p:sp>
      <p:sp>
        <p:nvSpPr>
          <p:cNvPr id="6" name="Text 3"/>
          <p:cNvSpPr/>
          <p:nvPr/>
        </p:nvSpPr>
        <p:spPr>
          <a:xfrm>
            <a:off x="640080" y="2560320"/>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Honest answer: I had to pick something, and there’s no data on “correct” career choices to tune against. So the site calls it a judgment call out loud, and stress-tests it — 729 re-scores with the numbers wiggled, five rival formulas, and “close call” labels whenever the answer flips.</a:t>
            </a:r>
            <a:endParaRPr lang="en-US" sz="1500" dirty="0"/>
          </a:p>
        </p:txBody>
      </p:sp>
      <p:sp>
        <p:nvSpPr>
          <p:cNvPr id="7" name="Shape 4"/>
          <p:cNvSpPr/>
          <p:nvPr/>
        </p:nvSpPr>
        <p:spPr>
          <a:xfrm>
            <a:off x="640080" y="3337560"/>
            <a:ext cx="10911535" cy="12802"/>
          </a:xfrm>
          <a:prstGeom prst="rect">
            <a:avLst/>
          </a:prstGeom>
          <a:solidFill>
            <a:srgbClr val="DDE5F2"/>
          </a:solidFill>
          <a:ln/>
        </p:spPr>
      </p:sp>
      <p:sp>
        <p:nvSpPr>
          <p:cNvPr id="8" name="Text 5"/>
          <p:cNvSpPr/>
          <p:nvPr/>
        </p:nvSpPr>
        <p:spPr>
          <a:xfrm>
            <a:off x="640080" y="3538728"/>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“How do the stars work?”</a:t>
            </a:r>
            <a:endParaRPr lang="en-US" sz="1500" dirty="0"/>
          </a:p>
        </p:txBody>
      </p:sp>
      <p:sp>
        <p:nvSpPr>
          <p:cNvPr id="9" name="Text 6"/>
          <p:cNvSpPr/>
          <p:nvPr/>
        </p:nvSpPr>
        <p:spPr>
          <a:xfrm>
            <a:off x="640080" y="3950208"/>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A forced curve, borrowed from how Morningstar rates funds: the top 10% of careers get five stars, the next 22.5% get four, and so on — recomputed live under whatever settings you choose.</a:t>
            </a:r>
            <a:endParaRPr lang="en-US" sz="1500" dirty="0"/>
          </a:p>
        </p:txBody>
      </p:sp>
      <p:sp>
        <p:nvSpPr>
          <p:cNvPr id="10" name="Shape 7"/>
          <p:cNvSpPr/>
          <p:nvPr/>
        </p:nvSpPr>
        <p:spPr>
          <a:xfrm>
            <a:off x="640080" y="4727448"/>
            <a:ext cx="10911535" cy="12802"/>
          </a:xfrm>
          <a:prstGeom prst="rect">
            <a:avLst/>
          </a:prstGeom>
          <a:solidFill>
            <a:srgbClr val="DDE5F2"/>
          </a:solidFill>
          <a:ln/>
        </p:spPr>
      </p:sp>
      <p:sp>
        <p:nvSpPr>
          <p:cNvPr id="11" name="Text 8"/>
          <p:cNvSpPr/>
          <p:nvPr/>
        </p:nvSpPr>
        <p:spPr>
          <a:xfrm>
            <a:off x="640080" y="4928616"/>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“Isn’t ‘AI risk’ just another word for ‘declining job’?”</a:t>
            </a:r>
            <a:endParaRPr lang="en-US" sz="1500" dirty="0"/>
          </a:p>
        </p:txBody>
      </p:sp>
      <p:sp>
        <p:nvSpPr>
          <p:cNvPr id="12" name="Text 9"/>
          <p:cNvSpPr/>
          <p:nvPr/>
        </p:nvSpPr>
        <p:spPr>
          <a:xfrm>
            <a:off x="640080" y="5340096"/>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Surprisingly, no. Across all 730 careers, AI exposure and projected growth are nearly unrelated — a job can be growing fast and still be very automatable. The AI number knows something growth doesn’t.</a:t>
            </a:r>
            <a:endParaRPr lang="en-US" sz="1500" dirty="0"/>
          </a:p>
        </p:txBody>
      </p:sp>
      <p:sp>
        <p:nvSpPr>
          <p:cNvPr id="13" name="Shape 10"/>
          <p:cNvSpPr/>
          <p:nvPr/>
        </p:nvSpPr>
        <p:spPr>
          <a:xfrm>
            <a:off x="640080" y="6117336"/>
            <a:ext cx="10911535" cy="12802"/>
          </a:xfrm>
          <a:prstGeom prst="rect">
            <a:avLst/>
          </a:prstGeom>
          <a:solidFill>
            <a:srgbClr val="DDE5F2"/>
          </a:solidFill>
          <a:ln/>
        </p:spPr>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14</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SPARE · ONLY IF SOMEONE ASKS</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2800" b="1" dirty="0">
                <a:solidFill>
                  <a:srgbClr val="0F172A"/>
                </a:solidFill>
                <a:latin typeface="Arial" pitchFamily="34" charset="0"/>
                <a:ea typeface="Arial" pitchFamily="34" charset="-122"/>
                <a:cs typeface="Arial" pitchFamily="34" charset="-120"/>
              </a:rPr>
              <a:t>Did the formula actually work? I tested it on the past</a:t>
            </a:r>
            <a:endParaRPr lang="en-US" sz="2800" dirty="0"/>
          </a:p>
        </p:txBody>
      </p:sp>
      <p:sp>
        <p:nvSpPr>
          <p:cNvPr id="5" name="Text 2"/>
          <p:cNvSpPr/>
          <p:nvPr/>
        </p:nvSpPr>
        <p:spPr>
          <a:xfrm>
            <a:off x="640080" y="2148840"/>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“What was the test?”</a:t>
            </a:r>
            <a:endParaRPr lang="en-US" sz="1500" dirty="0"/>
          </a:p>
        </p:txBody>
      </p:sp>
      <p:sp>
        <p:nvSpPr>
          <p:cNvPr id="6" name="Text 3"/>
          <p:cNvSpPr/>
          <p:nvPr/>
        </p:nvSpPr>
        <p:spPr>
          <a:xfrm>
            <a:off x="640080" y="2560320"/>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I dug the government’s 2014 job projections out of an internet archive, scored 2014’s job market with today’s formula, and graded it against what really happened by 2024 — 647 occupations.</a:t>
            </a:r>
            <a:endParaRPr lang="en-US" sz="1500" dirty="0"/>
          </a:p>
        </p:txBody>
      </p:sp>
      <p:sp>
        <p:nvSpPr>
          <p:cNvPr id="7" name="Shape 4"/>
          <p:cNvSpPr/>
          <p:nvPr/>
        </p:nvSpPr>
        <p:spPr>
          <a:xfrm>
            <a:off x="640080" y="3337560"/>
            <a:ext cx="10911535" cy="12802"/>
          </a:xfrm>
          <a:prstGeom prst="rect">
            <a:avLst/>
          </a:prstGeom>
          <a:solidFill>
            <a:srgbClr val="DDE5F2"/>
          </a:solidFill>
          <a:ln/>
        </p:spPr>
      </p:sp>
      <p:sp>
        <p:nvSpPr>
          <p:cNvPr id="8" name="Text 5"/>
          <p:cNvSpPr/>
          <p:nvPr/>
        </p:nvSpPr>
        <p:spPr>
          <a:xfrm>
            <a:off x="640080" y="3538728"/>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“How did it do?”</a:t>
            </a:r>
            <a:endParaRPr lang="en-US" sz="1500" dirty="0"/>
          </a:p>
        </p:txBody>
      </p:sp>
      <p:sp>
        <p:nvSpPr>
          <p:cNvPr id="9" name="Text 6"/>
          <p:cNvSpPr/>
          <p:nvPr/>
        </p:nvSpPr>
        <p:spPr>
          <a:xfrm>
            <a:off x="640080" y="3950208"/>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Decent, honestly reported: it flagged 48% of the careers that truly declined (random guessing gets 33%). The government’s own plain projections narrowly beat my full formula — which makes sense, because my AI ingredient had nothing to price in 2014. Modern AI didn’t exist yet.</a:t>
            </a:r>
            <a:endParaRPr lang="en-US" sz="1500" dirty="0"/>
          </a:p>
        </p:txBody>
      </p:sp>
      <p:sp>
        <p:nvSpPr>
          <p:cNvPr id="10" name="Shape 7"/>
          <p:cNvSpPr/>
          <p:nvPr/>
        </p:nvSpPr>
        <p:spPr>
          <a:xfrm>
            <a:off x="640080" y="4727448"/>
            <a:ext cx="10911535" cy="12802"/>
          </a:xfrm>
          <a:prstGeom prst="rect">
            <a:avLst/>
          </a:prstGeom>
          <a:solidFill>
            <a:srgbClr val="DDE5F2"/>
          </a:solidFill>
          <a:ln/>
        </p:spPr>
      </p:sp>
      <p:sp>
        <p:nvSpPr>
          <p:cNvPr id="11" name="Text 8"/>
          <p:cNvSpPr/>
          <p:nvPr/>
        </p:nvSpPr>
        <p:spPr>
          <a:xfrm>
            <a:off x="640080" y="4928616"/>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“Any fine print?”</a:t>
            </a:r>
            <a:endParaRPr lang="en-US" sz="1500" dirty="0"/>
          </a:p>
        </p:txBody>
      </p:sp>
      <p:sp>
        <p:nvSpPr>
          <p:cNvPr id="12" name="Text 9"/>
          <p:cNvSpPr/>
          <p:nvPr/>
        </p:nvSpPr>
        <p:spPr>
          <a:xfrm>
            <a:off x="640080" y="5340096"/>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Yes, and it’s all published on the site: 2014 salary data wasn’t archived, so I used today’s salary order as a stand-in (it barely changes), and occupations that got reorganized between government coding systems drop out of the test.</a:t>
            </a:r>
            <a:endParaRPr lang="en-US" sz="1500" dirty="0"/>
          </a:p>
        </p:txBody>
      </p:sp>
      <p:sp>
        <p:nvSpPr>
          <p:cNvPr id="13" name="Shape 10"/>
          <p:cNvSpPr/>
          <p:nvPr/>
        </p:nvSpPr>
        <p:spPr>
          <a:xfrm>
            <a:off x="640080" y="6117336"/>
            <a:ext cx="10911535" cy="12802"/>
          </a:xfrm>
          <a:prstGeom prst="rect">
            <a:avLst/>
          </a:prstGeom>
          <a:solidFill>
            <a:srgbClr val="DDE5F2"/>
          </a:solidFill>
          <a:ln/>
        </p:spPr>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15</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SPARE · ONLY IF SOMEONE ASKS</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2800" b="1" dirty="0">
                <a:solidFill>
                  <a:srgbClr val="0F172A"/>
                </a:solidFill>
                <a:latin typeface="Arial" pitchFamily="34" charset="0"/>
                <a:ea typeface="Arial" pitchFamily="34" charset="-122"/>
                <a:cs typeface="Arial" pitchFamily="34" charset="-120"/>
              </a:rPr>
              <a:t>The nuts and bolts</a:t>
            </a:r>
            <a:endParaRPr lang="en-US" sz="2800" dirty="0"/>
          </a:p>
        </p:txBody>
      </p:sp>
      <p:sp>
        <p:nvSpPr>
          <p:cNvPr id="5" name="Text 2"/>
          <p:cNvSpPr/>
          <p:nvPr/>
        </p:nvSpPr>
        <p:spPr>
          <a:xfrm>
            <a:off x="640080" y="2148840"/>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“What’s it built with?”</a:t>
            </a:r>
            <a:endParaRPr lang="en-US" sz="1500" dirty="0"/>
          </a:p>
        </p:txBody>
      </p:sp>
      <p:sp>
        <p:nvSpPr>
          <p:cNvPr id="6" name="Text 3"/>
          <p:cNvSpPr/>
          <p:nvPr/>
        </p:nvSpPr>
        <p:spPr>
          <a:xfrm>
            <a:off x="640080" y="2560320"/>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Next.js and TypeScript (a popular toolkit for building websites), hosted on AWS Amplify. 35 automated checks on the scoring code, scripts that rebuild every dataset from the original sources, and all of it — code and data — public on GitHub.</a:t>
            </a:r>
            <a:endParaRPr lang="en-US" sz="1500" dirty="0"/>
          </a:p>
        </p:txBody>
      </p:sp>
      <p:sp>
        <p:nvSpPr>
          <p:cNvPr id="7" name="Shape 4"/>
          <p:cNvSpPr/>
          <p:nvPr/>
        </p:nvSpPr>
        <p:spPr>
          <a:xfrm>
            <a:off x="640080" y="3337560"/>
            <a:ext cx="10911535" cy="12802"/>
          </a:xfrm>
          <a:prstGeom prst="rect">
            <a:avLst/>
          </a:prstGeom>
          <a:solidFill>
            <a:srgbClr val="DDE5F2"/>
          </a:solidFill>
          <a:ln/>
        </p:spPr>
      </p:sp>
      <p:sp>
        <p:nvSpPr>
          <p:cNvPr id="8" name="Text 5"/>
          <p:cNvSpPr/>
          <p:nvPr/>
        </p:nvSpPr>
        <p:spPr>
          <a:xfrm>
            <a:off x="640080" y="3538728"/>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“What did the AI get wrong along the way?”</a:t>
            </a:r>
            <a:endParaRPr lang="en-US" sz="1500" dirty="0"/>
          </a:p>
        </p:txBody>
      </p:sp>
      <p:sp>
        <p:nvSpPr>
          <p:cNvPr id="9" name="Text 6"/>
          <p:cNvSpPr/>
          <p:nvPr/>
        </p:nvSpPr>
        <p:spPr>
          <a:xfrm>
            <a:off x="640080" y="3950208"/>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Plenty — that’s why the reviewer agents exist. The best catch: my own methodology page claimed the fit score worked in a fancier way than the code actually did. The reviewers caught it, we rebuilt it properly, and the story of the catch is now published on the site.</a:t>
            </a:r>
            <a:endParaRPr lang="en-US" sz="1500" dirty="0"/>
          </a:p>
        </p:txBody>
      </p:sp>
      <p:sp>
        <p:nvSpPr>
          <p:cNvPr id="10" name="Shape 7"/>
          <p:cNvSpPr/>
          <p:nvPr/>
        </p:nvSpPr>
        <p:spPr>
          <a:xfrm>
            <a:off x="640080" y="4727448"/>
            <a:ext cx="10911535" cy="12802"/>
          </a:xfrm>
          <a:prstGeom prst="rect">
            <a:avLst/>
          </a:prstGeom>
          <a:solidFill>
            <a:srgbClr val="DDE5F2"/>
          </a:solidFill>
          <a:ln/>
        </p:spPr>
      </p:sp>
      <p:sp>
        <p:nvSpPr>
          <p:cNvPr id="11" name="Text 8"/>
          <p:cNvSpPr/>
          <p:nvPr/>
        </p:nvSpPr>
        <p:spPr>
          <a:xfrm>
            <a:off x="640080" y="4928616"/>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“Does the big AI research back your AI ingredient?”</a:t>
            </a:r>
            <a:endParaRPr lang="en-US" sz="1500" dirty="0"/>
          </a:p>
        </p:txBody>
      </p:sp>
      <p:sp>
        <p:nvSpPr>
          <p:cNvPr id="12" name="Text 9"/>
          <p:cNvSpPr/>
          <p:nvPr/>
        </p:nvSpPr>
        <p:spPr>
          <a:xfrm>
            <a:off x="640080" y="5340096"/>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My AI-risk data comes from a published 2023 study. Anthropic’s 2026 research layered real-world AI usage on the same foundation and found it held up — consistent with what my scores assume.</a:t>
            </a:r>
            <a:endParaRPr lang="en-US" sz="1500" dirty="0"/>
          </a:p>
        </p:txBody>
      </p:sp>
      <p:sp>
        <p:nvSpPr>
          <p:cNvPr id="13" name="Shape 10"/>
          <p:cNvSpPr/>
          <p:nvPr/>
        </p:nvSpPr>
        <p:spPr>
          <a:xfrm>
            <a:off x="640080" y="6117336"/>
            <a:ext cx="10911535" cy="12802"/>
          </a:xfrm>
          <a:prstGeom prst="rect">
            <a:avLst/>
          </a:prstGeom>
          <a:solidFill>
            <a:srgbClr val="DDE5F2"/>
          </a:solidFill>
          <a:ln/>
        </p:spPr>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16</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02920"/>
            <a:ext cx="173736" cy="182880"/>
          </a:xfrm>
          <a:prstGeom prst="rect">
            <a:avLst/>
          </a:prstGeom>
        </p:spPr>
      </p:pic>
      <p:sp>
        <p:nvSpPr>
          <p:cNvPr id="3" name="Text 0"/>
          <p:cNvSpPr/>
          <p:nvPr>
            <p:ph idx="100" type="body" hasCustomPrompt="1"/>
          </p:nvPr>
        </p:nvSpPr>
        <p:spPr>
          <a:xfrm>
            <a:off x="896112" y="475488"/>
            <a:ext cx="10515600" cy="292608"/>
          </a:xfrm>
          <a:prstGeom prst="rect">
            <a:avLst/>
          </a:prstGeom>
          <a:noFill/>
          <a:ln/>
        </p:spPr>
        <p:txBody>
          <a:bodyPr wrap="square" lIns="0" tIns="0" rIns="0" bIns="0" rtlCol="0"/>
          <a:lstStyle/>
          <a:p>
            <a:pPr indent="0" marL="0">
              <a:buNone/>
            </a:pPr>
            <a:r>
              <a:rPr lang="en-US" sz="1400" b="1" spc="250" kern="0" dirty="0">
                <a:solidFill>
                  <a:srgbClr val="1D4ED8"/>
                </a:solidFill>
                <a:latin typeface="Arial" pitchFamily="34" charset="0"/>
                <a:ea typeface="Arial" pitchFamily="34" charset="-122"/>
                <a:cs typeface="Arial" pitchFamily="34" charset="-120"/>
              </a:rPr>
              <a:t>SPARE · ONLY IF SOMEONE ASKS</a:t>
            </a:r>
            <a:endParaRPr lang="en-US" sz="1400" dirty="0"/>
          </a:p>
        </p:txBody>
      </p:sp>
      <p:sp>
        <p:nvSpPr>
          <p:cNvPr id="4" name="Text 0"/>
          <p:cNvSpPr/>
          <p:nvPr>
            <p:ph idx="101" type="title" hasCustomPrompt="1"/>
          </p:nvPr>
        </p:nvSpPr>
        <p:spPr>
          <a:xfrm>
            <a:off x="640080" y="841248"/>
            <a:ext cx="10908792" cy="914400"/>
          </a:xfrm>
          <a:prstGeom prst="rect">
            <a:avLst/>
          </a:prstGeom>
          <a:noFill/>
          <a:ln/>
        </p:spPr>
        <p:txBody>
          <a:bodyPr wrap="square" lIns="0" tIns="0" rIns="0" bIns="0" rtlCol="0"/>
          <a:lstStyle/>
          <a:p>
            <a:pPr algn="l" indent="0" marL="0">
              <a:buNone/>
            </a:pPr>
            <a:r>
              <a:rPr lang="en-US" sz="2800" b="1" dirty="0">
                <a:solidFill>
                  <a:srgbClr val="0F172A"/>
                </a:solidFill>
                <a:latin typeface="Arial" pitchFamily="34" charset="0"/>
                <a:ea typeface="Arial" pitchFamily="34" charset="-122"/>
                <a:cs typeface="Arial" pitchFamily="34" charset="-120"/>
              </a:rPr>
              <a:t>BMAD, up close</a:t>
            </a:r>
            <a:endParaRPr lang="en-US" sz="2800" dirty="0"/>
          </a:p>
        </p:txBody>
      </p:sp>
      <p:sp>
        <p:nvSpPr>
          <p:cNvPr id="5" name="Text 2"/>
          <p:cNvSpPr/>
          <p:nvPr/>
        </p:nvSpPr>
        <p:spPr>
          <a:xfrm>
            <a:off x="640080" y="2148840"/>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“What does the framework actually leave behind?”</a:t>
            </a:r>
            <a:endParaRPr lang="en-US" sz="1500" dirty="0"/>
          </a:p>
        </p:txBody>
      </p:sp>
      <p:sp>
        <p:nvSpPr>
          <p:cNvPr id="6" name="Text 3"/>
          <p:cNvSpPr/>
          <p:nvPr/>
        </p:nvSpPr>
        <p:spPr>
          <a:xfrm>
            <a:off x="640080" y="2560320"/>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A paper trail in the project: the written plan, the architecture doc with its 7 rules, all 28 tasks with their done-checklists, a status file tracking every task to finished, and the reviewers’ arguments — saved as files.</a:t>
            </a:r>
            <a:endParaRPr lang="en-US" sz="1500" dirty="0"/>
          </a:p>
        </p:txBody>
      </p:sp>
      <p:sp>
        <p:nvSpPr>
          <p:cNvPr id="7" name="Shape 4"/>
          <p:cNvSpPr/>
          <p:nvPr/>
        </p:nvSpPr>
        <p:spPr>
          <a:xfrm>
            <a:off x="640080" y="3337560"/>
            <a:ext cx="10911535" cy="12802"/>
          </a:xfrm>
          <a:prstGeom prst="rect">
            <a:avLst/>
          </a:prstGeom>
          <a:solidFill>
            <a:srgbClr val="DDE5F2"/>
          </a:solidFill>
          <a:ln/>
        </p:spPr>
      </p:sp>
      <p:sp>
        <p:nvSpPr>
          <p:cNvPr id="8" name="Text 5"/>
          <p:cNvSpPr/>
          <p:nvPr/>
        </p:nvSpPr>
        <p:spPr>
          <a:xfrm>
            <a:off x="640080" y="3538728"/>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“Who are the reviewers?”</a:t>
            </a:r>
            <a:endParaRPr lang="en-US" sz="1500" dirty="0"/>
          </a:p>
        </p:txBody>
      </p:sp>
      <p:sp>
        <p:nvSpPr>
          <p:cNvPr id="9" name="Text 6"/>
          <p:cNvSpPr/>
          <p:nvPr/>
        </p:nvSpPr>
        <p:spPr>
          <a:xfrm>
            <a:off x="640080" y="3950208"/>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AI personas the framework convenes on every change — a hiring manager, a fact-checker, a copy chief, a quality lead, a design critic, and one professional grump. And yes: this very deck went through that room.</a:t>
            </a:r>
            <a:endParaRPr lang="en-US" sz="1500" dirty="0"/>
          </a:p>
        </p:txBody>
      </p:sp>
      <p:sp>
        <p:nvSpPr>
          <p:cNvPr id="10" name="Shape 7"/>
          <p:cNvSpPr/>
          <p:nvPr/>
        </p:nvSpPr>
        <p:spPr>
          <a:xfrm>
            <a:off x="640080" y="4727448"/>
            <a:ext cx="10911535" cy="12802"/>
          </a:xfrm>
          <a:prstGeom prst="rect">
            <a:avLst/>
          </a:prstGeom>
          <a:solidFill>
            <a:srgbClr val="DDE5F2"/>
          </a:solidFill>
          <a:ln/>
        </p:spPr>
      </p:sp>
      <p:sp>
        <p:nvSpPr>
          <p:cNvPr id="11" name="Text 8"/>
          <p:cNvSpPr/>
          <p:nvPr/>
        </p:nvSpPr>
        <p:spPr>
          <a:xfrm>
            <a:off x="640080" y="4928616"/>
            <a:ext cx="10911535" cy="365760"/>
          </a:xfrm>
          <a:prstGeom prst="rect">
            <a:avLst/>
          </a:prstGeom>
          <a:noFill/>
          <a:ln/>
        </p:spPr>
        <p:txBody>
          <a:bodyPr wrap="square" lIns="0" tIns="0" rIns="0" bIns="0" rtlCol="0" anchor="t"/>
          <a:lstStyle/>
          <a:p>
            <a:pPr algn="l" indent="0" marL="0">
              <a:buNone/>
            </a:pPr>
            <a:r>
              <a:rPr lang="en-US" sz="1700" b="1" dirty="0">
                <a:solidFill>
                  <a:srgbClr val="1D4ED8"/>
                </a:solidFill>
                <a:latin typeface="Arial" pitchFamily="34" charset="0"/>
                <a:ea typeface="Arial" pitchFamily="34" charset="-122"/>
                <a:cs typeface="Arial" pitchFamily="34" charset="-120"/>
              </a:rPr>
              <a:t>“Would you use it again?”</a:t>
            </a:r>
            <a:endParaRPr lang="en-US" sz="1500" dirty="0"/>
          </a:p>
        </p:txBody>
      </p:sp>
      <p:sp>
        <p:nvSpPr>
          <p:cNvPr id="12" name="Text 9"/>
          <p:cNvSpPr/>
          <p:nvPr/>
        </p:nvSpPr>
        <p:spPr>
          <a:xfrm>
            <a:off x="640080" y="5340096"/>
            <a:ext cx="10911535" cy="731520"/>
          </a:xfrm>
          <a:prstGeom prst="rect">
            <a:avLst/>
          </a:prstGeom>
          <a:noFill/>
          <a:ln/>
        </p:spPr>
        <p:txBody>
          <a:bodyPr wrap="square" lIns="0" tIns="0" rIns="0" bIns="0" rtlCol="0" anchor="t"/>
          <a:lstStyle/>
          <a:p>
            <a:pPr algn="l" indent="0" marL="0">
              <a:buNone/>
            </a:pPr>
            <a:r>
              <a:rPr lang="en-US" sz="1500" dirty="0">
                <a:solidFill>
                  <a:srgbClr val="64748B"/>
                </a:solidFill>
                <a:latin typeface="Arial" pitchFamily="34" charset="0"/>
                <a:ea typeface="Arial" pitchFamily="34" charset="-122"/>
                <a:cs typeface="Arial" pitchFamily="34" charset="-120"/>
              </a:rPr>
              <a:t>Yes. The habit is the transferable part — plan before prompt, hostile review before shipping — and that works with any AI tool. The framework just made the rigor feel like a game instead of a chore.</a:t>
            </a:r>
            <a:endParaRPr lang="en-US" sz="1500" dirty="0"/>
          </a:p>
        </p:txBody>
      </p:sp>
      <p:sp>
        <p:nvSpPr>
          <p:cNvPr id="13" name="Shape 10"/>
          <p:cNvSpPr/>
          <p:nvPr/>
        </p:nvSpPr>
        <p:spPr>
          <a:xfrm>
            <a:off x="640080" y="6117336"/>
            <a:ext cx="10911535" cy="12802"/>
          </a:xfrm>
          <a:prstGeom prst="rect">
            <a:avLst/>
          </a:prstGeom>
          <a:solidFill>
            <a:srgbClr val="DDE5F2"/>
          </a:solidFill>
          <a:ln/>
        </p:spPr>
      </p:sp>
      <p:sp>
        <p:nvSpPr>
          <p:cNvPr id="14" name="Text 11"/>
          <p:cNvSpPr/>
          <p:nvPr/>
        </p:nvSpPr>
        <p:spPr>
          <a:xfrm>
            <a:off x="11548872" y="6419088"/>
            <a:ext cx="365760" cy="274320"/>
          </a:xfrm>
          <a:prstGeom prst="rect">
            <a:avLst/>
          </a:prstGeom>
          <a:noFill/>
          <a:ln/>
        </p:spPr>
        <p:txBody>
          <a:bodyPr wrap="square" lIns="0" tIns="0" rIns="0" bIns="0" rtlCol="0" anchor="ctr"/>
          <a:lstStyle/>
          <a:p>
            <a:pPr algn="r" indent="0" marL="0">
              <a:buNone/>
            </a:pPr>
            <a:r>
              <a:rPr lang="en-US" sz="1400" dirty="0">
                <a:solidFill>
                  <a:srgbClr val="64748B"/>
                </a:solidFill>
                <a:latin typeface="Arial" pitchFamily="34" charset="0"/>
                <a:ea typeface="Arial" pitchFamily="34" charset="-122"/>
                <a:cs typeface="Arial" pitchFamily="34" charset="-120"/>
              </a:rPr>
              <a:t>17</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Rating careers like stocks — BMAD + AWS</dc:title>
  <dc:subject>PptxGenJS Presentation</dc:subject>
  <dc:creator>Ashley Libasci</dc:creator>
  <cp:lastModifiedBy>Ashley Libasci</cp:lastModifiedBy>
  <cp:revision>1</cp:revision>
  <dcterms:created xsi:type="dcterms:W3CDTF">2026-08-05T02:11:42Z</dcterms:created>
  <dcterms:modified xsi:type="dcterms:W3CDTF">2026-08-05T02:11:42Z</dcterms:modified>
</cp:coreProperties>
</file>