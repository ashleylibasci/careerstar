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Ashley. This summer I built a ratings agency for careers. The site's fine — but the part I actually want to show you is how it got built, because the workflow is more interesting than the product. Quick tour of the thing, then the build.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so the rest makes sense. Every U.S. occupation gets a 0-100 score, same shape as a risk-adjusted return. Stars on a forced curve, moats borrowed from Morningstar, and you can swap the scoring model live. That's the product. Now the actual talk.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people hear 'AI wrote most of my code' they picture vibe coding: prompt, paste, pray. This is the other school. The framework is BMAD — open source, agent-based — and the school it belongs to is spec-driven development: you write the contract first, then the AI codes against it. First project I've built with it, and it converted me. Next two slides are what it actually looks like.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phases, and every number on this slide is a file in the repo. Plan: the PM agent keeps asking why — my fluffy answers died in that interview, and the PRD was better than anything I'd have written alone. The architect locked seven invariants, and the big one: the LLM never computes a number. Build: seven epics, twenty-eight stories, thirty-five tests. Attack: next slide. (2:00)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BMAD calls this party mode, and it's the part that hooked me. Reviews aren't one agreeable AI saying 'great job' — they're personas with opposite priorities fighting it out, and I judge. Best catch: my own methodology page overclaimed how fit worked. Caught in review, rebuilt right, then published the story of the catch — now the strongest section of my case study. And yes — this deck went through the same room. Fun fact for Q&amp;A: that review caught a half-finished sentence on this very slide.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won't pretend AI didn't type most of this — that's the point. The difference isn't the tool. It's whether a spec exists before the prompt, tests after it, an adversarial pass before shipping, and a human who can defend every decision.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the product — this is how you'd size up a stock, asked about a career. What do you get: growth and pay, from BLS. What can kill it: AI, from published exposure research. Does it fit you: real skills data from O*NET. Three questions, three public datasets. Next: those sentences written down — and then the decisions that shaped the math.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top to bottom: what you get, what can kill it, discount one by the other, blend in fit. Don't defend the constants yet — that's the next slide's job. Just land that the whole model is four lines you can read aloud, and every ranking on the site comes from these four lines and nothing else.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for 'why this design over the obvious one.' Ranks, because you can't average a percent and dollars — and because the real question is versus your alternatives. Multiply, because subtracting risk lets a safe dead end win on safety alone. And priors, because there's nothing to fit on — no labeled dataset of correct career choices exists — so instead of pretending precision I declare the constants and stress-test them: 729 perturbations, five rival models, close calls labeled. If they remember one slide of math, make it this one.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I pulled the 2014 BLS projections from the Internet Archive, scored 2014's job market with today's formula, and graded it against what happened by 2024 — 647 occupations. It works: decliners flagged at 48% versus 33% by chance. Then I volunteer the awkward number before anyone asks: plain BLS beat my full model. And that's the model working — no LLMs existed, the AI term had nothing to price. Held out, never fitted.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 main, Amplify builds, CloudFront serves from the edge, Route 53 holds the domain. The whole pipeline is a git push. I'm studying for Cloud Practitioner, and this is where the flashcard concepts became real things I'd debugged. Speaking of shared responsibility — next slide is my favorite bug of the summer.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favorite bug. I did the textbook thing — trust the last X-Forwarded-For hop. Then production: thirty rapid requests, zero rate limits. Amplify's router was appending CloudFront's own edge IP after the real client IP, so the last hop was never the client. It was Amazon. Fix: second-to-last hop, global backstop, regression test pinning the exact header shapes. Forty seconds of story, a semester of networking.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worth stealing: write the spec before the prompt. Publish what your model gets wrong — the awkward numbers bought me more trust than the good ones. Pick tools that make rigor fun — mine was BMAD — because fun is load-bearing. And in 2034 I re-run the back-test on the decade my model actually bet on, and publish how the ratings aged. Ratings agencies should eat their own cooking. Thanks.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96112" y="475488"/>
            <a:ext cx="10515600" cy="292608"/>
          </a:xfrm>
          <a:prstGeom prst="rect">
            <a:avLst/>
          </a:prstGeom>
          <a:noFill/>
          <a:ln/>
        </p:spPr>
        <p:txBody>
          <a:bodyPr wrap="square" rtlCol="0"/>
          <a:lstStyle>
            <a:lvl1pPr indent="0" marL="0">
              <a:buNone/>
              <a:defRPr lang="en-US" dirty="0"/>
            </a:lvl1pPr>
          </a:lstStyle>
          <a:p>
            <a:pPr indent="0" marL="0">
              <a:buNone/>
            </a:pPr>
            <a:endParaRPr lang="en-US" dirty="0"/>
          </a:p>
        </p:txBody>
      </p:sp>
      <p:sp>
        <p:nvSpPr>
          <p:cNvPr id="3" name="Text 0"/>
          <p:cNvSpPr/>
          <p:nvPr>
            <p:ph idx="101" type="title" hasCustomPrompt="1"/>
          </p:nvPr>
        </p:nvSpPr>
        <p:spPr>
          <a:xfrm>
            <a:off x="640080" y="841248"/>
            <a:ext cx="10908792" cy="914400"/>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1527048" y="1874520"/>
            <a:ext cx="9144000" cy="114300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3" name="Text 0"/>
          <p:cNvSpPr/>
          <p:nvPr>
            <p:ph idx="101" type="body" hasCustomPrompt="1"/>
          </p:nvPr>
        </p:nvSpPr>
        <p:spPr>
          <a:xfrm>
            <a:off x="1527048" y="3063240"/>
            <a:ext cx="9144000" cy="548640"/>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CLOSE">
    <p:bg>
      <p:bgPr>
        <a:solidFill>
          <a:srgbClr val="070D2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841248"/>
            <a:ext cx="10908792" cy="914400"/>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69864" y="1298448"/>
            <a:ext cx="621792" cy="649224"/>
          </a:xfrm>
          <a:prstGeom prst="rect">
            <a:avLst/>
          </a:prstGeom>
        </p:spPr>
      </p:pic>
      <p:sp>
        <p:nvSpPr>
          <p:cNvPr id="3" name="Text 0"/>
          <p:cNvSpPr/>
          <p:nvPr>
            <p:ph idx="100" type="title" hasCustomPrompt="1"/>
          </p:nvPr>
        </p:nvSpPr>
        <p:spPr>
          <a:xfrm>
            <a:off x="1527048" y="1874520"/>
            <a:ext cx="9144000" cy="1143000"/>
          </a:xfrm>
          <a:prstGeom prst="rect">
            <a:avLst/>
          </a:prstGeom>
          <a:noFill/>
          <a:ln/>
        </p:spPr>
        <p:txBody>
          <a:bodyPr wrap="square" lIns="0" tIns="0" rIns="0" bIns="0" rtlCol="0"/>
          <a:lstStyle/>
          <a:p>
            <a:pPr algn="ctr" indent="0" marL="0">
              <a:buNone/>
            </a:pPr>
            <a:r>
              <a:rPr lang="en-US" sz="6000" b="1" dirty="0">
                <a:solidFill>
                  <a:srgbClr val="FFFFFF"/>
                </a:solidFill>
                <a:latin typeface="Arial" pitchFamily="34" charset="0"/>
                <a:ea typeface="Arial" pitchFamily="34" charset="-122"/>
                <a:cs typeface="Arial" pitchFamily="34" charset="-120"/>
              </a:rPr>
              <a:t>Career</a:t>
            </a:r>
            <a:pPr algn="ctr" indent="0" marL="0">
              <a:buNone/>
            </a:pPr>
            <a:r>
              <a:rPr lang="en-US" sz="6000" b="1" dirty="0">
                <a:solidFill>
                  <a:srgbClr val="4F74F0"/>
                </a:solidFill>
                <a:latin typeface="Arial" pitchFamily="34" charset="0"/>
                <a:ea typeface="Arial" pitchFamily="34" charset="-122"/>
                <a:cs typeface="Arial" pitchFamily="34" charset="-120"/>
              </a:rPr>
              <a:t>Star</a:t>
            </a:r>
            <a:endParaRPr lang="en-US" sz="6000" dirty="0"/>
          </a:p>
        </p:txBody>
      </p:sp>
      <p:sp>
        <p:nvSpPr>
          <p:cNvPr id="4" name="Text 0"/>
          <p:cNvSpPr/>
          <p:nvPr>
            <p:ph idx="101" type="body" hasCustomPrompt="1"/>
          </p:nvPr>
        </p:nvSpPr>
        <p:spPr>
          <a:xfrm>
            <a:off x="1527048" y="3063240"/>
            <a:ext cx="9144000" cy="548640"/>
          </a:xfrm>
          <a:prstGeom prst="rect">
            <a:avLst/>
          </a:prstGeom>
          <a:noFill/>
          <a:ln/>
        </p:spPr>
        <p:txBody>
          <a:bodyPr wrap="square" lIns="0" tIns="0" rIns="0" bIns="0" rtlCol="0"/>
          <a:lstStyle/>
          <a:p>
            <a:pPr algn="ctr" indent="0" marL="0">
              <a:buNone/>
            </a:pPr>
            <a:r>
              <a:rPr lang="en-US" sz="2000" dirty="0">
                <a:solidFill>
                  <a:srgbClr val="9DB0D9"/>
                </a:solidFill>
                <a:latin typeface="Arial" pitchFamily="34" charset="0"/>
                <a:ea typeface="Arial" pitchFamily="34" charset="-122"/>
                <a:cs typeface="Arial" pitchFamily="34" charset="-120"/>
              </a:rPr>
              <a:t>How I spec-built a ratings agency with a team of AI agents.</a:t>
            </a:r>
            <a:endParaRPr lang="en-US" sz="2000" dirty="0"/>
          </a:p>
        </p:txBody>
      </p:sp>
      <p:sp>
        <p:nvSpPr>
          <p:cNvPr id="5" name="Text 2"/>
          <p:cNvSpPr/>
          <p:nvPr/>
        </p:nvSpPr>
        <p:spPr>
          <a:xfrm>
            <a:off x="2898648" y="3767328"/>
            <a:ext cx="6400800" cy="320040"/>
          </a:xfrm>
          <a:prstGeom prst="rect">
            <a:avLst/>
          </a:prstGeom>
          <a:noFill/>
          <a:ln/>
        </p:spPr>
        <p:txBody>
          <a:bodyPr wrap="square" lIns="0" tIns="0" rIns="0" bIns="0" rtlCol="0" anchor="ctr"/>
          <a:lstStyle/>
          <a:p>
            <a:pPr algn="ctr" indent="0" marL="0">
              <a:buNone/>
            </a:pPr>
            <a:r>
              <a:rPr lang="en-US" sz="1300" b="1" spc="250" kern="0" dirty="0">
                <a:solidFill>
                  <a:srgbClr val="4F74F0"/>
                </a:solidFill>
                <a:latin typeface="Arial" pitchFamily="34" charset="0"/>
                <a:ea typeface="Arial" pitchFamily="34" charset="-122"/>
                <a:cs typeface="Arial" pitchFamily="34" charset="-120"/>
              </a:rPr>
              <a:t>BUILT WITH BMAD — SPEC-DRIVEN DEVELOPMENT</a:t>
            </a:r>
            <a:endParaRPr lang="en-US" sz="1300" dirty="0"/>
          </a:p>
        </p:txBody>
      </p:sp>
      <p:sp>
        <p:nvSpPr>
          <p:cNvPr id="6" name="Shape 3"/>
          <p:cNvSpPr/>
          <p:nvPr/>
        </p:nvSpPr>
        <p:spPr>
          <a:xfrm>
            <a:off x="5413248" y="4828032"/>
            <a:ext cx="1371600" cy="14630"/>
          </a:xfrm>
          <a:prstGeom prst="rect">
            <a:avLst/>
          </a:prstGeom>
          <a:solidFill>
            <a:srgbClr val="4F74F0"/>
          </a:solidFill>
          <a:ln/>
        </p:spPr>
      </p:sp>
      <p:sp>
        <p:nvSpPr>
          <p:cNvPr id="7" name="Text 4"/>
          <p:cNvSpPr/>
          <p:nvPr/>
        </p:nvSpPr>
        <p:spPr>
          <a:xfrm>
            <a:off x="2898648" y="5074920"/>
            <a:ext cx="6400800" cy="1097280"/>
          </a:xfrm>
          <a:prstGeom prst="rect">
            <a:avLst/>
          </a:prstGeom>
          <a:noFill/>
          <a:ln/>
        </p:spPr>
        <p:txBody>
          <a:bodyPr wrap="square" lIns="0" tIns="0" rIns="0" bIns="0" rtlCol="0" anchor="t"/>
          <a:lstStyle/>
          <a:p>
            <a:pPr algn="ctr" indent="0" marL="0">
              <a:lnSpc>
                <a:spcPts val="2400"/>
              </a:lnSpc>
              <a:buNone/>
            </a:pPr>
            <a:r>
              <a:rPr lang="en-US" sz="1600" b="1" dirty="0">
                <a:solidFill>
                  <a:srgbClr val="E8EEFC"/>
                </a:solidFill>
                <a:latin typeface="Arial" pitchFamily="34" charset="0"/>
                <a:ea typeface="Arial" pitchFamily="34" charset="-122"/>
                <a:cs typeface="Arial" pitchFamily="34" charset="-120"/>
              </a:rPr>
              <a:t>Ashley Libasci</a:t>
            </a:r>
            <a:endParaRPr lang="en-US" sz="1500" dirty="0"/>
          </a:p>
          <a:p>
            <a:pPr algn="ctr" indent="0" marL="0">
              <a:lnSpc>
                <a:spcPts val="2400"/>
              </a:lnSpc>
              <a:buNone/>
            </a:pPr>
            <a:r>
              <a:rPr lang="en-US" sz="1400" dirty="0">
                <a:solidFill>
                  <a:srgbClr val="9DB0D9"/>
                </a:solidFill>
                <a:latin typeface="Arial" pitchFamily="34" charset="0"/>
                <a:ea typeface="Arial" pitchFamily="34" charset="-122"/>
                <a:cs typeface="Arial" pitchFamily="34" charset="-120"/>
              </a:rPr>
              <a:t>Math + CS, UIUC ’27  ·  ashleylibasci.com</a:t>
            </a:r>
            <a:endParaRPr lang="en-US" sz="1500" dirty="0"/>
          </a:p>
          <a:p>
            <a:pPr algn="ctr" indent="0" marL="0">
              <a:lnSpc>
                <a:spcPts val="2400"/>
              </a:lnSpc>
              <a:buNone/>
            </a:pPr>
            <a:r>
              <a:rPr lang="en-US" sz="1400" dirty="0">
                <a:solidFill>
                  <a:srgbClr val="9DB0D9"/>
                </a:solidFill>
                <a:latin typeface="Arial" pitchFamily="34" charset="0"/>
                <a:ea typeface="Arial" pitchFamily="34" charset="-122"/>
                <a:cs typeface="Arial" pitchFamily="34" charset="-120"/>
              </a:rPr>
              <a:t>Capital One · August 6,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01 · THE THING ITSELF</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CareerStar rates careers the way you rate assets</a:t>
            </a:r>
            <a:endParaRPr lang="en-US" sz="3000" dirty="0"/>
          </a:p>
        </p:txBody>
      </p:sp>
      <p:pic>
        <p:nvPicPr>
          <p:cNvPr id="5" name="Image 1" descr="preencoded.png">    </p:cNvPr>
          <p:cNvPicPr>
            <a:picLocks noChangeAspect="1"/>
          </p:cNvPicPr>
          <p:nvPr/>
        </p:nvPicPr>
        <p:blipFill>
          <a:blip r:embed="rId2"/>
          <a:stretch>
            <a:fillRect/>
          </a:stretch>
        </p:blipFill>
        <p:spPr>
          <a:xfrm>
            <a:off x="640080" y="1828800"/>
            <a:ext cx="3890648" cy="4160520"/>
          </a:xfrm>
          <a:prstGeom prst="rect">
            <a:avLst/>
          </a:prstGeom>
        </p:spPr>
      </p:pic>
      <p:sp>
        <p:nvSpPr>
          <p:cNvPr id="6" name="Shape 2"/>
          <p:cNvSpPr/>
          <p:nvPr/>
        </p:nvSpPr>
        <p:spPr>
          <a:xfrm>
            <a:off x="621792" y="1810512"/>
            <a:ext cx="3927224" cy="4197096"/>
          </a:xfrm>
          <a:prstGeom prst="rect">
            <a:avLst/>
          </a:prstGeom>
          <a:solidFill>
            <a:srgbClr val="FFFFFF">
              <a:alpha val="0"/>
            </a:srgbClr>
          </a:solidFill>
          <a:ln w="12700">
            <a:solidFill>
              <a:srgbClr val="DDE5F2"/>
            </a:solidFill>
            <a:prstDash val="solid"/>
          </a:ln>
        </p:spPr>
      </p:sp>
      <p:sp>
        <p:nvSpPr>
          <p:cNvPr id="7" name="Text 3"/>
          <p:cNvSpPr/>
          <p:nvPr/>
        </p:nvSpPr>
        <p:spPr>
          <a:xfrm>
            <a:off x="640080" y="6053328"/>
            <a:ext cx="4805048" cy="274320"/>
          </a:xfrm>
          <a:prstGeom prst="rect">
            <a:avLst/>
          </a:prstGeom>
          <a:noFill/>
          <a:ln/>
        </p:spPr>
        <p:txBody>
          <a:bodyPr wrap="square" lIns="0" tIns="0" rIns="0" bIns="0" rtlCol="0" anchor="t"/>
          <a:lstStyle/>
          <a:p>
            <a:pPr algn="l" indent="0" marL="0">
              <a:buNone/>
            </a:pPr>
            <a:r>
              <a:rPr lang="en-US" sz="1300" dirty="0">
                <a:solidFill>
                  <a:srgbClr val="64748B"/>
                </a:solidFill>
                <a:latin typeface="Arial" pitchFamily="34" charset="0"/>
                <a:ea typeface="Arial" pitchFamily="34" charset="-122"/>
                <a:cs typeface="Arial" pitchFamily="34" charset="-120"/>
              </a:rPr>
              <a:t>ashleylibasci.com/rate — live, as shipped</a:t>
            </a:r>
            <a:endParaRPr lang="en-US" sz="1500" dirty="0"/>
          </a:p>
        </p:txBody>
      </p:sp>
      <p:sp>
        <p:nvSpPr>
          <p:cNvPr id="8" name="Text 4"/>
          <p:cNvSpPr/>
          <p:nvPr/>
        </p:nvSpPr>
        <p:spPr>
          <a:xfrm>
            <a:off x="4800600" y="2167128"/>
            <a:ext cx="1371600" cy="566928"/>
          </a:xfrm>
          <a:prstGeom prst="rect">
            <a:avLst/>
          </a:prstGeom>
          <a:noFill/>
          <a:ln/>
        </p:spPr>
        <p:txBody>
          <a:bodyPr wrap="square" lIns="0" tIns="0" rIns="0" bIns="0" rtlCol="0" anchor="t"/>
          <a:lstStyle/>
          <a:p>
            <a:pPr algn="l" indent="0" marL="0">
              <a:buNone/>
            </a:pPr>
            <a:r>
              <a:rPr lang="en-US" sz="3600" b="1" dirty="0">
                <a:solidFill>
                  <a:srgbClr val="1D4ED8"/>
                </a:solidFill>
                <a:latin typeface="Arial" pitchFamily="34" charset="0"/>
                <a:ea typeface="Arial" pitchFamily="34" charset="-122"/>
                <a:cs typeface="Arial" pitchFamily="34" charset="-120"/>
              </a:rPr>
              <a:t>730</a:t>
            </a:r>
            <a:endParaRPr lang="en-US" sz="1500" dirty="0"/>
          </a:p>
        </p:txBody>
      </p:sp>
      <p:sp>
        <p:nvSpPr>
          <p:cNvPr id="9" name="Text 5"/>
          <p:cNvSpPr/>
          <p:nvPr/>
        </p:nvSpPr>
        <p:spPr>
          <a:xfrm>
            <a:off x="6263640" y="2331720"/>
            <a:ext cx="5285232" cy="502920"/>
          </a:xfrm>
          <a:prstGeom prst="rect">
            <a:avLst/>
          </a:prstGeom>
          <a:noFill/>
          <a:ln/>
        </p:spPr>
        <p:txBody>
          <a:bodyPr wrap="square" lIns="0" tIns="0" rIns="0" bIns="0" rtlCol="0" anchor="t"/>
          <a:lstStyle/>
          <a:p>
            <a:pPr algn="l" indent="0" marL="0">
              <a:buNone/>
            </a:pPr>
            <a:r>
              <a:rPr lang="en-US" sz="1600" dirty="0">
                <a:solidFill>
                  <a:srgbClr val="0F172A"/>
                </a:solidFill>
                <a:latin typeface="Arial" pitchFamily="34" charset="0"/>
                <a:ea typeface="Arial" pitchFamily="34" charset="-122"/>
                <a:cs typeface="Arial" pitchFamily="34" charset="-120"/>
              </a:rPr>
              <a:t>U.S. occupations, every one rated</a:t>
            </a:r>
            <a:endParaRPr lang="en-US" sz="1500" dirty="0"/>
          </a:p>
        </p:txBody>
      </p:sp>
      <p:sp>
        <p:nvSpPr>
          <p:cNvPr id="10" name="Shape 6"/>
          <p:cNvSpPr/>
          <p:nvPr/>
        </p:nvSpPr>
        <p:spPr>
          <a:xfrm>
            <a:off x="4800600" y="2990088"/>
            <a:ext cx="6748272" cy="12802"/>
          </a:xfrm>
          <a:prstGeom prst="rect">
            <a:avLst/>
          </a:prstGeom>
          <a:solidFill>
            <a:srgbClr val="DDE5F2"/>
          </a:solidFill>
          <a:ln/>
        </p:spPr>
      </p:sp>
      <p:sp>
        <p:nvSpPr>
          <p:cNvPr id="11" name="Text 7"/>
          <p:cNvSpPr/>
          <p:nvPr/>
        </p:nvSpPr>
        <p:spPr>
          <a:xfrm>
            <a:off x="4800600" y="3136392"/>
            <a:ext cx="1371600" cy="566928"/>
          </a:xfrm>
          <a:prstGeom prst="rect">
            <a:avLst/>
          </a:prstGeom>
          <a:noFill/>
          <a:ln/>
        </p:spPr>
        <p:txBody>
          <a:bodyPr wrap="square" lIns="0" tIns="0" rIns="0" bIns="0" rtlCol="0" anchor="t"/>
          <a:lstStyle/>
          <a:p>
            <a:pPr algn="l" indent="0" marL="0">
              <a:buNone/>
            </a:pPr>
            <a:r>
              <a:rPr lang="en-US" sz="3600" b="1" dirty="0">
                <a:solidFill>
                  <a:srgbClr val="1D4ED8"/>
                </a:solidFill>
                <a:latin typeface="Arial" pitchFamily="34" charset="0"/>
                <a:ea typeface="Arial" pitchFamily="34" charset="-122"/>
                <a:cs typeface="Arial" pitchFamily="34" charset="-120"/>
              </a:rPr>
              <a:t>5</a:t>
            </a:r>
            <a:endParaRPr lang="en-US" sz="1500" dirty="0"/>
          </a:p>
        </p:txBody>
      </p:sp>
      <p:sp>
        <p:nvSpPr>
          <p:cNvPr id="12" name="Text 8"/>
          <p:cNvSpPr/>
          <p:nvPr/>
        </p:nvSpPr>
        <p:spPr>
          <a:xfrm>
            <a:off x="6263640" y="3300984"/>
            <a:ext cx="5285232" cy="502920"/>
          </a:xfrm>
          <a:prstGeom prst="rect">
            <a:avLst/>
          </a:prstGeom>
          <a:noFill/>
          <a:ln/>
        </p:spPr>
        <p:txBody>
          <a:bodyPr wrap="square" lIns="0" tIns="0" rIns="0" bIns="0" rtlCol="0" anchor="t"/>
          <a:lstStyle/>
          <a:p>
            <a:pPr algn="l" indent="0" marL="0">
              <a:buNone/>
            </a:pPr>
            <a:r>
              <a:rPr lang="en-US" sz="1600" dirty="0">
                <a:solidFill>
                  <a:srgbClr val="0F172A"/>
                </a:solidFill>
                <a:latin typeface="Arial" pitchFamily="34" charset="0"/>
                <a:ea typeface="Arial" pitchFamily="34" charset="-122"/>
                <a:cs typeface="Arial" pitchFamily="34" charset="-120"/>
              </a:rPr>
              <a:t>rival scoring models, swappable live</a:t>
            </a:r>
            <a:endParaRPr lang="en-US" sz="1500" dirty="0"/>
          </a:p>
        </p:txBody>
      </p:sp>
      <p:sp>
        <p:nvSpPr>
          <p:cNvPr id="13" name="Shape 9"/>
          <p:cNvSpPr/>
          <p:nvPr/>
        </p:nvSpPr>
        <p:spPr>
          <a:xfrm>
            <a:off x="4800600" y="3959352"/>
            <a:ext cx="6748272" cy="12802"/>
          </a:xfrm>
          <a:prstGeom prst="rect">
            <a:avLst/>
          </a:prstGeom>
          <a:solidFill>
            <a:srgbClr val="DDE5F2"/>
          </a:solidFill>
          <a:ln/>
        </p:spPr>
      </p:sp>
      <p:sp>
        <p:nvSpPr>
          <p:cNvPr id="14" name="Text 10"/>
          <p:cNvSpPr/>
          <p:nvPr/>
        </p:nvSpPr>
        <p:spPr>
          <a:xfrm>
            <a:off x="4800600" y="4105656"/>
            <a:ext cx="1371600" cy="566928"/>
          </a:xfrm>
          <a:prstGeom prst="rect">
            <a:avLst/>
          </a:prstGeom>
          <a:noFill/>
          <a:ln/>
        </p:spPr>
        <p:txBody>
          <a:bodyPr wrap="square" lIns="0" tIns="0" rIns="0" bIns="0" rtlCol="0" anchor="t"/>
          <a:lstStyle/>
          <a:p>
            <a:pPr algn="l" indent="0" marL="0">
              <a:buNone/>
            </a:pPr>
            <a:r>
              <a:rPr lang="en-US" sz="3600" b="1" dirty="0">
                <a:solidFill>
                  <a:srgbClr val="1D4ED8"/>
                </a:solidFill>
                <a:latin typeface="Arial" pitchFamily="34" charset="0"/>
                <a:ea typeface="Arial" pitchFamily="34" charset="-122"/>
                <a:cs typeface="Arial" pitchFamily="34" charset="-120"/>
              </a:rPr>
              <a:t>10%</a:t>
            </a:r>
            <a:endParaRPr lang="en-US" sz="1500" dirty="0"/>
          </a:p>
        </p:txBody>
      </p:sp>
      <p:sp>
        <p:nvSpPr>
          <p:cNvPr id="15" name="Text 11"/>
          <p:cNvSpPr/>
          <p:nvPr/>
        </p:nvSpPr>
        <p:spPr>
          <a:xfrm>
            <a:off x="6263640" y="4270248"/>
            <a:ext cx="5285232" cy="502920"/>
          </a:xfrm>
          <a:prstGeom prst="rect">
            <a:avLst/>
          </a:prstGeom>
          <a:noFill/>
          <a:ln/>
        </p:spPr>
        <p:txBody>
          <a:bodyPr wrap="square" lIns="0" tIns="0" rIns="0" bIns="0" rtlCol="0" anchor="t"/>
          <a:lstStyle/>
          <a:p>
            <a:pPr algn="l" indent="0" marL="0">
              <a:buNone/>
            </a:pPr>
            <a:r>
              <a:rPr lang="en-US" sz="1600" dirty="0">
                <a:solidFill>
                  <a:srgbClr val="0F172A"/>
                </a:solidFill>
                <a:latin typeface="Arial" pitchFamily="34" charset="0"/>
                <a:ea typeface="Arial" pitchFamily="34" charset="-122"/>
                <a:cs typeface="Arial" pitchFamily="34" charset="-120"/>
              </a:rPr>
              <a:t>of careers earn five stars — it’s a forced curve</a:t>
            </a:r>
            <a:endParaRPr lang="en-US" sz="1500" dirty="0"/>
          </a:p>
        </p:txBody>
      </p:sp>
      <p:sp>
        <p:nvSpPr>
          <p:cNvPr id="16" name="Shape 12"/>
          <p:cNvSpPr/>
          <p:nvPr/>
        </p:nvSpPr>
        <p:spPr>
          <a:xfrm>
            <a:off x="4800600" y="5349240"/>
            <a:ext cx="6748272" cy="12802"/>
          </a:xfrm>
          <a:prstGeom prst="rect">
            <a:avLst/>
          </a:prstGeom>
          <a:solidFill>
            <a:srgbClr val="DDE5F2"/>
          </a:solidFill>
          <a:ln/>
        </p:spPr>
      </p:sp>
      <p:sp>
        <p:nvSpPr>
          <p:cNvPr id="17" name="Text 13"/>
          <p:cNvSpPr/>
          <p:nvPr/>
        </p:nvSpPr>
        <p:spPr>
          <a:xfrm>
            <a:off x="4800600" y="5577840"/>
            <a:ext cx="6748272" cy="365760"/>
          </a:xfrm>
          <a:prstGeom prst="rect">
            <a:avLst/>
          </a:prstGeom>
          <a:noFill/>
          <a:ln/>
        </p:spPr>
        <p:txBody>
          <a:bodyPr wrap="square" lIns="0" tIns="0" rIns="0" bIns="0" rtlCol="0" anchor="t"/>
          <a:lstStyle/>
          <a:p>
            <a:pPr algn="l" indent="0" marL="0">
              <a:buNone/>
            </a:pPr>
            <a:r>
              <a:rPr lang="en-US" sz="1500" b="1" dirty="0">
                <a:solidFill>
                  <a:srgbClr val="0F172A"/>
                </a:solidFill>
                <a:latin typeface="Arial" pitchFamily="34" charset="0"/>
                <a:ea typeface="Arial" pitchFamily="34" charset="-122"/>
                <a:cs typeface="Arial" pitchFamily="34" charset="-120"/>
              </a:rPr>
              <a:t>The product is the demo. The build is today’s story.</a:t>
            </a:r>
            <a:endParaRPr lang="en-US" sz="1500" dirty="0"/>
          </a:p>
        </p:txBody>
      </p:sp>
      <p:sp>
        <p:nvSpPr>
          <p:cNvPr id="18" name="Text 14"/>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2</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02 · THE METHOD</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There’s a name for how this was built</a:t>
            </a:r>
            <a:endParaRPr lang="en-US" sz="3000" dirty="0"/>
          </a:p>
        </p:txBody>
      </p:sp>
      <p:sp>
        <p:nvSpPr>
          <p:cNvPr id="5" name="Text 2"/>
          <p:cNvSpPr/>
          <p:nvPr/>
        </p:nvSpPr>
        <p:spPr>
          <a:xfrm>
            <a:off x="640080" y="1874520"/>
            <a:ext cx="10911535" cy="960120"/>
          </a:xfrm>
          <a:prstGeom prst="rect">
            <a:avLst/>
          </a:prstGeom>
          <a:noFill/>
          <a:ln/>
        </p:spPr>
        <p:txBody>
          <a:bodyPr wrap="square" lIns="0" tIns="0" rIns="0" bIns="0" rtlCol="0" anchor="t"/>
          <a:lstStyle/>
          <a:p>
            <a:pPr algn="l" indent="0" marL="0">
              <a:buNone/>
            </a:pPr>
            <a:r>
              <a:rPr lang="en-US" sz="6400" b="1" spc="100" kern="0" dirty="0">
                <a:solidFill>
                  <a:srgbClr val="1D4ED8"/>
                </a:solidFill>
                <a:latin typeface="Arial" pitchFamily="34" charset="0"/>
                <a:ea typeface="Arial" pitchFamily="34" charset="-122"/>
                <a:cs typeface="Arial" pitchFamily="34" charset="-120"/>
              </a:rPr>
              <a:t>BMAD</a:t>
            </a:r>
            <a:endParaRPr lang="en-US" sz="1500" dirty="0"/>
          </a:p>
        </p:txBody>
      </p:sp>
      <p:sp>
        <p:nvSpPr>
          <p:cNvPr id="6" name="Text 3"/>
          <p:cNvSpPr/>
          <p:nvPr/>
        </p:nvSpPr>
        <p:spPr>
          <a:xfrm>
            <a:off x="640080" y="2852928"/>
            <a:ext cx="10911535" cy="32004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Breakthrough Method for Agile AI-Driven Development — open source, agent-based.</a:t>
            </a:r>
            <a:endParaRPr lang="en-US" sz="1500" dirty="0"/>
          </a:p>
        </p:txBody>
      </p:sp>
      <p:sp>
        <p:nvSpPr>
          <p:cNvPr id="7" name="Text 4"/>
          <p:cNvSpPr/>
          <p:nvPr/>
        </p:nvSpPr>
        <p:spPr>
          <a:xfrm>
            <a:off x="640080" y="3246120"/>
            <a:ext cx="10911535" cy="411480"/>
          </a:xfrm>
          <a:prstGeom prst="rect">
            <a:avLst/>
          </a:prstGeom>
          <a:noFill/>
          <a:ln/>
        </p:spPr>
        <p:txBody>
          <a:bodyPr wrap="square" lIns="0" tIns="0" rIns="0" bIns="0" rtlCol="0" anchor="t"/>
          <a:lstStyle/>
          <a:p>
            <a:pPr algn="l" indent="0" marL="0">
              <a:buNone/>
            </a:pPr>
            <a:r>
              <a:rPr lang="en-US" sz="2000" b="1" dirty="0">
                <a:solidFill>
                  <a:srgbClr val="0F172A"/>
                </a:solidFill>
                <a:latin typeface="Arial" pitchFamily="34" charset="0"/>
                <a:ea typeface="Arial" pitchFamily="34" charset="-122"/>
                <a:cs typeface="Arial" pitchFamily="34" charset="-120"/>
              </a:rPr>
              <a:t>Spec-driven development: write the spec first. The AI codes to the contract.</a:t>
            </a:r>
            <a:endParaRPr lang="en-US" sz="1500" dirty="0"/>
          </a:p>
        </p:txBody>
      </p:sp>
      <p:sp>
        <p:nvSpPr>
          <p:cNvPr id="8" name="Shape 5"/>
          <p:cNvSpPr/>
          <p:nvPr/>
        </p:nvSpPr>
        <p:spPr>
          <a:xfrm>
            <a:off x="640080" y="3886200"/>
            <a:ext cx="10911535" cy="12802"/>
          </a:xfrm>
          <a:prstGeom prst="rect">
            <a:avLst/>
          </a:prstGeom>
          <a:solidFill>
            <a:srgbClr val="DDE5F2"/>
          </a:solidFill>
          <a:ln/>
        </p:spPr>
      </p:sp>
      <p:sp>
        <p:nvSpPr>
          <p:cNvPr id="9" name="Text 6"/>
          <p:cNvSpPr/>
          <p:nvPr/>
        </p:nvSpPr>
        <p:spPr>
          <a:xfrm>
            <a:off x="640080" y="4114800"/>
            <a:ext cx="5257800" cy="1371600"/>
          </a:xfrm>
          <a:prstGeom prst="rect">
            <a:avLst/>
          </a:prstGeom>
          <a:noFill/>
          <a:ln/>
        </p:spPr>
        <p:txBody>
          <a:bodyPr wrap="square" lIns="0" tIns="0" rIns="0" bIns="0" rtlCol="0" anchor="t"/>
          <a:lstStyle/>
          <a:p>
            <a:pPr algn="l" indent="0" marL="0">
              <a:buNone/>
            </a:pPr>
            <a:r>
              <a:rPr lang="en-US" sz="1600" b="1" dirty="0">
                <a:solidFill>
                  <a:srgbClr val="0F172A"/>
                </a:solidFill>
                <a:latin typeface="Arial" pitchFamily="34" charset="0"/>
                <a:ea typeface="Arial" pitchFamily="34" charset="-122"/>
                <a:cs typeface="Arial" pitchFamily="34" charset="-120"/>
              </a:rPr>
              <a:t>What that means in practice</a:t>
            </a:r>
            <a:endParaRPr lang="en-US" sz="1500" dirty="0"/>
          </a:p>
          <a:p>
            <a:pPr algn="l" indent="0" marL="0">
              <a:buNone/>
            </a:pPr>
            <a:endParaRPr lang="en-US" sz="1500" dirty="0"/>
          </a:p>
          <a:p>
            <a:pPr algn="l" indent="0" marL="0">
              <a:buNone/>
            </a:pPr>
            <a:r>
              <a:rPr lang="en-US" sz="1500" dirty="0">
                <a:solidFill>
                  <a:srgbClr val="64748B"/>
                </a:solidFill>
                <a:latin typeface="Arial" pitchFamily="34" charset="0"/>
                <a:ea typeface="Arial" pitchFamily="34" charset="-122"/>
                <a:cs typeface="Arial" pitchFamily="34" charset="-120"/>
              </a:rPr>
              <a:t>Requirements, architecture, and acceptance criteria exist before any code does — every agent works against them.</a:t>
            </a:r>
            <a:endParaRPr lang="en-US" sz="1500" dirty="0"/>
          </a:p>
        </p:txBody>
      </p:sp>
      <p:sp>
        <p:nvSpPr>
          <p:cNvPr id="10" name="Text 7"/>
          <p:cNvSpPr/>
          <p:nvPr/>
        </p:nvSpPr>
        <p:spPr>
          <a:xfrm>
            <a:off x="6291072" y="4114800"/>
            <a:ext cx="5257800" cy="1371600"/>
          </a:xfrm>
          <a:prstGeom prst="rect">
            <a:avLst/>
          </a:prstGeom>
          <a:noFill/>
          <a:ln/>
        </p:spPr>
        <p:txBody>
          <a:bodyPr wrap="square" lIns="0" tIns="0" rIns="0" bIns="0" rtlCol="0" anchor="t"/>
          <a:lstStyle/>
          <a:p>
            <a:pPr algn="l" indent="0" marL="0">
              <a:buNone/>
            </a:pPr>
            <a:r>
              <a:rPr lang="en-US" sz="1600" b="1" dirty="0">
                <a:solidFill>
                  <a:srgbClr val="64748B"/>
                </a:solidFill>
                <a:latin typeface="Arial" pitchFamily="34" charset="0"/>
                <a:ea typeface="Arial" pitchFamily="34" charset="-122"/>
                <a:cs typeface="Arial" pitchFamily="34" charset="-120"/>
              </a:rPr>
              <a:t>What it isn’t: vibe coding</a:t>
            </a:r>
            <a:endParaRPr lang="en-US" sz="1500" dirty="0"/>
          </a:p>
          <a:p>
            <a:pPr algn="l" indent="0" marL="0">
              <a:buNone/>
            </a:pPr>
            <a:endParaRPr lang="en-US" sz="1500" dirty="0"/>
          </a:p>
          <a:p>
            <a:pPr algn="l" indent="0" marL="0">
              <a:buNone/>
            </a:pPr>
            <a:r>
              <a:rPr lang="en-US" sz="1500" dirty="0">
                <a:solidFill>
                  <a:srgbClr val="64748B"/>
                </a:solidFill>
                <a:latin typeface="Arial" pitchFamily="34" charset="0"/>
                <a:ea typeface="Arial" pitchFamily="34" charset="-122"/>
                <a:cs typeface="Arial" pitchFamily="34" charset="-120"/>
              </a:rPr>
              <a:t>Prompt as you go, context evaporates. Fine for a weekend hack, fatal for a real system.</a:t>
            </a:r>
            <a:endParaRPr lang="en-US" sz="1500" dirty="0"/>
          </a:p>
        </p:txBody>
      </p:sp>
      <p:sp>
        <p:nvSpPr>
          <p:cNvPr id="11" name="Text 8"/>
          <p:cNvSpPr/>
          <p:nvPr/>
        </p:nvSpPr>
        <p:spPr>
          <a:xfrm>
            <a:off x="640080" y="5669280"/>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My first project with it. It converted me.</a:t>
            </a:r>
            <a:endParaRPr lang="en-US" sz="1500" dirty="0"/>
          </a:p>
        </p:txBody>
      </p:sp>
      <p:sp>
        <p:nvSpPr>
          <p:cNvPr id="12" name="Text 9"/>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3</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03 · BMAD</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The pipeline: plan it, build it, attack it</a:t>
            </a:r>
            <a:endParaRPr lang="en-US" sz="3000" dirty="0"/>
          </a:p>
        </p:txBody>
      </p:sp>
      <p:sp>
        <p:nvSpPr>
          <p:cNvPr id="5" name="Text 2"/>
          <p:cNvSpPr/>
          <p:nvPr/>
        </p:nvSpPr>
        <p:spPr>
          <a:xfrm>
            <a:off x="640080" y="2103120"/>
            <a:ext cx="3246120" cy="2377440"/>
          </a:xfrm>
          <a:prstGeom prst="roundRect">
            <a:avLst>
              <a:gd name="adj" fmla="val 3077"/>
            </a:avLst>
          </a:prstGeom>
          <a:solidFill>
            <a:srgbClr val="EFF3FB"/>
          </a:solidFill>
          <a:ln w="12700">
            <a:solidFill>
              <a:srgbClr val="DDE5F2"/>
            </a:solidFill>
          </a:ln>
        </p:spPr>
        <p:txBody>
          <a:bodyPr wrap="square" lIns="203200" tIns="203200" rIns="203200" bIns="203200" rtlCol="0" anchor="t"/>
          <a:lstStyle/>
          <a:p>
            <a:pPr algn="l" indent="0" marL="0">
              <a:buNone/>
            </a:pPr>
            <a:r>
              <a:rPr lang="en-US" sz="1900" b="1" spc="200" kern="0" dirty="0">
                <a:solidFill>
                  <a:srgbClr val="1D4ED8"/>
                </a:solidFill>
                <a:latin typeface="Arial" pitchFamily="34" charset="0"/>
                <a:ea typeface="Arial" pitchFamily="34" charset="-122"/>
                <a:cs typeface="Arial" pitchFamily="34" charset="-120"/>
              </a:rPr>
              <a:t>PLAN</a:t>
            </a:r>
            <a:endParaRPr lang="en-US" sz="1500" dirty="0"/>
          </a:p>
          <a:p>
            <a:pPr algn="l" indent="0" marL="0">
              <a:buNone/>
            </a:pPr>
            <a:endParaRPr lang="en-US" sz="1500" dirty="0"/>
          </a:p>
          <a:p>
            <a:pPr algn="l" indent="0" marL="0">
              <a:buNone/>
            </a:pPr>
            <a:r>
              <a:rPr lang="en-US" sz="1500" dirty="0">
                <a:solidFill>
                  <a:srgbClr val="0F172A"/>
                </a:solidFill>
                <a:latin typeface="Arial" pitchFamily="34" charset="0"/>
                <a:ea typeface="Arial" pitchFamily="34" charset="-122"/>
                <a:cs typeface="Arial" pitchFamily="34" charset="-120"/>
              </a:rPr>
              <a:t>A PM agent interrogated the idea into a PRD. An architect agent locked 7 invariants the code must never break.</a:t>
            </a:r>
            <a:endParaRPr lang="en-US" sz="1500" dirty="0"/>
          </a:p>
          <a:p>
            <a:pPr algn="l" indent="0" marL="0">
              <a:buNone/>
            </a:pPr>
            <a:endParaRPr lang="en-US" sz="1500" dirty="0"/>
          </a:p>
          <a:p>
            <a:pPr algn="l" indent="0" marL="0">
              <a:buNone/>
            </a:pPr>
            <a:r>
              <a:rPr lang="en-US" sz="1400" b="1" dirty="0">
                <a:solidFill>
                  <a:srgbClr val="1D4ED8"/>
                </a:solidFill>
                <a:latin typeface="Arial" pitchFamily="34" charset="0"/>
                <a:ea typeface="Arial" pitchFamily="34" charset="-122"/>
                <a:cs typeface="Arial" pitchFamily="34" charset="-120"/>
              </a:rPr>
              <a:t>1 PRD · 7 invariants</a:t>
            </a:r>
            <a:endParaRPr lang="en-US" sz="1500" dirty="0"/>
          </a:p>
        </p:txBody>
      </p:sp>
      <p:sp>
        <p:nvSpPr>
          <p:cNvPr id="6" name="Text 3"/>
          <p:cNvSpPr/>
          <p:nvPr/>
        </p:nvSpPr>
        <p:spPr>
          <a:xfrm>
            <a:off x="4471416" y="2103120"/>
            <a:ext cx="3246120" cy="2377440"/>
          </a:xfrm>
          <a:prstGeom prst="roundRect">
            <a:avLst>
              <a:gd name="adj" fmla="val 3077"/>
            </a:avLst>
          </a:prstGeom>
          <a:solidFill>
            <a:srgbClr val="EFF3FB"/>
          </a:solidFill>
          <a:ln w="12700">
            <a:solidFill>
              <a:srgbClr val="DDE5F2"/>
            </a:solidFill>
          </a:ln>
        </p:spPr>
        <p:txBody>
          <a:bodyPr wrap="square" lIns="203200" tIns="203200" rIns="203200" bIns="203200" rtlCol="0" anchor="t"/>
          <a:lstStyle/>
          <a:p>
            <a:pPr algn="l" indent="0" marL="0">
              <a:buNone/>
            </a:pPr>
            <a:r>
              <a:rPr lang="en-US" sz="1900" b="1" spc="200" kern="0" dirty="0">
                <a:solidFill>
                  <a:srgbClr val="1D4ED8"/>
                </a:solidFill>
                <a:latin typeface="Arial" pitchFamily="34" charset="0"/>
                <a:ea typeface="Arial" pitchFamily="34" charset="-122"/>
                <a:cs typeface="Arial" pitchFamily="34" charset="-120"/>
              </a:rPr>
              <a:t>BUILD</a:t>
            </a:r>
            <a:endParaRPr lang="en-US" sz="1500" dirty="0"/>
          </a:p>
          <a:p>
            <a:pPr algn="l" indent="0" marL="0">
              <a:buNone/>
            </a:pPr>
            <a:endParaRPr lang="en-US" sz="1500" dirty="0"/>
          </a:p>
          <a:p>
            <a:pPr algn="l" indent="0" marL="0">
              <a:buNone/>
            </a:pPr>
            <a:r>
              <a:rPr lang="en-US" sz="1500" dirty="0">
                <a:solidFill>
                  <a:srgbClr val="0F172A"/>
                </a:solidFill>
                <a:latin typeface="Arial" pitchFamily="34" charset="0"/>
                <a:ea typeface="Arial" pitchFamily="34" charset="-122"/>
                <a:cs typeface="Arial" pitchFamily="34" charset="-120"/>
              </a:rPr>
              <a:t>A dev agent coded story by story against acceptance criteria, tests first — the whole backlog, to done.</a:t>
            </a:r>
            <a:endParaRPr lang="en-US" sz="1500" dirty="0"/>
          </a:p>
          <a:p>
            <a:pPr algn="l" indent="0" marL="0">
              <a:buNone/>
            </a:pPr>
            <a:endParaRPr lang="en-US" sz="1500" dirty="0"/>
          </a:p>
          <a:p>
            <a:pPr algn="l" indent="0" marL="0">
              <a:buNone/>
            </a:pPr>
            <a:r>
              <a:rPr lang="en-US" sz="1400" b="1" dirty="0">
                <a:solidFill>
                  <a:srgbClr val="1D4ED8"/>
                </a:solidFill>
                <a:latin typeface="Arial" pitchFamily="34" charset="0"/>
                <a:ea typeface="Arial" pitchFamily="34" charset="-122"/>
                <a:cs typeface="Arial" pitchFamily="34" charset="-120"/>
              </a:rPr>
              <a:t>7 epics · 28 stories · 35 tests</a:t>
            </a:r>
            <a:endParaRPr lang="en-US" sz="1500" dirty="0"/>
          </a:p>
        </p:txBody>
      </p:sp>
      <p:sp>
        <p:nvSpPr>
          <p:cNvPr id="7" name="Text 4"/>
          <p:cNvSpPr/>
          <p:nvPr/>
        </p:nvSpPr>
        <p:spPr>
          <a:xfrm>
            <a:off x="8302752" y="2103120"/>
            <a:ext cx="3246120" cy="2377440"/>
          </a:xfrm>
          <a:prstGeom prst="roundRect">
            <a:avLst>
              <a:gd name="adj" fmla="val 3077"/>
            </a:avLst>
          </a:prstGeom>
          <a:solidFill>
            <a:srgbClr val="EFF3FB"/>
          </a:solidFill>
          <a:ln w="12700">
            <a:solidFill>
              <a:srgbClr val="DDE5F2"/>
            </a:solidFill>
          </a:ln>
        </p:spPr>
        <p:txBody>
          <a:bodyPr wrap="square" lIns="203200" tIns="203200" rIns="203200" bIns="203200" rtlCol="0" anchor="t"/>
          <a:lstStyle/>
          <a:p>
            <a:pPr algn="l" indent="0" marL="0">
              <a:buNone/>
            </a:pPr>
            <a:r>
              <a:rPr lang="en-US" sz="1900" b="1" spc="200" kern="0" dirty="0">
                <a:solidFill>
                  <a:srgbClr val="1D4ED8"/>
                </a:solidFill>
                <a:latin typeface="Arial" pitchFamily="34" charset="0"/>
                <a:ea typeface="Arial" pitchFamily="34" charset="-122"/>
                <a:cs typeface="Arial" pitchFamily="34" charset="-120"/>
              </a:rPr>
              <a:t>ATTACK</a:t>
            </a:r>
            <a:endParaRPr lang="en-US" sz="1500" dirty="0"/>
          </a:p>
          <a:p>
            <a:pPr algn="l" indent="0" marL="0">
              <a:buNone/>
            </a:pPr>
            <a:endParaRPr lang="en-US" sz="1500" dirty="0"/>
          </a:p>
          <a:p>
            <a:pPr algn="l" indent="0" marL="0">
              <a:buNone/>
            </a:pPr>
            <a:r>
              <a:rPr lang="en-US" sz="1500" dirty="0">
                <a:solidFill>
                  <a:srgbClr val="0F172A"/>
                </a:solidFill>
                <a:latin typeface="Arial" pitchFamily="34" charset="0"/>
                <a:ea typeface="Arial" pitchFamily="34" charset="-122"/>
                <a:cs typeface="Arial" pitchFamily="34" charset="-120"/>
              </a:rPr>
              <a:t>A cast of reviewer personas tears into every change. A retro after each epic feeds the next one.</a:t>
            </a:r>
            <a:endParaRPr lang="en-US" sz="1500" dirty="0"/>
          </a:p>
          <a:p>
            <a:pPr algn="l" indent="0" marL="0">
              <a:buNone/>
            </a:pPr>
            <a:endParaRPr lang="en-US" sz="1500" dirty="0"/>
          </a:p>
          <a:p>
            <a:pPr algn="l" indent="0" marL="0">
              <a:buNone/>
            </a:pPr>
            <a:r>
              <a:rPr lang="en-US" sz="1400" b="1" dirty="0">
                <a:solidFill>
                  <a:srgbClr val="1D4ED8"/>
                </a:solidFill>
                <a:latin typeface="Arial" pitchFamily="34" charset="0"/>
                <a:ea typeface="Arial" pitchFamily="34" charset="-122"/>
                <a:cs typeface="Arial" pitchFamily="34" charset="-120"/>
              </a:rPr>
              <a:t>review after every change</a:t>
            </a:r>
            <a:endParaRPr lang="en-US" sz="1500" dirty="0"/>
          </a:p>
        </p:txBody>
      </p:sp>
      <p:sp>
        <p:nvSpPr>
          <p:cNvPr id="8" name="Text 5"/>
          <p:cNvSpPr/>
          <p:nvPr/>
        </p:nvSpPr>
        <p:spPr>
          <a:xfrm>
            <a:off x="3950208" y="3063240"/>
            <a:ext cx="457200" cy="457200"/>
          </a:xfrm>
          <a:prstGeom prst="rect">
            <a:avLst/>
          </a:prstGeom>
          <a:noFill/>
          <a:ln/>
        </p:spPr>
        <p:txBody>
          <a:bodyPr wrap="square" lIns="0" tIns="0" rIns="0" bIns="0" rtlCol="0" anchor="ctr"/>
          <a:lstStyle/>
          <a:p>
            <a:pPr algn="ctr" indent="0" marL="0">
              <a:buNone/>
            </a:pPr>
            <a:r>
              <a:rPr lang="en-US" sz="2400" b="1" dirty="0">
                <a:solidFill>
                  <a:srgbClr val="1D4ED8"/>
                </a:solidFill>
                <a:latin typeface="Arial" pitchFamily="34" charset="0"/>
                <a:ea typeface="Arial" pitchFamily="34" charset="-122"/>
                <a:cs typeface="Arial" pitchFamily="34" charset="-120"/>
              </a:rPr>
              <a:t>→</a:t>
            </a:r>
            <a:endParaRPr lang="en-US" sz="2400" dirty="0"/>
          </a:p>
        </p:txBody>
      </p:sp>
      <p:sp>
        <p:nvSpPr>
          <p:cNvPr id="9" name="Text 6"/>
          <p:cNvSpPr/>
          <p:nvPr/>
        </p:nvSpPr>
        <p:spPr>
          <a:xfrm>
            <a:off x="7781544" y="3063240"/>
            <a:ext cx="457200" cy="457200"/>
          </a:xfrm>
          <a:prstGeom prst="rect">
            <a:avLst/>
          </a:prstGeom>
          <a:noFill/>
          <a:ln/>
        </p:spPr>
        <p:txBody>
          <a:bodyPr wrap="square" lIns="0" tIns="0" rIns="0" bIns="0" rtlCol="0" anchor="ctr"/>
          <a:lstStyle/>
          <a:p>
            <a:pPr algn="ctr" indent="0" marL="0">
              <a:buNone/>
            </a:pPr>
            <a:r>
              <a:rPr lang="en-US" sz="2400" b="1" dirty="0">
                <a:solidFill>
                  <a:srgbClr val="1D4ED8"/>
                </a:solidFill>
                <a:latin typeface="Arial" pitchFamily="34" charset="0"/>
                <a:ea typeface="Arial" pitchFamily="34" charset="-122"/>
                <a:cs typeface="Arial" pitchFamily="34" charset="-120"/>
              </a:rPr>
              <a:t>→</a:t>
            </a:r>
            <a:endParaRPr lang="en-US" sz="2400" dirty="0"/>
          </a:p>
        </p:txBody>
      </p:sp>
      <p:sp>
        <p:nvSpPr>
          <p:cNvPr id="10" name="Shape 7"/>
          <p:cNvSpPr/>
          <p:nvPr/>
        </p:nvSpPr>
        <p:spPr>
          <a:xfrm>
            <a:off x="640080" y="4892040"/>
            <a:ext cx="10911535" cy="12802"/>
          </a:xfrm>
          <a:prstGeom prst="rect">
            <a:avLst/>
          </a:prstGeom>
          <a:solidFill>
            <a:srgbClr val="DDE5F2"/>
          </a:solidFill>
          <a:ln/>
        </p:spPr>
      </p:sp>
      <p:sp>
        <p:nvSpPr>
          <p:cNvPr id="11" name="Text 8"/>
          <p:cNvSpPr/>
          <p:nvPr/>
        </p:nvSpPr>
        <p:spPr>
          <a:xfrm>
            <a:off x="640080" y="5102352"/>
            <a:ext cx="10911535" cy="2743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The invariant that mattered most —</a:t>
            </a:r>
            <a:endParaRPr lang="en-US" sz="1500" dirty="0"/>
          </a:p>
        </p:txBody>
      </p:sp>
      <p:sp>
        <p:nvSpPr>
          <p:cNvPr id="12" name="Text 9"/>
          <p:cNvSpPr/>
          <p:nvPr/>
        </p:nvSpPr>
        <p:spPr>
          <a:xfrm>
            <a:off x="640080" y="5413248"/>
            <a:ext cx="10911535" cy="411480"/>
          </a:xfrm>
          <a:prstGeom prst="rect">
            <a:avLst/>
          </a:prstGeom>
          <a:noFill/>
          <a:ln/>
        </p:spPr>
        <p:txBody>
          <a:bodyPr wrap="square" lIns="0" tIns="0" rIns="0" bIns="0" rtlCol="0" anchor="t"/>
          <a:lstStyle/>
          <a:p>
            <a:pPr algn="l" indent="0" marL="0">
              <a:buNone/>
            </a:pPr>
            <a:r>
              <a:rPr lang="en-US" sz="2300" b="1" dirty="0">
                <a:solidFill>
                  <a:srgbClr val="1D4ED8"/>
                </a:solidFill>
                <a:latin typeface="Arial" pitchFamily="34" charset="0"/>
                <a:ea typeface="Arial" pitchFamily="34" charset="-122"/>
                <a:cs typeface="Arial" pitchFamily="34" charset="-120"/>
              </a:rPr>
              <a:t>“The LLM never computes a number.”</a:t>
            </a:r>
            <a:endParaRPr lang="en-US" sz="1500" dirty="0"/>
          </a:p>
        </p:txBody>
      </p:sp>
      <p:sp>
        <p:nvSpPr>
          <p:cNvPr id="13" name="Text 10"/>
          <p:cNvSpPr/>
          <p:nvPr/>
        </p:nvSpPr>
        <p:spPr>
          <a:xfrm>
            <a:off x="640080" y="5870448"/>
            <a:ext cx="10911535" cy="274320"/>
          </a:xfrm>
          <a:prstGeom prst="rect">
            <a:avLst/>
          </a:prstGeom>
          <a:noFill/>
          <a:ln/>
        </p:spPr>
        <p:txBody>
          <a:bodyPr wrap="square" lIns="0" tIns="0" rIns="0" bIns="0" rtlCol="0" anchor="t"/>
          <a:lstStyle/>
          <a:p>
            <a:pPr algn="l" indent="0" marL="0">
              <a:buNone/>
            </a:pPr>
            <a:r>
              <a:rPr lang="en-US" sz="1400" dirty="0">
                <a:solidFill>
                  <a:srgbClr val="64748B"/>
                </a:solidFill>
                <a:latin typeface="Arial" pitchFamily="34" charset="0"/>
                <a:ea typeface="Arial" pitchFamily="34" charset="-122"/>
                <a:cs typeface="Arial" pitchFamily="34" charset="-120"/>
              </a:rPr>
              <a:t>Locked in the architecture before a line of scoring code existed.</a:t>
            </a:r>
            <a:endParaRPr lang="en-US" sz="1500" dirty="0"/>
          </a:p>
        </p:txBody>
      </p:sp>
      <p:sp>
        <p:nvSpPr>
          <p:cNvPr id="14" name="Text 11"/>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4</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04 · BMAD PARTY MODE</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My code reviews are a room full of arguing characters</a:t>
            </a:r>
            <a:endParaRPr lang="en-US" sz="3000" dirty="0"/>
          </a:p>
        </p:txBody>
      </p:sp>
      <p:sp>
        <p:nvSpPr>
          <p:cNvPr id="5" name="Text 2"/>
          <p:cNvSpPr/>
          <p:nvPr/>
        </p:nvSpPr>
        <p:spPr>
          <a:xfrm>
            <a:off x="640080" y="2103120"/>
            <a:ext cx="5257800" cy="320040"/>
          </a:xfrm>
          <a:prstGeom prst="rect">
            <a:avLst/>
          </a:prstGeom>
          <a:noFill/>
          <a:ln/>
        </p:spPr>
        <p:txBody>
          <a:bodyPr wrap="square" lIns="0" tIns="0" rIns="0" bIns="0" rtlCol="0" anchor="t"/>
          <a:lstStyle/>
          <a:p>
            <a:pPr algn="l" indent="0" marL="0">
              <a:buNone/>
            </a:pPr>
            <a:r>
              <a:rPr lang="en-US" sz="1600" b="1" dirty="0">
                <a:solidFill>
                  <a:srgbClr val="1D4ED8"/>
                </a:solidFill>
                <a:latin typeface="Arial" pitchFamily="34" charset="0"/>
                <a:ea typeface="Arial" pitchFamily="34" charset="-122"/>
                <a:cs typeface="Arial" pitchFamily="34" charset="-120"/>
              </a:rPr>
              <a:t>The cast</a:t>
            </a:r>
            <a:endParaRPr lang="en-US" sz="1500" dirty="0"/>
          </a:p>
        </p:txBody>
      </p:sp>
      <p:sp>
        <p:nvSpPr>
          <p:cNvPr id="6" name="Shape 3"/>
          <p:cNvSpPr/>
          <p:nvPr/>
        </p:nvSpPr>
        <p:spPr>
          <a:xfrm>
            <a:off x="640080" y="2487168"/>
            <a:ext cx="5257800" cy="12802"/>
          </a:xfrm>
          <a:prstGeom prst="rect">
            <a:avLst/>
          </a:prstGeom>
          <a:solidFill>
            <a:srgbClr val="DDE5F2"/>
          </a:solidFill>
          <a:ln/>
        </p:spPr>
      </p:sp>
      <p:sp>
        <p:nvSpPr>
          <p:cNvPr id="7" name="Text 4"/>
          <p:cNvSpPr/>
          <p:nvPr/>
        </p:nvSpPr>
        <p:spPr>
          <a:xfrm>
            <a:off x="640080" y="2697480"/>
            <a:ext cx="5257800" cy="1737360"/>
          </a:xfrm>
          <a:prstGeom prst="rect">
            <a:avLst/>
          </a:prstGeom>
          <a:noFill/>
          <a:ln/>
        </p:spPr>
        <p:txBody>
          <a:bodyPr wrap="square" lIns="0" tIns="0" rIns="0" bIns="0" rtlCol="0" anchor="t"/>
          <a:lstStyle/>
          <a:p>
            <a:pPr algn="l" indent="0" marL="0">
              <a:lnSpc>
                <a:spcPts val="2700"/>
              </a:lnSpc>
              <a:buNone/>
            </a:pPr>
            <a:r>
              <a:rPr lang="en-US" sz="1500" dirty="0">
                <a:solidFill>
                  <a:srgbClr val="0F172A"/>
                </a:solidFill>
                <a:latin typeface="Arial" pitchFamily="34" charset="0"/>
                <a:ea typeface="Arial" pitchFamily="34" charset="-122"/>
                <a:cs typeface="Arial" pitchFamily="34" charset="-120"/>
              </a:rPr>
              <a:t>a hiring manager asking what interviewers will ask</a:t>
            </a:r>
            <a:endParaRPr lang="en-US" sz="1500" dirty="0"/>
          </a:p>
          <a:p>
            <a:pPr algn="l" indent="0" marL="0">
              <a:lnSpc>
                <a:spcPts val="2700"/>
              </a:lnSpc>
              <a:buNone/>
            </a:pPr>
            <a:r>
              <a:rPr lang="en-US" sz="1500" dirty="0">
                <a:solidFill>
                  <a:srgbClr val="0F172A"/>
                </a:solidFill>
                <a:latin typeface="Arial" pitchFamily="34" charset="0"/>
                <a:ea typeface="Arial" pitchFamily="34" charset="-122"/>
                <a:cs typeface="Arial" pitchFamily="34" charset="-120"/>
              </a:rPr>
              <a:t>a fact-checker tracing every number to a file</a:t>
            </a:r>
            <a:endParaRPr lang="en-US" sz="1500" dirty="0"/>
          </a:p>
          <a:p>
            <a:pPr algn="l" indent="0" marL="0">
              <a:lnSpc>
                <a:spcPts val="2700"/>
              </a:lnSpc>
              <a:buNone/>
            </a:pPr>
            <a:r>
              <a:rPr lang="en-US" sz="1500" dirty="0">
                <a:solidFill>
                  <a:srgbClr val="0F172A"/>
                </a:solidFill>
                <a:latin typeface="Arial" pitchFamily="34" charset="0"/>
                <a:ea typeface="Arial" pitchFamily="34" charset="-122"/>
                <a:cs typeface="Arial" pitchFamily="34" charset="-120"/>
              </a:rPr>
              <a:t>a copy chief deleting machine-sounding prose</a:t>
            </a:r>
            <a:endParaRPr lang="en-US" sz="1500" dirty="0"/>
          </a:p>
          <a:p>
            <a:pPr algn="l" indent="0" marL="0">
              <a:lnSpc>
                <a:spcPts val="2700"/>
              </a:lnSpc>
              <a:buNone/>
            </a:pPr>
            <a:r>
              <a:rPr lang="en-US" sz="1500" dirty="0">
                <a:solidFill>
                  <a:srgbClr val="0F172A"/>
                </a:solidFill>
                <a:latin typeface="Arial" pitchFamily="34" charset="0"/>
                <a:ea typeface="Arial" pitchFamily="34" charset="-122"/>
                <a:cs typeface="Arial" pitchFamily="34" charset="-120"/>
              </a:rPr>
              <a:t>a QA lead, a design critic, one professional grump</a:t>
            </a:r>
            <a:endParaRPr lang="en-US" sz="1500" dirty="0"/>
          </a:p>
        </p:txBody>
      </p:sp>
      <p:sp>
        <p:nvSpPr>
          <p:cNvPr id="8" name="Text 5"/>
          <p:cNvSpPr/>
          <p:nvPr/>
        </p:nvSpPr>
        <p:spPr>
          <a:xfrm>
            <a:off x="640080" y="4526280"/>
            <a:ext cx="5257800" cy="411480"/>
          </a:xfrm>
          <a:prstGeom prst="rect">
            <a:avLst/>
          </a:prstGeom>
          <a:noFill/>
          <a:ln/>
        </p:spPr>
        <p:txBody>
          <a:bodyPr wrap="square" lIns="0" tIns="0" rIns="0" bIns="0" rtlCol="0" anchor="t"/>
          <a:lstStyle/>
          <a:p>
            <a:pPr algn="l" indent="0" marL="0">
              <a:buNone/>
            </a:pPr>
            <a:r>
              <a:rPr lang="en-US" sz="1900" b="1" dirty="0">
                <a:solidFill>
                  <a:srgbClr val="1D4ED8"/>
                </a:solidFill>
                <a:latin typeface="Arial" pitchFamily="34" charset="0"/>
                <a:ea typeface="Arial" pitchFamily="34" charset="-122"/>
                <a:cs typeface="Arial" pitchFamily="34" charset="-120"/>
              </a:rPr>
              <a:t>They argue with each other. I judge.</a:t>
            </a:r>
            <a:endParaRPr lang="en-US" sz="1500" dirty="0"/>
          </a:p>
        </p:txBody>
      </p:sp>
      <p:sp>
        <p:nvSpPr>
          <p:cNvPr id="9" name="Text 6"/>
          <p:cNvSpPr/>
          <p:nvPr/>
        </p:nvSpPr>
        <p:spPr>
          <a:xfrm>
            <a:off x="6291072" y="2103120"/>
            <a:ext cx="5257800" cy="320040"/>
          </a:xfrm>
          <a:prstGeom prst="rect">
            <a:avLst/>
          </a:prstGeom>
          <a:noFill/>
          <a:ln/>
        </p:spPr>
        <p:txBody>
          <a:bodyPr wrap="square" lIns="0" tIns="0" rIns="0" bIns="0" rtlCol="0" anchor="t"/>
          <a:lstStyle/>
          <a:p>
            <a:pPr algn="l" indent="0" marL="0">
              <a:buNone/>
            </a:pPr>
            <a:r>
              <a:rPr lang="en-US" sz="1600" b="1" dirty="0">
                <a:solidFill>
                  <a:srgbClr val="047857"/>
                </a:solidFill>
                <a:latin typeface="Arial" pitchFamily="34" charset="0"/>
                <a:ea typeface="Arial" pitchFamily="34" charset="-122"/>
                <a:cs typeface="Arial" pitchFamily="34" charset="-120"/>
              </a:rPr>
              <a:t>What they caught</a:t>
            </a:r>
            <a:endParaRPr lang="en-US" sz="1500" dirty="0"/>
          </a:p>
        </p:txBody>
      </p:sp>
      <p:sp>
        <p:nvSpPr>
          <p:cNvPr id="10" name="Shape 7"/>
          <p:cNvSpPr/>
          <p:nvPr/>
        </p:nvSpPr>
        <p:spPr>
          <a:xfrm>
            <a:off x="6291072" y="2487168"/>
            <a:ext cx="5257800" cy="12802"/>
          </a:xfrm>
          <a:prstGeom prst="rect">
            <a:avLst/>
          </a:prstGeom>
          <a:solidFill>
            <a:srgbClr val="DDE5F2"/>
          </a:solidFill>
          <a:ln/>
        </p:spPr>
      </p:sp>
      <p:sp>
        <p:nvSpPr>
          <p:cNvPr id="11" name="Text 8"/>
          <p:cNvSpPr/>
          <p:nvPr/>
        </p:nvSpPr>
        <p:spPr>
          <a:xfrm>
            <a:off x="6291072" y="2697480"/>
            <a:ext cx="5257800" cy="2468880"/>
          </a:xfrm>
          <a:prstGeom prst="rect">
            <a:avLst/>
          </a:prstGeom>
          <a:noFill/>
          <a:ln/>
        </p:spPr>
        <p:txBody>
          <a:bodyPr wrap="square" lIns="0" tIns="0" rIns="0" bIns="0" rtlCol="0" anchor="t"/>
          <a:lstStyle/>
          <a:p>
            <a:pPr algn="l" indent="0" marL="0">
              <a:buNone/>
            </a:pPr>
            <a:r>
              <a:rPr lang="en-US" sz="1500" b="1" dirty="0">
                <a:solidFill>
                  <a:srgbClr val="0F172A"/>
                </a:solidFill>
                <a:latin typeface="Arial" pitchFamily="34" charset="0"/>
                <a:ea typeface="Arial" pitchFamily="34" charset="-122"/>
                <a:cs typeface="Arial" pitchFamily="34" charset="-120"/>
              </a:rPr>
              <a:t>The fit overclaim. </a:t>
            </a:r>
            <a:pPr algn="l" indent="0" marL="0">
              <a:buNone/>
            </a:pPr>
            <a:r>
              <a:rPr lang="en-US" sz="1500" dirty="0">
                <a:solidFill>
                  <a:srgbClr val="64748B"/>
                </a:solidFill>
                <a:latin typeface="Arial" pitchFamily="34" charset="0"/>
                <a:ea typeface="Arial" pitchFamily="34" charset="-122"/>
                <a:cs typeface="Arial" pitchFamily="34" charset="-120"/>
              </a:rPr>
              <a:t>My methodology page described skill-vector matching before the vectors were wired in. Caught, rebuilt, then published as the story of the catch.</a:t>
            </a:r>
            <a:endParaRPr lang="en-US" sz="1500" dirty="0"/>
          </a:p>
          <a:p>
            <a:pPr algn="l" indent="0" marL="0">
              <a:buNone/>
            </a:pPr>
            <a:endParaRPr lang="en-US" sz="1500" dirty="0"/>
          </a:p>
          <a:p>
            <a:pPr algn="l" indent="0" marL="0">
              <a:buNone/>
            </a:pPr>
            <a:r>
              <a:rPr lang="en-US" sz="1500" b="1" dirty="0">
                <a:solidFill>
                  <a:srgbClr val="0F172A"/>
                </a:solidFill>
                <a:latin typeface="Arial" pitchFamily="34" charset="0"/>
                <a:ea typeface="Arial" pitchFamily="34" charset="-122"/>
                <a:cs typeface="Arial" pitchFamily="34" charset="-120"/>
              </a:rPr>
              <a:t>The buried back-test. </a:t>
            </a:r>
            <a:pPr algn="l" indent="0" marL="0">
              <a:buNone/>
            </a:pPr>
            <a:r>
              <a:rPr lang="en-US" sz="1500" dirty="0">
                <a:solidFill>
                  <a:srgbClr val="64748B"/>
                </a:solidFill>
                <a:latin typeface="Arial" pitchFamily="34" charset="0"/>
                <a:ea typeface="Arial" pitchFamily="34" charset="-122"/>
                <a:cs typeface="Arial" pitchFamily="34" charset="-120"/>
              </a:rPr>
              <a:t>The hiring-manager persona fought twice to keep my strongest evidence above the fold. It was right.</a:t>
            </a:r>
            <a:endParaRPr lang="en-US" sz="1500" dirty="0"/>
          </a:p>
        </p:txBody>
      </p:sp>
      <p:sp>
        <p:nvSpPr>
          <p:cNvPr id="12" name="Shape 9"/>
          <p:cNvSpPr/>
          <p:nvPr/>
        </p:nvSpPr>
        <p:spPr>
          <a:xfrm>
            <a:off x="640080" y="5486400"/>
            <a:ext cx="10911535" cy="12802"/>
          </a:xfrm>
          <a:prstGeom prst="rect">
            <a:avLst/>
          </a:prstGeom>
          <a:solidFill>
            <a:srgbClr val="DDE5F2"/>
          </a:solidFill>
          <a:ln/>
        </p:spPr>
      </p:sp>
      <p:sp>
        <p:nvSpPr>
          <p:cNvPr id="13" name="Text 10"/>
          <p:cNvSpPr/>
          <p:nvPr/>
        </p:nvSpPr>
        <p:spPr>
          <a:xfrm>
            <a:off x="640080" y="5715000"/>
            <a:ext cx="10911535" cy="411480"/>
          </a:xfrm>
          <a:prstGeom prst="rect">
            <a:avLst/>
          </a:prstGeom>
          <a:noFill/>
          <a:ln/>
        </p:spPr>
        <p:txBody>
          <a:bodyPr wrap="square" lIns="0" tIns="0" rIns="0" bIns="0" rtlCol="0" anchor="t"/>
          <a:lstStyle/>
          <a:p>
            <a:pPr algn="ctr" indent="0" marL="0">
              <a:buNone/>
            </a:pPr>
            <a:r>
              <a:rPr lang="en-US" sz="1700" b="1" dirty="0">
                <a:solidFill>
                  <a:srgbClr val="1D4ED8"/>
                </a:solidFill>
                <a:latin typeface="Arial" pitchFamily="34" charset="0"/>
                <a:ea typeface="Arial" pitchFamily="34" charset="-122"/>
                <a:cs typeface="Arial" pitchFamily="34" charset="-120"/>
              </a:rPr>
              <a:t>Even this deck went through that room.</a:t>
            </a:r>
            <a:endParaRPr lang="en-US" sz="1500" dirty="0"/>
          </a:p>
        </p:txBody>
      </p:sp>
      <p:sp>
        <p:nvSpPr>
          <p:cNvPr id="14" name="Text 11"/>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5</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05 · THE DIFFERENCE</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Same AI. Opposite discipline.</a:t>
            </a:r>
            <a:endParaRPr lang="en-US" sz="3000" dirty="0"/>
          </a:p>
        </p:txBody>
      </p:sp>
      <p:sp>
        <p:nvSpPr>
          <p:cNvPr id="5" name="Text 2"/>
          <p:cNvSpPr/>
          <p:nvPr/>
        </p:nvSpPr>
        <p:spPr>
          <a:xfrm>
            <a:off x="640080" y="2103120"/>
            <a:ext cx="5257800" cy="320040"/>
          </a:xfrm>
          <a:prstGeom prst="rect">
            <a:avLst/>
          </a:prstGeom>
          <a:noFill/>
          <a:ln/>
        </p:spPr>
        <p:txBody>
          <a:bodyPr wrap="square" lIns="0" tIns="0" rIns="0" bIns="0" rtlCol="0" anchor="t"/>
          <a:lstStyle/>
          <a:p>
            <a:pPr algn="l" indent="0" marL="0">
              <a:buNone/>
            </a:pPr>
            <a:r>
              <a:rPr lang="en-US" sz="1500" b="1" spc="250" kern="0" dirty="0">
                <a:solidFill>
                  <a:srgbClr val="64748B"/>
                </a:solidFill>
                <a:latin typeface="Arial" pitchFamily="34" charset="0"/>
                <a:ea typeface="Arial" pitchFamily="34" charset="-122"/>
                <a:cs typeface="Arial" pitchFamily="34" charset="-120"/>
              </a:rPr>
              <a:t>VIBE CODING</a:t>
            </a:r>
            <a:endParaRPr lang="en-US" sz="1500" dirty="0"/>
          </a:p>
        </p:txBody>
      </p:sp>
      <p:sp>
        <p:nvSpPr>
          <p:cNvPr id="6" name="Text 3"/>
          <p:cNvSpPr/>
          <p:nvPr/>
        </p:nvSpPr>
        <p:spPr>
          <a:xfrm>
            <a:off x="6291072" y="2103120"/>
            <a:ext cx="5257800" cy="320040"/>
          </a:xfrm>
          <a:prstGeom prst="rect">
            <a:avLst/>
          </a:prstGeom>
          <a:noFill/>
          <a:ln/>
        </p:spPr>
        <p:txBody>
          <a:bodyPr wrap="square" lIns="0" tIns="0" rIns="0" bIns="0" rtlCol="0" anchor="t"/>
          <a:lstStyle/>
          <a:p>
            <a:pPr algn="l" indent="0" marL="0">
              <a:buNone/>
            </a:pPr>
            <a:r>
              <a:rPr lang="en-US" sz="1500" b="1" spc="250" kern="0" dirty="0">
                <a:solidFill>
                  <a:srgbClr val="1D4ED8"/>
                </a:solidFill>
                <a:latin typeface="Arial" pitchFamily="34" charset="0"/>
                <a:ea typeface="Arial" pitchFamily="34" charset="-122"/>
                <a:cs typeface="Arial" pitchFamily="34" charset="-120"/>
              </a:rPr>
              <a:t>SPEC-DRIVEN</a:t>
            </a:r>
            <a:endParaRPr lang="en-US" sz="1500" dirty="0"/>
          </a:p>
        </p:txBody>
      </p:sp>
      <p:sp>
        <p:nvSpPr>
          <p:cNvPr id="7" name="Shape 4"/>
          <p:cNvSpPr/>
          <p:nvPr/>
        </p:nvSpPr>
        <p:spPr>
          <a:xfrm>
            <a:off x="640080" y="2487168"/>
            <a:ext cx="5257800" cy="12802"/>
          </a:xfrm>
          <a:prstGeom prst="rect">
            <a:avLst/>
          </a:prstGeom>
          <a:solidFill>
            <a:srgbClr val="DDE5F2"/>
          </a:solidFill>
          <a:ln/>
        </p:spPr>
      </p:sp>
      <p:sp>
        <p:nvSpPr>
          <p:cNvPr id="8" name="Shape 5"/>
          <p:cNvSpPr/>
          <p:nvPr/>
        </p:nvSpPr>
        <p:spPr>
          <a:xfrm>
            <a:off x="6291072" y="2487168"/>
            <a:ext cx="5257800" cy="12802"/>
          </a:xfrm>
          <a:prstGeom prst="rect">
            <a:avLst/>
          </a:prstGeom>
          <a:solidFill>
            <a:srgbClr val="1D4ED8"/>
          </a:solidFill>
          <a:ln/>
        </p:spPr>
      </p:sp>
      <p:sp>
        <p:nvSpPr>
          <p:cNvPr id="9" name="Text 6"/>
          <p:cNvSpPr/>
          <p:nvPr/>
        </p:nvSpPr>
        <p:spPr>
          <a:xfrm>
            <a:off x="640080" y="2724912"/>
            <a:ext cx="5257800" cy="411480"/>
          </a:xfrm>
          <a:prstGeom prst="rect">
            <a:avLst/>
          </a:prstGeom>
          <a:noFill/>
          <a:ln/>
        </p:spPr>
        <p:txBody>
          <a:bodyPr wrap="square" lIns="0" tIns="0" rIns="0" bIns="0" rtlCol="0" anchor="ctr"/>
          <a:lstStyle/>
          <a:p>
            <a:pPr algn="l" indent="0" marL="0">
              <a:buNone/>
            </a:pPr>
            <a:r>
              <a:rPr lang="en-US" sz="1600" dirty="0">
                <a:solidFill>
                  <a:srgbClr val="64748B"/>
                </a:solidFill>
                <a:latin typeface="Arial" pitchFamily="34" charset="0"/>
                <a:ea typeface="Arial" pitchFamily="34" charset="-122"/>
                <a:cs typeface="Arial" pitchFamily="34" charset="-120"/>
              </a:rPr>
              <a:t>Prompt, paste, pray</a:t>
            </a:r>
            <a:endParaRPr lang="en-US" sz="1500" dirty="0"/>
          </a:p>
        </p:txBody>
      </p:sp>
      <p:sp>
        <p:nvSpPr>
          <p:cNvPr id="10" name="Text 7"/>
          <p:cNvSpPr/>
          <p:nvPr/>
        </p:nvSpPr>
        <p:spPr>
          <a:xfrm>
            <a:off x="6291072" y="2724912"/>
            <a:ext cx="5257800" cy="411480"/>
          </a:xfrm>
          <a:prstGeom prst="rect">
            <a:avLst/>
          </a:prstGeom>
          <a:noFill/>
          <a:ln/>
        </p:spPr>
        <p:txBody>
          <a:bodyPr wrap="square" lIns="0" tIns="0" rIns="0" bIns="0" rtlCol="0" anchor="ctr"/>
          <a:lstStyle/>
          <a:p>
            <a:pPr algn="l" indent="0" marL="0">
              <a:buNone/>
            </a:pPr>
            <a:r>
              <a:rPr lang="en-US" sz="1600" b="1" dirty="0">
                <a:solidFill>
                  <a:srgbClr val="0F172A"/>
                </a:solidFill>
                <a:latin typeface="Arial" pitchFamily="34" charset="0"/>
                <a:ea typeface="Arial" pitchFamily="34" charset="-122"/>
                <a:cs typeface="Arial" pitchFamily="34" charset="-120"/>
              </a:rPr>
              <a:t>Spec first: PRD, architecture, stories</a:t>
            </a:r>
            <a:endParaRPr lang="en-US" sz="1500" dirty="0"/>
          </a:p>
        </p:txBody>
      </p:sp>
      <p:sp>
        <p:nvSpPr>
          <p:cNvPr id="11" name="Text 8"/>
          <p:cNvSpPr/>
          <p:nvPr/>
        </p:nvSpPr>
        <p:spPr>
          <a:xfrm>
            <a:off x="640080" y="3291840"/>
            <a:ext cx="5257800" cy="411480"/>
          </a:xfrm>
          <a:prstGeom prst="rect">
            <a:avLst/>
          </a:prstGeom>
          <a:noFill/>
          <a:ln/>
        </p:spPr>
        <p:txBody>
          <a:bodyPr wrap="square" lIns="0" tIns="0" rIns="0" bIns="0" rtlCol="0" anchor="ctr"/>
          <a:lstStyle/>
          <a:p>
            <a:pPr algn="l" indent="0" marL="0">
              <a:buNone/>
            </a:pPr>
            <a:r>
              <a:rPr lang="en-US" sz="1600" dirty="0">
                <a:solidFill>
                  <a:srgbClr val="64748B"/>
                </a:solidFill>
                <a:latin typeface="Arial" pitchFamily="34" charset="0"/>
                <a:ea typeface="Arial" pitchFamily="34" charset="-122"/>
                <a:cs typeface="Arial" pitchFamily="34" charset="-120"/>
              </a:rPr>
              <a:t>Accept whatever runs</a:t>
            </a:r>
            <a:endParaRPr lang="en-US" sz="1500" dirty="0"/>
          </a:p>
        </p:txBody>
      </p:sp>
      <p:sp>
        <p:nvSpPr>
          <p:cNvPr id="12" name="Text 9"/>
          <p:cNvSpPr/>
          <p:nvPr/>
        </p:nvSpPr>
        <p:spPr>
          <a:xfrm>
            <a:off x="6291072" y="3291840"/>
            <a:ext cx="5257800" cy="411480"/>
          </a:xfrm>
          <a:prstGeom prst="rect">
            <a:avLst/>
          </a:prstGeom>
          <a:noFill/>
          <a:ln/>
        </p:spPr>
        <p:txBody>
          <a:bodyPr wrap="square" lIns="0" tIns="0" rIns="0" bIns="0" rtlCol="0" anchor="ctr"/>
          <a:lstStyle/>
          <a:p>
            <a:pPr algn="l" indent="0" marL="0">
              <a:buNone/>
            </a:pPr>
            <a:r>
              <a:rPr lang="en-US" sz="1600" b="1" dirty="0">
                <a:solidFill>
                  <a:srgbClr val="0F172A"/>
                </a:solidFill>
                <a:latin typeface="Arial" pitchFamily="34" charset="0"/>
                <a:ea typeface="Arial" pitchFamily="34" charset="-122"/>
                <a:cs typeface="Arial" pitchFamily="34" charset="-120"/>
              </a:rPr>
              <a:t>35 deterministic tests, CI on every push</a:t>
            </a:r>
            <a:endParaRPr lang="en-US" sz="1500" dirty="0"/>
          </a:p>
        </p:txBody>
      </p:sp>
      <p:sp>
        <p:nvSpPr>
          <p:cNvPr id="13" name="Text 10"/>
          <p:cNvSpPr/>
          <p:nvPr/>
        </p:nvSpPr>
        <p:spPr>
          <a:xfrm>
            <a:off x="640080" y="3858768"/>
            <a:ext cx="5257800" cy="411480"/>
          </a:xfrm>
          <a:prstGeom prst="rect">
            <a:avLst/>
          </a:prstGeom>
          <a:noFill/>
          <a:ln/>
        </p:spPr>
        <p:txBody>
          <a:bodyPr wrap="square" lIns="0" tIns="0" rIns="0" bIns="0" rtlCol="0" anchor="ctr"/>
          <a:lstStyle/>
          <a:p>
            <a:pPr algn="l" indent="0" marL="0">
              <a:buNone/>
            </a:pPr>
            <a:r>
              <a:rPr lang="en-US" sz="1600" dirty="0">
                <a:solidFill>
                  <a:srgbClr val="64748B"/>
                </a:solidFill>
                <a:latin typeface="Arial" pitchFamily="34" charset="0"/>
                <a:ea typeface="Arial" pitchFamily="34" charset="-122"/>
                <a:cs typeface="Arial" pitchFamily="34" charset="-120"/>
              </a:rPr>
              <a:t>One agreeable assistant</a:t>
            </a:r>
            <a:endParaRPr lang="en-US" sz="1500" dirty="0"/>
          </a:p>
        </p:txBody>
      </p:sp>
      <p:sp>
        <p:nvSpPr>
          <p:cNvPr id="14" name="Text 11"/>
          <p:cNvSpPr/>
          <p:nvPr/>
        </p:nvSpPr>
        <p:spPr>
          <a:xfrm>
            <a:off x="6291072" y="3858768"/>
            <a:ext cx="5257800" cy="411480"/>
          </a:xfrm>
          <a:prstGeom prst="rect">
            <a:avLst/>
          </a:prstGeom>
          <a:noFill/>
          <a:ln/>
        </p:spPr>
        <p:txBody>
          <a:bodyPr wrap="square" lIns="0" tIns="0" rIns="0" bIns="0" rtlCol="0" anchor="ctr"/>
          <a:lstStyle/>
          <a:p>
            <a:pPr algn="l" indent="0" marL="0">
              <a:buNone/>
            </a:pPr>
            <a:r>
              <a:rPr lang="en-US" sz="1600" b="1" dirty="0">
                <a:solidFill>
                  <a:srgbClr val="0F172A"/>
                </a:solidFill>
                <a:latin typeface="Arial" pitchFamily="34" charset="0"/>
                <a:ea typeface="Arial" pitchFamily="34" charset="-122"/>
                <a:cs typeface="Arial" pitchFamily="34" charset="-120"/>
              </a:rPr>
              <a:t>A cast of adversarial reviewers</a:t>
            </a:r>
            <a:endParaRPr lang="en-US" sz="1500" dirty="0"/>
          </a:p>
        </p:txBody>
      </p:sp>
      <p:sp>
        <p:nvSpPr>
          <p:cNvPr id="15" name="Text 12"/>
          <p:cNvSpPr/>
          <p:nvPr/>
        </p:nvSpPr>
        <p:spPr>
          <a:xfrm>
            <a:off x="640080" y="4425696"/>
            <a:ext cx="5257800" cy="411480"/>
          </a:xfrm>
          <a:prstGeom prst="rect">
            <a:avLst/>
          </a:prstGeom>
          <a:noFill/>
          <a:ln/>
        </p:spPr>
        <p:txBody>
          <a:bodyPr wrap="square" lIns="0" tIns="0" rIns="0" bIns="0" rtlCol="0" anchor="ctr"/>
          <a:lstStyle/>
          <a:p>
            <a:pPr algn="l" indent="0" marL="0">
              <a:buNone/>
            </a:pPr>
            <a:r>
              <a:rPr lang="en-US" sz="1600" dirty="0">
                <a:solidFill>
                  <a:srgbClr val="64748B"/>
                </a:solidFill>
                <a:latin typeface="Arial" pitchFamily="34" charset="0"/>
                <a:ea typeface="Arial" pitchFamily="34" charset="-122"/>
                <a:cs typeface="Arial" pitchFamily="34" charset="-120"/>
              </a:rPr>
              <a:t>The LLM does the math</a:t>
            </a:r>
            <a:endParaRPr lang="en-US" sz="1500" dirty="0"/>
          </a:p>
        </p:txBody>
      </p:sp>
      <p:sp>
        <p:nvSpPr>
          <p:cNvPr id="16" name="Text 13"/>
          <p:cNvSpPr/>
          <p:nvPr/>
        </p:nvSpPr>
        <p:spPr>
          <a:xfrm>
            <a:off x="6291072" y="4425696"/>
            <a:ext cx="5257800" cy="411480"/>
          </a:xfrm>
          <a:prstGeom prst="rect">
            <a:avLst/>
          </a:prstGeom>
          <a:noFill/>
          <a:ln/>
        </p:spPr>
        <p:txBody>
          <a:bodyPr wrap="square" lIns="0" tIns="0" rIns="0" bIns="0" rtlCol="0" anchor="ctr"/>
          <a:lstStyle/>
          <a:p>
            <a:pPr algn="l" indent="0" marL="0">
              <a:buNone/>
            </a:pPr>
            <a:r>
              <a:rPr lang="en-US" sz="1600" b="1" dirty="0">
                <a:solidFill>
                  <a:srgbClr val="0F172A"/>
                </a:solidFill>
                <a:latin typeface="Arial" pitchFamily="34" charset="0"/>
                <a:ea typeface="Arial" pitchFamily="34" charset="-122"/>
                <a:cs typeface="Arial" pitchFamily="34" charset="-120"/>
              </a:rPr>
              <a:t>The LLM never computes a number</a:t>
            </a:r>
            <a:endParaRPr lang="en-US" sz="1500" dirty="0"/>
          </a:p>
        </p:txBody>
      </p:sp>
      <p:sp>
        <p:nvSpPr>
          <p:cNvPr id="17" name="Text 14"/>
          <p:cNvSpPr/>
          <p:nvPr/>
        </p:nvSpPr>
        <p:spPr>
          <a:xfrm>
            <a:off x="640080" y="4992624"/>
            <a:ext cx="5257800" cy="411480"/>
          </a:xfrm>
          <a:prstGeom prst="rect">
            <a:avLst/>
          </a:prstGeom>
          <a:noFill/>
          <a:ln/>
        </p:spPr>
        <p:txBody>
          <a:bodyPr wrap="square" lIns="0" tIns="0" rIns="0" bIns="0" rtlCol="0" anchor="ctr"/>
          <a:lstStyle/>
          <a:p>
            <a:pPr algn="l" indent="0" marL="0">
              <a:buNone/>
            </a:pPr>
            <a:r>
              <a:rPr lang="en-US" sz="1600" dirty="0">
                <a:solidFill>
                  <a:srgbClr val="64748B"/>
                </a:solidFill>
                <a:latin typeface="Arial" pitchFamily="34" charset="0"/>
                <a:ea typeface="Arial" pitchFamily="34" charset="-122"/>
                <a:cs typeface="Arial" pitchFamily="34" charset="-120"/>
              </a:rPr>
              <a:t>Claims</a:t>
            </a:r>
            <a:endParaRPr lang="en-US" sz="1500" dirty="0"/>
          </a:p>
        </p:txBody>
      </p:sp>
      <p:sp>
        <p:nvSpPr>
          <p:cNvPr id="18" name="Text 15"/>
          <p:cNvSpPr/>
          <p:nvPr/>
        </p:nvSpPr>
        <p:spPr>
          <a:xfrm>
            <a:off x="6291072" y="4992624"/>
            <a:ext cx="5257800" cy="411480"/>
          </a:xfrm>
          <a:prstGeom prst="rect">
            <a:avLst/>
          </a:prstGeom>
          <a:noFill/>
          <a:ln/>
        </p:spPr>
        <p:txBody>
          <a:bodyPr wrap="square" lIns="0" tIns="0" rIns="0" bIns="0" rtlCol="0" anchor="ctr"/>
          <a:lstStyle/>
          <a:p>
            <a:pPr algn="l" indent="0" marL="0">
              <a:buNone/>
            </a:pPr>
            <a:r>
              <a:rPr lang="en-US" sz="1600" b="1" dirty="0">
                <a:solidFill>
                  <a:srgbClr val="0F172A"/>
                </a:solidFill>
                <a:latin typeface="Arial" pitchFamily="34" charset="0"/>
                <a:ea typeface="Arial" pitchFamily="34" charset="-122"/>
                <a:cs typeface="Arial" pitchFamily="34" charset="-120"/>
              </a:rPr>
              <a:t>A back-test, a robustness grid, an open CSV</a:t>
            </a:r>
            <a:endParaRPr lang="en-US" sz="1500" dirty="0"/>
          </a:p>
        </p:txBody>
      </p:sp>
      <p:sp>
        <p:nvSpPr>
          <p:cNvPr id="19" name="Shape 16"/>
          <p:cNvSpPr/>
          <p:nvPr/>
        </p:nvSpPr>
        <p:spPr>
          <a:xfrm>
            <a:off x="640080" y="5669280"/>
            <a:ext cx="10911535" cy="12802"/>
          </a:xfrm>
          <a:prstGeom prst="rect">
            <a:avLst/>
          </a:prstGeom>
          <a:solidFill>
            <a:srgbClr val="DDE5F2"/>
          </a:solidFill>
          <a:ln/>
        </p:spPr>
      </p:sp>
      <p:sp>
        <p:nvSpPr>
          <p:cNvPr id="20" name="Text 17"/>
          <p:cNvSpPr/>
          <p:nvPr/>
        </p:nvSpPr>
        <p:spPr>
          <a:xfrm>
            <a:off x="640080" y="5897880"/>
            <a:ext cx="10911535" cy="411480"/>
          </a:xfrm>
          <a:prstGeom prst="rect">
            <a:avLst/>
          </a:prstGeom>
          <a:noFill/>
          <a:ln/>
        </p:spPr>
        <p:txBody>
          <a:bodyPr wrap="square" lIns="0" tIns="0" rIns="0" bIns="0" rtlCol="0" anchor="t"/>
          <a:lstStyle/>
          <a:p>
            <a:pPr algn="l" indent="0" marL="0">
              <a:buNone/>
            </a:pPr>
            <a:r>
              <a:rPr lang="en-US" sz="1700" b="1" dirty="0">
                <a:solidFill>
                  <a:srgbClr val="0F172A"/>
                </a:solidFill>
                <a:latin typeface="Arial" pitchFamily="34" charset="0"/>
                <a:ea typeface="Arial" pitchFamily="34" charset="-122"/>
                <a:cs typeface="Arial" pitchFamily="34" charset="-120"/>
              </a:rPr>
              <a:t>AI typed most of this project. The discipline is the difference.</a:t>
            </a:r>
            <a:endParaRPr lang="en-US" sz="1500" dirty="0"/>
          </a:p>
        </p:txBody>
      </p:sp>
      <p:sp>
        <p:nvSpPr>
          <p:cNvPr id="21" name="Text 18"/>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6</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06 · THE IDEA</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The three questions under every rating</a:t>
            </a:r>
            <a:endParaRPr lang="en-US" sz="3000" dirty="0"/>
          </a:p>
        </p:txBody>
      </p:sp>
      <p:sp>
        <p:nvSpPr>
          <p:cNvPr id="5" name="Text 2"/>
          <p:cNvSpPr/>
          <p:nvPr/>
        </p:nvSpPr>
        <p:spPr>
          <a:xfrm>
            <a:off x="640080" y="2286000"/>
            <a:ext cx="3566160" cy="457200"/>
          </a:xfrm>
          <a:prstGeom prst="rect">
            <a:avLst/>
          </a:prstGeom>
          <a:noFill/>
          <a:ln/>
        </p:spPr>
        <p:txBody>
          <a:bodyPr wrap="square" lIns="0" tIns="0" rIns="0" bIns="0" rtlCol="0" anchor="t"/>
          <a:lstStyle/>
          <a:p>
            <a:pPr algn="l" indent="0" marL="0">
              <a:buNone/>
            </a:pPr>
            <a:r>
              <a:rPr lang="en-US" sz="2200" b="1" dirty="0">
                <a:solidFill>
                  <a:srgbClr val="1D4ED8"/>
                </a:solidFill>
                <a:latin typeface="Arial" pitchFamily="34" charset="0"/>
                <a:ea typeface="Arial" pitchFamily="34" charset="-122"/>
                <a:cs typeface="Arial" pitchFamily="34" charset="-120"/>
              </a:rPr>
              <a:t>What do you get?</a:t>
            </a:r>
            <a:endParaRPr lang="en-US" sz="1500" dirty="0"/>
          </a:p>
        </p:txBody>
      </p:sp>
      <p:sp>
        <p:nvSpPr>
          <p:cNvPr id="6" name="Text 3"/>
          <p:cNvSpPr/>
          <p:nvPr/>
        </p:nvSpPr>
        <p:spPr>
          <a:xfrm>
            <a:off x="4434840" y="2313432"/>
            <a:ext cx="5212080" cy="685800"/>
          </a:xfrm>
          <a:prstGeom prst="rect">
            <a:avLst/>
          </a:prstGeom>
          <a:noFill/>
          <a:ln/>
        </p:spPr>
        <p:txBody>
          <a:bodyPr wrap="square" lIns="0" tIns="0" rIns="0" bIns="0" rtlCol="0" anchor="t"/>
          <a:lstStyle/>
          <a:p>
            <a:pPr algn="l" indent="0" marL="0">
              <a:buNone/>
            </a:pPr>
            <a:r>
              <a:rPr lang="en-US" sz="1600" dirty="0">
                <a:solidFill>
                  <a:srgbClr val="0F172A"/>
                </a:solidFill>
                <a:latin typeface="Arial" pitchFamily="34" charset="0"/>
                <a:ea typeface="Arial" pitchFamily="34" charset="-122"/>
                <a:cs typeface="Arial" pitchFamily="34" charset="-120"/>
              </a:rPr>
              <a:t>Growth and pay — how fast the career is growing, and what it pays.</a:t>
            </a:r>
            <a:endParaRPr lang="en-US" sz="1500" dirty="0"/>
          </a:p>
        </p:txBody>
      </p:sp>
      <p:sp>
        <p:nvSpPr>
          <p:cNvPr id="7" name="Text 4"/>
          <p:cNvSpPr/>
          <p:nvPr/>
        </p:nvSpPr>
        <p:spPr>
          <a:xfrm>
            <a:off x="9875520" y="2340864"/>
            <a:ext cx="1673352" cy="457200"/>
          </a:xfrm>
          <a:prstGeom prst="rect">
            <a:avLst/>
          </a:prstGeom>
          <a:noFill/>
          <a:ln/>
        </p:spPr>
        <p:txBody>
          <a:bodyPr wrap="square" lIns="0" tIns="0" rIns="0" bIns="0" rtlCol="0" anchor="t"/>
          <a:lstStyle/>
          <a:p>
            <a:pPr algn="l" indent="0" marL="0">
              <a:buNone/>
            </a:pPr>
            <a:r>
              <a:rPr lang="en-US" sz="1400" i="1" dirty="0">
                <a:solidFill>
                  <a:srgbClr val="64748B"/>
                </a:solidFill>
                <a:latin typeface="Arial" pitchFamily="34" charset="0"/>
                <a:ea typeface="Arial" pitchFamily="34" charset="-122"/>
                <a:cs typeface="Arial" pitchFamily="34" charset="-120"/>
              </a:rPr>
              <a:t>BLS projections</a:t>
            </a:r>
            <a:endParaRPr lang="en-US" sz="1500" dirty="0"/>
          </a:p>
        </p:txBody>
      </p:sp>
      <p:sp>
        <p:nvSpPr>
          <p:cNvPr id="8" name="Shape 5"/>
          <p:cNvSpPr/>
          <p:nvPr/>
        </p:nvSpPr>
        <p:spPr>
          <a:xfrm>
            <a:off x="640080" y="3182112"/>
            <a:ext cx="10911535" cy="12802"/>
          </a:xfrm>
          <a:prstGeom prst="rect">
            <a:avLst/>
          </a:prstGeom>
          <a:solidFill>
            <a:srgbClr val="DDE5F2"/>
          </a:solidFill>
          <a:ln/>
        </p:spPr>
      </p:sp>
      <p:sp>
        <p:nvSpPr>
          <p:cNvPr id="9" name="Text 6"/>
          <p:cNvSpPr/>
          <p:nvPr/>
        </p:nvSpPr>
        <p:spPr>
          <a:xfrm>
            <a:off x="640080" y="3493008"/>
            <a:ext cx="3566160" cy="457200"/>
          </a:xfrm>
          <a:prstGeom prst="rect">
            <a:avLst/>
          </a:prstGeom>
          <a:noFill/>
          <a:ln/>
        </p:spPr>
        <p:txBody>
          <a:bodyPr wrap="square" lIns="0" tIns="0" rIns="0" bIns="0" rtlCol="0" anchor="t"/>
          <a:lstStyle/>
          <a:p>
            <a:pPr algn="l" indent="0" marL="0">
              <a:buNone/>
            </a:pPr>
            <a:r>
              <a:rPr lang="en-US" sz="2200" b="1" dirty="0">
                <a:solidFill>
                  <a:srgbClr val="1D4ED8"/>
                </a:solidFill>
                <a:latin typeface="Arial" pitchFamily="34" charset="0"/>
                <a:ea typeface="Arial" pitchFamily="34" charset="-122"/>
                <a:cs typeface="Arial" pitchFamily="34" charset="-120"/>
              </a:rPr>
              <a:t>What can kill it?</a:t>
            </a:r>
            <a:endParaRPr lang="en-US" sz="1500" dirty="0"/>
          </a:p>
        </p:txBody>
      </p:sp>
      <p:sp>
        <p:nvSpPr>
          <p:cNvPr id="10" name="Text 7"/>
          <p:cNvSpPr/>
          <p:nvPr/>
        </p:nvSpPr>
        <p:spPr>
          <a:xfrm>
            <a:off x="4434840" y="3520440"/>
            <a:ext cx="5212080" cy="685800"/>
          </a:xfrm>
          <a:prstGeom prst="rect">
            <a:avLst/>
          </a:prstGeom>
          <a:noFill/>
          <a:ln/>
        </p:spPr>
        <p:txBody>
          <a:bodyPr wrap="square" lIns="0" tIns="0" rIns="0" bIns="0" rtlCol="0" anchor="t"/>
          <a:lstStyle/>
          <a:p>
            <a:pPr algn="l" indent="0" marL="0">
              <a:buNone/>
            </a:pPr>
            <a:r>
              <a:rPr lang="en-US" sz="1600" dirty="0">
                <a:solidFill>
                  <a:srgbClr val="0F172A"/>
                </a:solidFill>
                <a:latin typeface="Arial" pitchFamily="34" charset="0"/>
                <a:ea typeface="Arial" pitchFamily="34" charset="-122"/>
                <a:cs typeface="Arial" pitchFamily="34" charset="-120"/>
              </a:rPr>
              <a:t>How much of the day-to-day work AI can already do.</a:t>
            </a:r>
            <a:endParaRPr lang="en-US" sz="1500" dirty="0"/>
          </a:p>
        </p:txBody>
      </p:sp>
      <p:sp>
        <p:nvSpPr>
          <p:cNvPr id="11" name="Text 8"/>
          <p:cNvSpPr/>
          <p:nvPr/>
        </p:nvSpPr>
        <p:spPr>
          <a:xfrm>
            <a:off x="9875520" y="3547872"/>
            <a:ext cx="1673352" cy="457200"/>
          </a:xfrm>
          <a:prstGeom prst="rect">
            <a:avLst/>
          </a:prstGeom>
          <a:noFill/>
          <a:ln/>
        </p:spPr>
        <p:txBody>
          <a:bodyPr wrap="square" lIns="0" tIns="0" rIns="0" bIns="0" rtlCol="0" anchor="t"/>
          <a:lstStyle/>
          <a:p>
            <a:pPr algn="l" indent="0" marL="0">
              <a:buNone/>
            </a:pPr>
            <a:r>
              <a:rPr lang="en-US" sz="1400" i="1" dirty="0">
                <a:solidFill>
                  <a:srgbClr val="64748B"/>
                </a:solidFill>
                <a:latin typeface="Arial" pitchFamily="34" charset="0"/>
                <a:ea typeface="Arial" pitchFamily="34" charset="-122"/>
                <a:cs typeface="Arial" pitchFamily="34" charset="-120"/>
              </a:rPr>
              <a:t>AI-exposure research</a:t>
            </a:r>
            <a:endParaRPr lang="en-US" sz="1500" dirty="0"/>
          </a:p>
        </p:txBody>
      </p:sp>
      <p:sp>
        <p:nvSpPr>
          <p:cNvPr id="12" name="Shape 9"/>
          <p:cNvSpPr/>
          <p:nvPr/>
        </p:nvSpPr>
        <p:spPr>
          <a:xfrm>
            <a:off x="640080" y="4389120"/>
            <a:ext cx="10911535" cy="12802"/>
          </a:xfrm>
          <a:prstGeom prst="rect">
            <a:avLst/>
          </a:prstGeom>
          <a:solidFill>
            <a:srgbClr val="DDE5F2"/>
          </a:solidFill>
          <a:ln/>
        </p:spPr>
      </p:sp>
      <p:sp>
        <p:nvSpPr>
          <p:cNvPr id="13" name="Text 10"/>
          <p:cNvSpPr/>
          <p:nvPr/>
        </p:nvSpPr>
        <p:spPr>
          <a:xfrm>
            <a:off x="640080" y="4700016"/>
            <a:ext cx="3566160" cy="457200"/>
          </a:xfrm>
          <a:prstGeom prst="rect">
            <a:avLst/>
          </a:prstGeom>
          <a:noFill/>
          <a:ln/>
        </p:spPr>
        <p:txBody>
          <a:bodyPr wrap="square" lIns="0" tIns="0" rIns="0" bIns="0" rtlCol="0" anchor="t"/>
          <a:lstStyle/>
          <a:p>
            <a:pPr algn="l" indent="0" marL="0">
              <a:buNone/>
            </a:pPr>
            <a:r>
              <a:rPr lang="en-US" sz="2200" b="1" dirty="0">
                <a:solidFill>
                  <a:srgbClr val="1D4ED8"/>
                </a:solidFill>
                <a:latin typeface="Arial" pitchFamily="34" charset="0"/>
                <a:ea typeface="Arial" pitchFamily="34" charset="-122"/>
                <a:cs typeface="Arial" pitchFamily="34" charset="-120"/>
              </a:rPr>
              <a:t>Does it fit you?</a:t>
            </a:r>
            <a:endParaRPr lang="en-US" sz="1500" dirty="0"/>
          </a:p>
        </p:txBody>
      </p:sp>
      <p:sp>
        <p:nvSpPr>
          <p:cNvPr id="14" name="Text 11"/>
          <p:cNvSpPr/>
          <p:nvPr/>
        </p:nvSpPr>
        <p:spPr>
          <a:xfrm>
            <a:off x="4434840" y="4727448"/>
            <a:ext cx="5212080" cy="685800"/>
          </a:xfrm>
          <a:prstGeom prst="rect">
            <a:avLst/>
          </a:prstGeom>
          <a:noFill/>
          <a:ln/>
        </p:spPr>
        <p:txBody>
          <a:bodyPr wrap="square" lIns="0" tIns="0" rIns="0" bIns="0" rtlCol="0" anchor="t"/>
          <a:lstStyle/>
          <a:p>
            <a:pPr algn="l" indent="0" marL="0">
              <a:buNone/>
            </a:pPr>
            <a:r>
              <a:rPr lang="en-US" sz="1600" dirty="0">
                <a:solidFill>
                  <a:srgbClr val="0F172A"/>
                </a:solidFill>
                <a:latin typeface="Arial" pitchFamily="34" charset="0"/>
                <a:ea typeface="Arial" pitchFamily="34" charset="-122"/>
                <a:cs typeface="Arial" pitchFamily="34" charset="-120"/>
              </a:rPr>
              <a:t>The job’s real skill profile, matched to your interests.</a:t>
            </a:r>
            <a:endParaRPr lang="en-US" sz="1500" dirty="0"/>
          </a:p>
        </p:txBody>
      </p:sp>
      <p:sp>
        <p:nvSpPr>
          <p:cNvPr id="15" name="Text 12"/>
          <p:cNvSpPr/>
          <p:nvPr/>
        </p:nvSpPr>
        <p:spPr>
          <a:xfrm>
            <a:off x="9875520" y="4754880"/>
            <a:ext cx="1673352" cy="457200"/>
          </a:xfrm>
          <a:prstGeom prst="rect">
            <a:avLst/>
          </a:prstGeom>
          <a:noFill/>
          <a:ln/>
        </p:spPr>
        <p:txBody>
          <a:bodyPr wrap="square" lIns="0" tIns="0" rIns="0" bIns="0" rtlCol="0" anchor="t"/>
          <a:lstStyle/>
          <a:p>
            <a:pPr algn="l" indent="0" marL="0">
              <a:buNone/>
            </a:pPr>
            <a:r>
              <a:rPr lang="en-US" sz="1400" i="1" dirty="0">
                <a:solidFill>
                  <a:srgbClr val="64748B"/>
                </a:solidFill>
                <a:latin typeface="Arial" pitchFamily="34" charset="0"/>
                <a:ea typeface="Arial" pitchFamily="34" charset="-122"/>
                <a:cs typeface="Arial" pitchFamily="34" charset="-120"/>
              </a:rPr>
              <a:t>O*NET database</a:t>
            </a:r>
            <a:endParaRPr lang="en-US" sz="1500" dirty="0"/>
          </a:p>
        </p:txBody>
      </p:sp>
      <p:sp>
        <p:nvSpPr>
          <p:cNvPr id="16" name="Shape 13"/>
          <p:cNvSpPr/>
          <p:nvPr/>
        </p:nvSpPr>
        <p:spPr>
          <a:xfrm>
            <a:off x="640080" y="5596128"/>
            <a:ext cx="10911535" cy="12802"/>
          </a:xfrm>
          <a:prstGeom prst="rect">
            <a:avLst/>
          </a:prstGeom>
          <a:solidFill>
            <a:srgbClr val="DDE5F2"/>
          </a:solidFill>
          <a:ln/>
        </p:spPr>
      </p:sp>
      <p:sp>
        <p:nvSpPr>
          <p:cNvPr id="17" name="Text 14"/>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7</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07 · THE FORMULA</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Those three sentences, written down</a:t>
            </a:r>
            <a:endParaRPr lang="en-US" sz="3000" dirty="0"/>
          </a:p>
        </p:txBody>
      </p:sp>
      <p:sp>
        <p:nvSpPr>
          <p:cNvPr id="5" name="Text 2"/>
          <p:cNvSpPr/>
          <p:nvPr/>
        </p:nvSpPr>
        <p:spPr>
          <a:xfrm>
            <a:off x="640080" y="2148840"/>
            <a:ext cx="5760720" cy="457200"/>
          </a:xfrm>
          <a:prstGeom prst="rect">
            <a:avLst/>
          </a:prstGeom>
          <a:noFill/>
          <a:ln/>
        </p:spPr>
        <p:txBody>
          <a:bodyPr wrap="square" lIns="0" tIns="0" rIns="0" bIns="0" rtlCol="0" anchor="t"/>
          <a:lstStyle/>
          <a:p>
            <a:pPr algn="l" indent="0" marL="0">
              <a:buNone/>
            </a:pPr>
            <a:r>
              <a:rPr lang="en-US" sz="2000" b="1" dirty="0">
                <a:solidFill>
                  <a:srgbClr val="0F172A"/>
                </a:solidFill>
                <a:latin typeface="Arial" pitchFamily="34" charset="0"/>
                <a:ea typeface="Arial" pitchFamily="34" charset="-122"/>
                <a:cs typeface="Arial" pitchFamily="34" charset="-120"/>
              </a:rPr>
              <a:t>Return  =  ½ growth  +  ½ pay</a:t>
            </a:r>
            <a:endParaRPr lang="en-US" sz="1500" dirty="0"/>
          </a:p>
        </p:txBody>
      </p:sp>
      <p:sp>
        <p:nvSpPr>
          <p:cNvPr id="6" name="Text 3"/>
          <p:cNvSpPr/>
          <p:nvPr/>
        </p:nvSpPr>
        <p:spPr>
          <a:xfrm>
            <a:off x="6583680" y="2212848"/>
            <a:ext cx="4965192" cy="45720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what you get — each as a rank against all 730</a:t>
            </a:r>
            <a:endParaRPr lang="en-US" sz="1500" dirty="0"/>
          </a:p>
        </p:txBody>
      </p:sp>
      <p:sp>
        <p:nvSpPr>
          <p:cNvPr id="7" name="Shape 4"/>
          <p:cNvSpPr/>
          <p:nvPr/>
        </p:nvSpPr>
        <p:spPr>
          <a:xfrm>
            <a:off x="640080" y="2752344"/>
            <a:ext cx="10911535" cy="12802"/>
          </a:xfrm>
          <a:prstGeom prst="rect">
            <a:avLst/>
          </a:prstGeom>
          <a:solidFill>
            <a:srgbClr val="DDE5F2"/>
          </a:solidFill>
          <a:ln/>
        </p:spPr>
      </p:sp>
      <p:sp>
        <p:nvSpPr>
          <p:cNvPr id="8" name="Text 5"/>
          <p:cNvSpPr/>
          <p:nvPr/>
        </p:nvSpPr>
        <p:spPr>
          <a:xfrm>
            <a:off x="640080" y="3008376"/>
            <a:ext cx="5760720" cy="457200"/>
          </a:xfrm>
          <a:prstGeom prst="rect">
            <a:avLst/>
          </a:prstGeom>
          <a:noFill/>
          <a:ln/>
        </p:spPr>
        <p:txBody>
          <a:bodyPr wrap="square" lIns="0" tIns="0" rIns="0" bIns="0" rtlCol="0" anchor="t"/>
          <a:lstStyle/>
          <a:p>
            <a:pPr algn="l" indent="0" marL="0">
              <a:buNone/>
            </a:pPr>
            <a:r>
              <a:rPr lang="en-US" sz="2000" b="1" dirty="0">
                <a:solidFill>
                  <a:srgbClr val="0F172A"/>
                </a:solidFill>
                <a:latin typeface="Arial" pitchFamily="34" charset="0"/>
                <a:ea typeface="Arial" pitchFamily="34" charset="-122"/>
                <a:cs typeface="Arial" pitchFamily="34" charset="-120"/>
              </a:rPr>
              <a:t>Risk  =  0.7 AI  +  0.3 volatility</a:t>
            </a:r>
            <a:endParaRPr lang="en-US" sz="1500" dirty="0"/>
          </a:p>
        </p:txBody>
      </p:sp>
      <p:sp>
        <p:nvSpPr>
          <p:cNvPr id="9" name="Text 6"/>
          <p:cNvSpPr/>
          <p:nvPr/>
        </p:nvSpPr>
        <p:spPr>
          <a:xfrm>
            <a:off x="6583680" y="3072384"/>
            <a:ext cx="4965192" cy="45720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what can kill it</a:t>
            </a:r>
            <a:endParaRPr lang="en-US" sz="1500" dirty="0"/>
          </a:p>
        </p:txBody>
      </p:sp>
      <p:sp>
        <p:nvSpPr>
          <p:cNvPr id="10" name="Shape 7"/>
          <p:cNvSpPr/>
          <p:nvPr/>
        </p:nvSpPr>
        <p:spPr>
          <a:xfrm>
            <a:off x="640080" y="3611880"/>
            <a:ext cx="10911535" cy="12802"/>
          </a:xfrm>
          <a:prstGeom prst="rect">
            <a:avLst/>
          </a:prstGeom>
          <a:solidFill>
            <a:srgbClr val="DDE5F2"/>
          </a:solidFill>
          <a:ln/>
        </p:spPr>
      </p:sp>
      <p:sp>
        <p:nvSpPr>
          <p:cNvPr id="11" name="Text 8"/>
          <p:cNvSpPr/>
          <p:nvPr/>
        </p:nvSpPr>
        <p:spPr>
          <a:xfrm>
            <a:off x="640080" y="3867912"/>
            <a:ext cx="5760720" cy="457200"/>
          </a:xfrm>
          <a:prstGeom prst="rect">
            <a:avLst/>
          </a:prstGeom>
          <a:noFill/>
          <a:ln/>
        </p:spPr>
        <p:txBody>
          <a:bodyPr wrap="square" lIns="0" tIns="0" rIns="0" bIns="0" rtlCol="0" anchor="t"/>
          <a:lstStyle/>
          <a:p>
            <a:pPr algn="l" indent="0" marL="0">
              <a:buNone/>
            </a:pPr>
            <a:r>
              <a:rPr lang="en-US" sz="2000" b="1" dirty="0">
                <a:solidFill>
                  <a:srgbClr val="0F172A"/>
                </a:solidFill>
                <a:latin typeface="Arial" pitchFamily="34" charset="0"/>
                <a:ea typeface="Arial" pitchFamily="34" charset="-122"/>
                <a:cs typeface="Arial" pitchFamily="34" charset="-120"/>
              </a:rPr>
              <a:t>Value  =  Return × (1 − 0.6 Risk)</a:t>
            </a:r>
            <a:endParaRPr lang="en-US" sz="1500" dirty="0"/>
          </a:p>
        </p:txBody>
      </p:sp>
      <p:sp>
        <p:nvSpPr>
          <p:cNvPr id="12" name="Text 9"/>
          <p:cNvSpPr/>
          <p:nvPr/>
        </p:nvSpPr>
        <p:spPr>
          <a:xfrm>
            <a:off x="6583680" y="3931920"/>
            <a:ext cx="4965192" cy="45720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reward, discounted by risk</a:t>
            </a:r>
            <a:endParaRPr lang="en-US" sz="1500" dirty="0"/>
          </a:p>
        </p:txBody>
      </p:sp>
      <p:sp>
        <p:nvSpPr>
          <p:cNvPr id="13" name="Shape 10"/>
          <p:cNvSpPr/>
          <p:nvPr/>
        </p:nvSpPr>
        <p:spPr>
          <a:xfrm>
            <a:off x="640080" y="4471416"/>
            <a:ext cx="10911535" cy="12802"/>
          </a:xfrm>
          <a:prstGeom prst="rect">
            <a:avLst/>
          </a:prstGeom>
          <a:solidFill>
            <a:srgbClr val="DDE5F2"/>
          </a:solidFill>
          <a:ln/>
        </p:spPr>
      </p:sp>
      <p:sp>
        <p:nvSpPr>
          <p:cNvPr id="14" name="Text 11"/>
          <p:cNvSpPr/>
          <p:nvPr/>
        </p:nvSpPr>
        <p:spPr>
          <a:xfrm>
            <a:off x="640080" y="4727448"/>
            <a:ext cx="5760720" cy="457200"/>
          </a:xfrm>
          <a:prstGeom prst="rect">
            <a:avLst/>
          </a:prstGeom>
          <a:noFill/>
          <a:ln/>
        </p:spPr>
        <p:txBody>
          <a:bodyPr wrap="square" lIns="0" tIns="0" rIns="0" bIns="0" rtlCol="0" anchor="t"/>
          <a:lstStyle/>
          <a:p>
            <a:pPr algn="l" indent="0" marL="0">
              <a:buNone/>
            </a:pPr>
            <a:r>
              <a:rPr lang="en-US" sz="2000" b="1" dirty="0">
                <a:solidFill>
                  <a:srgbClr val="0F172A"/>
                </a:solidFill>
                <a:latin typeface="Arial" pitchFamily="34" charset="0"/>
                <a:ea typeface="Arial" pitchFamily="34" charset="-122"/>
                <a:cs typeface="Arial" pitchFamily="34" charset="-120"/>
              </a:rPr>
              <a:t>Score  =  70% Value  +  30% Fit</a:t>
            </a:r>
            <a:endParaRPr lang="en-US" sz="1500" dirty="0"/>
          </a:p>
        </p:txBody>
      </p:sp>
      <p:sp>
        <p:nvSpPr>
          <p:cNvPr id="15" name="Text 12"/>
          <p:cNvSpPr/>
          <p:nvPr/>
        </p:nvSpPr>
        <p:spPr>
          <a:xfrm>
            <a:off x="6583680" y="4791456"/>
            <a:ext cx="4965192" cy="45720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blend in the match to you — out of 100</a:t>
            </a:r>
            <a:endParaRPr lang="en-US" sz="1500" dirty="0"/>
          </a:p>
        </p:txBody>
      </p:sp>
      <p:sp>
        <p:nvSpPr>
          <p:cNvPr id="16" name="Shape 13"/>
          <p:cNvSpPr/>
          <p:nvPr/>
        </p:nvSpPr>
        <p:spPr>
          <a:xfrm>
            <a:off x="640080" y="5330952"/>
            <a:ext cx="10911535" cy="12802"/>
          </a:xfrm>
          <a:prstGeom prst="rect">
            <a:avLst/>
          </a:prstGeom>
          <a:solidFill>
            <a:srgbClr val="DDE5F2"/>
          </a:solidFill>
          <a:ln/>
        </p:spPr>
      </p:sp>
      <p:sp>
        <p:nvSpPr>
          <p:cNvPr id="17" name="Text 14"/>
          <p:cNvSpPr/>
          <p:nvPr/>
        </p:nvSpPr>
        <p:spPr>
          <a:xfrm>
            <a:off x="640080" y="5577840"/>
            <a:ext cx="10911535" cy="685800"/>
          </a:xfrm>
          <a:prstGeom prst="roundRect">
            <a:avLst>
              <a:gd name="adj" fmla="val 10667"/>
            </a:avLst>
          </a:prstGeom>
          <a:solidFill>
            <a:srgbClr val="EFF3FB"/>
          </a:solidFill>
          <a:ln w="12700">
            <a:solidFill>
              <a:srgbClr val="DDE5F2"/>
            </a:solidFill>
          </a:ln>
        </p:spPr>
        <p:txBody>
          <a:bodyPr wrap="square" lIns="177800" tIns="177800" rIns="177800" bIns="177800" rtlCol="0" anchor="ctr"/>
          <a:lstStyle/>
          <a:p>
            <a:pPr algn="l" indent="0" marL="0">
              <a:buNone/>
            </a:pPr>
            <a:r>
              <a:rPr lang="en-US" sz="1500" b="1" dirty="0">
                <a:solidFill>
                  <a:srgbClr val="0F172A"/>
                </a:solidFill>
                <a:latin typeface="Arial" pitchFamily="34" charset="0"/>
                <a:ea typeface="Arial" pitchFamily="34" charset="-122"/>
                <a:cs typeface="Arial" pitchFamily="34" charset="-120"/>
              </a:rPr>
              <a:t>None of these shapes is a default.  </a:t>
            </a:r>
            <a:pPr algn="l" indent="0" marL="0">
              <a:buNone/>
            </a:pPr>
            <a:r>
              <a:rPr lang="en-US" sz="1500" dirty="0">
                <a:solidFill>
                  <a:srgbClr val="64748B"/>
                </a:solidFill>
                <a:latin typeface="Arial" pitchFamily="34" charset="0"/>
                <a:ea typeface="Arial" pitchFamily="34" charset="-122"/>
                <a:cs typeface="Arial" pitchFamily="34" charset="-120"/>
              </a:rPr>
              <a:t>Every line beat an obvious alternative — that argument is the next slide.</a:t>
            </a:r>
            <a:endParaRPr lang="en-US" sz="1500" dirty="0"/>
          </a:p>
        </p:txBody>
      </p:sp>
      <p:sp>
        <p:nvSpPr>
          <p:cNvPr id="18" name="Text 15"/>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8</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08 · THE DERIVATION</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Each line is a decision, not a default</a:t>
            </a:r>
            <a:endParaRPr lang="en-US" sz="3000" dirty="0"/>
          </a:p>
        </p:txBody>
      </p:sp>
      <p:sp>
        <p:nvSpPr>
          <p:cNvPr id="5" name="Text 2"/>
          <p:cNvSpPr/>
          <p:nvPr/>
        </p:nvSpPr>
        <p:spPr>
          <a:xfrm>
            <a:off x="640080" y="2194560"/>
            <a:ext cx="3063240" cy="777240"/>
          </a:xfrm>
          <a:prstGeom prst="rect">
            <a:avLst/>
          </a:prstGeom>
          <a:noFill/>
          <a:ln/>
        </p:spPr>
        <p:txBody>
          <a:bodyPr wrap="square" lIns="0" tIns="0" rIns="0" bIns="0" rtlCol="0" anchor="t"/>
          <a:lstStyle/>
          <a:p>
            <a:pPr algn="l" indent="0" marL="0">
              <a:buNone/>
            </a:pPr>
            <a:r>
              <a:rPr lang="en-US" sz="2000" b="1" dirty="0">
                <a:solidFill>
                  <a:srgbClr val="1D4ED8"/>
                </a:solidFill>
                <a:latin typeface="Arial" pitchFamily="34" charset="0"/>
                <a:ea typeface="Arial" pitchFamily="34" charset="-122"/>
                <a:cs typeface="Arial" pitchFamily="34" charset="-120"/>
              </a:rPr>
              <a:t>Ranks, not raw units</a:t>
            </a:r>
            <a:endParaRPr lang="en-US" sz="1500" dirty="0"/>
          </a:p>
        </p:txBody>
      </p:sp>
      <p:sp>
        <p:nvSpPr>
          <p:cNvPr id="6" name="Text 3"/>
          <p:cNvSpPr/>
          <p:nvPr/>
        </p:nvSpPr>
        <p:spPr>
          <a:xfrm>
            <a:off x="3931920" y="2221992"/>
            <a:ext cx="5806440" cy="1051560"/>
          </a:xfrm>
          <a:prstGeom prst="rect">
            <a:avLst/>
          </a:prstGeom>
          <a:noFill/>
          <a:ln/>
        </p:spPr>
        <p:txBody>
          <a:bodyPr wrap="square" lIns="0" tIns="0" rIns="0" bIns="0" rtlCol="0" anchor="t"/>
          <a:lstStyle/>
          <a:p>
            <a:pPr algn="l" indent="0" marL="0">
              <a:buNone/>
            </a:pPr>
            <a:r>
              <a:rPr lang="en-US" sz="1500" dirty="0">
                <a:solidFill>
                  <a:srgbClr val="0F172A"/>
                </a:solidFill>
                <a:latin typeface="Arial" pitchFamily="34" charset="0"/>
                <a:ea typeface="Arial" pitchFamily="34" charset="-122"/>
                <a:cs typeface="Arial" pitchFamily="34" charset="-120"/>
              </a:rPr>
              <a:t>You can’t average a percent and dollars. Every input becomes a percentile against all 730 — so a score means “versus every alternative you could pick.”</a:t>
            </a:r>
            <a:endParaRPr lang="en-US" sz="1500" dirty="0"/>
          </a:p>
        </p:txBody>
      </p:sp>
      <p:sp>
        <p:nvSpPr>
          <p:cNvPr id="7" name="Text 4"/>
          <p:cNvSpPr/>
          <p:nvPr/>
        </p:nvSpPr>
        <p:spPr>
          <a:xfrm>
            <a:off x="9966960" y="2249424"/>
            <a:ext cx="1581912" cy="457200"/>
          </a:xfrm>
          <a:prstGeom prst="rect">
            <a:avLst/>
          </a:prstGeom>
          <a:noFill/>
          <a:ln/>
        </p:spPr>
        <p:txBody>
          <a:bodyPr wrap="square" lIns="0" tIns="0" rIns="0" bIns="0" rtlCol="0" anchor="t"/>
          <a:lstStyle/>
          <a:p>
            <a:pPr algn="l" indent="0" marL="0">
              <a:buNone/>
            </a:pPr>
            <a:r>
              <a:rPr lang="en-US" sz="1400" i="1" dirty="0">
                <a:solidFill>
                  <a:srgbClr val="64748B"/>
                </a:solidFill>
                <a:latin typeface="Arial" pitchFamily="34" charset="0"/>
                <a:ea typeface="Arial" pitchFamily="34" charset="-122"/>
                <a:cs typeface="Arial" pitchFamily="34" charset="-120"/>
              </a:rPr>
              <a:t>shapes Return</a:t>
            </a:r>
            <a:endParaRPr lang="en-US" sz="1500" dirty="0"/>
          </a:p>
        </p:txBody>
      </p:sp>
      <p:sp>
        <p:nvSpPr>
          <p:cNvPr id="8" name="Shape 5"/>
          <p:cNvSpPr/>
          <p:nvPr/>
        </p:nvSpPr>
        <p:spPr>
          <a:xfrm>
            <a:off x="640080" y="3310128"/>
            <a:ext cx="10911535" cy="12802"/>
          </a:xfrm>
          <a:prstGeom prst="rect">
            <a:avLst/>
          </a:prstGeom>
          <a:solidFill>
            <a:srgbClr val="DDE5F2"/>
          </a:solidFill>
          <a:ln/>
        </p:spPr>
      </p:sp>
      <p:sp>
        <p:nvSpPr>
          <p:cNvPr id="9" name="Text 6"/>
          <p:cNvSpPr/>
          <p:nvPr/>
        </p:nvSpPr>
        <p:spPr>
          <a:xfrm>
            <a:off x="640080" y="3566160"/>
            <a:ext cx="3063240" cy="777240"/>
          </a:xfrm>
          <a:prstGeom prst="rect">
            <a:avLst/>
          </a:prstGeom>
          <a:noFill/>
          <a:ln/>
        </p:spPr>
        <p:txBody>
          <a:bodyPr wrap="square" lIns="0" tIns="0" rIns="0" bIns="0" rtlCol="0" anchor="t"/>
          <a:lstStyle/>
          <a:p>
            <a:pPr algn="l" indent="0" marL="0">
              <a:buNone/>
            </a:pPr>
            <a:r>
              <a:rPr lang="en-US" sz="2000" b="1" dirty="0">
                <a:solidFill>
                  <a:srgbClr val="1D4ED8"/>
                </a:solidFill>
                <a:latin typeface="Arial" pitchFamily="34" charset="0"/>
                <a:ea typeface="Arial" pitchFamily="34" charset="-122"/>
                <a:cs typeface="Arial" pitchFamily="34" charset="-120"/>
              </a:rPr>
              <a:t>Multiply risk, don’t subtract it</a:t>
            </a:r>
            <a:endParaRPr lang="en-US" sz="1500" dirty="0"/>
          </a:p>
        </p:txBody>
      </p:sp>
      <p:sp>
        <p:nvSpPr>
          <p:cNvPr id="10" name="Text 7"/>
          <p:cNvSpPr/>
          <p:nvPr/>
        </p:nvSpPr>
        <p:spPr>
          <a:xfrm>
            <a:off x="3931920" y="3593592"/>
            <a:ext cx="5806440" cy="1051560"/>
          </a:xfrm>
          <a:prstGeom prst="rect">
            <a:avLst/>
          </a:prstGeom>
          <a:noFill/>
          <a:ln/>
        </p:spPr>
        <p:txBody>
          <a:bodyPr wrap="square" lIns="0" tIns="0" rIns="0" bIns="0" rtlCol="0" anchor="t"/>
          <a:lstStyle/>
          <a:p>
            <a:pPr algn="l" indent="0" marL="0">
              <a:buNone/>
            </a:pPr>
            <a:r>
              <a:rPr lang="en-US" sz="1500" dirty="0">
                <a:solidFill>
                  <a:srgbClr val="0F172A"/>
                </a:solidFill>
                <a:latin typeface="Arial" pitchFamily="34" charset="0"/>
                <a:ea typeface="Arial" pitchFamily="34" charset="-122"/>
                <a:cs typeface="Arial" pitchFamily="34" charset="-120"/>
              </a:rPr>
              <a:t>Subtraction lets a safe dead end beat a risky rocket on safety alone. Risk discounts the reward instead — and 0.6 caps it, so risk erases at most 60% of return, never all of it.</a:t>
            </a:r>
            <a:endParaRPr lang="en-US" sz="1500" dirty="0"/>
          </a:p>
        </p:txBody>
      </p:sp>
      <p:sp>
        <p:nvSpPr>
          <p:cNvPr id="11" name="Text 8"/>
          <p:cNvSpPr/>
          <p:nvPr/>
        </p:nvSpPr>
        <p:spPr>
          <a:xfrm>
            <a:off x="9966960" y="3621024"/>
            <a:ext cx="1581912" cy="457200"/>
          </a:xfrm>
          <a:prstGeom prst="rect">
            <a:avLst/>
          </a:prstGeom>
          <a:noFill/>
          <a:ln/>
        </p:spPr>
        <p:txBody>
          <a:bodyPr wrap="square" lIns="0" tIns="0" rIns="0" bIns="0" rtlCol="0" anchor="t"/>
          <a:lstStyle/>
          <a:p>
            <a:pPr algn="l" indent="0" marL="0">
              <a:buNone/>
            </a:pPr>
            <a:r>
              <a:rPr lang="en-US" sz="1400" i="1" dirty="0">
                <a:solidFill>
                  <a:srgbClr val="64748B"/>
                </a:solidFill>
                <a:latin typeface="Arial" pitchFamily="34" charset="0"/>
                <a:ea typeface="Arial" pitchFamily="34" charset="-122"/>
                <a:cs typeface="Arial" pitchFamily="34" charset="-120"/>
              </a:rPr>
              <a:t>shapes Value</a:t>
            </a:r>
            <a:endParaRPr lang="en-US" sz="1500" dirty="0"/>
          </a:p>
        </p:txBody>
      </p:sp>
      <p:sp>
        <p:nvSpPr>
          <p:cNvPr id="12" name="Shape 9"/>
          <p:cNvSpPr/>
          <p:nvPr/>
        </p:nvSpPr>
        <p:spPr>
          <a:xfrm>
            <a:off x="640080" y="4681728"/>
            <a:ext cx="10911535" cy="12802"/>
          </a:xfrm>
          <a:prstGeom prst="rect">
            <a:avLst/>
          </a:prstGeom>
          <a:solidFill>
            <a:srgbClr val="DDE5F2"/>
          </a:solidFill>
          <a:ln/>
        </p:spPr>
      </p:sp>
      <p:sp>
        <p:nvSpPr>
          <p:cNvPr id="13" name="Text 10"/>
          <p:cNvSpPr/>
          <p:nvPr/>
        </p:nvSpPr>
        <p:spPr>
          <a:xfrm>
            <a:off x="640080" y="4937760"/>
            <a:ext cx="3063240" cy="777240"/>
          </a:xfrm>
          <a:prstGeom prst="rect">
            <a:avLst/>
          </a:prstGeom>
          <a:noFill/>
          <a:ln/>
        </p:spPr>
        <p:txBody>
          <a:bodyPr wrap="square" lIns="0" tIns="0" rIns="0" bIns="0" rtlCol="0" anchor="t"/>
          <a:lstStyle/>
          <a:p>
            <a:pPr algn="l" indent="0" marL="0">
              <a:buNone/>
            </a:pPr>
            <a:r>
              <a:rPr lang="en-US" sz="2000" b="1" dirty="0">
                <a:solidFill>
                  <a:srgbClr val="1D4ED8"/>
                </a:solidFill>
                <a:latin typeface="Arial" pitchFamily="34" charset="0"/>
                <a:ea typeface="Arial" pitchFamily="34" charset="-122"/>
                <a:cs typeface="Arial" pitchFamily="34" charset="-120"/>
              </a:rPr>
              <a:t>Priors, not fitted constants</a:t>
            </a:r>
            <a:endParaRPr lang="en-US" sz="1500" dirty="0"/>
          </a:p>
        </p:txBody>
      </p:sp>
      <p:sp>
        <p:nvSpPr>
          <p:cNvPr id="14" name="Text 11"/>
          <p:cNvSpPr/>
          <p:nvPr/>
        </p:nvSpPr>
        <p:spPr>
          <a:xfrm>
            <a:off x="3931920" y="4965192"/>
            <a:ext cx="5806440" cy="1051560"/>
          </a:xfrm>
          <a:prstGeom prst="rect">
            <a:avLst/>
          </a:prstGeom>
          <a:noFill/>
          <a:ln/>
        </p:spPr>
        <p:txBody>
          <a:bodyPr wrap="square" lIns="0" tIns="0" rIns="0" bIns="0" rtlCol="0" anchor="t"/>
          <a:lstStyle/>
          <a:p>
            <a:pPr algn="l" indent="0" marL="0">
              <a:buNone/>
            </a:pPr>
            <a:r>
              <a:rPr lang="en-US" sz="1500" dirty="0">
                <a:solidFill>
                  <a:srgbClr val="0F172A"/>
                </a:solidFill>
                <a:latin typeface="Arial" pitchFamily="34" charset="0"/>
                <a:ea typeface="Arial" pitchFamily="34" charset="-122"/>
                <a:cs typeface="Arial" pitchFamily="34" charset="-120"/>
              </a:rPr>
              <a:t>There’s no dataset of correct career choices to train on. So the weights are judgment calls said out loud — re-scored 729 times, checked by five rival formulas, labeled “close call” when the answer flips.</a:t>
            </a:r>
            <a:endParaRPr lang="en-US" sz="1500" dirty="0"/>
          </a:p>
        </p:txBody>
      </p:sp>
      <p:sp>
        <p:nvSpPr>
          <p:cNvPr id="15" name="Text 12"/>
          <p:cNvSpPr/>
          <p:nvPr/>
        </p:nvSpPr>
        <p:spPr>
          <a:xfrm>
            <a:off x="9966960" y="4992624"/>
            <a:ext cx="1581912" cy="457200"/>
          </a:xfrm>
          <a:prstGeom prst="rect">
            <a:avLst/>
          </a:prstGeom>
          <a:noFill/>
          <a:ln/>
        </p:spPr>
        <p:txBody>
          <a:bodyPr wrap="square" lIns="0" tIns="0" rIns="0" bIns="0" rtlCol="0" anchor="t"/>
          <a:lstStyle/>
          <a:p>
            <a:pPr algn="l" indent="0" marL="0">
              <a:buNone/>
            </a:pPr>
            <a:r>
              <a:rPr lang="en-US" sz="1400" i="1" dirty="0">
                <a:solidFill>
                  <a:srgbClr val="64748B"/>
                </a:solidFill>
                <a:latin typeface="Arial" pitchFamily="34" charset="0"/>
                <a:ea typeface="Arial" pitchFamily="34" charset="-122"/>
                <a:cs typeface="Arial" pitchFamily="34" charset="-120"/>
              </a:rPr>
              <a:t>shapes the weights</a:t>
            </a:r>
            <a:endParaRPr lang="en-US" sz="1500" dirty="0"/>
          </a:p>
        </p:txBody>
      </p:sp>
      <p:sp>
        <p:nvSpPr>
          <p:cNvPr id="16" name="Shape 13"/>
          <p:cNvSpPr/>
          <p:nvPr/>
        </p:nvSpPr>
        <p:spPr>
          <a:xfrm>
            <a:off x="640080" y="6053328"/>
            <a:ext cx="10911535" cy="12802"/>
          </a:xfrm>
          <a:prstGeom prst="rect">
            <a:avLst/>
          </a:prstGeom>
          <a:solidFill>
            <a:srgbClr val="DDE5F2"/>
          </a:solidFill>
          <a:ln/>
        </p:spPr>
      </p:sp>
      <p:sp>
        <p:nvSpPr>
          <p:cNvPr id="18" name="Text 14"/>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9</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09 · THE RECEIPTS</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I tested it on a decade that already happened</a:t>
            </a:r>
            <a:endParaRPr lang="en-US" sz="3000" dirty="0"/>
          </a:p>
        </p:txBody>
      </p:sp>
      <p:sp>
        <p:nvSpPr>
          <p:cNvPr id="5" name="Text 2"/>
          <p:cNvSpPr/>
          <p:nvPr/>
        </p:nvSpPr>
        <p:spPr>
          <a:xfrm>
            <a:off x="640080" y="2148840"/>
            <a:ext cx="2651760" cy="685800"/>
          </a:xfrm>
          <a:prstGeom prst="rect">
            <a:avLst/>
          </a:prstGeom>
          <a:noFill/>
          <a:ln/>
        </p:spPr>
        <p:txBody>
          <a:bodyPr wrap="square" lIns="0" tIns="0" rIns="0" bIns="0" rtlCol="0" anchor="t"/>
          <a:lstStyle/>
          <a:p>
            <a:pPr algn="l" indent="0" marL="0">
              <a:buNone/>
            </a:pPr>
            <a:r>
              <a:rPr lang="en-US" sz="4000" b="1" dirty="0">
                <a:solidFill>
                  <a:srgbClr val="1D4ED8"/>
                </a:solidFill>
                <a:latin typeface="Arial" pitchFamily="34" charset="0"/>
                <a:ea typeface="Arial" pitchFamily="34" charset="-122"/>
                <a:cs typeface="Arial" pitchFamily="34" charset="-120"/>
              </a:rPr>
              <a:t>0.39</a:t>
            </a:r>
            <a:endParaRPr lang="en-US" sz="1500" dirty="0"/>
          </a:p>
        </p:txBody>
      </p:sp>
      <p:sp>
        <p:nvSpPr>
          <p:cNvPr id="6" name="Text 3"/>
          <p:cNvSpPr/>
          <p:nvPr/>
        </p:nvSpPr>
        <p:spPr>
          <a:xfrm>
            <a:off x="640080" y="2880360"/>
            <a:ext cx="2514600" cy="731520"/>
          </a:xfrm>
          <a:prstGeom prst="rect">
            <a:avLst/>
          </a:prstGeom>
          <a:noFill/>
          <a:ln/>
        </p:spPr>
        <p:txBody>
          <a:bodyPr wrap="square" lIns="0" tIns="0" rIns="0" bIns="0" rtlCol="0" anchor="t"/>
          <a:lstStyle/>
          <a:p>
            <a:pPr algn="l" indent="0" marL="0">
              <a:lnSpc>
                <a:spcPts val="1900"/>
              </a:lnSpc>
              <a:buNone/>
            </a:pPr>
            <a:r>
              <a:rPr lang="en-US" sz="1400" dirty="0">
                <a:solidFill>
                  <a:srgbClr val="64748B"/>
                </a:solidFill>
                <a:latin typeface="Arial" pitchFamily="34" charset="0"/>
                <a:ea typeface="Arial" pitchFamily="34" charset="-122"/>
                <a:cs typeface="Arial" pitchFamily="34" charset="-120"/>
              </a:rPr>
              <a:t>rank correlation vs</a:t>
            </a:r>
            <a:endParaRPr lang="en-US" sz="1500" dirty="0"/>
          </a:p>
          <a:p>
            <a:pPr algn="l" indent="0" marL="0">
              <a:lnSpc>
                <a:spcPts val="1900"/>
              </a:lnSpc>
              <a:buNone/>
            </a:pPr>
            <a:r>
              <a:rPr lang="en-US" sz="1400" dirty="0">
                <a:solidFill>
                  <a:srgbClr val="64748B"/>
                </a:solidFill>
                <a:latin typeface="Arial" pitchFamily="34" charset="0"/>
                <a:ea typeface="Arial" pitchFamily="34" charset="-122"/>
                <a:cs typeface="Arial" pitchFamily="34" charset="-120"/>
              </a:rPr>
              <a:t>what really happened</a:t>
            </a:r>
            <a:endParaRPr lang="en-US" sz="1500" dirty="0"/>
          </a:p>
        </p:txBody>
      </p:sp>
      <p:sp>
        <p:nvSpPr>
          <p:cNvPr id="7" name="Text 4"/>
          <p:cNvSpPr/>
          <p:nvPr/>
        </p:nvSpPr>
        <p:spPr>
          <a:xfrm>
            <a:off x="3383280" y="2148840"/>
            <a:ext cx="2651760" cy="685800"/>
          </a:xfrm>
          <a:prstGeom prst="rect">
            <a:avLst/>
          </a:prstGeom>
          <a:noFill/>
          <a:ln/>
        </p:spPr>
        <p:txBody>
          <a:bodyPr wrap="square" lIns="0" tIns="0" rIns="0" bIns="0" rtlCol="0" anchor="t"/>
          <a:lstStyle/>
          <a:p>
            <a:pPr algn="l" indent="0" marL="0">
              <a:buNone/>
            </a:pPr>
            <a:r>
              <a:rPr lang="en-US" sz="4000" b="1" dirty="0">
                <a:solidFill>
                  <a:srgbClr val="1D4ED8"/>
                </a:solidFill>
                <a:latin typeface="Arial" pitchFamily="34" charset="0"/>
                <a:ea typeface="Arial" pitchFamily="34" charset="-122"/>
                <a:cs typeface="Arial" pitchFamily="34" charset="-120"/>
              </a:rPr>
              <a:t>48%</a:t>
            </a:r>
            <a:endParaRPr lang="en-US" sz="1500" dirty="0"/>
          </a:p>
        </p:txBody>
      </p:sp>
      <p:sp>
        <p:nvSpPr>
          <p:cNvPr id="8" name="Text 5"/>
          <p:cNvSpPr/>
          <p:nvPr/>
        </p:nvSpPr>
        <p:spPr>
          <a:xfrm>
            <a:off x="3383280" y="2880360"/>
            <a:ext cx="2514600" cy="731520"/>
          </a:xfrm>
          <a:prstGeom prst="rect">
            <a:avLst/>
          </a:prstGeom>
          <a:noFill/>
          <a:ln/>
        </p:spPr>
        <p:txBody>
          <a:bodyPr wrap="square" lIns="0" tIns="0" rIns="0" bIns="0" rtlCol="0" anchor="t"/>
          <a:lstStyle/>
          <a:p>
            <a:pPr algn="l" indent="0" marL="0">
              <a:lnSpc>
                <a:spcPts val="1900"/>
              </a:lnSpc>
              <a:buNone/>
            </a:pPr>
            <a:r>
              <a:rPr lang="en-US" sz="1400" dirty="0">
                <a:solidFill>
                  <a:srgbClr val="64748B"/>
                </a:solidFill>
                <a:latin typeface="Arial" pitchFamily="34" charset="0"/>
                <a:ea typeface="Arial" pitchFamily="34" charset="-122"/>
                <a:cs typeface="Arial" pitchFamily="34" charset="-120"/>
              </a:rPr>
              <a:t>of real decliners flagged</a:t>
            </a:r>
            <a:endParaRPr lang="en-US" sz="1500" dirty="0"/>
          </a:p>
          <a:p>
            <a:pPr algn="l" indent="0" marL="0">
              <a:lnSpc>
                <a:spcPts val="1900"/>
              </a:lnSpc>
              <a:buNone/>
            </a:pPr>
            <a:r>
              <a:rPr lang="en-US" sz="1400" dirty="0">
                <a:solidFill>
                  <a:srgbClr val="64748B"/>
                </a:solidFill>
                <a:latin typeface="Arial" pitchFamily="34" charset="0"/>
                <a:ea typeface="Arial" pitchFamily="34" charset="-122"/>
                <a:cs typeface="Arial" pitchFamily="34" charset="-120"/>
              </a:rPr>
              <a:t>(33% by chance)</a:t>
            </a:r>
            <a:endParaRPr lang="en-US" sz="1500" dirty="0"/>
          </a:p>
        </p:txBody>
      </p:sp>
      <p:sp>
        <p:nvSpPr>
          <p:cNvPr id="9" name="Text 6"/>
          <p:cNvSpPr/>
          <p:nvPr/>
        </p:nvSpPr>
        <p:spPr>
          <a:xfrm>
            <a:off x="6126480" y="2148840"/>
            <a:ext cx="2651760" cy="685800"/>
          </a:xfrm>
          <a:prstGeom prst="rect">
            <a:avLst/>
          </a:prstGeom>
          <a:noFill/>
          <a:ln/>
        </p:spPr>
        <p:txBody>
          <a:bodyPr wrap="square" lIns="0" tIns="0" rIns="0" bIns="0" rtlCol="0" anchor="t"/>
          <a:lstStyle/>
          <a:p>
            <a:pPr algn="l" indent="0" marL="0">
              <a:buNone/>
            </a:pPr>
            <a:r>
              <a:rPr lang="en-US" sz="4000" b="1" dirty="0">
                <a:solidFill>
                  <a:srgbClr val="1D4ED8"/>
                </a:solidFill>
                <a:latin typeface="Arial" pitchFamily="34" charset="0"/>
                <a:ea typeface="Arial" pitchFamily="34" charset="-122"/>
                <a:cs typeface="Arial" pitchFamily="34" charset="-120"/>
              </a:rPr>
              <a:t>37 vs 46</a:t>
            </a:r>
            <a:endParaRPr lang="en-US" sz="1500" dirty="0"/>
          </a:p>
        </p:txBody>
      </p:sp>
      <p:sp>
        <p:nvSpPr>
          <p:cNvPr id="10" name="Text 7"/>
          <p:cNvSpPr/>
          <p:nvPr/>
        </p:nvSpPr>
        <p:spPr>
          <a:xfrm>
            <a:off x="6126480" y="2880360"/>
            <a:ext cx="2514600" cy="731520"/>
          </a:xfrm>
          <a:prstGeom prst="rect">
            <a:avLst/>
          </a:prstGeom>
          <a:noFill/>
          <a:ln/>
        </p:spPr>
        <p:txBody>
          <a:bodyPr wrap="square" lIns="0" tIns="0" rIns="0" bIns="0" rtlCol="0" anchor="t"/>
          <a:lstStyle/>
          <a:p>
            <a:pPr algn="l" indent="0" marL="0">
              <a:lnSpc>
                <a:spcPts val="1900"/>
              </a:lnSpc>
              <a:buNone/>
            </a:pPr>
            <a:r>
              <a:rPr lang="en-US" sz="1400" dirty="0">
                <a:solidFill>
                  <a:srgbClr val="64748B"/>
                </a:solidFill>
                <a:latin typeface="Arial" pitchFamily="34" charset="0"/>
                <a:ea typeface="Arial" pitchFamily="34" charset="-122"/>
                <a:cs typeface="Arial" pitchFamily="34" charset="-120"/>
              </a:rPr>
              <a:t>median 2014 score —</a:t>
            </a:r>
            <a:endParaRPr lang="en-US" sz="1500" dirty="0"/>
          </a:p>
          <a:p>
            <a:pPr algn="l" indent="0" marL="0">
              <a:lnSpc>
                <a:spcPts val="1900"/>
              </a:lnSpc>
              <a:buNone/>
            </a:pPr>
            <a:r>
              <a:rPr lang="en-US" sz="1400" dirty="0">
                <a:solidFill>
                  <a:srgbClr val="64748B"/>
                </a:solidFill>
                <a:latin typeface="Arial" pitchFamily="34" charset="0"/>
                <a:ea typeface="Arial" pitchFamily="34" charset="-122"/>
                <a:cs typeface="Arial" pitchFamily="34" charset="-120"/>
              </a:rPr>
              <a:t>decliners vs growers</a:t>
            </a:r>
            <a:endParaRPr lang="en-US" sz="1500" dirty="0"/>
          </a:p>
        </p:txBody>
      </p:sp>
      <p:sp>
        <p:nvSpPr>
          <p:cNvPr id="11" name="Text 8"/>
          <p:cNvSpPr/>
          <p:nvPr/>
        </p:nvSpPr>
        <p:spPr>
          <a:xfrm>
            <a:off x="8869680" y="2148840"/>
            <a:ext cx="2651760" cy="685800"/>
          </a:xfrm>
          <a:prstGeom prst="rect">
            <a:avLst/>
          </a:prstGeom>
          <a:noFill/>
          <a:ln/>
        </p:spPr>
        <p:txBody>
          <a:bodyPr wrap="square" lIns="0" tIns="0" rIns="0" bIns="0" rtlCol="0" anchor="t"/>
          <a:lstStyle/>
          <a:p>
            <a:pPr algn="l" indent="0" marL="0">
              <a:buNone/>
            </a:pPr>
            <a:r>
              <a:rPr lang="en-US" sz="4000" b="1" dirty="0">
                <a:solidFill>
                  <a:srgbClr val="1D4ED8"/>
                </a:solidFill>
                <a:latin typeface="Arial" pitchFamily="34" charset="0"/>
                <a:ea typeface="Arial" pitchFamily="34" charset="-122"/>
                <a:cs typeface="Arial" pitchFamily="34" charset="-120"/>
              </a:rPr>
              <a:t>~0</a:t>
            </a:r>
            <a:endParaRPr lang="en-US" sz="1500" dirty="0"/>
          </a:p>
        </p:txBody>
      </p:sp>
      <p:sp>
        <p:nvSpPr>
          <p:cNvPr id="12" name="Text 9"/>
          <p:cNvSpPr/>
          <p:nvPr/>
        </p:nvSpPr>
        <p:spPr>
          <a:xfrm>
            <a:off x="8869680" y="2880360"/>
            <a:ext cx="2514600" cy="731520"/>
          </a:xfrm>
          <a:prstGeom prst="rect">
            <a:avLst/>
          </a:prstGeom>
          <a:noFill/>
          <a:ln/>
        </p:spPr>
        <p:txBody>
          <a:bodyPr wrap="square" lIns="0" tIns="0" rIns="0" bIns="0" rtlCol="0" anchor="t"/>
          <a:lstStyle/>
          <a:p>
            <a:pPr algn="l" indent="0" marL="0">
              <a:lnSpc>
                <a:spcPts val="1900"/>
              </a:lnSpc>
              <a:buNone/>
            </a:pPr>
            <a:r>
              <a:rPr lang="en-US" sz="1400" dirty="0">
                <a:solidFill>
                  <a:srgbClr val="64748B"/>
                </a:solidFill>
                <a:latin typeface="Arial" pitchFamily="34" charset="0"/>
                <a:ea typeface="Arial" pitchFamily="34" charset="-122"/>
                <a:cs typeface="Arial" pitchFamily="34" charset="-120"/>
              </a:rPr>
              <a:t>added by the AI term —</a:t>
            </a:r>
            <a:endParaRPr lang="en-US" sz="1500" dirty="0"/>
          </a:p>
          <a:p>
            <a:pPr algn="l" indent="0" marL="0">
              <a:lnSpc>
                <a:spcPts val="1900"/>
              </a:lnSpc>
              <a:buNone/>
            </a:pPr>
            <a:r>
              <a:rPr lang="en-US" sz="1400" dirty="0">
                <a:solidFill>
                  <a:srgbClr val="64748B"/>
                </a:solidFill>
                <a:latin typeface="Arial" pitchFamily="34" charset="0"/>
                <a:ea typeface="Arial" pitchFamily="34" charset="-122"/>
                <a:cs typeface="Arial" pitchFamily="34" charset="-120"/>
              </a:rPr>
              <a:t>correct: no LLMs in 2014</a:t>
            </a:r>
            <a:endParaRPr lang="en-US" sz="1500" dirty="0"/>
          </a:p>
        </p:txBody>
      </p:sp>
      <p:sp>
        <p:nvSpPr>
          <p:cNvPr id="13" name="Shape 10"/>
          <p:cNvSpPr/>
          <p:nvPr/>
        </p:nvSpPr>
        <p:spPr>
          <a:xfrm>
            <a:off x="640080" y="3840480"/>
            <a:ext cx="10911535" cy="12802"/>
          </a:xfrm>
          <a:prstGeom prst="rect">
            <a:avLst/>
          </a:prstGeom>
          <a:solidFill>
            <a:srgbClr val="DDE5F2"/>
          </a:solidFill>
          <a:ln/>
        </p:spPr>
      </p:sp>
      <p:sp>
        <p:nvSpPr>
          <p:cNvPr id="14" name="Text 11"/>
          <p:cNvSpPr/>
          <p:nvPr/>
        </p:nvSpPr>
        <p:spPr>
          <a:xfrm>
            <a:off x="640080" y="4160520"/>
            <a:ext cx="10911535" cy="1874520"/>
          </a:xfrm>
          <a:prstGeom prst="roundRect">
            <a:avLst>
              <a:gd name="adj" fmla="val 3902"/>
            </a:avLst>
          </a:prstGeom>
          <a:solidFill>
            <a:srgbClr val="FDF6EC"/>
          </a:solidFill>
          <a:ln w="12700">
            <a:solidFill>
              <a:srgbClr val="B45309"/>
            </a:solidFill>
          </a:ln>
        </p:spPr>
        <p:txBody>
          <a:bodyPr wrap="square" lIns="203200" tIns="203200" rIns="203200" bIns="203200" rtlCol="0" anchor="ctr"/>
          <a:lstStyle/>
          <a:p>
            <a:pPr algn="l" indent="0" marL="0">
              <a:buNone/>
            </a:pPr>
            <a:r>
              <a:rPr lang="en-US" sz="1600" b="1" dirty="0">
                <a:solidFill>
                  <a:srgbClr val="B45309"/>
                </a:solidFill>
                <a:latin typeface="Arial" pitchFamily="34" charset="0"/>
                <a:ea typeface="Arial" pitchFamily="34" charset="-122"/>
                <a:cs typeface="Arial" pitchFamily="34" charset="-120"/>
              </a:rPr>
              <a:t>Me, volunteering the awkward number:</a:t>
            </a:r>
            <a:endParaRPr lang="en-US" sz="1500" dirty="0"/>
          </a:p>
          <a:p>
            <a:pPr algn="l" indent="0" marL="0">
              <a:buNone/>
            </a:pPr>
            <a:endParaRPr lang="en-US" sz="1500" dirty="0"/>
          </a:p>
          <a:p>
            <a:pPr algn="l" indent="0" marL="0">
              <a:buNone/>
            </a:pPr>
            <a:r>
              <a:rPr lang="en-US" sz="1500" dirty="0">
                <a:solidFill>
                  <a:srgbClr val="0F172A"/>
                </a:solidFill>
                <a:latin typeface="Arial" pitchFamily="34" charset="0"/>
                <a:ea typeface="Arial" pitchFamily="34" charset="-122"/>
                <a:cs typeface="Arial" pitchFamily="34" charset="-120"/>
              </a:rPr>
              <a:t>The government’s plain projections beat my full model on that decade, 0.411 to 0.39. That’s the model working — the AI term is a bet about the coming decade, and the tested one had no LLMs in it. </a:t>
            </a:r>
            <a:endParaRPr lang="en-US" sz="1500" dirty="0"/>
          </a:p>
          <a:p>
            <a:pPr algn="l" indent="0" marL="0">
              <a:buNone/>
            </a:pPr>
            <a:endParaRPr lang="en-US" sz="1500" dirty="0"/>
          </a:p>
          <a:p>
            <a:pPr algn="l" indent="0" marL="0">
              <a:buNone/>
            </a:pPr>
            <a:r>
              <a:rPr lang="en-US" sz="1500" b="1" dirty="0">
                <a:solidFill>
                  <a:srgbClr val="0F172A"/>
                </a:solidFill>
                <a:latin typeface="Arial" pitchFamily="34" charset="0"/>
                <a:ea typeface="Arial" pitchFamily="34" charset="-122"/>
                <a:cs typeface="Arial" pitchFamily="34" charset="-120"/>
              </a:rPr>
              <a:t>And the back-test never tunes the weights: fit to the test and it stops being a test.</a:t>
            </a:r>
            <a:endParaRPr lang="en-US" sz="1500" dirty="0"/>
          </a:p>
        </p:txBody>
      </p:sp>
      <p:sp>
        <p:nvSpPr>
          <p:cNvPr id="15" name="Text 12"/>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10</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10 · THE INFRASTRUCTURE</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Deploying it taught me more AWS than the practice exams</a:t>
            </a:r>
            <a:endParaRPr lang="en-US" sz="3000" dirty="0"/>
          </a:p>
        </p:txBody>
      </p:sp>
      <p:sp>
        <p:nvSpPr>
          <p:cNvPr id="5" name="Text 2"/>
          <p:cNvSpPr/>
          <p:nvPr/>
        </p:nvSpPr>
        <p:spPr>
          <a:xfrm>
            <a:off x="640080" y="2103120"/>
            <a:ext cx="3246120" cy="1874520"/>
          </a:xfrm>
          <a:prstGeom prst="roundRect">
            <a:avLst>
              <a:gd name="adj" fmla="val 3902"/>
            </a:avLst>
          </a:prstGeom>
          <a:solidFill>
            <a:srgbClr val="EFF3FB"/>
          </a:solidFill>
          <a:ln w="12700">
            <a:solidFill>
              <a:srgbClr val="DDE5F2"/>
            </a:solidFill>
          </a:ln>
        </p:spPr>
        <p:txBody>
          <a:bodyPr wrap="square" lIns="203200" tIns="203200" rIns="203200" bIns="203200" rtlCol="0" anchor="t"/>
          <a:lstStyle/>
          <a:p>
            <a:pPr algn="l" indent="0" marL="0">
              <a:buNone/>
            </a:pPr>
            <a:r>
              <a:rPr lang="en-US" sz="1900" b="1" spc="200" kern="0" dirty="0">
                <a:solidFill>
                  <a:srgbClr val="1D4ED8"/>
                </a:solidFill>
                <a:latin typeface="Arial" pitchFamily="34" charset="0"/>
                <a:ea typeface="Arial" pitchFamily="34" charset="-122"/>
                <a:cs typeface="Arial" pitchFamily="34" charset="-120"/>
              </a:rPr>
              <a:t>CODE</a:t>
            </a:r>
            <a:endParaRPr lang="en-US" sz="1500" dirty="0"/>
          </a:p>
          <a:p>
            <a:pPr algn="l" indent="0" marL="0">
              <a:buNone/>
            </a:pPr>
            <a:endParaRPr lang="en-US" sz="1500" dirty="0"/>
          </a:p>
          <a:p>
            <a:pPr algn="l" indent="0" marL="0">
              <a:buNone/>
            </a:pPr>
            <a:r>
              <a:rPr lang="en-US" sz="1500" dirty="0">
                <a:solidFill>
                  <a:srgbClr val="0F172A"/>
                </a:solidFill>
                <a:latin typeface="Arial" pitchFamily="34" charset="0"/>
                <a:ea typeface="Arial" pitchFamily="34" charset="-122"/>
                <a:cs typeface="Arial" pitchFamily="34" charset="-120"/>
              </a:rPr>
              <a:t>GitHub. Push to main — that’s the whole release process.</a:t>
            </a:r>
            <a:endParaRPr lang="en-US" sz="1500" dirty="0"/>
          </a:p>
        </p:txBody>
      </p:sp>
      <p:sp>
        <p:nvSpPr>
          <p:cNvPr id="6" name="Text 3"/>
          <p:cNvSpPr/>
          <p:nvPr/>
        </p:nvSpPr>
        <p:spPr>
          <a:xfrm>
            <a:off x="4471416" y="2103120"/>
            <a:ext cx="3246120" cy="1874520"/>
          </a:xfrm>
          <a:prstGeom prst="roundRect">
            <a:avLst>
              <a:gd name="adj" fmla="val 3902"/>
            </a:avLst>
          </a:prstGeom>
          <a:solidFill>
            <a:srgbClr val="EFF3FB"/>
          </a:solidFill>
          <a:ln w="12700">
            <a:solidFill>
              <a:srgbClr val="DDE5F2"/>
            </a:solidFill>
          </a:ln>
        </p:spPr>
        <p:txBody>
          <a:bodyPr wrap="square" lIns="203200" tIns="203200" rIns="203200" bIns="203200" rtlCol="0" anchor="t"/>
          <a:lstStyle/>
          <a:p>
            <a:pPr algn="l" indent="0" marL="0">
              <a:buNone/>
            </a:pPr>
            <a:r>
              <a:rPr lang="en-US" sz="1900" b="1" spc="200" kern="0" dirty="0">
                <a:solidFill>
                  <a:srgbClr val="1D4ED8"/>
                </a:solidFill>
                <a:latin typeface="Arial" pitchFamily="34" charset="0"/>
                <a:ea typeface="Arial" pitchFamily="34" charset="-122"/>
                <a:cs typeface="Arial" pitchFamily="34" charset="-120"/>
              </a:rPr>
              <a:t>ENGINE</a:t>
            </a:r>
            <a:endParaRPr lang="en-US" sz="1500" dirty="0"/>
          </a:p>
          <a:p>
            <a:pPr algn="l" indent="0" marL="0">
              <a:buNone/>
            </a:pPr>
            <a:endParaRPr lang="en-US" sz="1500" dirty="0"/>
          </a:p>
          <a:p>
            <a:pPr algn="l" indent="0" marL="0">
              <a:buNone/>
            </a:pPr>
            <a:r>
              <a:rPr lang="en-US" sz="1500" dirty="0">
                <a:solidFill>
                  <a:srgbClr val="0F172A"/>
                </a:solidFill>
                <a:latin typeface="Arial" pitchFamily="34" charset="0"/>
                <a:ea typeface="Arial" pitchFamily="34" charset="-122"/>
                <a:cs typeface="Arial" pitchFamily="34" charset="-120"/>
              </a:rPr>
              <a:t>AWS Amplify builds the Next.js app and runs the server-rendered parts.</a:t>
            </a:r>
            <a:endParaRPr lang="en-US" sz="1500" dirty="0"/>
          </a:p>
        </p:txBody>
      </p:sp>
      <p:sp>
        <p:nvSpPr>
          <p:cNvPr id="7" name="Text 4"/>
          <p:cNvSpPr/>
          <p:nvPr/>
        </p:nvSpPr>
        <p:spPr>
          <a:xfrm>
            <a:off x="8302752" y="2103120"/>
            <a:ext cx="3246120" cy="1874520"/>
          </a:xfrm>
          <a:prstGeom prst="roundRect">
            <a:avLst>
              <a:gd name="adj" fmla="val 3902"/>
            </a:avLst>
          </a:prstGeom>
          <a:solidFill>
            <a:srgbClr val="EFF3FB"/>
          </a:solidFill>
          <a:ln w="12700">
            <a:solidFill>
              <a:srgbClr val="DDE5F2"/>
            </a:solidFill>
          </a:ln>
        </p:spPr>
        <p:txBody>
          <a:bodyPr wrap="square" lIns="203200" tIns="203200" rIns="203200" bIns="203200" rtlCol="0" anchor="t"/>
          <a:lstStyle/>
          <a:p>
            <a:pPr algn="l" indent="0" marL="0">
              <a:buNone/>
            </a:pPr>
            <a:r>
              <a:rPr lang="en-US" sz="1900" b="1" spc="200" kern="0" dirty="0">
                <a:solidFill>
                  <a:srgbClr val="1D4ED8"/>
                </a:solidFill>
                <a:latin typeface="Arial" pitchFamily="34" charset="0"/>
                <a:ea typeface="Arial" pitchFamily="34" charset="-122"/>
                <a:cs typeface="Arial" pitchFamily="34" charset="-120"/>
              </a:rPr>
              <a:t>EDGE</a:t>
            </a:r>
            <a:endParaRPr lang="en-US" sz="1500" dirty="0"/>
          </a:p>
          <a:p>
            <a:pPr algn="l" indent="0" marL="0">
              <a:buNone/>
            </a:pPr>
            <a:endParaRPr lang="en-US" sz="1500" dirty="0"/>
          </a:p>
          <a:p>
            <a:pPr algn="l" indent="0" marL="0">
              <a:buNone/>
            </a:pPr>
            <a:r>
              <a:rPr lang="en-US" sz="1500" dirty="0">
                <a:solidFill>
                  <a:srgbClr val="0F172A"/>
                </a:solidFill>
                <a:latin typeface="Arial" pitchFamily="34" charset="0"/>
                <a:ea typeface="Arial" pitchFamily="34" charset="-122"/>
                <a:cs typeface="Arial" pitchFamily="34" charset="-120"/>
              </a:rPr>
              <a:t>CloudFront serves it worldwide; Route 53 holds ashleylibasci.com.</a:t>
            </a:r>
            <a:endParaRPr lang="en-US" sz="1500" dirty="0"/>
          </a:p>
        </p:txBody>
      </p:sp>
      <p:sp>
        <p:nvSpPr>
          <p:cNvPr id="8" name="Text 5"/>
          <p:cNvSpPr/>
          <p:nvPr/>
        </p:nvSpPr>
        <p:spPr>
          <a:xfrm>
            <a:off x="3950208" y="2788920"/>
            <a:ext cx="457200" cy="457200"/>
          </a:xfrm>
          <a:prstGeom prst="rect">
            <a:avLst/>
          </a:prstGeom>
          <a:noFill/>
          <a:ln/>
        </p:spPr>
        <p:txBody>
          <a:bodyPr wrap="square" lIns="0" tIns="0" rIns="0" bIns="0" rtlCol="0" anchor="ctr"/>
          <a:lstStyle/>
          <a:p>
            <a:pPr algn="ctr" indent="0" marL="0">
              <a:buNone/>
            </a:pPr>
            <a:r>
              <a:rPr lang="en-US" sz="2400" b="1" dirty="0">
                <a:solidFill>
                  <a:srgbClr val="1D4ED8"/>
                </a:solidFill>
                <a:latin typeface="Arial" pitchFamily="34" charset="0"/>
                <a:ea typeface="Arial" pitchFamily="34" charset="-122"/>
                <a:cs typeface="Arial" pitchFamily="34" charset="-120"/>
              </a:rPr>
              <a:t>→</a:t>
            </a:r>
            <a:endParaRPr lang="en-US" sz="2400" dirty="0"/>
          </a:p>
        </p:txBody>
      </p:sp>
      <p:sp>
        <p:nvSpPr>
          <p:cNvPr id="9" name="Text 6"/>
          <p:cNvSpPr/>
          <p:nvPr/>
        </p:nvSpPr>
        <p:spPr>
          <a:xfrm>
            <a:off x="7781544" y="2788920"/>
            <a:ext cx="457200" cy="457200"/>
          </a:xfrm>
          <a:prstGeom prst="rect">
            <a:avLst/>
          </a:prstGeom>
          <a:noFill/>
          <a:ln/>
        </p:spPr>
        <p:txBody>
          <a:bodyPr wrap="square" lIns="0" tIns="0" rIns="0" bIns="0" rtlCol="0" anchor="ctr"/>
          <a:lstStyle/>
          <a:p>
            <a:pPr algn="ctr" indent="0" marL="0">
              <a:buNone/>
            </a:pPr>
            <a:r>
              <a:rPr lang="en-US" sz="2400" b="1" dirty="0">
                <a:solidFill>
                  <a:srgbClr val="1D4ED8"/>
                </a:solidFill>
                <a:latin typeface="Arial" pitchFamily="34" charset="0"/>
                <a:ea typeface="Arial" pitchFamily="34" charset="-122"/>
                <a:cs typeface="Arial" pitchFamily="34" charset="-120"/>
              </a:rPr>
              <a:t>→</a:t>
            </a:r>
            <a:endParaRPr lang="en-US" sz="2400" dirty="0"/>
          </a:p>
        </p:txBody>
      </p:sp>
      <p:sp>
        <p:nvSpPr>
          <p:cNvPr id="10" name="Shape 7"/>
          <p:cNvSpPr/>
          <p:nvPr/>
        </p:nvSpPr>
        <p:spPr>
          <a:xfrm>
            <a:off x="640080" y="4343400"/>
            <a:ext cx="10911535" cy="12802"/>
          </a:xfrm>
          <a:prstGeom prst="rect">
            <a:avLst/>
          </a:prstGeom>
          <a:solidFill>
            <a:srgbClr val="DDE5F2"/>
          </a:solidFill>
          <a:ln/>
        </p:spPr>
      </p:sp>
      <p:sp>
        <p:nvSpPr>
          <p:cNvPr id="11" name="Text 8"/>
          <p:cNvSpPr/>
          <p:nvPr/>
        </p:nvSpPr>
        <p:spPr>
          <a:xfrm>
            <a:off x="640080" y="4572000"/>
            <a:ext cx="10911535" cy="365760"/>
          </a:xfrm>
          <a:prstGeom prst="rect">
            <a:avLst/>
          </a:prstGeom>
          <a:noFill/>
          <a:ln/>
        </p:spPr>
        <p:txBody>
          <a:bodyPr wrap="square" lIns="0" tIns="0" rIns="0" bIns="0" rtlCol="0" anchor="t"/>
          <a:lstStyle/>
          <a:p>
            <a:pPr algn="l" indent="0" marL="0">
              <a:buNone/>
            </a:pPr>
            <a:r>
              <a:rPr lang="en-US" sz="1600" b="1" dirty="0">
                <a:solidFill>
                  <a:srgbClr val="0F172A"/>
                </a:solidFill>
                <a:latin typeface="Arial" pitchFamily="34" charset="0"/>
                <a:ea typeface="Arial" pitchFamily="34" charset="-122"/>
                <a:cs typeface="Arial" pitchFamily="34" charset="-120"/>
              </a:rPr>
              <a:t>Cloud Practitioner concepts this made real</a:t>
            </a:r>
            <a:endParaRPr lang="en-US" sz="1500" dirty="0"/>
          </a:p>
        </p:txBody>
      </p:sp>
      <p:sp>
        <p:nvSpPr>
          <p:cNvPr id="12" name="Text 9"/>
          <p:cNvSpPr/>
          <p:nvPr/>
        </p:nvSpPr>
        <p:spPr>
          <a:xfrm>
            <a:off x="640080" y="5029200"/>
            <a:ext cx="2697480" cy="365760"/>
          </a:xfrm>
          <a:prstGeom prst="rect">
            <a:avLst/>
          </a:prstGeom>
          <a:noFill/>
          <a:ln/>
        </p:spPr>
        <p:txBody>
          <a:bodyPr wrap="square" lIns="0" tIns="0" rIns="0" bIns="0" rtlCol="0" anchor="t"/>
          <a:lstStyle/>
          <a:p>
            <a:pPr algn="l" indent="0" marL="0">
              <a:buNone/>
            </a:pPr>
            <a:r>
              <a:rPr lang="en-US" sz="1500" dirty="0">
                <a:solidFill>
                  <a:srgbClr val="1D4ED8"/>
                </a:solidFill>
                <a:latin typeface="Arial" pitchFamily="34" charset="0"/>
                <a:ea typeface="Arial" pitchFamily="34" charset="-122"/>
                <a:cs typeface="Arial" pitchFamily="34" charset="-120"/>
              </a:rPr>
              <a:t>★ </a:t>
            </a:r>
            <a:pPr algn="l" indent="0" marL="0">
              <a:buNone/>
            </a:pPr>
            <a:r>
              <a:rPr lang="en-US" sz="1500" dirty="0">
                <a:solidFill>
                  <a:srgbClr val="0F172A"/>
                </a:solidFill>
                <a:latin typeface="Arial" pitchFamily="34" charset="0"/>
                <a:ea typeface="Arial" pitchFamily="34" charset="-122"/>
                <a:cs typeface="Arial" pitchFamily="34" charset="-120"/>
              </a:rPr>
              <a:t>managed services</a:t>
            </a:r>
            <a:endParaRPr lang="en-US" sz="1500" dirty="0"/>
          </a:p>
        </p:txBody>
      </p:sp>
      <p:sp>
        <p:nvSpPr>
          <p:cNvPr id="13" name="Text 10"/>
          <p:cNvSpPr/>
          <p:nvPr/>
        </p:nvSpPr>
        <p:spPr>
          <a:xfrm>
            <a:off x="3383280" y="5029200"/>
            <a:ext cx="2697480" cy="365760"/>
          </a:xfrm>
          <a:prstGeom prst="rect">
            <a:avLst/>
          </a:prstGeom>
          <a:noFill/>
          <a:ln/>
        </p:spPr>
        <p:txBody>
          <a:bodyPr wrap="square" lIns="0" tIns="0" rIns="0" bIns="0" rtlCol="0" anchor="t"/>
          <a:lstStyle/>
          <a:p>
            <a:pPr algn="l" indent="0" marL="0">
              <a:buNone/>
            </a:pPr>
            <a:r>
              <a:rPr lang="en-US" sz="1500" dirty="0">
                <a:solidFill>
                  <a:srgbClr val="1D4ED8"/>
                </a:solidFill>
                <a:latin typeface="Arial" pitchFamily="34" charset="0"/>
                <a:ea typeface="Arial" pitchFamily="34" charset="-122"/>
                <a:cs typeface="Arial" pitchFamily="34" charset="-120"/>
              </a:rPr>
              <a:t>★ </a:t>
            </a:r>
            <a:pPr algn="l" indent="0" marL="0">
              <a:buNone/>
            </a:pPr>
            <a:r>
              <a:rPr lang="en-US" sz="1500" dirty="0">
                <a:solidFill>
                  <a:srgbClr val="0F172A"/>
                </a:solidFill>
                <a:latin typeface="Arial" pitchFamily="34" charset="0"/>
                <a:ea typeface="Arial" pitchFamily="34" charset="-122"/>
                <a:cs typeface="Arial" pitchFamily="34" charset="-120"/>
              </a:rPr>
              <a:t>edge caching</a:t>
            </a:r>
            <a:endParaRPr lang="en-US" sz="1500" dirty="0"/>
          </a:p>
        </p:txBody>
      </p:sp>
      <p:sp>
        <p:nvSpPr>
          <p:cNvPr id="14" name="Text 11"/>
          <p:cNvSpPr/>
          <p:nvPr/>
        </p:nvSpPr>
        <p:spPr>
          <a:xfrm>
            <a:off x="6126480" y="5029200"/>
            <a:ext cx="2697480" cy="365760"/>
          </a:xfrm>
          <a:prstGeom prst="rect">
            <a:avLst/>
          </a:prstGeom>
          <a:noFill/>
          <a:ln/>
        </p:spPr>
        <p:txBody>
          <a:bodyPr wrap="square" lIns="0" tIns="0" rIns="0" bIns="0" rtlCol="0" anchor="t"/>
          <a:lstStyle/>
          <a:p>
            <a:pPr algn="l" indent="0" marL="0">
              <a:buNone/>
            </a:pPr>
            <a:r>
              <a:rPr lang="en-US" sz="1500" dirty="0">
                <a:solidFill>
                  <a:srgbClr val="1D4ED8"/>
                </a:solidFill>
                <a:latin typeface="Arial" pitchFamily="34" charset="0"/>
                <a:ea typeface="Arial" pitchFamily="34" charset="-122"/>
                <a:cs typeface="Arial" pitchFamily="34" charset="-120"/>
              </a:rPr>
              <a:t>★ </a:t>
            </a:r>
            <a:pPr algn="l" indent="0" marL="0">
              <a:buNone/>
            </a:pPr>
            <a:r>
              <a:rPr lang="en-US" sz="1500" dirty="0">
                <a:solidFill>
                  <a:srgbClr val="0F172A"/>
                </a:solidFill>
                <a:latin typeface="Arial" pitchFamily="34" charset="0"/>
                <a:ea typeface="Arial" pitchFamily="34" charset="-122"/>
                <a:cs typeface="Arial" pitchFamily="34" charset="-120"/>
              </a:rPr>
              <a:t>shared responsibility</a:t>
            </a:r>
            <a:endParaRPr lang="en-US" sz="1500" dirty="0"/>
          </a:p>
        </p:txBody>
      </p:sp>
      <p:sp>
        <p:nvSpPr>
          <p:cNvPr id="15" name="Text 12"/>
          <p:cNvSpPr/>
          <p:nvPr/>
        </p:nvSpPr>
        <p:spPr>
          <a:xfrm>
            <a:off x="8869680" y="5029200"/>
            <a:ext cx="2697480" cy="365760"/>
          </a:xfrm>
          <a:prstGeom prst="rect">
            <a:avLst/>
          </a:prstGeom>
          <a:noFill/>
          <a:ln/>
        </p:spPr>
        <p:txBody>
          <a:bodyPr wrap="square" lIns="0" tIns="0" rIns="0" bIns="0" rtlCol="0" anchor="t"/>
          <a:lstStyle/>
          <a:p>
            <a:pPr algn="l" indent="0" marL="0">
              <a:buNone/>
            </a:pPr>
            <a:r>
              <a:rPr lang="en-US" sz="1500" dirty="0">
                <a:solidFill>
                  <a:srgbClr val="1D4ED8"/>
                </a:solidFill>
                <a:latin typeface="Arial" pitchFamily="34" charset="0"/>
                <a:ea typeface="Arial" pitchFamily="34" charset="-122"/>
                <a:cs typeface="Arial" pitchFamily="34" charset="-120"/>
              </a:rPr>
              <a:t>★ </a:t>
            </a:r>
            <a:pPr algn="l" indent="0" marL="0">
              <a:buNone/>
            </a:pPr>
            <a:r>
              <a:rPr lang="en-US" sz="1500" dirty="0">
                <a:solidFill>
                  <a:srgbClr val="0F172A"/>
                </a:solidFill>
                <a:latin typeface="Arial" pitchFamily="34" charset="0"/>
                <a:ea typeface="Arial" pitchFamily="34" charset="-122"/>
                <a:cs typeface="Arial" pitchFamily="34" charset="-120"/>
              </a:rPr>
              <a:t>DNS + certificates</a:t>
            </a:r>
            <a:endParaRPr lang="en-US" sz="1500" dirty="0"/>
          </a:p>
        </p:txBody>
      </p:sp>
      <p:sp>
        <p:nvSpPr>
          <p:cNvPr id="16" name="Text 13"/>
          <p:cNvSpPr/>
          <p:nvPr/>
        </p:nvSpPr>
        <p:spPr>
          <a:xfrm>
            <a:off x="640080" y="5577840"/>
            <a:ext cx="10911535" cy="365760"/>
          </a:xfrm>
          <a:prstGeom prst="rect">
            <a:avLst/>
          </a:prstGeom>
          <a:noFill/>
          <a:ln/>
        </p:spPr>
        <p:txBody>
          <a:bodyPr wrap="square" lIns="0" tIns="0" rIns="0" bIns="0" rtlCol="0" anchor="t"/>
          <a:lstStyle/>
          <a:p>
            <a:pPr algn="l" indent="0" marL="0">
              <a:buNone/>
            </a:pPr>
            <a:r>
              <a:rPr lang="en-US" sz="1400" i="1" dirty="0">
                <a:solidFill>
                  <a:srgbClr val="64748B"/>
                </a:solidFill>
                <a:latin typeface="Arial" pitchFamily="34" charset="0"/>
                <a:ea typeface="Arial" pitchFamily="34" charset="-122"/>
                <a:cs typeface="Arial" pitchFamily="34" charset="-120"/>
              </a:rPr>
              <a:t>Studying for the cert now — this is where the flashcards became things I’d actually debugged.</a:t>
            </a:r>
            <a:endParaRPr lang="en-US" sz="1500" dirty="0"/>
          </a:p>
        </p:txBody>
      </p:sp>
      <p:sp>
        <p:nvSpPr>
          <p:cNvPr id="17" name="Text 14"/>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11</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11 · WAR STORY</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The rate limiter that never fired</a:t>
            </a:r>
            <a:endParaRPr lang="en-US" sz="3000" dirty="0"/>
          </a:p>
        </p:txBody>
      </p:sp>
      <p:sp>
        <p:nvSpPr>
          <p:cNvPr id="5" name="Text 2"/>
          <p:cNvSpPr/>
          <p:nvPr/>
        </p:nvSpPr>
        <p:spPr>
          <a:xfrm>
            <a:off x="640080" y="2075688"/>
            <a:ext cx="457200" cy="457200"/>
          </a:xfrm>
          <a:prstGeom prst="rect">
            <a:avLst/>
          </a:prstGeom>
          <a:noFill/>
          <a:ln/>
        </p:spPr>
        <p:txBody>
          <a:bodyPr wrap="square" lIns="0" tIns="0" rIns="0" bIns="0" rtlCol="0" anchor="t"/>
          <a:lstStyle/>
          <a:p>
            <a:pPr algn="l" indent="0" marL="0">
              <a:buNone/>
            </a:pPr>
            <a:r>
              <a:rPr lang="en-US" sz="2600" b="1" dirty="0">
                <a:solidFill>
                  <a:srgbClr val="1D4ED8"/>
                </a:solidFill>
                <a:latin typeface="Arial" pitchFamily="34" charset="0"/>
                <a:ea typeface="Arial" pitchFamily="34" charset="-122"/>
                <a:cs typeface="Arial" pitchFamily="34" charset="-120"/>
              </a:rPr>
              <a:t>1</a:t>
            </a:r>
            <a:endParaRPr lang="en-US" sz="1500" dirty="0"/>
          </a:p>
        </p:txBody>
      </p:sp>
      <p:sp>
        <p:nvSpPr>
          <p:cNvPr id="6" name="Text 3"/>
          <p:cNvSpPr/>
          <p:nvPr/>
        </p:nvSpPr>
        <p:spPr>
          <a:xfrm>
            <a:off x="1234440" y="2103120"/>
            <a:ext cx="2651760" cy="411480"/>
          </a:xfrm>
          <a:prstGeom prst="rect">
            <a:avLst/>
          </a:prstGeom>
          <a:noFill/>
          <a:ln/>
        </p:spPr>
        <p:txBody>
          <a:bodyPr wrap="square" lIns="0" tIns="0" rIns="0" bIns="0" rtlCol="0" anchor="t"/>
          <a:lstStyle/>
          <a:p>
            <a:pPr algn="l" indent="0" marL="0">
              <a:buNone/>
            </a:pPr>
            <a:r>
              <a:rPr lang="en-US" sz="1700" b="1" dirty="0">
                <a:solidFill>
                  <a:srgbClr val="0F172A"/>
                </a:solidFill>
                <a:latin typeface="Arial" pitchFamily="34" charset="0"/>
                <a:ea typeface="Arial" pitchFamily="34" charset="-122"/>
                <a:cs typeface="Arial" pitchFamily="34" charset="-120"/>
              </a:rPr>
              <a:t>What I did</a:t>
            </a:r>
            <a:endParaRPr lang="en-US" sz="1500" dirty="0"/>
          </a:p>
        </p:txBody>
      </p:sp>
      <p:sp>
        <p:nvSpPr>
          <p:cNvPr id="7" name="Text 4"/>
          <p:cNvSpPr/>
          <p:nvPr/>
        </p:nvSpPr>
        <p:spPr>
          <a:xfrm>
            <a:off x="4023360" y="2121408"/>
            <a:ext cx="7525512" cy="68580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Keyed rate limits on the last X-Forwarded-For hop — the textbook advice, since everything left of it is forgeable.</a:t>
            </a:r>
            <a:endParaRPr lang="en-US" sz="1500" dirty="0"/>
          </a:p>
        </p:txBody>
      </p:sp>
      <p:sp>
        <p:nvSpPr>
          <p:cNvPr id="8" name="Shape 5"/>
          <p:cNvSpPr/>
          <p:nvPr/>
        </p:nvSpPr>
        <p:spPr>
          <a:xfrm>
            <a:off x="640080" y="2871216"/>
            <a:ext cx="10911535" cy="12802"/>
          </a:xfrm>
          <a:prstGeom prst="rect">
            <a:avLst/>
          </a:prstGeom>
          <a:solidFill>
            <a:srgbClr val="DDE5F2"/>
          </a:solidFill>
          <a:ln/>
        </p:spPr>
      </p:sp>
      <p:sp>
        <p:nvSpPr>
          <p:cNvPr id="9" name="Text 6"/>
          <p:cNvSpPr/>
          <p:nvPr/>
        </p:nvSpPr>
        <p:spPr>
          <a:xfrm>
            <a:off x="640080" y="3026664"/>
            <a:ext cx="457200" cy="457200"/>
          </a:xfrm>
          <a:prstGeom prst="rect">
            <a:avLst/>
          </a:prstGeom>
          <a:noFill/>
          <a:ln/>
        </p:spPr>
        <p:txBody>
          <a:bodyPr wrap="square" lIns="0" tIns="0" rIns="0" bIns="0" rtlCol="0" anchor="t"/>
          <a:lstStyle/>
          <a:p>
            <a:pPr algn="l" indent="0" marL="0">
              <a:buNone/>
            </a:pPr>
            <a:r>
              <a:rPr lang="en-US" sz="2600" b="1" dirty="0">
                <a:solidFill>
                  <a:srgbClr val="1D4ED8"/>
                </a:solidFill>
                <a:latin typeface="Arial" pitchFamily="34" charset="0"/>
                <a:ea typeface="Arial" pitchFamily="34" charset="-122"/>
                <a:cs typeface="Arial" pitchFamily="34" charset="-120"/>
              </a:rPr>
              <a:t>2</a:t>
            </a:r>
            <a:endParaRPr lang="en-US" sz="1500" dirty="0"/>
          </a:p>
        </p:txBody>
      </p:sp>
      <p:sp>
        <p:nvSpPr>
          <p:cNvPr id="10" name="Text 7"/>
          <p:cNvSpPr/>
          <p:nvPr/>
        </p:nvSpPr>
        <p:spPr>
          <a:xfrm>
            <a:off x="1234440" y="3054096"/>
            <a:ext cx="2651760" cy="411480"/>
          </a:xfrm>
          <a:prstGeom prst="rect">
            <a:avLst/>
          </a:prstGeom>
          <a:noFill/>
          <a:ln/>
        </p:spPr>
        <p:txBody>
          <a:bodyPr wrap="square" lIns="0" tIns="0" rIns="0" bIns="0" rtlCol="0" anchor="t"/>
          <a:lstStyle/>
          <a:p>
            <a:pPr algn="l" indent="0" marL="0">
              <a:buNone/>
            </a:pPr>
            <a:r>
              <a:rPr lang="en-US" sz="1700" b="1" dirty="0">
                <a:solidFill>
                  <a:srgbClr val="0F172A"/>
                </a:solidFill>
                <a:latin typeface="Arial" pitchFamily="34" charset="0"/>
                <a:ea typeface="Arial" pitchFamily="34" charset="-122"/>
                <a:cs typeface="Arial" pitchFamily="34" charset="-120"/>
              </a:rPr>
              <a:t>What production did</a:t>
            </a:r>
            <a:endParaRPr lang="en-US" sz="1500" dirty="0"/>
          </a:p>
        </p:txBody>
      </p:sp>
      <p:sp>
        <p:nvSpPr>
          <p:cNvPr id="11" name="Text 8"/>
          <p:cNvSpPr/>
          <p:nvPr/>
        </p:nvSpPr>
        <p:spPr>
          <a:xfrm>
            <a:off x="4023360" y="3072384"/>
            <a:ext cx="7525512" cy="68580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30 rapid requests. Zero rate-limit hits. Every request got a fresh bucket.</a:t>
            </a:r>
            <a:endParaRPr lang="en-US" sz="1500" dirty="0"/>
          </a:p>
        </p:txBody>
      </p:sp>
      <p:sp>
        <p:nvSpPr>
          <p:cNvPr id="12" name="Shape 9"/>
          <p:cNvSpPr/>
          <p:nvPr/>
        </p:nvSpPr>
        <p:spPr>
          <a:xfrm>
            <a:off x="640080" y="3822192"/>
            <a:ext cx="10911535" cy="12802"/>
          </a:xfrm>
          <a:prstGeom prst="rect">
            <a:avLst/>
          </a:prstGeom>
          <a:solidFill>
            <a:srgbClr val="DDE5F2"/>
          </a:solidFill>
          <a:ln/>
        </p:spPr>
      </p:sp>
      <p:sp>
        <p:nvSpPr>
          <p:cNvPr id="13" name="Text 10"/>
          <p:cNvSpPr/>
          <p:nvPr/>
        </p:nvSpPr>
        <p:spPr>
          <a:xfrm>
            <a:off x="640080" y="3977640"/>
            <a:ext cx="457200" cy="457200"/>
          </a:xfrm>
          <a:prstGeom prst="rect">
            <a:avLst/>
          </a:prstGeom>
          <a:noFill/>
          <a:ln/>
        </p:spPr>
        <p:txBody>
          <a:bodyPr wrap="square" lIns="0" tIns="0" rIns="0" bIns="0" rtlCol="0" anchor="t"/>
          <a:lstStyle/>
          <a:p>
            <a:pPr algn="l" indent="0" marL="0">
              <a:buNone/>
            </a:pPr>
            <a:r>
              <a:rPr lang="en-US" sz="2600" b="1" dirty="0">
                <a:solidFill>
                  <a:srgbClr val="1D4ED8"/>
                </a:solidFill>
                <a:latin typeface="Arial" pitchFamily="34" charset="0"/>
                <a:ea typeface="Arial" pitchFamily="34" charset="-122"/>
                <a:cs typeface="Arial" pitchFamily="34" charset="-120"/>
              </a:rPr>
              <a:t>3</a:t>
            </a:r>
            <a:endParaRPr lang="en-US" sz="1500" dirty="0"/>
          </a:p>
        </p:txBody>
      </p:sp>
      <p:sp>
        <p:nvSpPr>
          <p:cNvPr id="14" name="Text 11"/>
          <p:cNvSpPr/>
          <p:nvPr/>
        </p:nvSpPr>
        <p:spPr>
          <a:xfrm>
            <a:off x="1234440" y="4005072"/>
            <a:ext cx="2651760" cy="411480"/>
          </a:xfrm>
          <a:prstGeom prst="rect">
            <a:avLst/>
          </a:prstGeom>
          <a:noFill/>
          <a:ln/>
        </p:spPr>
        <p:txBody>
          <a:bodyPr wrap="square" lIns="0" tIns="0" rIns="0" bIns="0" rtlCol="0" anchor="t"/>
          <a:lstStyle/>
          <a:p>
            <a:pPr algn="l" indent="0" marL="0">
              <a:buNone/>
            </a:pPr>
            <a:r>
              <a:rPr lang="en-US" sz="1700" b="1" dirty="0">
                <a:solidFill>
                  <a:srgbClr val="0F172A"/>
                </a:solidFill>
                <a:latin typeface="Arial" pitchFamily="34" charset="0"/>
                <a:ea typeface="Arial" pitchFamily="34" charset="-122"/>
                <a:cs typeface="Arial" pitchFamily="34" charset="-120"/>
              </a:rPr>
              <a:t>Why</a:t>
            </a:r>
            <a:endParaRPr lang="en-US" sz="1500" dirty="0"/>
          </a:p>
        </p:txBody>
      </p:sp>
      <p:sp>
        <p:nvSpPr>
          <p:cNvPr id="15" name="Text 12"/>
          <p:cNvSpPr/>
          <p:nvPr/>
        </p:nvSpPr>
        <p:spPr>
          <a:xfrm>
            <a:off x="4023360" y="4023360"/>
            <a:ext cx="7525512" cy="68580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Amplify’s router appends CloudFront’s own IP after the client’s. The “last hop” was never the client — it was Amazon.</a:t>
            </a:r>
            <a:endParaRPr lang="en-US" sz="1500" dirty="0"/>
          </a:p>
        </p:txBody>
      </p:sp>
      <p:sp>
        <p:nvSpPr>
          <p:cNvPr id="16" name="Shape 13"/>
          <p:cNvSpPr/>
          <p:nvPr/>
        </p:nvSpPr>
        <p:spPr>
          <a:xfrm>
            <a:off x="640080" y="4773168"/>
            <a:ext cx="10911535" cy="12802"/>
          </a:xfrm>
          <a:prstGeom prst="rect">
            <a:avLst/>
          </a:prstGeom>
          <a:solidFill>
            <a:srgbClr val="DDE5F2"/>
          </a:solidFill>
          <a:ln/>
        </p:spPr>
      </p:sp>
      <p:sp>
        <p:nvSpPr>
          <p:cNvPr id="17" name="Text 14"/>
          <p:cNvSpPr/>
          <p:nvPr/>
        </p:nvSpPr>
        <p:spPr>
          <a:xfrm>
            <a:off x="640080" y="4928616"/>
            <a:ext cx="457200" cy="457200"/>
          </a:xfrm>
          <a:prstGeom prst="rect">
            <a:avLst/>
          </a:prstGeom>
          <a:noFill/>
          <a:ln/>
        </p:spPr>
        <p:txBody>
          <a:bodyPr wrap="square" lIns="0" tIns="0" rIns="0" bIns="0" rtlCol="0" anchor="t"/>
          <a:lstStyle/>
          <a:p>
            <a:pPr algn="l" indent="0" marL="0">
              <a:buNone/>
            </a:pPr>
            <a:r>
              <a:rPr lang="en-US" sz="2600" b="1" dirty="0">
                <a:solidFill>
                  <a:srgbClr val="1D4ED8"/>
                </a:solidFill>
                <a:latin typeface="Arial" pitchFamily="34" charset="0"/>
                <a:ea typeface="Arial" pitchFamily="34" charset="-122"/>
                <a:cs typeface="Arial" pitchFamily="34" charset="-120"/>
              </a:rPr>
              <a:t>4</a:t>
            </a:r>
            <a:endParaRPr lang="en-US" sz="1500" dirty="0"/>
          </a:p>
        </p:txBody>
      </p:sp>
      <p:sp>
        <p:nvSpPr>
          <p:cNvPr id="18" name="Text 15"/>
          <p:cNvSpPr/>
          <p:nvPr/>
        </p:nvSpPr>
        <p:spPr>
          <a:xfrm>
            <a:off x="1234440" y="4956048"/>
            <a:ext cx="2651760" cy="411480"/>
          </a:xfrm>
          <a:prstGeom prst="rect">
            <a:avLst/>
          </a:prstGeom>
          <a:noFill/>
          <a:ln/>
        </p:spPr>
        <p:txBody>
          <a:bodyPr wrap="square" lIns="0" tIns="0" rIns="0" bIns="0" rtlCol="0" anchor="t"/>
          <a:lstStyle/>
          <a:p>
            <a:pPr algn="l" indent="0" marL="0">
              <a:buNone/>
            </a:pPr>
            <a:r>
              <a:rPr lang="en-US" sz="1700" b="1" dirty="0">
                <a:solidFill>
                  <a:srgbClr val="0F172A"/>
                </a:solidFill>
                <a:latin typeface="Arial" pitchFamily="34" charset="0"/>
                <a:ea typeface="Arial" pitchFamily="34" charset="-122"/>
                <a:cs typeface="Arial" pitchFamily="34" charset="-120"/>
              </a:rPr>
              <a:t>The fix</a:t>
            </a:r>
            <a:endParaRPr lang="en-US" sz="1500" dirty="0"/>
          </a:p>
        </p:txBody>
      </p:sp>
      <p:sp>
        <p:nvSpPr>
          <p:cNvPr id="19" name="Text 16"/>
          <p:cNvSpPr/>
          <p:nvPr/>
        </p:nvSpPr>
        <p:spPr>
          <a:xfrm>
            <a:off x="4023360" y="4974336"/>
            <a:ext cx="7525512" cy="68580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Second-to-last hop, a global cap as backstop, and a regression test pinning the header shapes.</a:t>
            </a:r>
            <a:endParaRPr lang="en-US" sz="1500" dirty="0"/>
          </a:p>
        </p:txBody>
      </p:sp>
      <p:sp>
        <p:nvSpPr>
          <p:cNvPr id="20" name="Shape 17"/>
          <p:cNvSpPr/>
          <p:nvPr/>
        </p:nvSpPr>
        <p:spPr>
          <a:xfrm>
            <a:off x="640080" y="5724144"/>
            <a:ext cx="10911535" cy="12802"/>
          </a:xfrm>
          <a:prstGeom prst="rect">
            <a:avLst/>
          </a:prstGeom>
          <a:solidFill>
            <a:srgbClr val="DDE5F2"/>
          </a:solidFill>
          <a:ln/>
        </p:spPr>
      </p:sp>
      <p:sp>
        <p:nvSpPr>
          <p:cNvPr id="21" name="Text 18"/>
          <p:cNvSpPr/>
          <p:nvPr/>
        </p:nvSpPr>
        <p:spPr>
          <a:xfrm>
            <a:off x="640080" y="5989320"/>
            <a:ext cx="10911535" cy="411480"/>
          </a:xfrm>
          <a:prstGeom prst="rect">
            <a:avLst/>
          </a:prstGeom>
          <a:noFill/>
          <a:ln/>
        </p:spPr>
        <p:txBody>
          <a:bodyPr wrap="square" lIns="0" tIns="0" rIns="0" bIns="0" rtlCol="0" anchor="t"/>
          <a:lstStyle/>
          <a:p>
            <a:pPr algn="ctr" indent="0" marL="0">
              <a:buNone/>
            </a:pPr>
            <a:r>
              <a:rPr lang="en-US" sz="1800" b="1" i="1" dirty="0">
                <a:solidFill>
                  <a:srgbClr val="1D4ED8"/>
                </a:solidFill>
                <a:latin typeface="Arial" pitchFamily="34" charset="0"/>
                <a:ea typeface="Arial" pitchFamily="34" charset="-122"/>
                <a:cs typeface="Arial" pitchFamily="34" charset="-120"/>
              </a:rPr>
              <a:t>Practice exams don’t teach proxy chains. Production does.</a:t>
            </a:r>
            <a:endParaRPr lang="en-US" sz="1500" dirty="0"/>
          </a:p>
        </p:txBody>
      </p:sp>
      <p:sp>
        <p:nvSpPr>
          <p:cNvPr id="22" name="Text 19"/>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12</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201168" cy="210312"/>
          </a:xfrm>
          <a:prstGeom prst="rect">
            <a:avLst/>
          </a:prstGeom>
        </p:spPr>
      </p:pic>
      <p:sp>
        <p:nvSpPr>
          <p:cNvPr id="3" name="Text 0"/>
          <p:cNvSpPr/>
          <p:nvPr>
            <p:ph idx="100"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E8EEFC"/>
                </a:solidFill>
                <a:latin typeface="Arial" pitchFamily="34" charset="0"/>
                <a:ea typeface="Arial" pitchFamily="34" charset="-122"/>
                <a:cs typeface="Arial" pitchFamily="34" charset="-120"/>
              </a:rPr>
              <a:t>Three things worth stealing</a:t>
            </a:r>
            <a:endParaRPr lang="en-US" sz="3000" dirty="0"/>
          </a:p>
        </p:txBody>
      </p:sp>
      <p:sp>
        <p:nvSpPr>
          <p:cNvPr id="4" name="Text 1"/>
          <p:cNvSpPr/>
          <p:nvPr/>
        </p:nvSpPr>
        <p:spPr>
          <a:xfrm>
            <a:off x="640080" y="2194560"/>
            <a:ext cx="6949440" cy="384048"/>
          </a:xfrm>
          <a:prstGeom prst="rect">
            <a:avLst/>
          </a:prstGeom>
          <a:noFill/>
          <a:ln/>
        </p:spPr>
        <p:txBody>
          <a:bodyPr wrap="square" lIns="0" tIns="0" rIns="0" bIns="0" rtlCol="0" anchor="t"/>
          <a:lstStyle/>
          <a:p>
            <a:pPr algn="l" indent="0" marL="0">
              <a:buNone/>
            </a:pPr>
            <a:r>
              <a:rPr lang="en-US" sz="2000" b="1" dirty="0">
                <a:solidFill>
                  <a:srgbClr val="E8EEFC"/>
                </a:solidFill>
                <a:latin typeface="Arial" pitchFamily="34" charset="0"/>
                <a:ea typeface="Arial" pitchFamily="34" charset="-122"/>
                <a:cs typeface="Arial" pitchFamily="34" charset="-120"/>
              </a:rPr>
              <a:t>Write the spec before the prompt</a:t>
            </a:r>
            <a:endParaRPr lang="en-US" sz="1500" dirty="0"/>
          </a:p>
        </p:txBody>
      </p:sp>
      <p:sp>
        <p:nvSpPr>
          <p:cNvPr id="5" name="Text 2"/>
          <p:cNvSpPr/>
          <p:nvPr/>
        </p:nvSpPr>
        <p:spPr>
          <a:xfrm>
            <a:off x="640080" y="2615184"/>
            <a:ext cx="6949440" cy="365760"/>
          </a:xfrm>
          <a:prstGeom prst="rect">
            <a:avLst/>
          </a:prstGeom>
          <a:noFill/>
          <a:ln/>
        </p:spPr>
        <p:txBody>
          <a:bodyPr wrap="square" lIns="0" tIns="0" rIns="0" bIns="0" rtlCol="0" anchor="t"/>
          <a:lstStyle/>
          <a:p>
            <a:pPr algn="l" indent="0" marL="0">
              <a:buNone/>
            </a:pPr>
            <a:r>
              <a:rPr lang="en-US" sz="1500" dirty="0">
                <a:solidFill>
                  <a:srgbClr val="9DB0D9"/>
                </a:solidFill>
                <a:latin typeface="Arial" pitchFamily="34" charset="0"/>
                <a:ea typeface="Arial" pitchFamily="34" charset="-122"/>
                <a:cs typeface="Arial" pitchFamily="34" charset="-120"/>
              </a:rPr>
              <a:t>the discipline, not the model, is what made this work</a:t>
            </a:r>
            <a:endParaRPr lang="en-US" sz="1500" dirty="0"/>
          </a:p>
        </p:txBody>
      </p:sp>
      <p:sp>
        <p:nvSpPr>
          <p:cNvPr id="6" name="Shape 3"/>
          <p:cNvSpPr/>
          <p:nvPr/>
        </p:nvSpPr>
        <p:spPr>
          <a:xfrm>
            <a:off x="640080" y="3108960"/>
            <a:ext cx="6949440" cy="12802"/>
          </a:xfrm>
          <a:prstGeom prst="rect">
            <a:avLst/>
          </a:prstGeom>
          <a:solidFill>
            <a:srgbClr val="24325C"/>
          </a:solidFill>
          <a:ln/>
        </p:spPr>
      </p:sp>
      <p:sp>
        <p:nvSpPr>
          <p:cNvPr id="7" name="Text 4"/>
          <p:cNvSpPr/>
          <p:nvPr/>
        </p:nvSpPr>
        <p:spPr>
          <a:xfrm>
            <a:off x="640080" y="3364992"/>
            <a:ext cx="6949440" cy="384048"/>
          </a:xfrm>
          <a:prstGeom prst="rect">
            <a:avLst/>
          </a:prstGeom>
          <a:noFill/>
          <a:ln/>
        </p:spPr>
        <p:txBody>
          <a:bodyPr wrap="square" lIns="0" tIns="0" rIns="0" bIns="0" rtlCol="0" anchor="t"/>
          <a:lstStyle/>
          <a:p>
            <a:pPr algn="l" indent="0" marL="0">
              <a:buNone/>
            </a:pPr>
            <a:r>
              <a:rPr lang="en-US" sz="2000" b="1" dirty="0">
                <a:solidFill>
                  <a:srgbClr val="E8EEFC"/>
                </a:solidFill>
                <a:latin typeface="Arial" pitchFamily="34" charset="0"/>
                <a:ea typeface="Arial" pitchFamily="34" charset="-122"/>
                <a:cs typeface="Arial" pitchFamily="34" charset="-120"/>
              </a:rPr>
              <a:t>Publish what your model gets wrong</a:t>
            </a:r>
            <a:endParaRPr lang="en-US" sz="1500" dirty="0"/>
          </a:p>
        </p:txBody>
      </p:sp>
      <p:sp>
        <p:nvSpPr>
          <p:cNvPr id="8" name="Text 5"/>
          <p:cNvSpPr/>
          <p:nvPr/>
        </p:nvSpPr>
        <p:spPr>
          <a:xfrm>
            <a:off x="640080" y="3785616"/>
            <a:ext cx="6949440" cy="365760"/>
          </a:xfrm>
          <a:prstGeom prst="rect">
            <a:avLst/>
          </a:prstGeom>
          <a:noFill/>
          <a:ln/>
        </p:spPr>
        <p:txBody>
          <a:bodyPr wrap="square" lIns="0" tIns="0" rIns="0" bIns="0" rtlCol="0" anchor="t"/>
          <a:lstStyle/>
          <a:p>
            <a:pPr algn="l" indent="0" marL="0">
              <a:buNone/>
            </a:pPr>
            <a:r>
              <a:rPr lang="en-US" sz="1500" dirty="0">
                <a:solidFill>
                  <a:srgbClr val="9DB0D9"/>
                </a:solidFill>
                <a:latin typeface="Arial" pitchFamily="34" charset="0"/>
                <a:ea typeface="Arial" pitchFamily="34" charset="-122"/>
                <a:cs typeface="Arial" pitchFamily="34" charset="-120"/>
              </a:rPr>
              <a:t>the awkward numbers bought more trust than the good ones</a:t>
            </a:r>
            <a:endParaRPr lang="en-US" sz="1500" dirty="0"/>
          </a:p>
        </p:txBody>
      </p:sp>
      <p:sp>
        <p:nvSpPr>
          <p:cNvPr id="9" name="Shape 6"/>
          <p:cNvSpPr/>
          <p:nvPr/>
        </p:nvSpPr>
        <p:spPr>
          <a:xfrm>
            <a:off x="640080" y="4279392"/>
            <a:ext cx="6949440" cy="12802"/>
          </a:xfrm>
          <a:prstGeom prst="rect">
            <a:avLst/>
          </a:prstGeom>
          <a:solidFill>
            <a:srgbClr val="24325C"/>
          </a:solidFill>
          <a:ln/>
        </p:spPr>
      </p:sp>
      <p:sp>
        <p:nvSpPr>
          <p:cNvPr id="10" name="Text 7"/>
          <p:cNvSpPr/>
          <p:nvPr/>
        </p:nvSpPr>
        <p:spPr>
          <a:xfrm>
            <a:off x="640080" y="4535424"/>
            <a:ext cx="6949440" cy="384048"/>
          </a:xfrm>
          <a:prstGeom prst="rect">
            <a:avLst/>
          </a:prstGeom>
          <a:noFill/>
          <a:ln/>
        </p:spPr>
        <p:txBody>
          <a:bodyPr wrap="square" lIns="0" tIns="0" rIns="0" bIns="0" rtlCol="0" anchor="t"/>
          <a:lstStyle/>
          <a:p>
            <a:pPr algn="l" indent="0" marL="0">
              <a:buNone/>
            </a:pPr>
            <a:r>
              <a:rPr lang="en-US" sz="2000" b="1" dirty="0">
                <a:solidFill>
                  <a:srgbClr val="E8EEFC"/>
                </a:solidFill>
                <a:latin typeface="Arial" pitchFamily="34" charset="0"/>
                <a:ea typeface="Arial" pitchFamily="34" charset="-122"/>
                <a:cs typeface="Arial" pitchFamily="34" charset="-120"/>
              </a:rPr>
              <a:t>Pick tools that make rigor fun — mine was BMAD</a:t>
            </a:r>
            <a:endParaRPr lang="en-US" sz="1500" dirty="0"/>
          </a:p>
        </p:txBody>
      </p:sp>
      <p:sp>
        <p:nvSpPr>
          <p:cNvPr id="11" name="Text 8"/>
          <p:cNvSpPr/>
          <p:nvPr/>
        </p:nvSpPr>
        <p:spPr>
          <a:xfrm>
            <a:off x="640080" y="4956048"/>
            <a:ext cx="6949440" cy="365760"/>
          </a:xfrm>
          <a:prstGeom prst="rect">
            <a:avLst/>
          </a:prstGeom>
          <a:noFill/>
          <a:ln/>
        </p:spPr>
        <p:txBody>
          <a:bodyPr wrap="square" lIns="0" tIns="0" rIns="0" bIns="0" rtlCol="0" anchor="t"/>
          <a:lstStyle/>
          <a:p>
            <a:pPr algn="l" indent="0" marL="0">
              <a:buNone/>
            </a:pPr>
            <a:r>
              <a:rPr lang="en-US" sz="1500" dirty="0">
                <a:solidFill>
                  <a:srgbClr val="9DB0D9"/>
                </a:solidFill>
                <a:latin typeface="Arial" pitchFamily="34" charset="0"/>
                <a:ea typeface="Arial" pitchFamily="34" charset="-122"/>
                <a:cs typeface="Arial" pitchFamily="34" charset="-120"/>
              </a:rPr>
              <a:t>fun is load-bearing — review you enjoy is review you run</a:t>
            </a:r>
            <a:endParaRPr lang="en-US" sz="1500" dirty="0"/>
          </a:p>
        </p:txBody>
      </p:sp>
      <p:sp>
        <p:nvSpPr>
          <p:cNvPr id="12" name="Shape 9"/>
          <p:cNvSpPr/>
          <p:nvPr/>
        </p:nvSpPr>
        <p:spPr>
          <a:xfrm>
            <a:off x="640080" y="5449824"/>
            <a:ext cx="6949440" cy="12802"/>
          </a:xfrm>
          <a:prstGeom prst="rect">
            <a:avLst/>
          </a:prstGeom>
          <a:solidFill>
            <a:srgbClr val="24325C"/>
          </a:solidFill>
          <a:ln/>
        </p:spPr>
      </p:sp>
      <p:sp>
        <p:nvSpPr>
          <p:cNvPr id="13" name="Text 10"/>
          <p:cNvSpPr/>
          <p:nvPr/>
        </p:nvSpPr>
        <p:spPr>
          <a:xfrm>
            <a:off x="8092440" y="2194560"/>
            <a:ext cx="3456432" cy="3108960"/>
          </a:xfrm>
          <a:prstGeom prst="roundRect">
            <a:avLst>
              <a:gd name="adj" fmla="val 2353"/>
            </a:avLst>
          </a:prstGeom>
          <a:solidFill>
            <a:srgbClr val="101A38"/>
          </a:solidFill>
          <a:ln w="12700">
            <a:solidFill>
              <a:srgbClr val="24325C"/>
            </a:solidFill>
          </a:ln>
        </p:spPr>
        <p:txBody>
          <a:bodyPr wrap="square" lIns="228600" tIns="228600" rIns="228600" bIns="228600" rtlCol="0" anchor="t"/>
          <a:lstStyle/>
          <a:p>
            <a:pPr algn="l" indent="0" marL="0">
              <a:buNone/>
            </a:pPr>
            <a:r>
              <a:rPr lang="en-US" sz="4400" b="1" dirty="0">
                <a:solidFill>
                  <a:srgbClr val="FFFFFF"/>
                </a:solidFill>
                <a:latin typeface="Arial" pitchFamily="34" charset="0"/>
                <a:ea typeface="Arial" pitchFamily="34" charset="-122"/>
                <a:cs typeface="Arial" pitchFamily="34" charset="-120"/>
              </a:rPr>
              <a:t>2034</a:t>
            </a:r>
            <a:endParaRPr lang="en-US" sz="1500" dirty="0"/>
          </a:p>
          <a:p>
            <a:pPr algn="l" indent="0" marL="0">
              <a:buNone/>
            </a:pPr>
            <a:endParaRPr lang="en-US" sz="1500" dirty="0"/>
          </a:p>
          <a:p>
            <a:pPr algn="l" indent="0" marL="0">
              <a:buNone/>
            </a:pPr>
            <a:r>
              <a:rPr lang="en-US" sz="1500" dirty="0">
                <a:solidFill>
                  <a:srgbClr val="9DB0D9"/>
                </a:solidFill>
                <a:latin typeface="Arial" pitchFamily="34" charset="0"/>
                <a:ea typeface="Arial" pitchFamily="34" charset="-122"/>
                <a:cs typeface="Arial" pitchFamily="34" charset="-120"/>
              </a:rPr>
              <a:t>I re-run the back-test on the 2024–34 decade and publish how my ratings aged.</a:t>
            </a:r>
            <a:endParaRPr lang="en-US" sz="1500" dirty="0"/>
          </a:p>
          <a:p>
            <a:pPr algn="l" indent="0" marL="0">
              <a:buNone/>
            </a:pPr>
            <a:endParaRPr lang="en-US" sz="1500" dirty="0"/>
          </a:p>
          <a:p>
            <a:pPr algn="l" indent="0" marL="0">
              <a:buNone/>
            </a:pPr>
            <a:r>
              <a:rPr lang="en-US" sz="1500" b="1" i="1" dirty="0">
                <a:solidFill>
                  <a:srgbClr val="6EE7B7"/>
                </a:solidFill>
                <a:latin typeface="Arial" pitchFamily="34" charset="0"/>
                <a:ea typeface="Arial" pitchFamily="34" charset="-122"/>
                <a:cs typeface="Arial" pitchFamily="34" charset="-120"/>
              </a:rPr>
              <a:t>Ratings agencies should eat their own cooking.</a:t>
            </a:r>
            <a:endParaRPr lang="en-US" sz="1500" dirty="0"/>
          </a:p>
        </p:txBody>
      </p:sp>
      <p:sp>
        <p:nvSpPr>
          <p:cNvPr id="14" name="Shape 11"/>
          <p:cNvSpPr/>
          <p:nvPr/>
        </p:nvSpPr>
        <p:spPr>
          <a:xfrm>
            <a:off x="640080" y="5806440"/>
            <a:ext cx="10911535" cy="12802"/>
          </a:xfrm>
          <a:prstGeom prst="rect">
            <a:avLst/>
          </a:prstGeom>
          <a:solidFill>
            <a:srgbClr val="4F74F0"/>
          </a:solidFill>
          <a:ln/>
        </p:spPr>
      </p:sp>
      <p:sp>
        <p:nvSpPr>
          <p:cNvPr id="15" name="Text 12"/>
          <p:cNvSpPr/>
          <p:nvPr/>
        </p:nvSpPr>
        <p:spPr>
          <a:xfrm>
            <a:off x="640080" y="6035040"/>
            <a:ext cx="10911535" cy="411480"/>
          </a:xfrm>
          <a:prstGeom prst="rect">
            <a:avLst/>
          </a:prstGeom>
          <a:noFill/>
          <a:ln/>
        </p:spPr>
        <p:txBody>
          <a:bodyPr wrap="square" lIns="0" tIns="0" rIns="0" bIns="0" rtlCol="0" anchor="t"/>
          <a:lstStyle/>
          <a:p>
            <a:pPr algn="ctr" indent="0" marL="0">
              <a:buNone/>
            </a:pPr>
            <a:r>
              <a:rPr lang="en-US" sz="1500" dirty="0">
                <a:solidFill>
                  <a:srgbClr val="E8EEFC"/>
                </a:solidFill>
                <a:latin typeface="Arial" pitchFamily="34" charset="0"/>
                <a:ea typeface="Arial" pitchFamily="34" charset="-122"/>
                <a:cs typeface="Arial" pitchFamily="34" charset="-120"/>
              </a:rPr>
              <a:t>Thanks — questions?    ashleylibasci.com  ·  github.com/ashleylibasci/careerstar</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BACKUP · Q&amp;A</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2800" b="1" dirty="0">
                <a:solidFill>
                  <a:srgbClr val="0F172A"/>
                </a:solidFill>
                <a:latin typeface="Arial" pitchFamily="34" charset="0"/>
                <a:ea typeface="Arial" pitchFamily="34" charset="-122"/>
                <a:cs typeface="Arial" pitchFamily="34" charset="-120"/>
              </a:rPr>
              <a:t>Weights, stars, and robustness</a:t>
            </a:r>
            <a:endParaRPr lang="en-US" sz="2800" dirty="0"/>
          </a:p>
        </p:txBody>
      </p:sp>
      <p:sp>
        <p:nvSpPr>
          <p:cNvPr id="5" name="Text 2"/>
          <p:cNvSpPr/>
          <p:nvPr/>
        </p:nvSpPr>
        <p:spPr>
          <a:xfrm>
            <a:off x="640080" y="2148840"/>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“Why 0.7 and not 0.6?”</a:t>
            </a:r>
            <a:endParaRPr lang="en-US" sz="1500" dirty="0"/>
          </a:p>
        </p:txBody>
      </p:sp>
      <p:sp>
        <p:nvSpPr>
          <p:cNvPr id="6" name="Text 3"/>
          <p:cNvSpPr/>
          <p:nvPr/>
        </p:nvSpPr>
        <p:spPr>
          <a:xfrm>
            <a:off x="640080" y="2560320"/>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Because I had to pick something and there’s nothing to fit on. So I say “prior” out loud and stress-test instead: 729 perturbations, five rival models, close calls labeled.</a:t>
            </a:r>
            <a:endParaRPr lang="en-US" sz="1500" dirty="0"/>
          </a:p>
        </p:txBody>
      </p:sp>
      <p:sp>
        <p:nvSpPr>
          <p:cNvPr id="7" name="Shape 4"/>
          <p:cNvSpPr/>
          <p:nvPr/>
        </p:nvSpPr>
        <p:spPr>
          <a:xfrm>
            <a:off x="640080" y="3337560"/>
            <a:ext cx="10911535" cy="12802"/>
          </a:xfrm>
          <a:prstGeom prst="rect">
            <a:avLst/>
          </a:prstGeom>
          <a:solidFill>
            <a:srgbClr val="DDE5F2"/>
          </a:solidFill>
          <a:ln/>
        </p:spPr>
      </p:sp>
      <p:sp>
        <p:nvSpPr>
          <p:cNvPr id="8" name="Text 5"/>
          <p:cNvSpPr/>
          <p:nvPr/>
        </p:nvSpPr>
        <p:spPr>
          <a:xfrm>
            <a:off x="640080" y="3538728"/>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“How do the stars work?”</a:t>
            </a:r>
            <a:endParaRPr lang="en-US" sz="1500" dirty="0"/>
          </a:p>
        </p:txBody>
      </p:sp>
      <p:sp>
        <p:nvSpPr>
          <p:cNvPr id="9" name="Text 6"/>
          <p:cNvSpPr/>
          <p:nvPr/>
        </p:nvSpPr>
        <p:spPr>
          <a:xfrm>
            <a:off x="640080" y="3950208"/>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Forced relative curve, straight from Morningstar: top 10% get five stars, next 22.5% get four, and so on — recomputed live under the user’s own weights.</a:t>
            </a:r>
            <a:endParaRPr lang="en-US" sz="1500" dirty="0"/>
          </a:p>
        </p:txBody>
      </p:sp>
      <p:sp>
        <p:nvSpPr>
          <p:cNvPr id="10" name="Shape 7"/>
          <p:cNvSpPr/>
          <p:nvPr/>
        </p:nvSpPr>
        <p:spPr>
          <a:xfrm>
            <a:off x="640080" y="4727448"/>
            <a:ext cx="10911535" cy="12802"/>
          </a:xfrm>
          <a:prstGeom prst="rect">
            <a:avLst/>
          </a:prstGeom>
          <a:solidFill>
            <a:srgbClr val="DDE5F2"/>
          </a:solidFill>
          <a:ln/>
        </p:spPr>
      </p:sp>
      <p:sp>
        <p:nvSpPr>
          <p:cNvPr id="11" name="Text 8"/>
          <p:cNvSpPr/>
          <p:nvPr/>
        </p:nvSpPr>
        <p:spPr>
          <a:xfrm>
            <a:off x="640080" y="4928616"/>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“Isn’t AI exposure just decline by another name?”</a:t>
            </a:r>
            <a:endParaRPr lang="en-US" sz="1500" dirty="0"/>
          </a:p>
        </p:txBody>
      </p:sp>
      <p:sp>
        <p:nvSpPr>
          <p:cNvPr id="12" name="Text 9"/>
          <p:cNvSpPr/>
          <p:nvPr/>
        </p:nvSpPr>
        <p:spPr>
          <a:xfrm>
            <a:off x="640080" y="5340096"/>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No. Across all 730, exposure and projected growth are nearly uncorrelated. Exposure knows something growth doesn’t.</a:t>
            </a:r>
            <a:endParaRPr lang="en-US" sz="1500" dirty="0"/>
          </a:p>
        </p:txBody>
      </p:sp>
      <p:sp>
        <p:nvSpPr>
          <p:cNvPr id="13" name="Shape 10"/>
          <p:cNvSpPr/>
          <p:nvPr/>
        </p:nvSpPr>
        <p:spPr>
          <a:xfrm>
            <a:off x="640080" y="6117336"/>
            <a:ext cx="10911535" cy="12802"/>
          </a:xfrm>
          <a:prstGeom prst="rect">
            <a:avLst/>
          </a:prstGeom>
          <a:solidFill>
            <a:srgbClr val="DDE5F2"/>
          </a:solidFill>
          <a:ln/>
        </p:spPr>
      </p:sp>
      <p:sp>
        <p:nvSpPr>
          <p:cNvPr id="14" name="Text 11"/>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14</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BACKUP · Q&amp;A</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2800" b="1" dirty="0">
                <a:solidFill>
                  <a:srgbClr val="0F172A"/>
                </a:solidFill>
                <a:latin typeface="Arial" pitchFamily="34" charset="0"/>
                <a:ea typeface="Arial" pitchFamily="34" charset="-122"/>
                <a:cs typeface="Arial" pitchFamily="34" charset="-120"/>
              </a:rPr>
              <a:t>Back-test details</a:t>
            </a:r>
            <a:endParaRPr lang="en-US" sz="2800" dirty="0"/>
          </a:p>
        </p:txBody>
      </p:sp>
      <p:sp>
        <p:nvSpPr>
          <p:cNvPr id="5" name="Text 2"/>
          <p:cNvSpPr/>
          <p:nvPr/>
        </p:nvSpPr>
        <p:spPr>
          <a:xfrm>
            <a:off x="640080" y="2148840"/>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“Where did 2014 wages come from?”</a:t>
            </a:r>
            <a:endParaRPr lang="en-US" sz="1500" dirty="0"/>
          </a:p>
        </p:txBody>
      </p:sp>
      <p:sp>
        <p:nvSpPr>
          <p:cNvPr id="6" name="Text 3"/>
          <p:cNvSpPr/>
          <p:nvPr/>
        </p:nvSpPr>
        <p:spPr>
          <a:xfrm>
            <a:off x="640080" y="2560320"/>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The archived table has no 2015 wages, so pay percentiles use today’s ranking as a proxy — pay order barely moves. A growth-only variant shows the proxy changes almost nothing. All disclosed.</a:t>
            </a:r>
            <a:endParaRPr lang="en-US" sz="1500" dirty="0"/>
          </a:p>
        </p:txBody>
      </p:sp>
      <p:sp>
        <p:nvSpPr>
          <p:cNvPr id="7" name="Shape 4"/>
          <p:cNvSpPr/>
          <p:nvPr/>
        </p:nvSpPr>
        <p:spPr>
          <a:xfrm>
            <a:off x="640080" y="3337560"/>
            <a:ext cx="10911535" cy="12802"/>
          </a:xfrm>
          <a:prstGeom prst="rect">
            <a:avLst/>
          </a:prstGeom>
          <a:solidFill>
            <a:srgbClr val="DDE5F2"/>
          </a:solidFill>
          <a:ln/>
        </p:spPr>
      </p:sp>
      <p:sp>
        <p:nvSpPr>
          <p:cNvPr id="8" name="Text 5"/>
          <p:cNvSpPr/>
          <p:nvPr/>
        </p:nvSpPr>
        <p:spPr>
          <a:xfrm>
            <a:off x="640080" y="3538728"/>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“Biggest misses?”</a:t>
            </a:r>
            <a:endParaRPr lang="en-US" sz="1500" dirty="0"/>
          </a:p>
        </p:txBody>
      </p:sp>
      <p:sp>
        <p:nvSpPr>
          <p:cNvPr id="9" name="Text 6"/>
          <p:cNvSpPr/>
          <p:nvPr/>
        </p:nvSpPr>
        <p:spPr>
          <a:xfrm>
            <a:off x="640080" y="3950208"/>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It liked oil-and-gas jobs in 2014; oil crashed. It underrated couriers; e-commerce boomed. Both named on the site, raw data downloadable.</a:t>
            </a:r>
            <a:endParaRPr lang="en-US" sz="1500" dirty="0"/>
          </a:p>
        </p:txBody>
      </p:sp>
      <p:sp>
        <p:nvSpPr>
          <p:cNvPr id="10" name="Shape 7"/>
          <p:cNvSpPr/>
          <p:nvPr/>
        </p:nvSpPr>
        <p:spPr>
          <a:xfrm>
            <a:off x="640080" y="4727448"/>
            <a:ext cx="10911535" cy="12802"/>
          </a:xfrm>
          <a:prstGeom prst="rect">
            <a:avLst/>
          </a:prstGeom>
          <a:solidFill>
            <a:srgbClr val="DDE5F2"/>
          </a:solidFill>
          <a:ln/>
        </p:spPr>
      </p:sp>
      <p:sp>
        <p:nvSpPr>
          <p:cNvPr id="11" name="Text 8"/>
          <p:cNvSpPr/>
          <p:nvPr/>
        </p:nvSpPr>
        <p:spPr>
          <a:xfrm>
            <a:off x="640080" y="4928616"/>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“Survivorship?”</a:t>
            </a:r>
            <a:endParaRPr lang="en-US" sz="1500" dirty="0"/>
          </a:p>
        </p:txBody>
      </p:sp>
      <p:sp>
        <p:nvSpPr>
          <p:cNvPr id="12" name="Text 9"/>
          <p:cNvSpPr/>
          <p:nvPr/>
        </p:nvSpPr>
        <p:spPr>
          <a:xfrm>
            <a:off x="640080" y="5340096"/>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SOC-2010 joined to SOC-2018 on matching codes; reorganized occupations drop out and the counts are published — 647 joined.</a:t>
            </a:r>
            <a:endParaRPr lang="en-US" sz="1500" dirty="0"/>
          </a:p>
        </p:txBody>
      </p:sp>
      <p:sp>
        <p:nvSpPr>
          <p:cNvPr id="13" name="Shape 10"/>
          <p:cNvSpPr/>
          <p:nvPr/>
        </p:nvSpPr>
        <p:spPr>
          <a:xfrm>
            <a:off x="640080" y="6117336"/>
            <a:ext cx="10911535" cy="12802"/>
          </a:xfrm>
          <a:prstGeom prst="rect">
            <a:avLst/>
          </a:prstGeom>
          <a:solidFill>
            <a:srgbClr val="DDE5F2"/>
          </a:solidFill>
          <a:ln/>
        </p:spPr>
      </p:sp>
      <p:sp>
        <p:nvSpPr>
          <p:cNvPr id="14" name="Text 11"/>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15</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BACKUP · Q&amp;A</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2800" b="1" dirty="0">
                <a:solidFill>
                  <a:srgbClr val="0F172A"/>
                </a:solidFill>
                <a:latin typeface="Arial" pitchFamily="34" charset="0"/>
                <a:ea typeface="Arial" pitchFamily="34" charset="-122"/>
                <a:cs typeface="Arial" pitchFamily="34" charset="-120"/>
              </a:rPr>
              <a:t>Stack, and the Anthropic connection</a:t>
            </a:r>
            <a:endParaRPr lang="en-US" sz="2800" dirty="0"/>
          </a:p>
        </p:txBody>
      </p:sp>
      <p:sp>
        <p:nvSpPr>
          <p:cNvPr id="5" name="Text 2"/>
          <p:cNvSpPr/>
          <p:nvPr/>
        </p:nvSpPr>
        <p:spPr>
          <a:xfrm>
            <a:off x="640080" y="2148840"/>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“Stack?”</a:t>
            </a:r>
            <a:endParaRPr lang="en-US" sz="1500" dirty="0"/>
          </a:p>
        </p:txBody>
      </p:sp>
      <p:sp>
        <p:nvSpPr>
          <p:cNvPr id="6" name="Text 3"/>
          <p:cNvSpPr/>
          <p:nvPr/>
        </p:nvSpPr>
        <p:spPr>
          <a:xfrm>
            <a:off x="640080" y="2560320"/>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Next.js 16, React 19, TypeScript, Tailwind 4, AWS Amplify. 35 unit tests on the scoring library, pipeline scripts rebuilding every dataset from source, open CSV and code on GitHub.</a:t>
            </a:r>
            <a:endParaRPr lang="en-US" sz="1500" dirty="0"/>
          </a:p>
        </p:txBody>
      </p:sp>
      <p:sp>
        <p:nvSpPr>
          <p:cNvPr id="7" name="Shape 4"/>
          <p:cNvSpPr/>
          <p:nvPr/>
        </p:nvSpPr>
        <p:spPr>
          <a:xfrm>
            <a:off x="640080" y="3337560"/>
            <a:ext cx="10911535" cy="12802"/>
          </a:xfrm>
          <a:prstGeom prst="rect">
            <a:avLst/>
          </a:prstGeom>
          <a:solidFill>
            <a:srgbClr val="DDE5F2"/>
          </a:solidFill>
          <a:ln/>
        </p:spPr>
      </p:sp>
      <p:sp>
        <p:nvSpPr>
          <p:cNvPr id="8" name="Text 5"/>
          <p:cNvSpPr/>
          <p:nvPr/>
        </p:nvSpPr>
        <p:spPr>
          <a:xfrm>
            <a:off x="640080" y="3538728"/>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“What did the AI get wrong?”</a:t>
            </a:r>
            <a:endParaRPr lang="en-US" sz="1500" dirty="0"/>
          </a:p>
        </p:txBody>
      </p:sp>
      <p:sp>
        <p:nvSpPr>
          <p:cNvPr id="9" name="Text 6"/>
          <p:cNvSpPr/>
          <p:nvPr/>
        </p:nvSpPr>
        <p:spPr>
          <a:xfrm>
            <a:off x="640080" y="3950208"/>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Plenty — that’s what the review cast is for. Best one: the fit overclaim. Caught in review, rebuilt properly, published as the case study centerpiece.</a:t>
            </a:r>
            <a:endParaRPr lang="en-US" sz="1500" dirty="0"/>
          </a:p>
        </p:txBody>
      </p:sp>
      <p:sp>
        <p:nvSpPr>
          <p:cNvPr id="10" name="Shape 7"/>
          <p:cNvSpPr/>
          <p:nvPr/>
        </p:nvSpPr>
        <p:spPr>
          <a:xfrm>
            <a:off x="640080" y="4727448"/>
            <a:ext cx="10911535" cy="12802"/>
          </a:xfrm>
          <a:prstGeom prst="rect">
            <a:avLst/>
          </a:prstGeom>
          <a:solidFill>
            <a:srgbClr val="DDE5F2"/>
          </a:solidFill>
          <a:ln/>
        </p:spPr>
      </p:sp>
      <p:sp>
        <p:nvSpPr>
          <p:cNvPr id="11" name="Text 8"/>
          <p:cNvSpPr/>
          <p:nvPr/>
        </p:nvSpPr>
        <p:spPr>
          <a:xfrm>
            <a:off x="640080" y="4928616"/>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“Anthropic’s labor research?”</a:t>
            </a:r>
            <a:endParaRPr lang="en-US" sz="1500" dirty="0"/>
          </a:p>
        </p:txBody>
      </p:sp>
      <p:sp>
        <p:nvSpPr>
          <p:cNvPr id="12" name="Text 9"/>
          <p:cNvSpPr/>
          <p:nvPr/>
        </p:nvSpPr>
        <p:spPr>
          <a:xfrm>
            <a:off x="640080" y="5340096"/>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Same upstream dataset (Eloundou 2023). Their 2026 work layered real usage on it: 97% of observed use inside tasks rated feasible — consistent with my exposure input.</a:t>
            </a:r>
            <a:endParaRPr lang="en-US" sz="1500" dirty="0"/>
          </a:p>
        </p:txBody>
      </p:sp>
      <p:sp>
        <p:nvSpPr>
          <p:cNvPr id="13" name="Shape 10"/>
          <p:cNvSpPr/>
          <p:nvPr/>
        </p:nvSpPr>
        <p:spPr>
          <a:xfrm>
            <a:off x="640080" y="6117336"/>
            <a:ext cx="10911535" cy="12802"/>
          </a:xfrm>
          <a:prstGeom prst="rect">
            <a:avLst/>
          </a:prstGeom>
          <a:solidFill>
            <a:srgbClr val="DDE5F2"/>
          </a:solidFill>
          <a:ln/>
        </p:spPr>
      </p:sp>
      <p:sp>
        <p:nvSpPr>
          <p:cNvPr id="14" name="Text 11"/>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16</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BACKUP · Q&amp;A</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2800" b="1" dirty="0">
                <a:solidFill>
                  <a:srgbClr val="0F172A"/>
                </a:solidFill>
                <a:latin typeface="Arial" pitchFamily="34" charset="0"/>
                <a:ea typeface="Arial" pitchFamily="34" charset="-122"/>
                <a:cs typeface="Arial" pitchFamily="34" charset="-120"/>
              </a:rPr>
              <a:t>BMAD, up close</a:t>
            </a:r>
            <a:endParaRPr lang="en-US" sz="2800" dirty="0"/>
          </a:p>
        </p:txBody>
      </p:sp>
      <p:sp>
        <p:nvSpPr>
          <p:cNvPr id="5" name="Text 2"/>
          <p:cNvSpPr/>
          <p:nvPr/>
        </p:nvSpPr>
        <p:spPr>
          <a:xfrm>
            <a:off x="640080" y="2148840"/>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“What does the framework actually produce?”</a:t>
            </a:r>
            <a:endParaRPr lang="en-US" sz="1500" dirty="0"/>
          </a:p>
        </p:txBody>
      </p:sp>
      <p:sp>
        <p:nvSpPr>
          <p:cNvPr id="6" name="Text 3"/>
          <p:cNvSpPr/>
          <p:nvPr/>
        </p:nvSpPr>
        <p:spPr>
          <a:xfrm>
            <a:off x="640080" y="2560320"/>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A paper trail in the repo: a PRD, an architecture doc holding the 7 invariants, epics.md with all 28 stories and acceptance criteria, sprint-status.yaml tracking every story to done, and the review transcripts.</a:t>
            </a:r>
            <a:endParaRPr lang="en-US" sz="1500" dirty="0"/>
          </a:p>
        </p:txBody>
      </p:sp>
      <p:sp>
        <p:nvSpPr>
          <p:cNvPr id="7" name="Shape 4"/>
          <p:cNvSpPr/>
          <p:nvPr/>
        </p:nvSpPr>
        <p:spPr>
          <a:xfrm>
            <a:off x="640080" y="3337560"/>
            <a:ext cx="10911535" cy="12802"/>
          </a:xfrm>
          <a:prstGeom prst="rect">
            <a:avLst/>
          </a:prstGeom>
          <a:solidFill>
            <a:srgbClr val="DDE5F2"/>
          </a:solidFill>
          <a:ln/>
        </p:spPr>
      </p:sp>
      <p:sp>
        <p:nvSpPr>
          <p:cNvPr id="8" name="Text 5"/>
          <p:cNvSpPr/>
          <p:nvPr/>
        </p:nvSpPr>
        <p:spPr>
          <a:xfrm>
            <a:off x="640080" y="3538728"/>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“Where does the review cast live?”</a:t>
            </a:r>
            <a:endParaRPr lang="en-US" sz="1500" dirty="0"/>
          </a:p>
        </p:txBody>
      </p:sp>
      <p:sp>
        <p:nvSpPr>
          <p:cNvPr id="9" name="Text 6"/>
          <p:cNvSpPr/>
          <p:nvPr/>
        </p:nvSpPr>
        <p:spPr>
          <a:xfrm>
            <a:off x="640080" y="3950208"/>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As personas the framework convenes against every change — the hiring manager, the fact-checker, the copy chief, the QA lead, the design critic, the grump. Their arguments end up as files too.</a:t>
            </a:r>
            <a:endParaRPr lang="en-US" sz="1500" dirty="0"/>
          </a:p>
        </p:txBody>
      </p:sp>
      <p:sp>
        <p:nvSpPr>
          <p:cNvPr id="10" name="Shape 7"/>
          <p:cNvSpPr/>
          <p:nvPr/>
        </p:nvSpPr>
        <p:spPr>
          <a:xfrm>
            <a:off x="640080" y="4727448"/>
            <a:ext cx="10911535" cy="12802"/>
          </a:xfrm>
          <a:prstGeom prst="rect">
            <a:avLst/>
          </a:prstGeom>
          <a:solidFill>
            <a:srgbClr val="DDE5F2"/>
          </a:solidFill>
          <a:ln/>
        </p:spPr>
      </p:sp>
      <p:sp>
        <p:nvSpPr>
          <p:cNvPr id="11" name="Text 8"/>
          <p:cNvSpPr/>
          <p:nvPr/>
        </p:nvSpPr>
        <p:spPr>
          <a:xfrm>
            <a:off x="640080" y="4928616"/>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“Would you use it again?”</a:t>
            </a:r>
            <a:endParaRPr lang="en-US" sz="1500" dirty="0"/>
          </a:p>
        </p:txBody>
      </p:sp>
      <p:sp>
        <p:nvSpPr>
          <p:cNvPr id="12" name="Text 9"/>
          <p:cNvSpPr/>
          <p:nvPr/>
        </p:nvSpPr>
        <p:spPr>
          <a:xfrm>
            <a:off x="640080" y="5340096"/>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Yes. The transferable part is the habit — spec before prompt, adversarial review before ship — and that works with any coding agent. The framework just made rigor the default instead of the chore.</a:t>
            </a:r>
            <a:endParaRPr lang="en-US" sz="1500" dirty="0"/>
          </a:p>
        </p:txBody>
      </p:sp>
      <p:sp>
        <p:nvSpPr>
          <p:cNvPr id="13" name="Shape 10"/>
          <p:cNvSpPr/>
          <p:nvPr/>
        </p:nvSpPr>
        <p:spPr>
          <a:xfrm>
            <a:off x="640080" y="6117336"/>
            <a:ext cx="10911535" cy="12802"/>
          </a:xfrm>
          <a:prstGeom prst="rect">
            <a:avLst/>
          </a:prstGeom>
          <a:solidFill>
            <a:srgbClr val="DDE5F2"/>
          </a:solidFill>
          <a:ln/>
        </p:spPr>
      </p:sp>
      <p:sp>
        <p:nvSpPr>
          <p:cNvPr id="14" name="Text 11"/>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17</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CareerStar — spec-driven development at Capital One</dc:title>
  <dc:subject>PptxGenJS Presentation</dc:subject>
  <dc:creator>Ashley Libasci</dc:creator>
  <cp:lastModifiedBy>Ashley Libasci</cp:lastModifiedBy>
  <cp:revision>1</cp:revision>
  <dcterms:created xsi:type="dcterms:W3CDTF">2026-08-04T03:05:37Z</dcterms:created>
  <dcterms:modified xsi:type="dcterms:W3CDTF">2026-08-04T03:05:37Z</dcterms:modified>
</cp:coreProperties>
</file>