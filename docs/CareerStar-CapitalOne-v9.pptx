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Ashley. This summer I built a ratings agency for careers — it rates them the way you'd rate assets. Today is three things: the product for context, the way it was built — an AI agentic framework called BMAD — and how the whole thing is hosted on AWS. (0:30)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Thirty seconds on me: Math and CS at UIUC, class of '27. Right now I'm a cybersecurity intern at BCU and studying for the AWS Cloud Practitioner cert — both of which show up later in this talk. This summer I built CareerStar. [Add a line about hobbies here.] (0:45)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Ninety seconds so the rest makes sense. Pick the careers you're weighing, add your interests, and every path gets a 0-100 score — growth and pay, discounted by AI risk, blended with fit. Stars on a forced curve, bulls and bears on every card, and five rival scoring models you can swap live. That's the product. Now the build. (1:30)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lines, readable out loud — and every line is a decision, not a default. Ranks, because you can't average a percent and dollars; the real question is 'versus my alternatives.' AI carries the risk weight because AI is the thesis. Multiply instead of subtract, because subtraction lets a safe dead end beat a risky rocket on safety alone — 0.6 caps the damage. And the honest part: the constants are priors. Nothing to fit them on. So every ranking gets re-scored 729 times plus five rival formulas, and shaky answers are labeled 'close call' instead of sold as verdicts. (2:00)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won't pretend AI didn't type most of this — that's the point. When people hear 'AI wrote my code' they picture the left column: prompt, paste, pray, accept whatever runs. An agentic framework is the right column: a spec exists before the prompt, tests after it, an adversarial review before shipping, and a human who can defend every decision. The tool is identical. The discipline is the difference — and the framework that enforced it is the next slide. (1:30)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framework is BMAD, and every number on this slide is a file in the repo. Plan: a PM agent interrogates the idea into a PRD — my fluffy answers died in that interview — and an architect locks invariants; the big one: the LLM never computes a number. Build: seven epics, twenty-eight stories, thirty-five tests. Attack is my favorite: BMAD calls it party mode — reviewer personas with opposite priorities argue over every change and I judge. Best catch: my own methodology page overclaiming how fit worked — caught, rebuilt, published as the story of the catch. And yes, even this deck went through that room. (2:30)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Hosting, part one: the pieces. There is no server I manage. GitHub holds the code and the push to main is the release. Amplify is the engine — it builds the Next.js app and runs the server-rendered parts as managed functions. CloudFront serves it from the edge worldwide, and Route 53 holds the domain. Four Cloud Practitioner flashcard concepts became real things I'd debugged. Part two is the recipe if you want to do this yourselves. (1:30)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recipe, four steps. Repo on GitHub. Connect Amplify and pushes become deploys. Add the domain in Route 53 — Amplify handles the certificate. And step four is the one nobody tells you: verify from outside. My rate limiter passed every local test and never fired once in production — Amplify's proxy chain meant the 'client IP' I keyed on was actually Amazon's. Full war story is in the backup if anyone wants it in Q&amp;A. Practice exams don't teach proxy chains; production does. (1:30)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thoughts, having done it — three things worth stealing. Write the spec before the prompt: the discipline, not the model, made this work. Publish what your model gets wrong — the awkward numbers bought me more trust than the good ones. Pick tools that make rigor fun — mine was BMAD — because fun is load-bearing. And in 2034 I re-run the back-test on the decade my model actually bet on, and publish how the ratings aged. Ratings agencies should eat their own cooking. Thanks. (0:45)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favorite bug, in full. Textbook advice: trust the last X-Forwarded-For hop. Production: thirty rapid requests, zero rate limits — Amplify's router appends CloudFront's own edge IP after the real client, so the last hop was never the client. It was Amazon. Fix: second-to-last hop, global backstop, regression test pinning the exact header shapes. (1:30 if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DARK-image-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896112" y="475488"/>
            <a:ext cx="10515600" cy="292608"/>
          </a:xfrm>
          <a:prstGeom prst="rect">
            <a:avLst/>
          </a:prstGeom>
          <a:noFill/>
          <a:ln/>
        </p:spPr>
        <p:txBody>
          <a:bodyPr wrap="square" rtlCol="0"/>
          <a:lstStyle>
            <a:lvl1pPr indent="0" marL="0">
              <a:buNone/>
              <a:defRPr lang="en-US" dirty="0"/>
            </a:lvl1pPr>
          </a:lstStyle>
          <a:p>
            <a:pPr indent="0" marL="0">
              <a:buNone/>
            </a:pPr>
            <a:endParaRPr lang="en-US" dirty="0"/>
          </a:p>
        </p:txBody>
      </p:sp>
      <p:sp>
        <p:nvSpPr>
          <p:cNvPr id="3" name="Text 0"/>
          <p:cNvSpPr/>
          <p:nvPr>
            <p:ph idx="101" type="title" hasCustomPrompt="1"/>
          </p:nvPr>
        </p:nvSpPr>
        <p:spPr>
          <a:xfrm>
            <a:off x="640080" y="841248"/>
            <a:ext cx="10908792" cy="914400"/>
          </a:xfrm>
          <a:prstGeom prst="rect">
            <a:avLst/>
          </a:prstGeom>
          <a:noFill/>
          <a:ln/>
        </p:spPr>
        <p:txBody>
          <a:bodyPr wrap="square" rtlCol="0"/>
          <a:lstStyle>
            <a:lvl1pPr indent="0" marL="0">
              <a:buNone/>
              <a:defRPr lang="en-US" dirty="0"/>
            </a:lvl1pPr>
          </a:lstStyle>
          <a:p>
            <a:pPr indent="0" marL="0">
              <a:buNone/>
            </a:pP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1527048" y="1965960"/>
            <a:ext cx="9144000" cy="1005840"/>
          </a:xfrm>
          <a:prstGeom prst="rect">
            <a:avLst/>
          </a:prstGeom>
          <a:noFill/>
          <a:ln/>
        </p:spPr>
        <p:txBody>
          <a:bodyPr wrap="square" rtlCol="0"/>
          <a:lstStyle>
            <a:lvl1pPr indent="0" marL="0">
              <a:buNone/>
              <a:defRPr lang="en-US" dirty="0"/>
            </a:lvl1pPr>
          </a:lstStyle>
          <a:p>
            <a:pPr indent="0" marL="0">
              <a:buNone/>
            </a:pPr>
            <a:endParaRPr lang="en-US" dirty="0"/>
          </a:p>
        </p:txBody>
      </p:sp>
      <p:sp>
        <p:nvSpPr>
          <p:cNvPr id="3" name="Text 0"/>
          <p:cNvSpPr/>
          <p:nvPr>
            <p:ph idx="101" type="body" hasCustomPrompt="1"/>
          </p:nvPr>
        </p:nvSpPr>
        <p:spPr>
          <a:xfrm>
            <a:off x="1527048" y="3063240"/>
            <a:ext cx="9144000" cy="822960"/>
          </a:xfrm>
          <a:prstGeom prst="rect">
            <a:avLst/>
          </a:prstGeom>
          <a:noFill/>
          <a:ln/>
        </p:spPr>
        <p:txBody>
          <a:bodyPr wrap="square" rtlCol="0"/>
          <a:lstStyle>
            <a:lvl1pPr indent="0" marL="0">
              <a:buNone/>
              <a:defRPr lang="en-US" dirty="0"/>
            </a:lvl1pPr>
          </a:lstStyle>
          <a:p>
            <a:pPr indent="0" marL="0">
              <a:buNone/>
            </a:pP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CLOSE">
    <p:bg>
      <p:bgPr>
        <a:solidFill>
          <a:srgbClr val="070D24"/>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841248"/>
            <a:ext cx="10908792" cy="914400"/>
          </a:xfrm>
          <a:prstGeom prst="rect">
            <a:avLst/>
          </a:prstGeom>
          <a:noFill/>
          <a:ln/>
        </p:spPr>
        <p:txBody>
          <a:bodyPr wrap="square" rtlCol="0"/>
          <a:lstStyle>
            <a:lvl1pPr indent="0" marL="0">
              <a:buNone/>
              <a:defRPr lang="en-US" dirty="0"/>
            </a:lvl1pPr>
          </a:lstStyle>
          <a:p>
            <a:pPr indent="0" marL="0">
              <a:buNone/>
            </a:pP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769864" y="1298448"/>
            <a:ext cx="621792" cy="649224"/>
          </a:xfrm>
          <a:prstGeom prst="rect">
            <a:avLst/>
          </a:prstGeom>
        </p:spPr>
      </p:pic>
      <p:sp>
        <p:nvSpPr>
          <p:cNvPr id="3" name="Text 0"/>
          <p:cNvSpPr/>
          <p:nvPr>
            <p:ph idx="100" type="title" hasCustomPrompt="1"/>
          </p:nvPr>
        </p:nvSpPr>
        <p:spPr>
          <a:xfrm>
            <a:off x="1527048" y="1965960"/>
            <a:ext cx="9144000" cy="1005840"/>
          </a:xfrm>
          <a:prstGeom prst="rect">
            <a:avLst/>
          </a:prstGeom>
          <a:noFill/>
          <a:ln/>
        </p:spPr>
        <p:txBody>
          <a:bodyPr wrap="square" lIns="0" tIns="0" rIns="0" bIns="0" rtlCol="0"/>
          <a:lstStyle/>
          <a:p>
            <a:pPr algn="ctr" indent="0" marL="0">
              <a:buNone/>
            </a:pPr>
            <a:r>
              <a:rPr lang="en-US" sz="4400" b="1" dirty="0">
                <a:solidFill>
                  <a:srgbClr val="FFFFFF"/>
                </a:solidFill>
                <a:latin typeface="Arial" pitchFamily="34" charset="0"/>
                <a:ea typeface="Arial" pitchFamily="34" charset="-122"/>
                <a:cs typeface="Arial" pitchFamily="34" charset="-120"/>
              </a:rPr>
              <a:t>Rating careers like stocks</a:t>
            </a:r>
            <a:endParaRPr lang="en-US" sz="4400" dirty="0"/>
          </a:p>
        </p:txBody>
      </p:sp>
      <p:sp>
        <p:nvSpPr>
          <p:cNvPr id="4" name="Text 0"/>
          <p:cNvSpPr/>
          <p:nvPr>
            <p:ph idx="101" type="body" hasCustomPrompt="1"/>
          </p:nvPr>
        </p:nvSpPr>
        <p:spPr>
          <a:xfrm>
            <a:off x="1527048" y="3063240"/>
            <a:ext cx="9144000" cy="822960"/>
          </a:xfrm>
          <a:prstGeom prst="rect">
            <a:avLst/>
          </a:prstGeom>
          <a:noFill/>
          <a:ln/>
        </p:spPr>
        <p:txBody>
          <a:bodyPr wrap="square" lIns="0" tIns="0" rIns="0" bIns="0" rtlCol="0"/>
          <a:lstStyle/>
          <a:p>
            <a:pPr algn="ctr" indent="0" marL="0">
              <a:buNone/>
            </a:pPr>
            <a:r>
              <a:rPr lang="en-US" sz="1800" dirty="0">
                <a:solidFill>
                  <a:srgbClr val="9DB0D9"/>
                </a:solidFill>
                <a:latin typeface="Arial" pitchFamily="34" charset="0"/>
                <a:ea typeface="Arial" pitchFamily="34" charset="-122"/>
                <a:cs typeface="Arial" pitchFamily="34" charset="-120"/>
              </a:rPr>
              <a:t>Exploring development with the BMAD AI agentic framework — and how to host a simple website on AWS.</a:t>
            </a:r>
            <a:endParaRPr lang="en-US" sz="1800" dirty="0"/>
          </a:p>
        </p:txBody>
      </p:sp>
      <p:sp>
        <p:nvSpPr>
          <p:cNvPr id="5" name="Shape 2"/>
          <p:cNvSpPr/>
          <p:nvPr/>
        </p:nvSpPr>
        <p:spPr>
          <a:xfrm>
            <a:off x="5413248" y="4828032"/>
            <a:ext cx="1371600" cy="14630"/>
          </a:xfrm>
          <a:prstGeom prst="rect">
            <a:avLst/>
          </a:prstGeom>
          <a:solidFill>
            <a:srgbClr val="4F74F0"/>
          </a:solidFill>
          <a:ln/>
        </p:spPr>
      </p:sp>
      <p:sp>
        <p:nvSpPr>
          <p:cNvPr id="6" name="Text 3"/>
          <p:cNvSpPr/>
          <p:nvPr/>
        </p:nvSpPr>
        <p:spPr>
          <a:xfrm>
            <a:off x="2898648" y="5074920"/>
            <a:ext cx="6400800" cy="1097280"/>
          </a:xfrm>
          <a:prstGeom prst="rect">
            <a:avLst/>
          </a:prstGeom>
          <a:noFill/>
          <a:ln/>
        </p:spPr>
        <p:txBody>
          <a:bodyPr wrap="square" lIns="0" tIns="0" rIns="0" bIns="0" rtlCol="0" anchor="t"/>
          <a:lstStyle/>
          <a:p>
            <a:pPr algn="ctr" indent="0" marL="0">
              <a:lnSpc>
                <a:spcPts val="2400"/>
              </a:lnSpc>
              <a:buNone/>
            </a:pPr>
            <a:r>
              <a:rPr lang="en-US" sz="1600" b="1" dirty="0">
                <a:solidFill>
                  <a:srgbClr val="E8EEFC"/>
                </a:solidFill>
                <a:latin typeface="Arial" pitchFamily="34" charset="0"/>
                <a:ea typeface="Arial" pitchFamily="34" charset="-122"/>
                <a:cs typeface="Arial" pitchFamily="34" charset="-120"/>
              </a:rPr>
              <a:t>Ashley Libasci</a:t>
            </a:r>
            <a:endParaRPr lang="en-US" sz="1500" dirty="0"/>
          </a:p>
          <a:p>
            <a:pPr algn="ctr" indent="0" marL="0">
              <a:lnSpc>
                <a:spcPts val="2400"/>
              </a:lnSpc>
              <a:buNone/>
            </a:pPr>
            <a:r>
              <a:rPr lang="en-US" sz="1400" dirty="0">
                <a:solidFill>
                  <a:srgbClr val="4F74F0"/>
                </a:solidFill>
                <a:latin typeface="Arial" pitchFamily="34" charset="0"/>
                <a:ea typeface="Arial" pitchFamily="34" charset="-122"/>
                <a:cs typeface="Arial" pitchFamily="34" charset="-120"/>
              </a:rPr>
              <a:t>CareerStar — live at ashleylibasci.com</a:t>
            </a:r>
            <a:endParaRPr lang="en-US" sz="1500" dirty="0"/>
          </a:p>
          <a:p>
            <a:pPr algn="ctr" indent="0" marL="0">
              <a:lnSpc>
                <a:spcPts val="2400"/>
              </a:lnSpc>
              <a:buNone/>
            </a:pPr>
            <a:r>
              <a:rPr lang="en-US" sz="1400" dirty="0">
                <a:solidFill>
                  <a:srgbClr val="9DB0D9"/>
                </a:solidFill>
                <a:latin typeface="Arial" pitchFamily="34" charset="0"/>
                <a:ea typeface="Arial" pitchFamily="34" charset="-122"/>
                <a:cs typeface="Arial" pitchFamily="34" charset="-120"/>
              </a:rPr>
              <a:t>Capital One · August 6, 2026</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40080" y="502920"/>
            <a:ext cx="173736" cy="182880"/>
          </a:xfrm>
          <a:prstGeom prst="rect">
            <a:avLst/>
          </a:prstGeom>
        </p:spPr>
      </p:pic>
      <p:sp>
        <p:nvSpPr>
          <p:cNvPr id="3" name="Text 0"/>
          <p:cNvSpPr/>
          <p:nvPr>
            <p:ph idx="100" type="body" hasCustomPrompt="1"/>
          </p:nvPr>
        </p:nvSpPr>
        <p:spPr>
          <a:xfrm>
            <a:off x="896112" y="475488"/>
            <a:ext cx="10515600" cy="292608"/>
          </a:xfrm>
          <a:prstGeom prst="rect">
            <a:avLst/>
          </a:prstGeom>
          <a:noFill/>
          <a:ln/>
        </p:spPr>
        <p:txBody>
          <a:bodyPr wrap="square" lIns="0" tIns="0" rIns="0" bIns="0" rtlCol="0"/>
          <a:lstStyle/>
          <a:p>
            <a:pPr indent="0" marL="0">
              <a:buNone/>
            </a:pPr>
            <a:r>
              <a:rPr lang="en-US" sz="1400" b="1" spc="250" kern="0" dirty="0">
                <a:solidFill>
                  <a:srgbClr val="1D4ED8"/>
                </a:solidFill>
                <a:latin typeface="Arial" pitchFamily="34" charset="0"/>
                <a:ea typeface="Arial" pitchFamily="34" charset="-122"/>
                <a:cs typeface="Arial" pitchFamily="34" charset="-120"/>
              </a:rPr>
              <a:t>01 · ABOUT ME</a:t>
            </a:r>
            <a:endParaRPr lang="en-US" sz="1400" dirty="0"/>
          </a:p>
        </p:txBody>
      </p:sp>
      <p:sp>
        <p:nvSpPr>
          <p:cNvPr id="4" name="Text 0"/>
          <p:cNvSpPr/>
          <p:nvPr>
            <p:ph idx="101" type="title" hasCustomPrompt="1"/>
          </p:nvPr>
        </p:nvSpPr>
        <p:spPr>
          <a:xfrm>
            <a:off x="640080" y="841248"/>
            <a:ext cx="10908792" cy="914400"/>
          </a:xfrm>
          <a:prstGeom prst="rect">
            <a:avLst/>
          </a:prstGeom>
          <a:noFill/>
          <a:ln/>
        </p:spPr>
        <p:txBody>
          <a:bodyPr wrap="square" lIns="0" tIns="0" rIns="0" bIns="0" rtlCol="0"/>
          <a:lstStyle/>
          <a:p>
            <a:pPr algn="l" indent="0" marL="0">
              <a:buNone/>
            </a:pPr>
            <a:r>
              <a:rPr lang="en-US" sz="3000" b="1" dirty="0">
                <a:solidFill>
                  <a:srgbClr val="0F172A"/>
                </a:solidFill>
                <a:latin typeface="Arial" pitchFamily="34" charset="0"/>
                <a:ea typeface="Arial" pitchFamily="34" charset="-122"/>
                <a:cs typeface="Arial" pitchFamily="34" charset="-120"/>
              </a:rPr>
              <a:t>Hi, I’m Ashley</a:t>
            </a:r>
            <a:endParaRPr lang="en-US" sz="3000" dirty="0"/>
          </a:p>
        </p:txBody>
      </p:sp>
      <p:sp>
        <p:nvSpPr>
          <p:cNvPr id="5" name="Text 2"/>
          <p:cNvSpPr/>
          <p:nvPr/>
        </p:nvSpPr>
        <p:spPr>
          <a:xfrm>
            <a:off x="640080" y="2286000"/>
            <a:ext cx="3017520" cy="457200"/>
          </a:xfrm>
          <a:prstGeom prst="rect">
            <a:avLst/>
          </a:prstGeom>
          <a:noFill/>
          <a:ln/>
        </p:spPr>
        <p:txBody>
          <a:bodyPr wrap="square" lIns="0" tIns="0" rIns="0" bIns="0" rtlCol="0" anchor="t"/>
          <a:lstStyle/>
          <a:p>
            <a:pPr algn="l" indent="0" marL="0">
              <a:buNone/>
            </a:pPr>
            <a:r>
              <a:rPr lang="en-US" sz="2000" b="1" dirty="0">
                <a:solidFill>
                  <a:srgbClr val="1D4ED8"/>
                </a:solidFill>
                <a:latin typeface="Arial" pitchFamily="34" charset="0"/>
                <a:ea typeface="Arial" pitchFamily="34" charset="-122"/>
                <a:cs typeface="Arial" pitchFamily="34" charset="-120"/>
              </a:rPr>
              <a:t>School</a:t>
            </a:r>
            <a:endParaRPr lang="en-US" sz="1500" dirty="0"/>
          </a:p>
        </p:txBody>
      </p:sp>
      <p:sp>
        <p:nvSpPr>
          <p:cNvPr id="6" name="Text 3"/>
          <p:cNvSpPr/>
          <p:nvPr/>
        </p:nvSpPr>
        <p:spPr>
          <a:xfrm>
            <a:off x="3931920" y="2322576"/>
            <a:ext cx="7616952" cy="685800"/>
          </a:xfrm>
          <a:prstGeom prst="rect">
            <a:avLst/>
          </a:prstGeom>
          <a:noFill/>
          <a:ln/>
        </p:spPr>
        <p:txBody>
          <a:bodyPr wrap="square" lIns="0" tIns="0" rIns="0" bIns="0" rtlCol="0" anchor="t"/>
          <a:lstStyle/>
          <a:p>
            <a:pPr algn="l" indent="0" marL="0">
              <a:buNone/>
            </a:pPr>
            <a:r>
              <a:rPr lang="en-US" sz="1600" dirty="0">
                <a:solidFill>
                  <a:srgbClr val="0F172A"/>
                </a:solidFill>
                <a:latin typeface="Arial" pitchFamily="34" charset="0"/>
                <a:ea typeface="Arial" pitchFamily="34" charset="-122"/>
                <a:cs typeface="Arial" pitchFamily="34" charset="-120"/>
              </a:rPr>
              <a:t>University of Illinois Urbana-Champaign — Math + CS, Class of ’27.</a:t>
            </a:r>
            <a:endParaRPr lang="en-US" sz="1500" dirty="0"/>
          </a:p>
        </p:txBody>
      </p:sp>
      <p:sp>
        <p:nvSpPr>
          <p:cNvPr id="7" name="Shape 4"/>
          <p:cNvSpPr/>
          <p:nvPr/>
        </p:nvSpPr>
        <p:spPr>
          <a:xfrm>
            <a:off x="640080" y="3035808"/>
            <a:ext cx="10911535" cy="12802"/>
          </a:xfrm>
          <a:prstGeom prst="rect">
            <a:avLst/>
          </a:prstGeom>
          <a:solidFill>
            <a:srgbClr val="DDE5F2"/>
          </a:solidFill>
          <a:ln/>
        </p:spPr>
      </p:sp>
      <p:sp>
        <p:nvSpPr>
          <p:cNvPr id="8" name="Text 5"/>
          <p:cNvSpPr/>
          <p:nvPr/>
        </p:nvSpPr>
        <p:spPr>
          <a:xfrm>
            <a:off x="640080" y="3255264"/>
            <a:ext cx="3017520" cy="457200"/>
          </a:xfrm>
          <a:prstGeom prst="rect">
            <a:avLst/>
          </a:prstGeom>
          <a:noFill/>
          <a:ln/>
        </p:spPr>
        <p:txBody>
          <a:bodyPr wrap="square" lIns="0" tIns="0" rIns="0" bIns="0" rtlCol="0" anchor="t"/>
          <a:lstStyle/>
          <a:p>
            <a:pPr algn="l" indent="0" marL="0">
              <a:buNone/>
            </a:pPr>
            <a:r>
              <a:rPr lang="en-US" sz="2000" b="1" dirty="0">
                <a:solidFill>
                  <a:srgbClr val="1D4ED8"/>
                </a:solidFill>
                <a:latin typeface="Arial" pitchFamily="34" charset="0"/>
                <a:ea typeface="Arial" pitchFamily="34" charset="-122"/>
                <a:cs typeface="Arial" pitchFamily="34" charset="-120"/>
              </a:rPr>
              <a:t>Right now</a:t>
            </a:r>
            <a:endParaRPr lang="en-US" sz="1500" dirty="0"/>
          </a:p>
        </p:txBody>
      </p:sp>
      <p:sp>
        <p:nvSpPr>
          <p:cNvPr id="9" name="Text 6"/>
          <p:cNvSpPr/>
          <p:nvPr/>
        </p:nvSpPr>
        <p:spPr>
          <a:xfrm>
            <a:off x="3931920" y="3291840"/>
            <a:ext cx="7616952" cy="685800"/>
          </a:xfrm>
          <a:prstGeom prst="rect">
            <a:avLst/>
          </a:prstGeom>
          <a:noFill/>
          <a:ln/>
        </p:spPr>
        <p:txBody>
          <a:bodyPr wrap="square" lIns="0" tIns="0" rIns="0" bIns="0" rtlCol="0" anchor="t"/>
          <a:lstStyle/>
          <a:p>
            <a:pPr algn="l" indent="0" marL="0">
              <a:buNone/>
            </a:pPr>
            <a:r>
              <a:rPr lang="en-US" sz="1600" dirty="0">
                <a:solidFill>
                  <a:srgbClr val="0F172A"/>
                </a:solidFill>
                <a:latin typeface="Arial" pitchFamily="34" charset="0"/>
                <a:ea typeface="Arial" pitchFamily="34" charset="-122"/>
                <a:cs typeface="Arial" pitchFamily="34" charset="-120"/>
              </a:rPr>
              <a:t>Cybersecurity intern at BCU · studying for AWS Cloud Practitioner.</a:t>
            </a:r>
            <a:endParaRPr lang="en-US" sz="1500" dirty="0"/>
          </a:p>
        </p:txBody>
      </p:sp>
      <p:sp>
        <p:nvSpPr>
          <p:cNvPr id="10" name="Shape 7"/>
          <p:cNvSpPr/>
          <p:nvPr/>
        </p:nvSpPr>
        <p:spPr>
          <a:xfrm>
            <a:off x="640080" y="4005072"/>
            <a:ext cx="10911535" cy="12802"/>
          </a:xfrm>
          <a:prstGeom prst="rect">
            <a:avLst/>
          </a:prstGeom>
          <a:solidFill>
            <a:srgbClr val="DDE5F2"/>
          </a:solidFill>
          <a:ln/>
        </p:spPr>
      </p:sp>
      <p:sp>
        <p:nvSpPr>
          <p:cNvPr id="11" name="Text 8"/>
          <p:cNvSpPr/>
          <p:nvPr/>
        </p:nvSpPr>
        <p:spPr>
          <a:xfrm>
            <a:off x="640080" y="4224528"/>
            <a:ext cx="3017520" cy="457200"/>
          </a:xfrm>
          <a:prstGeom prst="rect">
            <a:avLst/>
          </a:prstGeom>
          <a:noFill/>
          <a:ln/>
        </p:spPr>
        <p:txBody>
          <a:bodyPr wrap="square" lIns="0" tIns="0" rIns="0" bIns="0" rtlCol="0" anchor="t"/>
          <a:lstStyle/>
          <a:p>
            <a:pPr algn="l" indent="0" marL="0">
              <a:buNone/>
            </a:pPr>
            <a:r>
              <a:rPr lang="en-US" sz="2000" b="1" dirty="0">
                <a:solidFill>
                  <a:srgbClr val="1D4ED8"/>
                </a:solidFill>
                <a:latin typeface="Arial" pitchFamily="34" charset="0"/>
                <a:ea typeface="Arial" pitchFamily="34" charset="-122"/>
                <a:cs typeface="Arial" pitchFamily="34" charset="-120"/>
              </a:rPr>
              <a:t>This summer</a:t>
            </a:r>
            <a:endParaRPr lang="en-US" sz="1500" dirty="0"/>
          </a:p>
        </p:txBody>
      </p:sp>
      <p:sp>
        <p:nvSpPr>
          <p:cNvPr id="12" name="Text 9"/>
          <p:cNvSpPr/>
          <p:nvPr/>
        </p:nvSpPr>
        <p:spPr>
          <a:xfrm>
            <a:off x="3931920" y="4261104"/>
            <a:ext cx="7616952" cy="685800"/>
          </a:xfrm>
          <a:prstGeom prst="rect">
            <a:avLst/>
          </a:prstGeom>
          <a:noFill/>
          <a:ln/>
        </p:spPr>
        <p:txBody>
          <a:bodyPr wrap="square" lIns="0" tIns="0" rIns="0" bIns="0" rtlCol="0" anchor="t"/>
          <a:lstStyle/>
          <a:p>
            <a:pPr algn="l" indent="0" marL="0">
              <a:buNone/>
            </a:pPr>
            <a:r>
              <a:rPr lang="en-US" sz="1600" dirty="0">
                <a:solidFill>
                  <a:srgbClr val="0F172A"/>
                </a:solidFill>
                <a:latin typeface="Arial" pitchFamily="34" charset="0"/>
                <a:ea typeface="Arial" pitchFamily="34" charset="-122"/>
                <a:cs typeface="Arial" pitchFamily="34" charset="-120"/>
              </a:rPr>
              <a:t>Built CareerStar — a career-ratings site, live at ashleylibasci.com. AI agents typed most of it; that story is this talk.</a:t>
            </a:r>
            <a:endParaRPr lang="en-US" sz="1500" dirty="0"/>
          </a:p>
        </p:txBody>
      </p:sp>
      <p:sp>
        <p:nvSpPr>
          <p:cNvPr id="13" name="Shape 10"/>
          <p:cNvSpPr/>
          <p:nvPr/>
        </p:nvSpPr>
        <p:spPr>
          <a:xfrm>
            <a:off x="640080" y="4974336"/>
            <a:ext cx="10911535" cy="12802"/>
          </a:xfrm>
          <a:prstGeom prst="rect">
            <a:avLst/>
          </a:prstGeom>
          <a:solidFill>
            <a:srgbClr val="DDE5F2"/>
          </a:solidFill>
          <a:ln/>
        </p:spPr>
      </p:sp>
      <p:sp>
        <p:nvSpPr>
          <p:cNvPr id="14" name="Text 11"/>
          <p:cNvSpPr/>
          <p:nvPr/>
        </p:nvSpPr>
        <p:spPr>
          <a:xfrm>
            <a:off x="640080" y="5193792"/>
            <a:ext cx="3017520" cy="457200"/>
          </a:xfrm>
          <a:prstGeom prst="rect">
            <a:avLst/>
          </a:prstGeom>
          <a:noFill/>
          <a:ln/>
        </p:spPr>
        <p:txBody>
          <a:bodyPr wrap="square" lIns="0" tIns="0" rIns="0" bIns="0" rtlCol="0" anchor="t"/>
          <a:lstStyle/>
          <a:p>
            <a:pPr algn="l" indent="0" marL="0">
              <a:buNone/>
            </a:pPr>
            <a:r>
              <a:rPr lang="en-US" sz="2000" b="1" dirty="0">
                <a:solidFill>
                  <a:srgbClr val="1D4ED8"/>
                </a:solidFill>
                <a:latin typeface="Arial" pitchFamily="34" charset="0"/>
                <a:ea typeface="Arial" pitchFamily="34" charset="-122"/>
                <a:cs typeface="Arial" pitchFamily="34" charset="-120"/>
              </a:rPr>
              <a:t>Off the clock</a:t>
            </a:r>
            <a:endParaRPr lang="en-US" sz="1500" dirty="0"/>
          </a:p>
        </p:txBody>
      </p:sp>
      <p:sp>
        <p:nvSpPr>
          <p:cNvPr id="15" name="Text 12"/>
          <p:cNvSpPr/>
          <p:nvPr/>
        </p:nvSpPr>
        <p:spPr>
          <a:xfrm>
            <a:off x="3931920" y="5230368"/>
            <a:ext cx="7616952" cy="685800"/>
          </a:xfrm>
          <a:prstGeom prst="rect">
            <a:avLst/>
          </a:prstGeom>
          <a:noFill/>
          <a:ln/>
        </p:spPr>
        <p:txBody>
          <a:bodyPr wrap="square" lIns="0" tIns="0" rIns="0" bIns="0" rtlCol="0" anchor="t"/>
          <a:lstStyle/>
          <a:p>
            <a:pPr algn="l" indent="0" marL="0">
              <a:buNone/>
            </a:pPr>
            <a:r>
              <a:rPr lang="en-US" sz="1600" dirty="0">
                <a:solidFill>
                  <a:srgbClr val="0F172A"/>
                </a:solidFill>
                <a:latin typeface="Arial" pitchFamily="34" charset="0"/>
                <a:ea typeface="Arial" pitchFamily="34" charset="-122"/>
                <a:cs typeface="Arial" pitchFamily="34" charset="-120"/>
              </a:rPr>
              <a:t>[ hobbies go here — two or three, in your own words ]</a:t>
            </a:r>
            <a:endParaRPr lang="en-US" sz="1500" dirty="0"/>
          </a:p>
        </p:txBody>
      </p:sp>
      <p:sp>
        <p:nvSpPr>
          <p:cNvPr id="16" name="Shape 13"/>
          <p:cNvSpPr/>
          <p:nvPr/>
        </p:nvSpPr>
        <p:spPr>
          <a:xfrm>
            <a:off x="640080" y="5943600"/>
            <a:ext cx="10911535" cy="12802"/>
          </a:xfrm>
          <a:prstGeom prst="rect">
            <a:avLst/>
          </a:prstGeom>
          <a:solidFill>
            <a:srgbClr val="DDE5F2"/>
          </a:solidFill>
          <a:ln/>
        </p:spPr>
      </p:sp>
      <p:sp>
        <p:nvSpPr>
          <p:cNvPr id="17" name="Text 14"/>
          <p:cNvSpPr/>
          <p:nvPr/>
        </p:nvSpPr>
        <p:spPr>
          <a:xfrm>
            <a:off x="11548872" y="6419088"/>
            <a:ext cx="365760" cy="274320"/>
          </a:xfrm>
          <a:prstGeom prst="rect">
            <a:avLst/>
          </a:prstGeom>
          <a:noFill/>
          <a:ln/>
        </p:spPr>
        <p:txBody>
          <a:bodyPr wrap="square" lIns="0" tIns="0" rIns="0" bIns="0" rtlCol="0" anchor="ctr"/>
          <a:lstStyle/>
          <a:p>
            <a:pPr algn="r" indent="0" marL="0">
              <a:buNone/>
            </a:pPr>
            <a:r>
              <a:rPr lang="en-US" sz="1400" dirty="0">
                <a:solidFill>
                  <a:srgbClr val="64748B"/>
                </a:solidFill>
                <a:latin typeface="Arial" pitchFamily="34" charset="0"/>
                <a:ea typeface="Arial" pitchFamily="34" charset="-122"/>
                <a:cs typeface="Arial" pitchFamily="34" charset="-120"/>
              </a:rPr>
              <a:t>2</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40080" y="502920"/>
            <a:ext cx="173736" cy="182880"/>
          </a:xfrm>
          <a:prstGeom prst="rect">
            <a:avLst/>
          </a:prstGeom>
        </p:spPr>
      </p:pic>
      <p:sp>
        <p:nvSpPr>
          <p:cNvPr id="3" name="Text 0"/>
          <p:cNvSpPr/>
          <p:nvPr>
            <p:ph idx="100" type="body" hasCustomPrompt="1"/>
          </p:nvPr>
        </p:nvSpPr>
        <p:spPr>
          <a:xfrm>
            <a:off x="896112" y="475488"/>
            <a:ext cx="10515600" cy="292608"/>
          </a:xfrm>
          <a:prstGeom prst="rect">
            <a:avLst/>
          </a:prstGeom>
          <a:noFill/>
          <a:ln/>
        </p:spPr>
        <p:txBody>
          <a:bodyPr wrap="square" lIns="0" tIns="0" rIns="0" bIns="0" rtlCol="0"/>
          <a:lstStyle/>
          <a:p>
            <a:pPr indent="0" marL="0">
              <a:buNone/>
            </a:pPr>
            <a:r>
              <a:rPr lang="en-US" sz="1400" b="1" spc="250" kern="0" dirty="0">
                <a:solidFill>
                  <a:srgbClr val="1D4ED8"/>
                </a:solidFill>
                <a:latin typeface="Arial" pitchFamily="34" charset="0"/>
                <a:ea typeface="Arial" pitchFamily="34" charset="-122"/>
                <a:cs typeface="Arial" pitchFamily="34" charset="-120"/>
              </a:rPr>
              <a:t>02 · THE PRODUCT</a:t>
            </a:r>
            <a:endParaRPr lang="en-US" sz="1400" dirty="0"/>
          </a:p>
        </p:txBody>
      </p:sp>
      <p:sp>
        <p:nvSpPr>
          <p:cNvPr id="4" name="Text 0"/>
          <p:cNvSpPr/>
          <p:nvPr>
            <p:ph idx="101" type="title" hasCustomPrompt="1"/>
          </p:nvPr>
        </p:nvSpPr>
        <p:spPr>
          <a:xfrm>
            <a:off x="640080" y="841248"/>
            <a:ext cx="10908792" cy="914400"/>
          </a:xfrm>
          <a:prstGeom prst="rect">
            <a:avLst/>
          </a:prstGeom>
          <a:noFill/>
          <a:ln/>
        </p:spPr>
        <p:txBody>
          <a:bodyPr wrap="square" lIns="0" tIns="0" rIns="0" bIns="0" rtlCol="0"/>
          <a:lstStyle/>
          <a:p>
            <a:pPr algn="l" indent="0" marL="0">
              <a:buNone/>
            </a:pPr>
            <a:r>
              <a:rPr lang="en-US" sz="3000" b="1" dirty="0">
                <a:solidFill>
                  <a:srgbClr val="0F172A"/>
                </a:solidFill>
                <a:latin typeface="Arial" pitchFamily="34" charset="0"/>
                <a:ea typeface="Arial" pitchFamily="34" charset="-122"/>
                <a:cs typeface="Arial" pitchFamily="34" charset="-120"/>
              </a:rPr>
              <a:t>CareerStar rates careers the way you rate assets</a:t>
            </a:r>
            <a:endParaRPr lang="en-US" sz="3000" dirty="0"/>
          </a:p>
        </p:txBody>
      </p:sp>
      <p:pic>
        <p:nvPicPr>
          <p:cNvPr id="5" name="Image 1" descr="preencoded.png">    </p:cNvPr>
          <p:cNvPicPr>
            <a:picLocks noChangeAspect="1"/>
          </p:cNvPicPr>
          <p:nvPr/>
        </p:nvPicPr>
        <p:blipFill>
          <a:blip r:embed="rId2"/>
          <a:stretch>
            <a:fillRect/>
          </a:stretch>
        </p:blipFill>
        <p:spPr>
          <a:xfrm>
            <a:off x="640080" y="1828800"/>
            <a:ext cx="3890648" cy="4160520"/>
          </a:xfrm>
          <a:prstGeom prst="rect">
            <a:avLst/>
          </a:prstGeom>
        </p:spPr>
      </p:pic>
      <p:sp>
        <p:nvSpPr>
          <p:cNvPr id="6" name="Shape 2"/>
          <p:cNvSpPr/>
          <p:nvPr/>
        </p:nvSpPr>
        <p:spPr>
          <a:xfrm>
            <a:off x="621792" y="1810512"/>
            <a:ext cx="3927224" cy="4197096"/>
          </a:xfrm>
          <a:prstGeom prst="rect">
            <a:avLst/>
          </a:prstGeom>
          <a:solidFill>
            <a:srgbClr val="FFFFFF">
              <a:alpha val="0"/>
            </a:srgbClr>
          </a:solidFill>
          <a:ln w="12700">
            <a:solidFill>
              <a:srgbClr val="DDE5F2"/>
            </a:solidFill>
            <a:prstDash val="solid"/>
          </a:ln>
        </p:spPr>
      </p:sp>
      <p:sp>
        <p:nvSpPr>
          <p:cNvPr id="7" name="Text 3"/>
          <p:cNvSpPr/>
          <p:nvPr/>
        </p:nvSpPr>
        <p:spPr>
          <a:xfrm>
            <a:off x="640080" y="6053328"/>
            <a:ext cx="4805048" cy="274320"/>
          </a:xfrm>
          <a:prstGeom prst="rect">
            <a:avLst/>
          </a:prstGeom>
          <a:noFill/>
          <a:ln/>
        </p:spPr>
        <p:txBody>
          <a:bodyPr wrap="square" lIns="0" tIns="0" rIns="0" bIns="0" rtlCol="0" anchor="t"/>
          <a:lstStyle/>
          <a:p>
            <a:pPr algn="l" indent="0" marL="0">
              <a:buNone/>
            </a:pPr>
            <a:r>
              <a:rPr lang="en-US" sz="1300" dirty="0">
                <a:solidFill>
                  <a:srgbClr val="64748B"/>
                </a:solidFill>
                <a:latin typeface="Arial" pitchFamily="34" charset="0"/>
                <a:ea typeface="Arial" pitchFamily="34" charset="-122"/>
                <a:cs typeface="Arial" pitchFamily="34" charset="-120"/>
              </a:rPr>
              <a:t>ashleylibasci.com/rate — live, as shipped</a:t>
            </a:r>
            <a:endParaRPr lang="en-US" sz="1500" dirty="0"/>
          </a:p>
        </p:txBody>
      </p:sp>
      <p:sp>
        <p:nvSpPr>
          <p:cNvPr id="8" name="Text 4"/>
          <p:cNvSpPr/>
          <p:nvPr/>
        </p:nvSpPr>
        <p:spPr>
          <a:xfrm>
            <a:off x="4800600" y="2167128"/>
            <a:ext cx="1371600" cy="566928"/>
          </a:xfrm>
          <a:prstGeom prst="rect">
            <a:avLst/>
          </a:prstGeom>
          <a:noFill/>
          <a:ln/>
        </p:spPr>
        <p:txBody>
          <a:bodyPr wrap="square" lIns="0" tIns="0" rIns="0" bIns="0" rtlCol="0" anchor="t"/>
          <a:lstStyle/>
          <a:p>
            <a:pPr algn="l" indent="0" marL="0">
              <a:buNone/>
            </a:pPr>
            <a:r>
              <a:rPr lang="en-US" sz="3600" b="1" dirty="0">
                <a:solidFill>
                  <a:srgbClr val="1D4ED8"/>
                </a:solidFill>
                <a:latin typeface="Arial" pitchFamily="34" charset="0"/>
                <a:ea typeface="Arial" pitchFamily="34" charset="-122"/>
                <a:cs typeface="Arial" pitchFamily="34" charset="-120"/>
              </a:rPr>
              <a:t>730</a:t>
            </a:r>
            <a:endParaRPr lang="en-US" sz="1500" dirty="0"/>
          </a:p>
        </p:txBody>
      </p:sp>
      <p:sp>
        <p:nvSpPr>
          <p:cNvPr id="9" name="Text 5"/>
          <p:cNvSpPr/>
          <p:nvPr/>
        </p:nvSpPr>
        <p:spPr>
          <a:xfrm>
            <a:off x="6263640" y="2331720"/>
            <a:ext cx="5285232" cy="502920"/>
          </a:xfrm>
          <a:prstGeom prst="rect">
            <a:avLst/>
          </a:prstGeom>
          <a:noFill/>
          <a:ln/>
        </p:spPr>
        <p:txBody>
          <a:bodyPr wrap="square" lIns="0" tIns="0" rIns="0" bIns="0" rtlCol="0" anchor="t"/>
          <a:lstStyle/>
          <a:p>
            <a:pPr algn="l" indent="0" marL="0">
              <a:buNone/>
            </a:pPr>
            <a:r>
              <a:rPr lang="en-US" sz="1600" dirty="0">
                <a:solidFill>
                  <a:srgbClr val="0F172A"/>
                </a:solidFill>
                <a:latin typeface="Arial" pitchFamily="34" charset="0"/>
                <a:ea typeface="Arial" pitchFamily="34" charset="-122"/>
                <a:cs typeface="Arial" pitchFamily="34" charset="-120"/>
              </a:rPr>
              <a:t>U.S. occupations, every one rated</a:t>
            </a:r>
            <a:endParaRPr lang="en-US" sz="1500" dirty="0"/>
          </a:p>
        </p:txBody>
      </p:sp>
      <p:sp>
        <p:nvSpPr>
          <p:cNvPr id="10" name="Shape 6"/>
          <p:cNvSpPr/>
          <p:nvPr/>
        </p:nvSpPr>
        <p:spPr>
          <a:xfrm>
            <a:off x="4800600" y="2990088"/>
            <a:ext cx="6748272" cy="12802"/>
          </a:xfrm>
          <a:prstGeom prst="rect">
            <a:avLst/>
          </a:prstGeom>
          <a:solidFill>
            <a:srgbClr val="DDE5F2"/>
          </a:solidFill>
          <a:ln/>
        </p:spPr>
      </p:sp>
      <p:sp>
        <p:nvSpPr>
          <p:cNvPr id="11" name="Text 7"/>
          <p:cNvSpPr/>
          <p:nvPr/>
        </p:nvSpPr>
        <p:spPr>
          <a:xfrm>
            <a:off x="4800600" y="3136392"/>
            <a:ext cx="1371600" cy="566928"/>
          </a:xfrm>
          <a:prstGeom prst="rect">
            <a:avLst/>
          </a:prstGeom>
          <a:noFill/>
          <a:ln/>
        </p:spPr>
        <p:txBody>
          <a:bodyPr wrap="square" lIns="0" tIns="0" rIns="0" bIns="0" rtlCol="0" anchor="t"/>
          <a:lstStyle/>
          <a:p>
            <a:pPr algn="l" indent="0" marL="0">
              <a:buNone/>
            </a:pPr>
            <a:r>
              <a:rPr lang="en-US" sz="3600" b="1" dirty="0">
                <a:solidFill>
                  <a:srgbClr val="1D4ED8"/>
                </a:solidFill>
                <a:latin typeface="Arial" pitchFamily="34" charset="0"/>
                <a:ea typeface="Arial" pitchFamily="34" charset="-122"/>
                <a:cs typeface="Arial" pitchFamily="34" charset="-120"/>
              </a:rPr>
              <a:t>5</a:t>
            </a:r>
            <a:endParaRPr lang="en-US" sz="1500" dirty="0"/>
          </a:p>
        </p:txBody>
      </p:sp>
      <p:sp>
        <p:nvSpPr>
          <p:cNvPr id="12" name="Text 8"/>
          <p:cNvSpPr/>
          <p:nvPr/>
        </p:nvSpPr>
        <p:spPr>
          <a:xfrm>
            <a:off x="6263640" y="3300984"/>
            <a:ext cx="5285232" cy="502920"/>
          </a:xfrm>
          <a:prstGeom prst="rect">
            <a:avLst/>
          </a:prstGeom>
          <a:noFill/>
          <a:ln/>
        </p:spPr>
        <p:txBody>
          <a:bodyPr wrap="square" lIns="0" tIns="0" rIns="0" bIns="0" rtlCol="0" anchor="t"/>
          <a:lstStyle/>
          <a:p>
            <a:pPr algn="l" indent="0" marL="0">
              <a:buNone/>
            </a:pPr>
            <a:r>
              <a:rPr lang="en-US" sz="1600" dirty="0">
                <a:solidFill>
                  <a:srgbClr val="0F172A"/>
                </a:solidFill>
                <a:latin typeface="Arial" pitchFamily="34" charset="0"/>
                <a:ea typeface="Arial" pitchFamily="34" charset="-122"/>
                <a:cs typeface="Arial" pitchFamily="34" charset="-120"/>
              </a:rPr>
              <a:t>rival scoring models, swappable live</a:t>
            </a:r>
            <a:endParaRPr lang="en-US" sz="1500" dirty="0"/>
          </a:p>
        </p:txBody>
      </p:sp>
      <p:sp>
        <p:nvSpPr>
          <p:cNvPr id="13" name="Shape 9"/>
          <p:cNvSpPr/>
          <p:nvPr/>
        </p:nvSpPr>
        <p:spPr>
          <a:xfrm>
            <a:off x="4800600" y="3959352"/>
            <a:ext cx="6748272" cy="12802"/>
          </a:xfrm>
          <a:prstGeom prst="rect">
            <a:avLst/>
          </a:prstGeom>
          <a:solidFill>
            <a:srgbClr val="DDE5F2"/>
          </a:solidFill>
          <a:ln/>
        </p:spPr>
      </p:sp>
      <p:sp>
        <p:nvSpPr>
          <p:cNvPr id="14" name="Text 10"/>
          <p:cNvSpPr/>
          <p:nvPr/>
        </p:nvSpPr>
        <p:spPr>
          <a:xfrm>
            <a:off x="4800600" y="4105656"/>
            <a:ext cx="1371600" cy="566928"/>
          </a:xfrm>
          <a:prstGeom prst="rect">
            <a:avLst/>
          </a:prstGeom>
          <a:noFill/>
          <a:ln/>
        </p:spPr>
        <p:txBody>
          <a:bodyPr wrap="square" lIns="0" tIns="0" rIns="0" bIns="0" rtlCol="0" anchor="t"/>
          <a:lstStyle/>
          <a:p>
            <a:pPr algn="l" indent="0" marL="0">
              <a:buNone/>
            </a:pPr>
            <a:r>
              <a:rPr lang="en-US" sz="3600" b="1" dirty="0">
                <a:solidFill>
                  <a:srgbClr val="1D4ED8"/>
                </a:solidFill>
                <a:latin typeface="Arial" pitchFamily="34" charset="0"/>
                <a:ea typeface="Arial" pitchFamily="34" charset="-122"/>
                <a:cs typeface="Arial" pitchFamily="34" charset="-120"/>
              </a:rPr>
              <a:t>10%</a:t>
            </a:r>
            <a:endParaRPr lang="en-US" sz="1500" dirty="0"/>
          </a:p>
        </p:txBody>
      </p:sp>
      <p:sp>
        <p:nvSpPr>
          <p:cNvPr id="15" name="Text 11"/>
          <p:cNvSpPr/>
          <p:nvPr/>
        </p:nvSpPr>
        <p:spPr>
          <a:xfrm>
            <a:off x="6263640" y="4270248"/>
            <a:ext cx="5285232" cy="502920"/>
          </a:xfrm>
          <a:prstGeom prst="rect">
            <a:avLst/>
          </a:prstGeom>
          <a:noFill/>
          <a:ln/>
        </p:spPr>
        <p:txBody>
          <a:bodyPr wrap="square" lIns="0" tIns="0" rIns="0" bIns="0" rtlCol="0" anchor="t"/>
          <a:lstStyle/>
          <a:p>
            <a:pPr algn="l" indent="0" marL="0">
              <a:buNone/>
            </a:pPr>
            <a:r>
              <a:rPr lang="en-US" sz="1600" dirty="0">
                <a:solidFill>
                  <a:srgbClr val="0F172A"/>
                </a:solidFill>
                <a:latin typeface="Arial" pitchFamily="34" charset="0"/>
                <a:ea typeface="Arial" pitchFamily="34" charset="-122"/>
                <a:cs typeface="Arial" pitchFamily="34" charset="-120"/>
              </a:rPr>
              <a:t>of careers earn five stars — it’s a forced curve</a:t>
            </a:r>
            <a:endParaRPr lang="en-US" sz="1500" dirty="0"/>
          </a:p>
        </p:txBody>
      </p:sp>
      <p:sp>
        <p:nvSpPr>
          <p:cNvPr id="16" name="Shape 12"/>
          <p:cNvSpPr/>
          <p:nvPr/>
        </p:nvSpPr>
        <p:spPr>
          <a:xfrm>
            <a:off x="4800600" y="5349240"/>
            <a:ext cx="6748272" cy="12802"/>
          </a:xfrm>
          <a:prstGeom prst="rect">
            <a:avLst/>
          </a:prstGeom>
          <a:solidFill>
            <a:srgbClr val="DDE5F2"/>
          </a:solidFill>
          <a:ln/>
        </p:spPr>
      </p:sp>
      <p:sp>
        <p:nvSpPr>
          <p:cNvPr id="17" name="Text 13"/>
          <p:cNvSpPr/>
          <p:nvPr/>
        </p:nvSpPr>
        <p:spPr>
          <a:xfrm>
            <a:off x="4800600" y="5577840"/>
            <a:ext cx="6748272" cy="365760"/>
          </a:xfrm>
          <a:prstGeom prst="rect">
            <a:avLst/>
          </a:prstGeom>
          <a:noFill/>
          <a:ln/>
        </p:spPr>
        <p:txBody>
          <a:bodyPr wrap="square" lIns="0" tIns="0" rIns="0" bIns="0" rtlCol="0" anchor="t"/>
          <a:lstStyle/>
          <a:p>
            <a:pPr algn="l" indent="0" marL="0">
              <a:buNone/>
            </a:pPr>
            <a:r>
              <a:rPr lang="en-US" sz="1500" b="1" dirty="0">
                <a:solidFill>
                  <a:srgbClr val="0F172A"/>
                </a:solidFill>
                <a:latin typeface="Arial" pitchFamily="34" charset="0"/>
                <a:ea typeface="Arial" pitchFamily="34" charset="-122"/>
                <a:cs typeface="Arial" pitchFamily="34" charset="-120"/>
              </a:rPr>
              <a:t>The product is the demo. The build is today’s story.</a:t>
            </a:r>
            <a:endParaRPr lang="en-US" sz="1500" dirty="0"/>
          </a:p>
        </p:txBody>
      </p:sp>
      <p:sp>
        <p:nvSpPr>
          <p:cNvPr id="18" name="Text 14"/>
          <p:cNvSpPr/>
          <p:nvPr/>
        </p:nvSpPr>
        <p:spPr>
          <a:xfrm>
            <a:off x="11548872" y="6419088"/>
            <a:ext cx="365760" cy="274320"/>
          </a:xfrm>
          <a:prstGeom prst="rect">
            <a:avLst/>
          </a:prstGeom>
          <a:noFill/>
          <a:ln/>
        </p:spPr>
        <p:txBody>
          <a:bodyPr wrap="square" lIns="0" tIns="0" rIns="0" bIns="0" rtlCol="0" anchor="ctr"/>
          <a:lstStyle/>
          <a:p>
            <a:pPr algn="r" indent="0" marL="0">
              <a:buNone/>
            </a:pPr>
            <a:r>
              <a:rPr lang="en-US" sz="1400" dirty="0">
                <a:solidFill>
                  <a:srgbClr val="64748B"/>
                </a:solidFill>
                <a:latin typeface="Arial" pitchFamily="34" charset="0"/>
                <a:ea typeface="Arial" pitchFamily="34" charset="-122"/>
                <a:cs typeface="Arial" pitchFamily="34" charset="-120"/>
              </a:rPr>
              <a:t>3</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40080" y="502920"/>
            <a:ext cx="173736" cy="182880"/>
          </a:xfrm>
          <a:prstGeom prst="rect">
            <a:avLst/>
          </a:prstGeom>
        </p:spPr>
      </p:pic>
      <p:sp>
        <p:nvSpPr>
          <p:cNvPr id="3" name="Text 0"/>
          <p:cNvSpPr/>
          <p:nvPr>
            <p:ph idx="100" type="body" hasCustomPrompt="1"/>
          </p:nvPr>
        </p:nvSpPr>
        <p:spPr>
          <a:xfrm>
            <a:off x="896112" y="475488"/>
            <a:ext cx="10515600" cy="292608"/>
          </a:xfrm>
          <a:prstGeom prst="rect">
            <a:avLst/>
          </a:prstGeom>
          <a:noFill/>
          <a:ln/>
        </p:spPr>
        <p:txBody>
          <a:bodyPr wrap="square" lIns="0" tIns="0" rIns="0" bIns="0" rtlCol="0"/>
          <a:lstStyle/>
          <a:p>
            <a:pPr indent="0" marL="0">
              <a:buNone/>
            </a:pPr>
            <a:r>
              <a:rPr lang="en-US" sz="1400" b="1" spc="250" kern="0" dirty="0">
                <a:solidFill>
                  <a:srgbClr val="1D4ED8"/>
                </a:solidFill>
                <a:latin typeface="Arial" pitchFamily="34" charset="0"/>
                <a:ea typeface="Arial" pitchFamily="34" charset="-122"/>
                <a:cs typeface="Arial" pitchFamily="34" charset="-120"/>
              </a:rPr>
              <a:t>03 · THE MATH</a:t>
            </a:r>
            <a:endParaRPr lang="en-US" sz="1400" dirty="0"/>
          </a:p>
        </p:txBody>
      </p:sp>
      <p:sp>
        <p:nvSpPr>
          <p:cNvPr id="4" name="Text 0"/>
          <p:cNvSpPr/>
          <p:nvPr>
            <p:ph idx="101" type="title" hasCustomPrompt="1"/>
          </p:nvPr>
        </p:nvSpPr>
        <p:spPr>
          <a:xfrm>
            <a:off x="640080" y="841248"/>
            <a:ext cx="10908792" cy="914400"/>
          </a:xfrm>
          <a:prstGeom prst="rect">
            <a:avLst/>
          </a:prstGeom>
          <a:noFill/>
          <a:ln/>
        </p:spPr>
        <p:txBody>
          <a:bodyPr wrap="square" lIns="0" tIns="0" rIns="0" bIns="0" rtlCol="0"/>
          <a:lstStyle/>
          <a:p>
            <a:pPr algn="l" indent="0" marL="0">
              <a:buNone/>
            </a:pPr>
            <a:r>
              <a:rPr lang="en-US" sz="3000" b="1" dirty="0">
                <a:solidFill>
                  <a:srgbClr val="0F172A"/>
                </a:solidFill>
                <a:latin typeface="Arial" pitchFamily="34" charset="0"/>
                <a:ea typeface="Arial" pitchFamily="34" charset="-122"/>
                <a:cs typeface="Arial" pitchFamily="34" charset="-120"/>
              </a:rPr>
              <a:t>Four lines — and each one is a decision</a:t>
            </a:r>
            <a:endParaRPr lang="en-US" sz="3000" dirty="0"/>
          </a:p>
        </p:txBody>
      </p:sp>
      <p:sp>
        <p:nvSpPr>
          <p:cNvPr id="5" name="Text 2"/>
          <p:cNvSpPr/>
          <p:nvPr/>
        </p:nvSpPr>
        <p:spPr>
          <a:xfrm>
            <a:off x="640080" y="2103120"/>
            <a:ext cx="5577840" cy="457200"/>
          </a:xfrm>
          <a:prstGeom prst="rect">
            <a:avLst/>
          </a:prstGeom>
          <a:noFill/>
          <a:ln/>
        </p:spPr>
        <p:txBody>
          <a:bodyPr wrap="square" lIns="0" tIns="0" rIns="0" bIns="0" rtlCol="0" anchor="t"/>
          <a:lstStyle/>
          <a:p>
            <a:pPr algn="l" indent="0" marL="0">
              <a:buNone/>
            </a:pPr>
            <a:r>
              <a:rPr lang="en-US" sz="1900" b="1" dirty="0">
                <a:solidFill>
                  <a:srgbClr val="0F172A"/>
                </a:solidFill>
                <a:latin typeface="Arial" pitchFamily="34" charset="0"/>
                <a:ea typeface="Arial" pitchFamily="34" charset="-122"/>
                <a:cs typeface="Arial" pitchFamily="34" charset="-120"/>
              </a:rPr>
              <a:t>Return  =  ½ growth  +  ½ pay</a:t>
            </a:r>
            <a:endParaRPr lang="en-US" sz="1500" dirty="0"/>
          </a:p>
        </p:txBody>
      </p:sp>
      <p:sp>
        <p:nvSpPr>
          <p:cNvPr id="6" name="Text 3"/>
          <p:cNvSpPr/>
          <p:nvPr/>
        </p:nvSpPr>
        <p:spPr>
          <a:xfrm>
            <a:off x="6400800" y="2148840"/>
            <a:ext cx="5148072" cy="594360"/>
          </a:xfrm>
          <a:prstGeom prst="rect">
            <a:avLst/>
          </a:prstGeom>
          <a:noFill/>
          <a:ln/>
        </p:spPr>
        <p:txBody>
          <a:bodyPr wrap="square" lIns="0" tIns="0" rIns="0" bIns="0" rtlCol="0" anchor="t"/>
          <a:lstStyle/>
          <a:p>
            <a:pPr algn="l" indent="0" marL="0">
              <a:buNone/>
            </a:pPr>
            <a:r>
              <a:rPr lang="en-US" sz="1500" dirty="0">
                <a:solidFill>
                  <a:srgbClr val="64748B"/>
                </a:solidFill>
                <a:latin typeface="Arial" pitchFamily="34" charset="0"/>
                <a:ea typeface="Arial" pitchFamily="34" charset="-122"/>
                <a:cs typeface="Arial" pitchFamily="34" charset="-120"/>
              </a:rPr>
              <a:t>ranks, not raw units — you can’t average a percent and dollars</a:t>
            </a:r>
            <a:endParaRPr lang="en-US" sz="1500" dirty="0"/>
          </a:p>
        </p:txBody>
      </p:sp>
      <p:sp>
        <p:nvSpPr>
          <p:cNvPr id="7" name="Shape 4"/>
          <p:cNvSpPr/>
          <p:nvPr/>
        </p:nvSpPr>
        <p:spPr>
          <a:xfrm>
            <a:off x="640080" y="2724912"/>
            <a:ext cx="10911535" cy="12802"/>
          </a:xfrm>
          <a:prstGeom prst="rect">
            <a:avLst/>
          </a:prstGeom>
          <a:solidFill>
            <a:srgbClr val="DDE5F2"/>
          </a:solidFill>
          <a:ln/>
        </p:spPr>
      </p:sp>
      <p:sp>
        <p:nvSpPr>
          <p:cNvPr id="8" name="Text 5"/>
          <p:cNvSpPr/>
          <p:nvPr/>
        </p:nvSpPr>
        <p:spPr>
          <a:xfrm>
            <a:off x="640080" y="2953512"/>
            <a:ext cx="5577840" cy="457200"/>
          </a:xfrm>
          <a:prstGeom prst="rect">
            <a:avLst/>
          </a:prstGeom>
          <a:noFill/>
          <a:ln/>
        </p:spPr>
        <p:txBody>
          <a:bodyPr wrap="square" lIns="0" tIns="0" rIns="0" bIns="0" rtlCol="0" anchor="t"/>
          <a:lstStyle/>
          <a:p>
            <a:pPr algn="l" indent="0" marL="0">
              <a:buNone/>
            </a:pPr>
            <a:r>
              <a:rPr lang="en-US" sz="1900" b="1" dirty="0">
                <a:solidFill>
                  <a:srgbClr val="0F172A"/>
                </a:solidFill>
                <a:latin typeface="Arial" pitchFamily="34" charset="0"/>
                <a:ea typeface="Arial" pitchFamily="34" charset="-122"/>
                <a:cs typeface="Arial" pitchFamily="34" charset="-120"/>
              </a:rPr>
              <a:t>Risk  =  0.7 AI  +  0.3 volatility</a:t>
            </a:r>
            <a:endParaRPr lang="en-US" sz="1500" dirty="0"/>
          </a:p>
        </p:txBody>
      </p:sp>
      <p:sp>
        <p:nvSpPr>
          <p:cNvPr id="9" name="Text 6"/>
          <p:cNvSpPr/>
          <p:nvPr/>
        </p:nvSpPr>
        <p:spPr>
          <a:xfrm>
            <a:off x="6400800" y="2999232"/>
            <a:ext cx="5148072" cy="594360"/>
          </a:xfrm>
          <a:prstGeom prst="rect">
            <a:avLst/>
          </a:prstGeom>
          <a:noFill/>
          <a:ln/>
        </p:spPr>
        <p:txBody>
          <a:bodyPr wrap="square" lIns="0" tIns="0" rIns="0" bIns="0" rtlCol="0" anchor="t"/>
          <a:lstStyle/>
          <a:p>
            <a:pPr algn="l" indent="0" marL="0">
              <a:buNone/>
            </a:pPr>
            <a:r>
              <a:rPr lang="en-US" sz="1500" dirty="0">
                <a:solidFill>
                  <a:srgbClr val="64748B"/>
                </a:solidFill>
                <a:latin typeface="Arial" pitchFamily="34" charset="0"/>
                <a:ea typeface="Arial" pitchFamily="34" charset="-122"/>
                <a:cs typeface="Arial" pitchFamily="34" charset="-120"/>
              </a:rPr>
              <a:t>AI carries the weight, because AI is the thesis</a:t>
            </a:r>
            <a:endParaRPr lang="en-US" sz="1500" dirty="0"/>
          </a:p>
        </p:txBody>
      </p:sp>
      <p:sp>
        <p:nvSpPr>
          <p:cNvPr id="10" name="Shape 7"/>
          <p:cNvSpPr/>
          <p:nvPr/>
        </p:nvSpPr>
        <p:spPr>
          <a:xfrm>
            <a:off x="640080" y="3575304"/>
            <a:ext cx="10911535" cy="12802"/>
          </a:xfrm>
          <a:prstGeom prst="rect">
            <a:avLst/>
          </a:prstGeom>
          <a:solidFill>
            <a:srgbClr val="DDE5F2"/>
          </a:solidFill>
          <a:ln/>
        </p:spPr>
      </p:sp>
      <p:sp>
        <p:nvSpPr>
          <p:cNvPr id="11" name="Text 8"/>
          <p:cNvSpPr/>
          <p:nvPr/>
        </p:nvSpPr>
        <p:spPr>
          <a:xfrm>
            <a:off x="640080" y="3803904"/>
            <a:ext cx="5577840" cy="457200"/>
          </a:xfrm>
          <a:prstGeom prst="rect">
            <a:avLst/>
          </a:prstGeom>
          <a:noFill/>
          <a:ln/>
        </p:spPr>
        <p:txBody>
          <a:bodyPr wrap="square" lIns="0" tIns="0" rIns="0" bIns="0" rtlCol="0" anchor="t"/>
          <a:lstStyle/>
          <a:p>
            <a:pPr algn="l" indent="0" marL="0">
              <a:buNone/>
            </a:pPr>
            <a:r>
              <a:rPr lang="en-US" sz="1900" b="1" dirty="0">
                <a:solidFill>
                  <a:srgbClr val="0F172A"/>
                </a:solidFill>
                <a:latin typeface="Arial" pitchFamily="34" charset="0"/>
                <a:ea typeface="Arial" pitchFamily="34" charset="-122"/>
                <a:cs typeface="Arial" pitchFamily="34" charset="-120"/>
              </a:rPr>
              <a:t>Value  =  Return × (1 − 0.6 Risk)</a:t>
            </a:r>
            <a:endParaRPr lang="en-US" sz="1500" dirty="0"/>
          </a:p>
        </p:txBody>
      </p:sp>
      <p:sp>
        <p:nvSpPr>
          <p:cNvPr id="12" name="Text 9"/>
          <p:cNvSpPr/>
          <p:nvPr/>
        </p:nvSpPr>
        <p:spPr>
          <a:xfrm>
            <a:off x="6400800" y="3849624"/>
            <a:ext cx="5148072" cy="594360"/>
          </a:xfrm>
          <a:prstGeom prst="rect">
            <a:avLst/>
          </a:prstGeom>
          <a:noFill/>
          <a:ln/>
        </p:spPr>
        <p:txBody>
          <a:bodyPr wrap="square" lIns="0" tIns="0" rIns="0" bIns="0" rtlCol="0" anchor="t"/>
          <a:lstStyle/>
          <a:p>
            <a:pPr algn="l" indent="0" marL="0">
              <a:buNone/>
            </a:pPr>
            <a:r>
              <a:rPr lang="en-US" sz="1500" dirty="0">
                <a:solidFill>
                  <a:srgbClr val="64748B"/>
                </a:solidFill>
                <a:latin typeface="Arial" pitchFamily="34" charset="0"/>
                <a:ea typeface="Arial" pitchFamily="34" charset="-122"/>
                <a:cs typeface="Arial" pitchFamily="34" charset="-120"/>
              </a:rPr>
              <a:t>multiply, don’t subtract — a safe dead end shouldn’t beat a risky rocket</a:t>
            </a:r>
            <a:endParaRPr lang="en-US" sz="1500" dirty="0"/>
          </a:p>
        </p:txBody>
      </p:sp>
      <p:sp>
        <p:nvSpPr>
          <p:cNvPr id="13" name="Shape 10"/>
          <p:cNvSpPr/>
          <p:nvPr/>
        </p:nvSpPr>
        <p:spPr>
          <a:xfrm>
            <a:off x="640080" y="4425696"/>
            <a:ext cx="10911535" cy="12802"/>
          </a:xfrm>
          <a:prstGeom prst="rect">
            <a:avLst/>
          </a:prstGeom>
          <a:solidFill>
            <a:srgbClr val="DDE5F2"/>
          </a:solidFill>
          <a:ln/>
        </p:spPr>
      </p:sp>
      <p:sp>
        <p:nvSpPr>
          <p:cNvPr id="14" name="Text 11"/>
          <p:cNvSpPr/>
          <p:nvPr/>
        </p:nvSpPr>
        <p:spPr>
          <a:xfrm>
            <a:off x="640080" y="4654296"/>
            <a:ext cx="5577840" cy="457200"/>
          </a:xfrm>
          <a:prstGeom prst="rect">
            <a:avLst/>
          </a:prstGeom>
          <a:noFill/>
          <a:ln/>
        </p:spPr>
        <p:txBody>
          <a:bodyPr wrap="square" lIns="0" tIns="0" rIns="0" bIns="0" rtlCol="0" anchor="t"/>
          <a:lstStyle/>
          <a:p>
            <a:pPr algn="l" indent="0" marL="0">
              <a:buNone/>
            </a:pPr>
            <a:r>
              <a:rPr lang="en-US" sz="1900" b="1" dirty="0">
                <a:solidFill>
                  <a:srgbClr val="0F172A"/>
                </a:solidFill>
                <a:latin typeface="Arial" pitchFamily="34" charset="0"/>
                <a:ea typeface="Arial" pitchFamily="34" charset="-122"/>
                <a:cs typeface="Arial" pitchFamily="34" charset="-120"/>
              </a:rPr>
              <a:t>Score  =  70% Value  +  30% Fit</a:t>
            </a:r>
            <a:endParaRPr lang="en-US" sz="1500" dirty="0"/>
          </a:p>
        </p:txBody>
      </p:sp>
      <p:sp>
        <p:nvSpPr>
          <p:cNvPr id="15" name="Text 12"/>
          <p:cNvSpPr/>
          <p:nvPr/>
        </p:nvSpPr>
        <p:spPr>
          <a:xfrm>
            <a:off x="6400800" y="4700016"/>
            <a:ext cx="5148072" cy="594360"/>
          </a:xfrm>
          <a:prstGeom prst="rect">
            <a:avLst/>
          </a:prstGeom>
          <a:noFill/>
          <a:ln/>
        </p:spPr>
        <p:txBody>
          <a:bodyPr wrap="square" lIns="0" tIns="0" rIns="0" bIns="0" rtlCol="0" anchor="t"/>
          <a:lstStyle/>
          <a:p>
            <a:pPr algn="l" indent="0" marL="0">
              <a:buNone/>
            </a:pPr>
            <a:r>
              <a:rPr lang="en-US" sz="1500" dirty="0">
                <a:solidFill>
                  <a:srgbClr val="64748B"/>
                </a:solidFill>
                <a:latin typeface="Arial" pitchFamily="34" charset="0"/>
                <a:ea typeface="Arial" pitchFamily="34" charset="-122"/>
                <a:cs typeface="Arial" pitchFamily="34" charset="-120"/>
              </a:rPr>
              <a:t>blend in the match to you — out of 100</a:t>
            </a:r>
            <a:endParaRPr lang="en-US" sz="1500" dirty="0"/>
          </a:p>
        </p:txBody>
      </p:sp>
      <p:sp>
        <p:nvSpPr>
          <p:cNvPr id="16" name="Shape 13"/>
          <p:cNvSpPr/>
          <p:nvPr/>
        </p:nvSpPr>
        <p:spPr>
          <a:xfrm>
            <a:off x="640080" y="5276088"/>
            <a:ext cx="10911535" cy="12802"/>
          </a:xfrm>
          <a:prstGeom prst="rect">
            <a:avLst/>
          </a:prstGeom>
          <a:solidFill>
            <a:srgbClr val="DDE5F2"/>
          </a:solidFill>
          <a:ln/>
        </p:spPr>
      </p:sp>
      <p:sp>
        <p:nvSpPr>
          <p:cNvPr id="17" name="Text 14"/>
          <p:cNvSpPr/>
          <p:nvPr/>
        </p:nvSpPr>
        <p:spPr>
          <a:xfrm>
            <a:off x="640080" y="5532120"/>
            <a:ext cx="10911535" cy="914400"/>
          </a:xfrm>
          <a:prstGeom prst="roundRect">
            <a:avLst>
              <a:gd name="adj" fmla="val 8000"/>
            </a:avLst>
          </a:prstGeom>
          <a:solidFill>
            <a:srgbClr val="EFF3FB"/>
          </a:solidFill>
          <a:ln w="12700">
            <a:solidFill>
              <a:srgbClr val="DDE5F2"/>
            </a:solidFill>
          </a:ln>
        </p:spPr>
        <p:txBody>
          <a:bodyPr wrap="square" lIns="177800" tIns="177800" rIns="177800" bIns="177800" rtlCol="0" anchor="ctr"/>
          <a:lstStyle/>
          <a:p>
            <a:pPr algn="l" indent="0" marL="0">
              <a:buNone/>
            </a:pPr>
            <a:r>
              <a:rPr lang="en-US" sz="1500" b="1" dirty="0">
                <a:solidFill>
                  <a:srgbClr val="0F172A"/>
                </a:solidFill>
                <a:latin typeface="Arial" pitchFamily="34" charset="0"/>
                <a:ea typeface="Arial" pitchFamily="34" charset="-122"/>
                <a:cs typeface="Arial" pitchFamily="34" charset="-120"/>
              </a:rPr>
              <a:t>The constants are priors, not fitted — and I say so.  </a:t>
            </a:r>
            <a:pPr algn="l" indent="0" marL="0">
              <a:buNone/>
            </a:pPr>
            <a:r>
              <a:rPr lang="en-US" sz="1500" dirty="0">
                <a:solidFill>
                  <a:srgbClr val="64748B"/>
                </a:solidFill>
                <a:latin typeface="Arial" pitchFamily="34" charset="0"/>
                <a:ea typeface="Arial" pitchFamily="34" charset="-122"/>
                <a:cs typeface="Arial" pitchFamily="34" charset="-120"/>
              </a:rPr>
              <a:t>There’s no dataset of correct career choices to train on. So every ranking is re-scored 729 times with the weights shaken ±20%, plus by five rival formulas — if the answer flips, the site says “close call.”</a:t>
            </a:r>
            <a:endParaRPr lang="en-US" sz="1500" dirty="0"/>
          </a:p>
        </p:txBody>
      </p:sp>
      <p:sp>
        <p:nvSpPr>
          <p:cNvPr id="18" name="Text 15"/>
          <p:cNvSpPr/>
          <p:nvPr/>
        </p:nvSpPr>
        <p:spPr>
          <a:xfrm>
            <a:off x="11548872" y="6419088"/>
            <a:ext cx="365760" cy="274320"/>
          </a:xfrm>
          <a:prstGeom prst="rect">
            <a:avLst/>
          </a:prstGeom>
          <a:noFill/>
          <a:ln/>
        </p:spPr>
        <p:txBody>
          <a:bodyPr wrap="square" lIns="0" tIns="0" rIns="0" bIns="0" rtlCol="0" anchor="ctr"/>
          <a:lstStyle/>
          <a:p>
            <a:pPr algn="r" indent="0" marL="0">
              <a:buNone/>
            </a:pPr>
            <a:r>
              <a:rPr lang="en-US" sz="1400" dirty="0">
                <a:solidFill>
                  <a:srgbClr val="64748B"/>
                </a:solidFill>
                <a:latin typeface="Arial" pitchFamily="34" charset="0"/>
                <a:ea typeface="Arial" pitchFamily="34" charset="-122"/>
                <a:cs typeface="Arial" pitchFamily="34" charset="-120"/>
              </a:rPr>
              <a:t>4</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40080" y="502920"/>
            <a:ext cx="173736" cy="182880"/>
          </a:xfrm>
          <a:prstGeom prst="rect">
            <a:avLst/>
          </a:prstGeom>
        </p:spPr>
      </p:pic>
      <p:sp>
        <p:nvSpPr>
          <p:cNvPr id="3" name="Text 0"/>
          <p:cNvSpPr/>
          <p:nvPr>
            <p:ph idx="100" type="body" hasCustomPrompt="1"/>
          </p:nvPr>
        </p:nvSpPr>
        <p:spPr>
          <a:xfrm>
            <a:off x="896112" y="475488"/>
            <a:ext cx="10515600" cy="292608"/>
          </a:xfrm>
          <a:prstGeom prst="rect">
            <a:avLst/>
          </a:prstGeom>
          <a:noFill/>
          <a:ln/>
        </p:spPr>
        <p:txBody>
          <a:bodyPr wrap="square" lIns="0" tIns="0" rIns="0" bIns="0" rtlCol="0"/>
          <a:lstStyle/>
          <a:p>
            <a:pPr indent="0" marL="0">
              <a:buNone/>
            </a:pPr>
            <a:r>
              <a:rPr lang="en-US" sz="1400" b="1" spc="250" kern="0" dirty="0">
                <a:solidFill>
                  <a:srgbClr val="1D4ED8"/>
                </a:solidFill>
                <a:latin typeface="Arial" pitchFamily="34" charset="0"/>
                <a:ea typeface="Arial" pitchFamily="34" charset="-122"/>
                <a:cs typeface="Arial" pitchFamily="34" charset="-120"/>
              </a:rPr>
              <a:t>04 · THE DIFFERENCE</a:t>
            </a:r>
            <a:endParaRPr lang="en-US" sz="1400" dirty="0"/>
          </a:p>
        </p:txBody>
      </p:sp>
      <p:sp>
        <p:nvSpPr>
          <p:cNvPr id="4" name="Text 0"/>
          <p:cNvSpPr/>
          <p:nvPr>
            <p:ph idx="101" type="title" hasCustomPrompt="1"/>
          </p:nvPr>
        </p:nvSpPr>
        <p:spPr>
          <a:xfrm>
            <a:off x="640080" y="841248"/>
            <a:ext cx="10908792" cy="914400"/>
          </a:xfrm>
          <a:prstGeom prst="rect">
            <a:avLst/>
          </a:prstGeom>
          <a:noFill/>
          <a:ln/>
        </p:spPr>
        <p:txBody>
          <a:bodyPr wrap="square" lIns="0" tIns="0" rIns="0" bIns="0" rtlCol="0"/>
          <a:lstStyle/>
          <a:p>
            <a:pPr algn="l" indent="0" marL="0">
              <a:buNone/>
            </a:pPr>
            <a:r>
              <a:rPr lang="en-US" sz="3000" b="1" dirty="0">
                <a:solidFill>
                  <a:srgbClr val="0F172A"/>
                </a:solidFill>
                <a:latin typeface="Arial" pitchFamily="34" charset="0"/>
                <a:ea typeface="Arial" pitchFamily="34" charset="-122"/>
                <a:cs typeface="Arial" pitchFamily="34" charset="-120"/>
              </a:rPr>
              <a:t>Same AI. Opposite discipline.</a:t>
            </a:r>
            <a:endParaRPr lang="en-US" sz="3000" dirty="0"/>
          </a:p>
        </p:txBody>
      </p:sp>
      <p:sp>
        <p:nvSpPr>
          <p:cNvPr id="5" name="Text 2"/>
          <p:cNvSpPr/>
          <p:nvPr/>
        </p:nvSpPr>
        <p:spPr>
          <a:xfrm>
            <a:off x="640080" y="2103120"/>
            <a:ext cx="5257800" cy="320040"/>
          </a:xfrm>
          <a:prstGeom prst="rect">
            <a:avLst/>
          </a:prstGeom>
          <a:noFill/>
          <a:ln/>
        </p:spPr>
        <p:txBody>
          <a:bodyPr wrap="square" lIns="0" tIns="0" rIns="0" bIns="0" rtlCol="0" anchor="t"/>
          <a:lstStyle/>
          <a:p>
            <a:pPr algn="l" indent="0" marL="0">
              <a:buNone/>
            </a:pPr>
            <a:r>
              <a:rPr lang="en-US" sz="1500" b="1" spc="250" kern="0" dirty="0">
                <a:solidFill>
                  <a:srgbClr val="64748B"/>
                </a:solidFill>
                <a:latin typeface="Arial" pitchFamily="34" charset="0"/>
                <a:ea typeface="Arial" pitchFamily="34" charset="-122"/>
                <a:cs typeface="Arial" pitchFamily="34" charset="-120"/>
              </a:rPr>
              <a:t>VIBE CODING</a:t>
            </a:r>
            <a:endParaRPr lang="en-US" sz="1500" dirty="0"/>
          </a:p>
        </p:txBody>
      </p:sp>
      <p:sp>
        <p:nvSpPr>
          <p:cNvPr id="6" name="Text 3"/>
          <p:cNvSpPr/>
          <p:nvPr/>
        </p:nvSpPr>
        <p:spPr>
          <a:xfrm>
            <a:off x="6291072" y="2103120"/>
            <a:ext cx="5257800" cy="320040"/>
          </a:xfrm>
          <a:prstGeom prst="rect">
            <a:avLst/>
          </a:prstGeom>
          <a:noFill/>
          <a:ln/>
        </p:spPr>
        <p:txBody>
          <a:bodyPr wrap="square" lIns="0" tIns="0" rIns="0" bIns="0" rtlCol="0" anchor="t"/>
          <a:lstStyle/>
          <a:p>
            <a:pPr algn="l" indent="0" marL="0">
              <a:buNone/>
            </a:pPr>
            <a:r>
              <a:rPr lang="en-US" sz="1500" b="1" spc="250" kern="0" dirty="0">
                <a:solidFill>
                  <a:srgbClr val="1D4ED8"/>
                </a:solidFill>
                <a:latin typeface="Arial" pitchFamily="34" charset="0"/>
                <a:ea typeface="Arial" pitchFamily="34" charset="-122"/>
                <a:cs typeface="Arial" pitchFamily="34" charset="-120"/>
              </a:rPr>
              <a:t>AGENTIC FRAMEWORK</a:t>
            </a:r>
            <a:endParaRPr lang="en-US" sz="1500" dirty="0"/>
          </a:p>
        </p:txBody>
      </p:sp>
      <p:sp>
        <p:nvSpPr>
          <p:cNvPr id="7" name="Shape 4"/>
          <p:cNvSpPr/>
          <p:nvPr/>
        </p:nvSpPr>
        <p:spPr>
          <a:xfrm>
            <a:off x="640080" y="2487168"/>
            <a:ext cx="5257800" cy="12802"/>
          </a:xfrm>
          <a:prstGeom prst="rect">
            <a:avLst/>
          </a:prstGeom>
          <a:solidFill>
            <a:srgbClr val="DDE5F2"/>
          </a:solidFill>
          <a:ln/>
        </p:spPr>
      </p:sp>
      <p:sp>
        <p:nvSpPr>
          <p:cNvPr id="8" name="Shape 5"/>
          <p:cNvSpPr/>
          <p:nvPr/>
        </p:nvSpPr>
        <p:spPr>
          <a:xfrm>
            <a:off x="6291072" y="2487168"/>
            <a:ext cx="5257800" cy="12802"/>
          </a:xfrm>
          <a:prstGeom prst="rect">
            <a:avLst/>
          </a:prstGeom>
          <a:solidFill>
            <a:srgbClr val="1D4ED8"/>
          </a:solidFill>
          <a:ln/>
        </p:spPr>
      </p:sp>
      <p:sp>
        <p:nvSpPr>
          <p:cNvPr id="9" name="Text 6"/>
          <p:cNvSpPr/>
          <p:nvPr/>
        </p:nvSpPr>
        <p:spPr>
          <a:xfrm>
            <a:off x="640080" y="2724912"/>
            <a:ext cx="5257800" cy="411480"/>
          </a:xfrm>
          <a:prstGeom prst="rect">
            <a:avLst/>
          </a:prstGeom>
          <a:noFill/>
          <a:ln/>
        </p:spPr>
        <p:txBody>
          <a:bodyPr wrap="square" lIns="0" tIns="0" rIns="0" bIns="0" rtlCol="0" anchor="ctr"/>
          <a:lstStyle/>
          <a:p>
            <a:pPr algn="l" indent="0" marL="0">
              <a:buNone/>
            </a:pPr>
            <a:r>
              <a:rPr lang="en-US" sz="1600" dirty="0">
                <a:solidFill>
                  <a:srgbClr val="64748B"/>
                </a:solidFill>
                <a:latin typeface="Arial" pitchFamily="34" charset="0"/>
                <a:ea typeface="Arial" pitchFamily="34" charset="-122"/>
                <a:cs typeface="Arial" pitchFamily="34" charset="-120"/>
              </a:rPr>
              <a:t>Prompt, paste, pray</a:t>
            </a:r>
            <a:endParaRPr lang="en-US" sz="1500" dirty="0"/>
          </a:p>
        </p:txBody>
      </p:sp>
      <p:sp>
        <p:nvSpPr>
          <p:cNvPr id="10" name="Text 7"/>
          <p:cNvSpPr/>
          <p:nvPr/>
        </p:nvSpPr>
        <p:spPr>
          <a:xfrm>
            <a:off x="6291072" y="2724912"/>
            <a:ext cx="5257800" cy="411480"/>
          </a:xfrm>
          <a:prstGeom prst="rect">
            <a:avLst/>
          </a:prstGeom>
          <a:noFill/>
          <a:ln/>
        </p:spPr>
        <p:txBody>
          <a:bodyPr wrap="square" lIns="0" tIns="0" rIns="0" bIns="0" rtlCol="0" anchor="ctr"/>
          <a:lstStyle/>
          <a:p>
            <a:pPr algn="l" indent="0" marL="0">
              <a:buNone/>
            </a:pPr>
            <a:r>
              <a:rPr lang="en-US" sz="1600" b="1" dirty="0">
                <a:solidFill>
                  <a:srgbClr val="0F172A"/>
                </a:solidFill>
                <a:latin typeface="Arial" pitchFamily="34" charset="0"/>
                <a:ea typeface="Arial" pitchFamily="34" charset="-122"/>
                <a:cs typeface="Arial" pitchFamily="34" charset="-120"/>
              </a:rPr>
              <a:t>Spec first: PRD, architecture, stories</a:t>
            </a:r>
            <a:endParaRPr lang="en-US" sz="1500" dirty="0"/>
          </a:p>
        </p:txBody>
      </p:sp>
      <p:sp>
        <p:nvSpPr>
          <p:cNvPr id="11" name="Text 8"/>
          <p:cNvSpPr/>
          <p:nvPr/>
        </p:nvSpPr>
        <p:spPr>
          <a:xfrm>
            <a:off x="640080" y="3291840"/>
            <a:ext cx="5257800" cy="411480"/>
          </a:xfrm>
          <a:prstGeom prst="rect">
            <a:avLst/>
          </a:prstGeom>
          <a:noFill/>
          <a:ln/>
        </p:spPr>
        <p:txBody>
          <a:bodyPr wrap="square" lIns="0" tIns="0" rIns="0" bIns="0" rtlCol="0" anchor="ctr"/>
          <a:lstStyle/>
          <a:p>
            <a:pPr algn="l" indent="0" marL="0">
              <a:buNone/>
            </a:pPr>
            <a:r>
              <a:rPr lang="en-US" sz="1600" dirty="0">
                <a:solidFill>
                  <a:srgbClr val="64748B"/>
                </a:solidFill>
                <a:latin typeface="Arial" pitchFamily="34" charset="0"/>
                <a:ea typeface="Arial" pitchFamily="34" charset="-122"/>
                <a:cs typeface="Arial" pitchFamily="34" charset="-120"/>
              </a:rPr>
              <a:t>Accept whatever runs</a:t>
            </a:r>
            <a:endParaRPr lang="en-US" sz="1500" dirty="0"/>
          </a:p>
        </p:txBody>
      </p:sp>
      <p:sp>
        <p:nvSpPr>
          <p:cNvPr id="12" name="Text 9"/>
          <p:cNvSpPr/>
          <p:nvPr/>
        </p:nvSpPr>
        <p:spPr>
          <a:xfrm>
            <a:off x="6291072" y="3291840"/>
            <a:ext cx="5257800" cy="411480"/>
          </a:xfrm>
          <a:prstGeom prst="rect">
            <a:avLst/>
          </a:prstGeom>
          <a:noFill/>
          <a:ln/>
        </p:spPr>
        <p:txBody>
          <a:bodyPr wrap="square" lIns="0" tIns="0" rIns="0" bIns="0" rtlCol="0" anchor="ctr"/>
          <a:lstStyle/>
          <a:p>
            <a:pPr algn="l" indent="0" marL="0">
              <a:buNone/>
            </a:pPr>
            <a:r>
              <a:rPr lang="en-US" sz="1600" b="1" dirty="0">
                <a:solidFill>
                  <a:srgbClr val="0F172A"/>
                </a:solidFill>
                <a:latin typeface="Arial" pitchFamily="34" charset="0"/>
                <a:ea typeface="Arial" pitchFamily="34" charset="-122"/>
                <a:cs typeface="Arial" pitchFamily="34" charset="-120"/>
              </a:rPr>
              <a:t>35 deterministic tests, CI on every push</a:t>
            </a:r>
            <a:endParaRPr lang="en-US" sz="1500" dirty="0"/>
          </a:p>
        </p:txBody>
      </p:sp>
      <p:sp>
        <p:nvSpPr>
          <p:cNvPr id="13" name="Text 10"/>
          <p:cNvSpPr/>
          <p:nvPr/>
        </p:nvSpPr>
        <p:spPr>
          <a:xfrm>
            <a:off x="640080" y="3858768"/>
            <a:ext cx="5257800" cy="411480"/>
          </a:xfrm>
          <a:prstGeom prst="rect">
            <a:avLst/>
          </a:prstGeom>
          <a:noFill/>
          <a:ln/>
        </p:spPr>
        <p:txBody>
          <a:bodyPr wrap="square" lIns="0" tIns="0" rIns="0" bIns="0" rtlCol="0" anchor="ctr"/>
          <a:lstStyle/>
          <a:p>
            <a:pPr algn="l" indent="0" marL="0">
              <a:buNone/>
            </a:pPr>
            <a:r>
              <a:rPr lang="en-US" sz="1600" dirty="0">
                <a:solidFill>
                  <a:srgbClr val="64748B"/>
                </a:solidFill>
                <a:latin typeface="Arial" pitchFamily="34" charset="0"/>
                <a:ea typeface="Arial" pitchFamily="34" charset="-122"/>
                <a:cs typeface="Arial" pitchFamily="34" charset="-120"/>
              </a:rPr>
              <a:t>One agreeable assistant</a:t>
            </a:r>
            <a:endParaRPr lang="en-US" sz="1500" dirty="0"/>
          </a:p>
        </p:txBody>
      </p:sp>
      <p:sp>
        <p:nvSpPr>
          <p:cNvPr id="14" name="Text 11"/>
          <p:cNvSpPr/>
          <p:nvPr/>
        </p:nvSpPr>
        <p:spPr>
          <a:xfrm>
            <a:off x="6291072" y="3858768"/>
            <a:ext cx="5257800" cy="411480"/>
          </a:xfrm>
          <a:prstGeom prst="rect">
            <a:avLst/>
          </a:prstGeom>
          <a:noFill/>
          <a:ln/>
        </p:spPr>
        <p:txBody>
          <a:bodyPr wrap="square" lIns="0" tIns="0" rIns="0" bIns="0" rtlCol="0" anchor="ctr"/>
          <a:lstStyle/>
          <a:p>
            <a:pPr algn="l" indent="0" marL="0">
              <a:buNone/>
            </a:pPr>
            <a:r>
              <a:rPr lang="en-US" sz="1600" b="1" dirty="0">
                <a:solidFill>
                  <a:srgbClr val="0F172A"/>
                </a:solidFill>
                <a:latin typeface="Arial" pitchFamily="34" charset="0"/>
                <a:ea typeface="Arial" pitchFamily="34" charset="-122"/>
                <a:cs typeface="Arial" pitchFamily="34" charset="-120"/>
              </a:rPr>
              <a:t>A cast of adversarial reviewers</a:t>
            </a:r>
            <a:endParaRPr lang="en-US" sz="1500" dirty="0"/>
          </a:p>
        </p:txBody>
      </p:sp>
      <p:sp>
        <p:nvSpPr>
          <p:cNvPr id="15" name="Text 12"/>
          <p:cNvSpPr/>
          <p:nvPr/>
        </p:nvSpPr>
        <p:spPr>
          <a:xfrm>
            <a:off x="640080" y="4425696"/>
            <a:ext cx="5257800" cy="411480"/>
          </a:xfrm>
          <a:prstGeom prst="rect">
            <a:avLst/>
          </a:prstGeom>
          <a:noFill/>
          <a:ln/>
        </p:spPr>
        <p:txBody>
          <a:bodyPr wrap="square" lIns="0" tIns="0" rIns="0" bIns="0" rtlCol="0" anchor="ctr"/>
          <a:lstStyle/>
          <a:p>
            <a:pPr algn="l" indent="0" marL="0">
              <a:buNone/>
            </a:pPr>
            <a:r>
              <a:rPr lang="en-US" sz="1600" dirty="0">
                <a:solidFill>
                  <a:srgbClr val="64748B"/>
                </a:solidFill>
                <a:latin typeface="Arial" pitchFamily="34" charset="0"/>
                <a:ea typeface="Arial" pitchFamily="34" charset="-122"/>
                <a:cs typeface="Arial" pitchFamily="34" charset="-120"/>
              </a:rPr>
              <a:t>The LLM does the math</a:t>
            </a:r>
            <a:endParaRPr lang="en-US" sz="1500" dirty="0"/>
          </a:p>
        </p:txBody>
      </p:sp>
      <p:sp>
        <p:nvSpPr>
          <p:cNvPr id="16" name="Text 13"/>
          <p:cNvSpPr/>
          <p:nvPr/>
        </p:nvSpPr>
        <p:spPr>
          <a:xfrm>
            <a:off x="6291072" y="4425696"/>
            <a:ext cx="5257800" cy="411480"/>
          </a:xfrm>
          <a:prstGeom prst="rect">
            <a:avLst/>
          </a:prstGeom>
          <a:noFill/>
          <a:ln/>
        </p:spPr>
        <p:txBody>
          <a:bodyPr wrap="square" lIns="0" tIns="0" rIns="0" bIns="0" rtlCol="0" anchor="ctr"/>
          <a:lstStyle/>
          <a:p>
            <a:pPr algn="l" indent="0" marL="0">
              <a:buNone/>
            </a:pPr>
            <a:r>
              <a:rPr lang="en-US" sz="1600" b="1" dirty="0">
                <a:solidFill>
                  <a:srgbClr val="0F172A"/>
                </a:solidFill>
                <a:latin typeface="Arial" pitchFamily="34" charset="0"/>
                <a:ea typeface="Arial" pitchFamily="34" charset="-122"/>
                <a:cs typeface="Arial" pitchFamily="34" charset="-120"/>
              </a:rPr>
              <a:t>The LLM never computes a number</a:t>
            </a:r>
            <a:endParaRPr lang="en-US" sz="1500" dirty="0"/>
          </a:p>
        </p:txBody>
      </p:sp>
      <p:sp>
        <p:nvSpPr>
          <p:cNvPr id="17" name="Text 14"/>
          <p:cNvSpPr/>
          <p:nvPr/>
        </p:nvSpPr>
        <p:spPr>
          <a:xfrm>
            <a:off x="640080" y="4992624"/>
            <a:ext cx="5257800" cy="411480"/>
          </a:xfrm>
          <a:prstGeom prst="rect">
            <a:avLst/>
          </a:prstGeom>
          <a:noFill/>
          <a:ln/>
        </p:spPr>
        <p:txBody>
          <a:bodyPr wrap="square" lIns="0" tIns="0" rIns="0" bIns="0" rtlCol="0" anchor="ctr"/>
          <a:lstStyle/>
          <a:p>
            <a:pPr algn="l" indent="0" marL="0">
              <a:buNone/>
            </a:pPr>
            <a:r>
              <a:rPr lang="en-US" sz="1600" dirty="0">
                <a:solidFill>
                  <a:srgbClr val="64748B"/>
                </a:solidFill>
                <a:latin typeface="Arial" pitchFamily="34" charset="0"/>
                <a:ea typeface="Arial" pitchFamily="34" charset="-122"/>
                <a:cs typeface="Arial" pitchFamily="34" charset="-120"/>
              </a:rPr>
              <a:t>Claims</a:t>
            </a:r>
            <a:endParaRPr lang="en-US" sz="1500" dirty="0"/>
          </a:p>
        </p:txBody>
      </p:sp>
      <p:sp>
        <p:nvSpPr>
          <p:cNvPr id="18" name="Text 15"/>
          <p:cNvSpPr/>
          <p:nvPr/>
        </p:nvSpPr>
        <p:spPr>
          <a:xfrm>
            <a:off x="6291072" y="4992624"/>
            <a:ext cx="5257800" cy="411480"/>
          </a:xfrm>
          <a:prstGeom prst="rect">
            <a:avLst/>
          </a:prstGeom>
          <a:noFill/>
          <a:ln/>
        </p:spPr>
        <p:txBody>
          <a:bodyPr wrap="square" lIns="0" tIns="0" rIns="0" bIns="0" rtlCol="0" anchor="ctr"/>
          <a:lstStyle/>
          <a:p>
            <a:pPr algn="l" indent="0" marL="0">
              <a:buNone/>
            </a:pPr>
            <a:r>
              <a:rPr lang="en-US" sz="1600" b="1" dirty="0">
                <a:solidFill>
                  <a:srgbClr val="0F172A"/>
                </a:solidFill>
                <a:latin typeface="Arial" pitchFamily="34" charset="0"/>
                <a:ea typeface="Arial" pitchFamily="34" charset="-122"/>
                <a:cs typeface="Arial" pitchFamily="34" charset="-120"/>
              </a:rPr>
              <a:t>A back-test, a robustness grid, an open CSV</a:t>
            </a:r>
            <a:endParaRPr lang="en-US" sz="1500" dirty="0"/>
          </a:p>
        </p:txBody>
      </p:sp>
      <p:sp>
        <p:nvSpPr>
          <p:cNvPr id="19" name="Shape 16"/>
          <p:cNvSpPr/>
          <p:nvPr/>
        </p:nvSpPr>
        <p:spPr>
          <a:xfrm>
            <a:off x="640080" y="5669280"/>
            <a:ext cx="10911535" cy="12802"/>
          </a:xfrm>
          <a:prstGeom prst="rect">
            <a:avLst/>
          </a:prstGeom>
          <a:solidFill>
            <a:srgbClr val="DDE5F2"/>
          </a:solidFill>
          <a:ln/>
        </p:spPr>
      </p:sp>
      <p:sp>
        <p:nvSpPr>
          <p:cNvPr id="20" name="Text 17"/>
          <p:cNvSpPr/>
          <p:nvPr/>
        </p:nvSpPr>
        <p:spPr>
          <a:xfrm>
            <a:off x="640080" y="5897880"/>
            <a:ext cx="10911535" cy="411480"/>
          </a:xfrm>
          <a:prstGeom prst="rect">
            <a:avLst/>
          </a:prstGeom>
          <a:noFill/>
          <a:ln/>
        </p:spPr>
        <p:txBody>
          <a:bodyPr wrap="square" lIns="0" tIns="0" rIns="0" bIns="0" rtlCol="0" anchor="t"/>
          <a:lstStyle/>
          <a:p>
            <a:pPr algn="l" indent="0" marL="0">
              <a:buNone/>
            </a:pPr>
            <a:r>
              <a:rPr lang="en-US" sz="1700" b="1" dirty="0">
                <a:solidFill>
                  <a:srgbClr val="0F172A"/>
                </a:solidFill>
                <a:latin typeface="Arial" pitchFamily="34" charset="0"/>
                <a:ea typeface="Arial" pitchFamily="34" charset="-122"/>
                <a:cs typeface="Arial" pitchFamily="34" charset="-120"/>
              </a:rPr>
              <a:t>AI typed most of this project. The discipline is the difference.</a:t>
            </a:r>
            <a:endParaRPr lang="en-US" sz="1500" dirty="0"/>
          </a:p>
        </p:txBody>
      </p:sp>
      <p:sp>
        <p:nvSpPr>
          <p:cNvPr id="21" name="Text 18"/>
          <p:cNvSpPr/>
          <p:nvPr/>
        </p:nvSpPr>
        <p:spPr>
          <a:xfrm>
            <a:off x="11548872" y="6419088"/>
            <a:ext cx="365760" cy="274320"/>
          </a:xfrm>
          <a:prstGeom prst="rect">
            <a:avLst/>
          </a:prstGeom>
          <a:noFill/>
          <a:ln/>
        </p:spPr>
        <p:txBody>
          <a:bodyPr wrap="square" lIns="0" tIns="0" rIns="0" bIns="0" rtlCol="0" anchor="ctr"/>
          <a:lstStyle/>
          <a:p>
            <a:pPr algn="r" indent="0" marL="0">
              <a:buNone/>
            </a:pPr>
            <a:r>
              <a:rPr lang="en-US" sz="1400" dirty="0">
                <a:solidFill>
                  <a:srgbClr val="64748B"/>
                </a:solidFill>
                <a:latin typeface="Arial" pitchFamily="34" charset="0"/>
                <a:ea typeface="Arial" pitchFamily="34" charset="-122"/>
                <a:cs typeface="Arial" pitchFamily="34" charset="-120"/>
              </a:rPr>
              <a:t>5</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40080" y="502920"/>
            <a:ext cx="173736" cy="182880"/>
          </a:xfrm>
          <a:prstGeom prst="rect">
            <a:avLst/>
          </a:prstGeom>
        </p:spPr>
      </p:pic>
      <p:sp>
        <p:nvSpPr>
          <p:cNvPr id="3" name="Text 0"/>
          <p:cNvSpPr/>
          <p:nvPr>
            <p:ph idx="100" type="body" hasCustomPrompt="1"/>
          </p:nvPr>
        </p:nvSpPr>
        <p:spPr>
          <a:xfrm>
            <a:off x="896112" y="475488"/>
            <a:ext cx="10515600" cy="292608"/>
          </a:xfrm>
          <a:prstGeom prst="rect">
            <a:avLst/>
          </a:prstGeom>
          <a:noFill/>
          <a:ln/>
        </p:spPr>
        <p:txBody>
          <a:bodyPr wrap="square" lIns="0" tIns="0" rIns="0" bIns="0" rtlCol="0"/>
          <a:lstStyle/>
          <a:p>
            <a:pPr indent="0" marL="0">
              <a:buNone/>
            </a:pPr>
            <a:r>
              <a:rPr lang="en-US" sz="1400" b="1" spc="250" kern="0" dirty="0">
                <a:solidFill>
                  <a:srgbClr val="1D4ED8"/>
                </a:solidFill>
                <a:latin typeface="Arial" pitchFamily="34" charset="0"/>
                <a:ea typeface="Arial" pitchFamily="34" charset="-122"/>
                <a:cs typeface="Arial" pitchFamily="34" charset="-120"/>
              </a:rPr>
              <a:t>05 · BMAD</a:t>
            </a:r>
            <a:endParaRPr lang="en-US" sz="1400" dirty="0"/>
          </a:p>
        </p:txBody>
      </p:sp>
      <p:sp>
        <p:nvSpPr>
          <p:cNvPr id="4" name="Text 0"/>
          <p:cNvSpPr/>
          <p:nvPr>
            <p:ph idx="101" type="title" hasCustomPrompt="1"/>
          </p:nvPr>
        </p:nvSpPr>
        <p:spPr>
          <a:xfrm>
            <a:off x="640080" y="841248"/>
            <a:ext cx="10908792" cy="914400"/>
          </a:xfrm>
          <a:prstGeom prst="rect">
            <a:avLst/>
          </a:prstGeom>
          <a:noFill/>
          <a:ln/>
        </p:spPr>
        <p:txBody>
          <a:bodyPr wrap="square" lIns="0" tIns="0" rIns="0" bIns="0" rtlCol="0"/>
          <a:lstStyle/>
          <a:p>
            <a:pPr algn="l" indent="0" marL="0">
              <a:buNone/>
            </a:pPr>
            <a:r>
              <a:rPr lang="en-US" sz="3000" b="1" dirty="0">
                <a:solidFill>
                  <a:srgbClr val="0F172A"/>
                </a:solidFill>
                <a:latin typeface="Arial" pitchFamily="34" charset="0"/>
                <a:ea typeface="Arial" pitchFamily="34" charset="-122"/>
                <a:cs typeface="Arial" pitchFamily="34" charset="-120"/>
              </a:rPr>
              <a:t>BMAD: plan it, build it, attack it</a:t>
            </a:r>
            <a:endParaRPr lang="en-US" sz="3000" dirty="0"/>
          </a:p>
        </p:txBody>
      </p:sp>
      <p:sp>
        <p:nvSpPr>
          <p:cNvPr id="5" name="Text 2"/>
          <p:cNvSpPr/>
          <p:nvPr/>
        </p:nvSpPr>
        <p:spPr>
          <a:xfrm>
            <a:off x="640080" y="1828800"/>
            <a:ext cx="10911535" cy="320040"/>
          </a:xfrm>
          <a:prstGeom prst="rect">
            <a:avLst/>
          </a:prstGeom>
          <a:noFill/>
          <a:ln/>
        </p:spPr>
        <p:txBody>
          <a:bodyPr wrap="square" lIns="0" tIns="0" rIns="0" bIns="0" rtlCol="0" anchor="t"/>
          <a:lstStyle/>
          <a:p>
            <a:pPr algn="l" indent="0" marL="0">
              <a:buNone/>
            </a:pPr>
            <a:r>
              <a:rPr lang="en-US" sz="1500" dirty="0">
                <a:solidFill>
                  <a:srgbClr val="64748B"/>
                </a:solidFill>
                <a:latin typeface="Arial" pitchFamily="34" charset="0"/>
                <a:ea typeface="Arial" pitchFamily="34" charset="-122"/>
                <a:cs typeface="Arial" pitchFamily="34" charset="-120"/>
              </a:rPr>
              <a:t>Breakthrough Method for Agile AI-Driven Development — open source, agent-based.</a:t>
            </a:r>
            <a:endParaRPr lang="en-US" sz="1500" dirty="0"/>
          </a:p>
        </p:txBody>
      </p:sp>
      <p:sp>
        <p:nvSpPr>
          <p:cNvPr id="6" name="Text 3"/>
          <p:cNvSpPr/>
          <p:nvPr/>
        </p:nvSpPr>
        <p:spPr>
          <a:xfrm>
            <a:off x="640080" y="2331720"/>
            <a:ext cx="3246120" cy="2423160"/>
          </a:xfrm>
          <a:prstGeom prst="roundRect">
            <a:avLst>
              <a:gd name="adj" fmla="val 3019"/>
            </a:avLst>
          </a:prstGeom>
          <a:solidFill>
            <a:srgbClr val="EFF3FB"/>
          </a:solidFill>
          <a:ln w="12700">
            <a:solidFill>
              <a:srgbClr val="DDE5F2"/>
            </a:solidFill>
          </a:ln>
        </p:spPr>
        <p:txBody>
          <a:bodyPr wrap="square" lIns="203200" tIns="203200" rIns="203200" bIns="203200" rtlCol="0" anchor="t"/>
          <a:lstStyle/>
          <a:p>
            <a:pPr algn="l" indent="0" marL="0">
              <a:buNone/>
            </a:pPr>
            <a:r>
              <a:rPr lang="en-US" sz="1900" b="1" spc="200" kern="0" dirty="0">
                <a:solidFill>
                  <a:srgbClr val="1D4ED8"/>
                </a:solidFill>
                <a:latin typeface="Arial" pitchFamily="34" charset="0"/>
                <a:ea typeface="Arial" pitchFamily="34" charset="-122"/>
                <a:cs typeface="Arial" pitchFamily="34" charset="-120"/>
              </a:rPr>
              <a:t>PLAN</a:t>
            </a:r>
            <a:endParaRPr lang="en-US" sz="1500" dirty="0"/>
          </a:p>
          <a:p>
            <a:pPr algn="l" indent="0" marL="0">
              <a:buNone/>
            </a:pPr>
            <a:endParaRPr lang="en-US" sz="1500" dirty="0"/>
          </a:p>
          <a:p>
            <a:pPr algn="l" indent="0" marL="0">
              <a:buNone/>
            </a:pPr>
            <a:r>
              <a:rPr lang="en-US" sz="1500" dirty="0">
                <a:solidFill>
                  <a:srgbClr val="0F172A"/>
                </a:solidFill>
                <a:latin typeface="Arial" pitchFamily="34" charset="0"/>
                <a:ea typeface="Arial" pitchFamily="34" charset="-122"/>
                <a:cs typeface="Arial" pitchFamily="34" charset="-120"/>
              </a:rPr>
              <a:t>A PM agent interrogated the idea into a PRD. An architect agent locked 7 invariants the code must never break.</a:t>
            </a:r>
            <a:endParaRPr lang="en-US" sz="1500" dirty="0"/>
          </a:p>
          <a:p>
            <a:pPr algn="l" indent="0" marL="0">
              <a:buNone/>
            </a:pPr>
            <a:endParaRPr lang="en-US" sz="1500" dirty="0"/>
          </a:p>
          <a:p>
            <a:pPr algn="l" indent="0" marL="0">
              <a:buNone/>
            </a:pPr>
            <a:r>
              <a:rPr lang="en-US" sz="1400" b="1" dirty="0">
                <a:solidFill>
                  <a:srgbClr val="1D4ED8"/>
                </a:solidFill>
                <a:latin typeface="Arial" pitchFamily="34" charset="0"/>
                <a:ea typeface="Arial" pitchFamily="34" charset="-122"/>
                <a:cs typeface="Arial" pitchFamily="34" charset="-120"/>
              </a:rPr>
              <a:t>1 PRD · 7 invariants</a:t>
            </a:r>
            <a:endParaRPr lang="en-US" sz="1500" dirty="0"/>
          </a:p>
        </p:txBody>
      </p:sp>
      <p:sp>
        <p:nvSpPr>
          <p:cNvPr id="7" name="Text 4"/>
          <p:cNvSpPr/>
          <p:nvPr/>
        </p:nvSpPr>
        <p:spPr>
          <a:xfrm>
            <a:off x="4471416" y="2331720"/>
            <a:ext cx="3246120" cy="2423160"/>
          </a:xfrm>
          <a:prstGeom prst="roundRect">
            <a:avLst>
              <a:gd name="adj" fmla="val 3019"/>
            </a:avLst>
          </a:prstGeom>
          <a:solidFill>
            <a:srgbClr val="EFF3FB"/>
          </a:solidFill>
          <a:ln w="12700">
            <a:solidFill>
              <a:srgbClr val="DDE5F2"/>
            </a:solidFill>
          </a:ln>
        </p:spPr>
        <p:txBody>
          <a:bodyPr wrap="square" lIns="203200" tIns="203200" rIns="203200" bIns="203200" rtlCol="0" anchor="t"/>
          <a:lstStyle/>
          <a:p>
            <a:pPr algn="l" indent="0" marL="0">
              <a:buNone/>
            </a:pPr>
            <a:r>
              <a:rPr lang="en-US" sz="1900" b="1" spc="200" kern="0" dirty="0">
                <a:solidFill>
                  <a:srgbClr val="1D4ED8"/>
                </a:solidFill>
                <a:latin typeface="Arial" pitchFamily="34" charset="0"/>
                <a:ea typeface="Arial" pitchFamily="34" charset="-122"/>
                <a:cs typeface="Arial" pitchFamily="34" charset="-120"/>
              </a:rPr>
              <a:t>BUILD</a:t>
            </a:r>
            <a:endParaRPr lang="en-US" sz="1500" dirty="0"/>
          </a:p>
          <a:p>
            <a:pPr algn="l" indent="0" marL="0">
              <a:buNone/>
            </a:pPr>
            <a:endParaRPr lang="en-US" sz="1500" dirty="0"/>
          </a:p>
          <a:p>
            <a:pPr algn="l" indent="0" marL="0">
              <a:buNone/>
            </a:pPr>
            <a:r>
              <a:rPr lang="en-US" sz="1500" dirty="0">
                <a:solidFill>
                  <a:srgbClr val="0F172A"/>
                </a:solidFill>
                <a:latin typeface="Arial" pitchFamily="34" charset="0"/>
                <a:ea typeface="Arial" pitchFamily="34" charset="-122"/>
                <a:cs typeface="Arial" pitchFamily="34" charset="-120"/>
              </a:rPr>
              <a:t>A dev agent coded story by story against acceptance criteria, tests first — the whole backlog, to done.</a:t>
            </a:r>
            <a:endParaRPr lang="en-US" sz="1500" dirty="0"/>
          </a:p>
          <a:p>
            <a:pPr algn="l" indent="0" marL="0">
              <a:buNone/>
            </a:pPr>
            <a:endParaRPr lang="en-US" sz="1500" dirty="0"/>
          </a:p>
          <a:p>
            <a:pPr algn="l" indent="0" marL="0">
              <a:buNone/>
            </a:pPr>
            <a:r>
              <a:rPr lang="en-US" sz="1400" b="1" dirty="0">
                <a:solidFill>
                  <a:srgbClr val="1D4ED8"/>
                </a:solidFill>
                <a:latin typeface="Arial" pitchFamily="34" charset="0"/>
                <a:ea typeface="Arial" pitchFamily="34" charset="-122"/>
                <a:cs typeface="Arial" pitchFamily="34" charset="-120"/>
              </a:rPr>
              <a:t>7 epics · 28 stories · 35 tests</a:t>
            </a:r>
            <a:endParaRPr lang="en-US" sz="1500" dirty="0"/>
          </a:p>
        </p:txBody>
      </p:sp>
      <p:sp>
        <p:nvSpPr>
          <p:cNvPr id="8" name="Text 5"/>
          <p:cNvSpPr/>
          <p:nvPr/>
        </p:nvSpPr>
        <p:spPr>
          <a:xfrm>
            <a:off x="8302752" y="2331720"/>
            <a:ext cx="3246120" cy="2423160"/>
          </a:xfrm>
          <a:prstGeom prst="roundRect">
            <a:avLst>
              <a:gd name="adj" fmla="val 3019"/>
            </a:avLst>
          </a:prstGeom>
          <a:solidFill>
            <a:srgbClr val="EFF3FB"/>
          </a:solidFill>
          <a:ln w="12700">
            <a:solidFill>
              <a:srgbClr val="DDE5F2"/>
            </a:solidFill>
          </a:ln>
        </p:spPr>
        <p:txBody>
          <a:bodyPr wrap="square" lIns="203200" tIns="203200" rIns="203200" bIns="203200" rtlCol="0" anchor="t"/>
          <a:lstStyle/>
          <a:p>
            <a:pPr algn="l" indent="0" marL="0">
              <a:buNone/>
            </a:pPr>
            <a:r>
              <a:rPr lang="en-US" sz="1900" b="1" spc="200" kern="0" dirty="0">
                <a:solidFill>
                  <a:srgbClr val="1D4ED8"/>
                </a:solidFill>
                <a:latin typeface="Arial" pitchFamily="34" charset="0"/>
                <a:ea typeface="Arial" pitchFamily="34" charset="-122"/>
                <a:cs typeface="Arial" pitchFamily="34" charset="-120"/>
              </a:rPr>
              <a:t>ATTACK</a:t>
            </a:r>
            <a:endParaRPr lang="en-US" sz="1500" dirty="0"/>
          </a:p>
          <a:p>
            <a:pPr algn="l" indent="0" marL="0">
              <a:buNone/>
            </a:pPr>
            <a:endParaRPr lang="en-US" sz="1500" dirty="0"/>
          </a:p>
          <a:p>
            <a:pPr algn="l" indent="0" marL="0">
              <a:buNone/>
            </a:pPr>
            <a:r>
              <a:rPr lang="en-US" sz="1500" dirty="0">
                <a:solidFill>
                  <a:srgbClr val="0F172A"/>
                </a:solidFill>
                <a:latin typeface="Arial" pitchFamily="34" charset="0"/>
                <a:ea typeface="Arial" pitchFamily="34" charset="-122"/>
                <a:cs typeface="Arial" pitchFamily="34" charset="-120"/>
              </a:rPr>
              <a:t>A cast of reviewer personas argues over every change — QA, design critic, fact-checker, one professional grump. I judge.</a:t>
            </a:r>
            <a:endParaRPr lang="en-US" sz="1500" dirty="0"/>
          </a:p>
          <a:p>
            <a:pPr algn="l" indent="0" marL="0">
              <a:buNone/>
            </a:pPr>
            <a:endParaRPr lang="en-US" sz="1500" dirty="0"/>
          </a:p>
          <a:p>
            <a:pPr algn="l" indent="0" marL="0">
              <a:buNone/>
            </a:pPr>
            <a:r>
              <a:rPr lang="en-US" sz="1400" b="1" dirty="0">
                <a:solidFill>
                  <a:srgbClr val="1D4ED8"/>
                </a:solidFill>
                <a:latin typeface="Arial" pitchFamily="34" charset="0"/>
                <a:ea typeface="Arial" pitchFamily="34" charset="-122"/>
                <a:cs typeface="Arial" pitchFamily="34" charset="-120"/>
              </a:rPr>
              <a:t>review after every change</a:t>
            </a:r>
            <a:endParaRPr lang="en-US" sz="1500" dirty="0"/>
          </a:p>
        </p:txBody>
      </p:sp>
      <p:sp>
        <p:nvSpPr>
          <p:cNvPr id="9" name="Text 6"/>
          <p:cNvSpPr/>
          <p:nvPr/>
        </p:nvSpPr>
        <p:spPr>
          <a:xfrm>
            <a:off x="3950208" y="3291840"/>
            <a:ext cx="457200" cy="457200"/>
          </a:xfrm>
          <a:prstGeom prst="rect">
            <a:avLst/>
          </a:prstGeom>
          <a:noFill/>
          <a:ln/>
        </p:spPr>
        <p:txBody>
          <a:bodyPr wrap="square" lIns="0" tIns="0" rIns="0" bIns="0" rtlCol="0" anchor="ctr"/>
          <a:lstStyle/>
          <a:p>
            <a:pPr algn="ctr" indent="0" marL="0">
              <a:buNone/>
            </a:pPr>
            <a:r>
              <a:rPr lang="en-US" sz="2400" b="1" dirty="0">
                <a:solidFill>
                  <a:srgbClr val="1D4ED8"/>
                </a:solidFill>
                <a:latin typeface="Arial" pitchFamily="34" charset="0"/>
                <a:ea typeface="Arial" pitchFamily="34" charset="-122"/>
                <a:cs typeface="Arial" pitchFamily="34" charset="-120"/>
              </a:rPr>
              <a:t>→</a:t>
            </a:r>
            <a:endParaRPr lang="en-US" sz="2400" dirty="0"/>
          </a:p>
        </p:txBody>
      </p:sp>
      <p:sp>
        <p:nvSpPr>
          <p:cNvPr id="10" name="Text 7"/>
          <p:cNvSpPr/>
          <p:nvPr/>
        </p:nvSpPr>
        <p:spPr>
          <a:xfrm>
            <a:off x="7781544" y="3291840"/>
            <a:ext cx="457200" cy="457200"/>
          </a:xfrm>
          <a:prstGeom prst="rect">
            <a:avLst/>
          </a:prstGeom>
          <a:noFill/>
          <a:ln/>
        </p:spPr>
        <p:txBody>
          <a:bodyPr wrap="square" lIns="0" tIns="0" rIns="0" bIns="0" rtlCol="0" anchor="ctr"/>
          <a:lstStyle/>
          <a:p>
            <a:pPr algn="ctr" indent="0" marL="0">
              <a:buNone/>
            </a:pPr>
            <a:r>
              <a:rPr lang="en-US" sz="2400" b="1" dirty="0">
                <a:solidFill>
                  <a:srgbClr val="1D4ED8"/>
                </a:solidFill>
                <a:latin typeface="Arial" pitchFamily="34" charset="0"/>
                <a:ea typeface="Arial" pitchFamily="34" charset="-122"/>
                <a:cs typeface="Arial" pitchFamily="34" charset="-120"/>
              </a:rPr>
              <a:t>→</a:t>
            </a:r>
            <a:endParaRPr lang="en-US" sz="2400" dirty="0"/>
          </a:p>
        </p:txBody>
      </p:sp>
      <p:sp>
        <p:nvSpPr>
          <p:cNvPr id="11" name="Shape 8"/>
          <p:cNvSpPr/>
          <p:nvPr/>
        </p:nvSpPr>
        <p:spPr>
          <a:xfrm>
            <a:off x="640080" y="5029200"/>
            <a:ext cx="10911535" cy="12802"/>
          </a:xfrm>
          <a:prstGeom prst="rect">
            <a:avLst/>
          </a:prstGeom>
          <a:solidFill>
            <a:srgbClr val="DDE5F2"/>
          </a:solidFill>
          <a:ln/>
        </p:spPr>
      </p:sp>
      <p:sp>
        <p:nvSpPr>
          <p:cNvPr id="12" name="Text 9"/>
          <p:cNvSpPr/>
          <p:nvPr/>
        </p:nvSpPr>
        <p:spPr>
          <a:xfrm>
            <a:off x="640080" y="5212080"/>
            <a:ext cx="10911535" cy="274320"/>
          </a:xfrm>
          <a:prstGeom prst="rect">
            <a:avLst/>
          </a:prstGeom>
          <a:noFill/>
          <a:ln/>
        </p:spPr>
        <p:txBody>
          <a:bodyPr wrap="square" lIns="0" tIns="0" rIns="0" bIns="0" rtlCol="0" anchor="t"/>
          <a:lstStyle/>
          <a:p>
            <a:pPr algn="l" indent="0" marL="0">
              <a:buNone/>
            </a:pPr>
            <a:r>
              <a:rPr lang="en-US" sz="1500" dirty="0">
                <a:solidFill>
                  <a:srgbClr val="64748B"/>
                </a:solidFill>
                <a:latin typeface="Arial" pitchFamily="34" charset="0"/>
                <a:ea typeface="Arial" pitchFamily="34" charset="-122"/>
                <a:cs typeface="Arial" pitchFamily="34" charset="-120"/>
              </a:rPr>
              <a:t>The invariant that mattered most —</a:t>
            </a:r>
            <a:endParaRPr lang="en-US" sz="1500" dirty="0"/>
          </a:p>
        </p:txBody>
      </p:sp>
      <p:sp>
        <p:nvSpPr>
          <p:cNvPr id="13" name="Text 10"/>
          <p:cNvSpPr/>
          <p:nvPr/>
        </p:nvSpPr>
        <p:spPr>
          <a:xfrm>
            <a:off x="640080" y="5504688"/>
            <a:ext cx="10911535" cy="411480"/>
          </a:xfrm>
          <a:prstGeom prst="rect">
            <a:avLst/>
          </a:prstGeom>
          <a:noFill/>
          <a:ln/>
        </p:spPr>
        <p:txBody>
          <a:bodyPr wrap="square" lIns="0" tIns="0" rIns="0" bIns="0" rtlCol="0" anchor="t"/>
          <a:lstStyle/>
          <a:p>
            <a:pPr algn="l" indent="0" marL="0">
              <a:buNone/>
            </a:pPr>
            <a:r>
              <a:rPr lang="en-US" sz="2200" b="1" dirty="0">
                <a:solidFill>
                  <a:srgbClr val="1D4ED8"/>
                </a:solidFill>
                <a:latin typeface="Arial" pitchFamily="34" charset="0"/>
                <a:ea typeface="Arial" pitchFamily="34" charset="-122"/>
                <a:cs typeface="Arial" pitchFamily="34" charset="-120"/>
              </a:rPr>
              <a:t>“The LLM never computes a number.”</a:t>
            </a:r>
            <a:endParaRPr lang="en-US" sz="1500" dirty="0"/>
          </a:p>
        </p:txBody>
      </p:sp>
      <p:sp>
        <p:nvSpPr>
          <p:cNvPr id="14" name="Text 11"/>
          <p:cNvSpPr/>
          <p:nvPr/>
        </p:nvSpPr>
        <p:spPr>
          <a:xfrm>
            <a:off x="640080" y="5943600"/>
            <a:ext cx="10911535" cy="274320"/>
          </a:xfrm>
          <a:prstGeom prst="rect">
            <a:avLst/>
          </a:prstGeom>
          <a:noFill/>
          <a:ln/>
        </p:spPr>
        <p:txBody>
          <a:bodyPr wrap="square" lIns="0" tIns="0" rIns="0" bIns="0" rtlCol="0" anchor="t"/>
          <a:lstStyle/>
          <a:p>
            <a:pPr algn="l" indent="0" marL="0">
              <a:buNone/>
            </a:pPr>
            <a:r>
              <a:rPr lang="en-US" sz="1400" dirty="0">
                <a:solidFill>
                  <a:srgbClr val="64748B"/>
                </a:solidFill>
                <a:latin typeface="Arial" pitchFamily="34" charset="0"/>
                <a:ea typeface="Arial" pitchFamily="34" charset="-122"/>
                <a:cs typeface="Arial" pitchFamily="34" charset="-120"/>
              </a:rPr>
              <a:t>Locked in the architecture before a line of scoring code existed.</a:t>
            </a:r>
            <a:endParaRPr lang="en-US" sz="1500" dirty="0"/>
          </a:p>
        </p:txBody>
      </p:sp>
      <p:sp>
        <p:nvSpPr>
          <p:cNvPr id="15" name="Text 12"/>
          <p:cNvSpPr/>
          <p:nvPr/>
        </p:nvSpPr>
        <p:spPr>
          <a:xfrm>
            <a:off x="11548872" y="6419088"/>
            <a:ext cx="365760" cy="274320"/>
          </a:xfrm>
          <a:prstGeom prst="rect">
            <a:avLst/>
          </a:prstGeom>
          <a:noFill/>
          <a:ln/>
        </p:spPr>
        <p:txBody>
          <a:bodyPr wrap="square" lIns="0" tIns="0" rIns="0" bIns="0" rtlCol="0" anchor="ctr"/>
          <a:lstStyle/>
          <a:p>
            <a:pPr algn="r" indent="0" marL="0">
              <a:buNone/>
            </a:pPr>
            <a:r>
              <a:rPr lang="en-US" sz="1400" dirty="0">
                <a:solidFill>
                  <a:srgbClr val="64748B"/>
                </a:solidFill>
                <a:latin typeface="Arial" pitchFamily="34" charset="0"/>
                <a:ea typeface="Arial" pitchFamily="34" charset="-122"/>
                <a:cs typeface="Arial" pitchFamily="34" charset="-120"/>
              </a:rPr>
              <a:t>6</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40080" y="502920"/>
            <a:ext cx="173736" cy="182880"/>
          </a:xfrm>
          <a:prstGeom prst="rect">
            <a:avLst/>
          </a:prstGeom>
        </p:spPr>
      </p:pic>
      <p:sp>
        <p:nvSpPr>
          <p:cNvPr id="3" name="Text 0"/>
          <p:cNvSpPr/>
          <p:nvPr>
            <p:ph idx="100" type="body" hasCustomPrompt="1"/>
          </p:nvPr>
        </p:nvSpPr>
        <p:spPr>
          <a:xfrm>
            <a:off x="896112" y="475488"/>
            <a:ext cx="10515600" cy="292608"/>
          </a:xfrm>
          <a:prstGeom prst="rect">
            <a:avLst/>
          </a:prstGeom>
          <a:noFill/>
          <a:ln/>
        </p:spPr>
        <p:txBody>
          <a:bodyPr wrap="square" lIns="0" tIns="0" rIns="0" bIns="0" rtlCol="0"/>
          <a:lstStyle/>
          <a:p>
            <a:pPr indent="0" marL="0">
              <a:buNone/>
            </a:pPr>
            <a:r>
              <a:rPr lang="en-US" sz="1400" b="1" spc="250" kern="0" dirty="0">
                <a:solidFill>
                  <a:srgbClr val="1D4ED8"/>
                </a:solidFill>
                <a:latin typeface="Arial" pitchFamily="34" charset="0"/>
                <a:ea typeface="Arial" pitchFamily="34" charset="-122"/>
                <a:cs typeface="Arial" pitchFamily="34" charset="-120"/>
              </a:rPr>
              <a:t>06 · AWS, PART 1</a:t>
            </a:r>
            <a:endParaRPr lang="en-US" sz="1400" dirty="0"/>
          </a:p>
        </p:txBody>
      </p:sp>
      <p:sp>
        <p:nvSpPr>
          <p:cNvPr id="4" name="Text 0"/>
          <p:cNvSpPr/>
          <p:nvPr>
            <p:ph idx="101" type="title" hasCustomPrompt="1"/>
          </p:nvPr>
        </p:nvSpPr>
        <p:spPr>
          <a:xfrm>
            <a:off x="640080" y="841248"/>
            <a:ext cx="10908792" cy="914400"/>
          </a:xfrm>
          <a:prstGeom prst="rect">
            <a:avLst/>
          </a:prstGeom>
          <a:noFill/>
          <a:ln/>
        </p:spPr>
        <p:txBody>
          <a:bodyPr wrap="square" lIns="0" tIns="0" rIns="0" bIns="0" rtlCol="0"/>
          <a:lstStyle/>
          <a:p>
            <a:pPr algn="l" indent="0" marL="0">
              <a:buNone/>
            </a:pPr>
            <a:r>
              <a:rPr lang="en-US" sz="3000" b="1" dirty="0">
                <a:solidFill>
                  <a:srgbClr val="0F172A"/>
                </a:solidFill>
                <a:latin typeface="Arial" pitchFamily="34" charset="0"/>
                <a:ea typeface="Arial" pitchFamily="34" charset="-122"/>
                <a:cs typeface="Arial" pitchFamily="34" charset="-120"/>
              </a:rPr>
              <a:t>How the site is hosted: three pieces</a:t>
            </a:r>
            <a:endParaRPr lang="en-US" sz="3000" dirty="0"/>
          </a:p>
        </p:txBody>
      </p:sp>
      <p:sp>
        <p:nvSpPr>
          <p:cNvPr id="5" name="Text 2"/>
          <p:cNvSpPr/>
          <p:nvPr/>
        </p:nvSpPr>
        <p:spPr>
          <a:xfrm>
            <a:off x="640080" y="2103120"/>
            <a:ext cx="3246120" cy="1874520"/>
          </a:xfrm>
          <a:prstGeom prst="roundRect">
            <a:avLst>
              <a:gd name="adj" fmla="val 3902"/>
            </a:avLst>
          </a:prstGeom>
          <a:solidFill>
            <a:srgbClr val="EFF3FB"/>
          </a:solidFill>
          <a:ln w="12700">
            <a:solidFill>
              <a:srgbClr val="DDE5F2"/>
            </a:solidFill>
          </a:ln>
        </p:spPr>
        <p:txBody>
          <a:bodyPr wrap="square" lIns="203200" tIns="203200" rIns="203200" bIns="203200" rtlCol="0" anchor="t"/>
          <a:lstStyle/>
          <a:p>
            <a:pPr algn="l" indent="0" marL="0">
              <a:buNone/>
            </a:pPr>
            <a:r>
              <a:rPr lang="en-US" sz="1900" b="1" spc="200" kern="0" dirty="0">
                <a:solidFill>
                  <a:srgbClr val="1D4ED8"/>
                </a:solidFill>
                <a:latin typeface="Arial" pitchFamily="34" charset="0"/>
                <a:ea typeface="Arial" pitchFamily="34" charset="-122"/>
                <a:cs typeface="Arial" pitchFamily="34" charset="-120"/>
              </a:rPr>
              <a:t>CODE</a:t>
            </a:r>
            <a:endParaRPr lang="en-US" sz="1500" dirty="0"/>
          </a:p>
          <a:p>
            <a:pPr algn="l" indent="0" marL="0">
              <a:buNone/>
            </a:pPr>
            <a:endParaRPr lang="en-US" sz="1500" dirty="0"/>
          </a:p>
          <a:p>
            <a:pPr algn="l" indent="0" marL="0">
              <a:buNone/>
            </a:pPr>
            <a:r>
              <a:rPr lang="en-US" sz="1500" dirty="0">
                <a:solidFill>
                  <a:srgbClr val="0F172A"/>
                </a:solidFill>
                <a:latin typeface="Arial" pitchFamily="34" charset="0"/>
                <a:ea typeface="Arial" pitchFamily="34" charset="-122"/>
                <a:cs typeface="Arial" pitchFamily="34" charset="-120"/>
              </a:rPr>
              <a:t>GitHub. Push to main — that’s the whole release process.</a:t>
            </a:r>
            <a:endParaRPr lang="en-US" sz="1500" dirty="0"/>
          </a:p>
        </p:txBody>
      </p:sp>
      <p:sp>
        <p:nvSpPr>
          <p:cNvPr id="6" name="Text 3"/>
          <p:cNvSpPr/>
          <p:nvPr/>
        </p:nvSpPr>
        <p:spPr>
          <a:xfrm>
            <a:off x="4471416" y="2103120"/>
            <a:ext cx="3246120" cy="1874520"/>
          </a:xfrm>
          <a:prstGeom prst="roundRect">
            <a:avLst>
              <a:gd name="adj" fmla="val 3902"/>
            </a:avLst>
          </a:prstGeom>
          <a:solidFill>
            <a:srgbClr val="EFF3FB"/>
          </a:solidFill>
          <a:ln w="12700">
            <a:solidFill>
              <a:srgbClr val="DDE5F2"/>
            </a:solidFill>
          </a:ln>
        </p:spPr>
        <p:txBody>
          <a:bodyPr wrap="square" lIns="203200" tIns="203200" rIns="203200" bIns="203200" rtlCol="0" anchor="t"/>
          <a:lstStyle/>
          <a:p>
            <a:pPr algn="l" indent="0" marL="0">
              <a:buNone/>
            </a:pPr>
            <a:r>
              <a:rPr lang="en-US" sz="1900" b="1" spc="200" kern="0" dirty="0">
                <a:solidFill>
                  <a:srgbClr val="1D4ED8"/>
                </a:solidFill>
                <a:latin typeface="Arial" pitchFamily="34" charset="0"/>
                <a:ea typeface="Arial" pitchFamily="34" charset="-122"/>
                <a:cs typeface="Arial" pitchFamily="34" charset="-120"/>
              </a:rPr>
              <a:t>ENGINE</a:t>
            </a:r>
            <a:endParaRPr lang="en-US" sz="1500" dirty="0"/>
          </a:p>
          <a:p>
            <a:pPr algn="l" indent="0" marL="0">
              <a:buNone/>
            </a:pPr>
            <a:endParaRPr lang="en-US" sz="1500" dirty="0"/>
          </a:p>
          <a:p>
            <a:pPr algn="l" indent="0" marL="0">
              <a:buNone/>
            </a:pPr>
            <a:r>
              <a:rPr lang="en-US" sz="1500" dirty="0">
                <a:solidFill>
                  <a:srgbClr val="0F172A"/>
                </a:solidFill>
                <a:latin typeface="Arial" pitchFamily="34" charset="0"/>
                <a:ea typeface="Arial" pitchFamily="34" charset="-122"/>
                <a:cs typeface="Arial" pitchFamily="34" charset="-120"/>
              </a:rPr>
              <a:t>AWS Amplify builds the Next.js app and runs the server-rendered parts.</a:t>
            </a:r>
            <a:endParaRPr lang="en-US" sz="1500" dirty="0"/>
          </a:p>
        </p:txBody>
      </p:sp>
      <p:sp>
        <p:nvSpPr>
          <p:cNvPr id="7" name="Text 4"/>
          <p:cNvSpPr/>
          <p:nvPr/>
        </p:nvSpPr>
        <p:spPr>
          <a:xfrm>
            <a:off x="8302752" y="2103120"/>
            <a:ext cx="3246120" cy="1874520"/>
          </a:xfrm>
          <a:prstGeom prst="roundRect">
            <a:avLst>
              <a:gd name="adj" fmla="val 3902"/>
            </a:avLst>
          </a:prstGeom>
          <a:solidFill>
            <a:srgbClr val="EFF3FB"/>
          </a:solidFill>
          <a:ln w="12700">
            <a:solidFill>
              <a:srgbClr val="DDE5F2"/>
            </a:solidFill>
          </a:ln>
        </p:spPr>
        <p:txBody>
          <a:bodyPr wrap="square" lIns="203200" tIns="203200" rIns="203200" bIns="203200" rtlCol="0" anchor="t"/>
          <a:lstStyle/>
          <a:p>
            <a:pPr algn="l" indent="0" marL="0">
              <a:buNone/>
            </a:pPr>
            <a:r>
              <a:rPr lang="en-US" sz="1900" b="1" spc="200" kern="0" dirty="0">
                <a:solidFill>
                  <a:srgbClr val="1D4ED8"/>
                </a:solidFill>
                <a:latin typeface="Arial" pitchFamily="34" charset="0"/>
                <a:ea typeface="Arial" pitchFamily="34" charset="-122"/>
                <a:cs typeface="Arial" pitchFamily="34" charset="-120"/>
              </a:rPr>
              <a:t>EDGE</a:t>
            </a:r>
            <a:endParaRPr lang="en-US" sz="1500" dirty="0"/>
          </a:p>
          <a:p>
            <a:pPr algn="l" indent="0" marL="0">
              <a:buNone/>
            </a:pPr>
            <a:endParaRPr lang="en-US" sz="1500" dirty="0"/>
          </a:p>
          <a:p>
            <a:pPr algn="l" indent="0" marL="0">
              <a:buNone/>
            </a:pPr>
            <a:r>
              <a:rPr lang="en-US" sz="1500" dirty="0">
                <a:solidFill>
                  <a:srgbClr val="0F172A"/>
                </a:solidFill>
                <a:latin typeface="Arial" pitchFamily="34" charset="0"/>
                <a:ea typeface="Arial" pitchFamily="34" charset="-122"/>
                <a:cs typeface="Arial" pitchFamily="34" charset="-120"/>
              </a:rPr>
              <a:t>CloudFront serves it worldwide; Route 53 holds ashleylibasci.com.</a:t>
            </a:r>
            <a:endParaRPr lang="en-US" sz="1500" dirty="0"/>
          </a:p>
        </p:txBody>
      </p:sp>
      <p:sp>
        <p:nvSpPr>
          <p:cNvPr id="8" name="Text 5"/>
          <p:cNvSpPr/>
          <p:nvPr/>
        </p:nvSpPr>
        <p:spPr>
          <a:xfrm>
            <a:off x="3950208" y="2788920"/>
            <a:ext cx="457200" cy="457200"/>
          </a:xfrm>
          <a:prstGeom prst="rect">
            <a:avLst/>
          </a:prstGeom>
          <a:noFill/>
          <a:ln/>
        </p:spPr>
        <p:txBody>
          <a:bodyPr wrap="square" lIns="0" tIns="0" rIns="0" bIns="0" rtlCol="0" anchor="ctr"/>
          <a:lstStyle/>
          <a:p>
            <a:pPr algn="ctr" indent="0" marL="0">
              <a:buNone/>
            </a:pPr>
            <a:r>
              <a:rPr lang="en-US" sz="2400" b="1" dirty="0">
                <a:solidFill>
                  <a:srgbClr val="1D4ED8"/>
                </a:solidFill>
                <a:latin typeface="Arial" pitchFamily="34" charset="0"/>
                <a:ea typeface="Arial" pitchFamily="34" charset="-122"/>
                <a:cs typeface="Arial" pitchFamily="34" charset="-120"/>
              </a:rPr>
              <a:t>→</a:t>
            </a:r>
            <a:endParaRPr lang="en-US" sz="2400" dirty="0"/>
          </a:p>
        </p:txBody>
      </p:sp>
      <p:sp>
        <p:nvSpPr>
          <p:cNvPr id="9" name="Text 6"/>
          <p:cNvSpPr/>
          <p:nvPr/>
        </p:nvSpPr>
        <p:spPr>
          <a:xfrm>
            <a:off x="7781544" y="2788920"/>
            <a:ext cx="457200" cy="457200"/>
          </a:xfrm>
          <a:prstGeom prst="rect">
            <a:avLst/>
          </a:prstGeom>
          <a:noFill/>
          <a:ln/>
        </p:spPr>
        <p:txBody>
          <a:bodyPr wrap="square" lIns="0" tIns="0" rIns="0" bIns="0" rtlCol="0" anchor="ctr"/>
          <a:lstStyle/>
          <a:p>
            <a:pPr algn="ctr" indent="0" marL="0">
              <a:buNone/>
            </a:pPr>
            <a:r>
              <a:rPr lang="en-US" sz="2400" b="1" dirty="0">
                <a:solidFill>
                  <a:srgbClr val="1D4ED8"/>
                </a:solidFill>
                <a:latin typeface="Arial" pitchFamily="34" charset="0"/>
                <a:ea typeface="Arial" pitchFamily="34" charset="-122"/>
                <a:cs typeface="Arial" pitchFamily="34" charset="-120"/>
              </a:rPr>
              <a:t>→</a:t>
            </a:r>
            <a:endParaRPr lang="en-US" sz="2400" dirty="0"/>
          </a:p>
        </p:txBody>
      </p:sp>
      <p:sp>
        <p:nvSpPr>
          <p:cNvPr id="10" name="Shape 7"/>
          <p:cNvSpPr/>
          <p:nvPr/>
        </p:nvSpPr>
        <p:spPr>
          <a:xfrm>
            <a:off x="640080" y="4343400"/>
            <a:ext cx="10911535" cy="12802"/>
          </a:xfrm>
          <a:prstGeom prst="rect">
            <a:avLst/>
          </a:prstGeom>
          <a:solidFill>
            <a:srgbClr val="DDE5F2"/>
          </a:solidFill>
          <a:ln/>
        </p:spPr>
      </p:sp>
      <p:sp>
        <p:nvSpPr>
          <p:cNvPr id="11" name="Text 8"/>
          <p:cNvSpPr/>
          <p:nvPr/>
        </p:nvSpPr>
        <p:spPr>
          <a:xfrm>
            <a:off x="640080" y="4572000"/>
            <a:ext cx="10911535" cy="365760"/>
          </a:xfrm>
          <a:prstGeom prst="rect">
            <a:avLst/>
          </a:prstGeom>
          <a:noFill/>
          <a:ln/>
        </p:spPr>
        <p:txBody>
          <a:bodyPr wrap="square" lIns="0" tIns="0" rIns="0" bIns="0" rtlCol="0" anchor="t"/>
          <a:lstStyle/>
          <a:p>
            <a:pPr algn="l" indent="0" marL="0">
              <a:buNone/>
            </a:pPr>
            <a:r>
              <a:rPr lang="en-US" sz="1600" b="1" dirty="0">
                <a:solidFill>
                  <a:srgbClr val="0F172A"/>
                </a:solidFill>
                <a:latin typeface="Arial" pitchFamily="34" charset="0"/>
                <a:ea typeface="Arial" pitchFamily="34" charset="-122"/>
                <a:cs typeface="Arial" pitchFamily="34" charset="-120"/>
              </a:rPr>
              <a:t>Cloud Practitioner concepts this made real</a:t>
            </a:r>
            <a:endParaRPr lang="en-US" sz="1500" dirty="0"/>
          </a:p>
        </p:txBody>
      </p:sp>
      <p:sp>
        <p:nvSpPr>
          <p:cNvPr id="12" name="Text 9"/>
          <p:cNvSpPr/>
          <p:nvPr/>
        </p:nvSpPr>
        <p:spPr>
          <a:xfrm>
            <a:off x="640080" y="5029200"/>
            <a:ext cx="2697480" cy="365760"/>
          </a:xfrm>
          <a:prstGeom prst="rect">
            <a:avLst/>
          </a:prstGeom>
          <a:noFill/>
          <a:ln/>
        </p:spPr>
        <p:txBody>
          <a:bodyPr wrap="square" lIns="0" tIns="0" rIns="0" bIns="0" rtlCol="0" anchor="t"/>
          <a:lstStyle/>
          <a:p>
            <a:pPr algn="l" indent="0" marL="0">
              <a:buNone/>
            </a:pPr>
            <a:r>
              <a:rPr lang="en-US" sz="1500" dirty="0">
                <a:solidFill>
                  <a:srgbClr val="1D4ED8"/>
                </a:solidFill>
                <a:latin typeface="Arial" pitchFamily="34" charset="0"/>
                <a:ea typeface="Arial" pitchFamily="34" charset="-122"/>
                <a:cs typeface="Arial" pitchFamily="34" charset="-120"/>
              </a:rPr>
              <a:t>★ </a:t>
            </a:r>
            <a:pPr algn="l" indent="0" marL="0">
              <a:buNone/>
            </a:pPr>
            <a:r>
              <a:rPr lang="en-US" sz="1500" dirty="0">
                <a:solidFill>
                  <a:srgbClr val="0F172A"/>
                </a:solidFill>
                <a:latin typeface="Arial" pitchFamily="34" charset="0"/>
                <a:ea typeface="Arial" pitchFamily="34" charset="-122"/>
                <a:cs typeface="Arial" pitchFamily="34" charset="-120"/>
              </a:rPr>
              <a:t>managed services</a:t>
            </a:r>
            <a:endParaRPr lang="en-US" sz="1500" dirty="0"/>
          </a:p>
        </p:txBody>
      </p:sp>
      <p:sp>
        <p:nvSpPr>
          <p:cNvPr id="13" name="Text 10"/>
          <p:cNvSpPr/>
          <p:nvPr/>
        </p:nvSpPr>
        <p:spPr>
          <a:xfrm>
            <a:off x="3383280" y="5029200"/>
            <a:ext cx="2697480" cy="365760"/>
          </a:xfrm>
          <a:prstGeom prst="rect">
            <a:avLst/>
          </a:prstGeom>
          <a:noFill/>
          <a:ln/>
        </p:spPr>
        <p:txBody>
          <a:bodyPr wrap="square" lIns="0" tIns="0" rIns="0" bIns="0" rtlCol="0" anchor="t"/>
          <a:lstStyle/>
          <a:p>
            <a:pPr algn="l" indent="0" marL="0">
              <a:buNone/>
            </a:pPr>
            <a:r>
              <a:rPr lang="en-US" sz="1500" dirty="0">
                <a:solidFill>
                  <a:srgbClr val="1D4ED8"/>
                </a:solidFill>
                <a:latin typeface="Arial" pitchFamily="34" charset="0"/>
                <a:ea typeface="Arial" pitchFamily="34" charset="-122"/>
                <a:cs typeface="Arial" pitchFamily="34" charset="-120"/>
              </a:rPr>
              <a:t>★ </a:t>
            </a:r>
            <a:pPr algn="l" indent="0" marL="0">
              <a:buNone/>
            </a:pPr>
            <a:r>
              <a:rPr lang="en-US" sz="1500" dirty="0">
                <a:solidFill>
                  <a:srgbClr val="0F172A"/>
                </a:solidFill>
                <a:latin typeface="Arial" pitchFamily="34" charset="0"/>
                <a:ea typeface="Arial" pitchFamily="34" charset="-122"/>
                <a:cs typeface="Arial" pitchFamily="34" charset="-120"/>
              </a:rPr>
              <a:t>edge caching</a:t>
            </a:r>
            <a:endParaRPr lang="en-US" sz="1500" dirty="0"/>
          </a:p>
        </p:txBody>
      </p:sp>
      <p:sp>
        <p:nvSpPr>
          <p:cNvPr id="14" name="Text 11"/>
          <p:cNvSpPr/>
          <p:nvPr/>
        </p:nvSpPr>
        <p:spPr>
          <a:xfrm>
            <a:off x="6126480" y="5029200"/>
            <a:ext cx="2697480" cy="365760"/>
          </a:xfrm>
          <a:prstGeom prst="rect">
            <a:avLst/>
          </a:prstGeom>
          <a:noFill/>
          <a:ln/>
        </p:spPr>
        <p:txBody>
          <a:bodyPr wrap="square" lIns="0" tIns="0" rIns="0" bIns="0" rtlCol="0" anchor="t"/>
          <a:lstStyle/>
          <a:p>
            <a:pPr algn="l" indent="0" marL="0">
              <a:buNone/>
            </a:pPr>
            <a:r>
              <a:rPr lang="en-US" sz="1500" dirty="0">
                <a:solidFill>
                  <a:srgbClr val="1D4ED8"/>
                </a:solidFill>
                <a:latin typeface="Arial" pitchFamily="34" charset="0"/>
                <a:ea typeface="Arial" pitchFamily="34" charset="-122"/>
                <a:cs typeface="Arial" pitchFamily="34" charset="-120"/>
              </a:rPr>
              <a:t>★ </a:t>
            </a:r>
            <a:pPr algn="l" indent="0" marL="0">
              <a:buNone/>
            </a:pPr>
            <a:r>
              <a:rPr lang="en-US" sz="1500" dirty="0">
                <a:solidFill>
                  <a:srgbClr val="0F172A"/>
                </a:solidFill>
                <a:latin typeface="Arial" pitchFamily="34" charset="0"/>
                <a:ea typeface="Arial" pitchFamily="34" charset="-122"/>
                <a:cs typeface="Arial" pitchFamily="34" charset="-120"/>
              </a:rPr>
              <a:t>shared responsibility</a:t>
            </a:r>
            <a:endParaRPr lang="en-US" sz="1500" dirty="0"/>
          </a:p>
        </p:txBody>
      </p:sp>
      <p:sp>
        <p:nvSpPr>
          <p:cNvPr id="15" name="Text 12"/>
          <p:cNvSpPr/>
          <p:nvPr/>
        </p:nvSpPr>
        <p:spPr>
          <a:xfrm>
            <a:off x="8869680" y="5029200"/>
            <a:ext cx="2697480" cy="365760"/>
          </a:xfrm>
          <a:prstGeom prst="rect">
            <a:avLst/>
          </a:prstGeom>
          <a:noFill/>
          <a:ln/>
        </p:spPr>
        <p:txBody>
          <a:bodyPr wrap="square" lIns="0" tIns="0" rIns="0" bIns="0" rtlCol="0" anchor="t"/>
          <a:lstStyle/>
          <a:p>
            <a:pPr algn="l" indent="0" marL="0">
              <a:buNone/>
            </a:pPr>
            <a:r>
              <a:rPr lang="en-US" sz="1500" dirty="0">
                <a:solidFill>
                  <a:srgbClr val="1D4ED8"/>
                </a:solidFill>
                <a:latin typeface="Arial" pitchFamily="34" charset="0"/>
                <a:ea typeface="Arial" pitchFamily="34" charset="-122"/>
                <a:cs typeface="Arial" pitchFamily="34" charset="-120"/>
              </a:rPr>
              <a:t>★ </a:t>
            </a:r>
            <a:pPr algn="l" indent="0" marL="0">
              <a:buNone/>
            </a:pPr>
            <a:r>
              <a:rPr lang="en-US" sz="1500" dirty="0">
                <a:solidFill>
                  <a:srgbClr val="0F172A"/>
                </a:solidFill>
                <a:latin typeface="Arial" pitchFamily="34" charset="0"/>
                <a:ea typeface="Arial" pitchFamily="34" charset="-122"/>
                <a:cs typeface="Arial" pitchFamily="34" charset="-120"/>
              </a:rPr>
              <a:t>DNS + certificates</a:t>
            </a:r>
            <a:endParaRPr lang="en-US" sz="1500" dirty="0"/>
          </a:p>
        </p:txBody>
      </p:sp>
      <p:sp>
        <p:nvSpPr>
          <p:cNvPr id="16" name="Text 13"/>
          <p:cNvSpPr/>
          <p:nvPr/>
        </p:nvSpPr>
        <p:spPr>
          <a:xfrm>
            <a:off x="640080" y="5577840"/>
            <a:ext cx="10911535" cy="365760"/>
          </a:xfrm>
          <a:prstGeom prst="rect">
            <a:avLst/>
          </a:prstGeom>
          <a:noFill/>
          <a:ln/>
        </p:spPr>
        <p:txBody>
          <a:bodyPr wrap="square" lIns="0" tIns="0" rIns="0" bIns="0" rtlCol="0" anchor="t"/>
          <a:lstStyle/>
          <a:p>
            <a:pPr algn="l" indent="0" marL="0">
              <a:buNone/>
            </a:pPr>
            <a:r>
              <a:rPr lang="en-US" sz="1400" i="1" dirty="0">
                <a:solidFill>
                  <a:srgbClr val="64748B"/>
                </a:solidFill>
                <a:latin typeface="Arial" pitchFamily="34" charset="0"/>
                <a:ea typeface="Arial" pitchFamily="34" charset="-122"/>
                <a:cs typeface="Arial" pitchFamily="34" charset="-120"/>
              </a:rPr>
              <a:t>Studying for the cert now — this is where the flashcards became things I’d actually debugged.</a:t>
            </a:r>
            <a:endParaRPr lang="en-US" sz="1500" dirty="0"/>
          </a:p>
        </p:txBody>
      </p:sp>
      <p:sp>
        <p:nvSpPr>
          <p:cNvPr id="17" name="Text 14"/>
          <p:cNvSpPr/>
          <p:nvPr/>
        </p:nvSpPr>
        <p:spPr>
          <a:xfrm>
            <a:off x="11548872" y="6419088"/>
            <a:ext cx="365760" cy="274320"/>
          </a:xfrm>
          <a:prstGeom prst="rect">
            <a:avLst/>
          </a:prstGeom>
          <a:noFill/>
          <a:ln/>
        </p:spPr>
        <p:txBody>
          <a:bodyPr wrap="square" lIns="0" tIns="0" rIns="0" bIns="0" rtlCol="0" anchor="ctr"/>
          <a:lstStyle/>
          <a:p>
            <a:pPr algn="r" indent="0" marL="0">
              <a:buNone/>
            </a:pPr>
            <a:r>
              <a:rPr lang="en-US" sz="1400" dirty="0">
                <a:solidFill>
                  <a:srgbClr val="64748B"/>
                </a:solidFill>
                <a:latin typeface="Arial" pitchFamily="34" charset="0"/>
                <a:ea typeface="Arial" pitchFamily="34" charset="-122"/>
                <a:cs typeface="Arial" pitchFamily="34" charset="-120"/>
              </a:rPr>
              <a:t>7</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40080" y="502920"/>
            <a:ext cx="173736" cy="182880"/>
          </a:xfrm>
          <a:prstGeom prst="rect">
            <a:avLst/>
          </a:prstGeom>
        </p:spPr>
      </p:pic>
      <p:sp>
        <p:nvSpPr>
          <p:cNvPr id="3" name="Text 0"/>
          <p:cNvSpPr/>
          <p:nvPr>
            <p:ph idx="100" type="body" hasCustomPrompt="1"/>
          </p:nvPr>
        </p:nvSpPr>
        <p:spPr>
          <a:xfrm>
            <a:off x="896112" y="475488"/>
            <a:ext cx="10515600" cy="292608"/>
          </a:xfrm>
          <a:prstGeom prst="rect">
            <a:avLst/>
          </a:prstGeom>
          <a:noFill/>
          <a:ln/>
        </p:spPr>
        <p:txBody>
          <a:bodyPr wrap="square" lIns="0" tIns="0" rIns="0" bIns="0" rtlCol="0"/>
          <a:lstStyle/>
          <a:p>
            <a:pPr indent="0" marL="0">
              <a:buNone/>
            </a:pPr>
            <a:r>
              <a:rPr lang="en-US" sz="1400" b="1" spc="250" kern="0" dirty="0">
                <a:solidFill>
                  <a:srgbClr val="1D4ED8"/>
                </a:solidFill>
                <a:latin typeface="Arial" pitchFamily="34" charset="0"/>
                <a:ea typeface="Arial" pitchFamily="34" charset="-122"/>
                <a:cs typeface="Arial" pitchFamily="34" charset="-120"/>
              </a:rPr>
              <a:t>07 · AWS, PART 2</a:t>
            </a:r>
            <a:endParaRPr lang="en-US" sz="1400" dirty="0"/>
          </a:p>
        </p:txBody>
      </p:sp>
      <p:sp>
        <p:nvSpPr>
          <p:cNvPr id="4" name="Text 0"/>
          <p:cNvSpPr/>
          <p:nvPr>
            <p:ph idx="101" type="title" hasCustomPrompt="1"/>
          </p:nvPr>
        </p:nvSpPr>
        <p:spPr>
          <a:xfrm>
            <a:off x="640080" y="841248"/>
            <a:ext cx="10908792" cy="914400"/>
          </a:xfrm>
          <a:prstGeom prst="rect">
            <a:avLst/>
          </a:prstGeom>
          <a:noFill/>
          <a:ln/>
        </p:spPr>
        <p:txBody>
          <a:bodyPr wrap="square" lIns="0" tIns="0" rIns="0" bIns="0" rtlCol="0"/>
          <a:lstStyle/>
          <a:p>
            <a:pPr algn="l" indent="0" marL="0">
              <a:buNone/>
            </a:pPr>
            <a:r>
              <a:rPr lang="en-US" sz="3000" b="1" dirty="0">
                <a:solidFill>
                  <a:srgbClr val="0F172A"/>
                </a:solidFill>
                <a:latin typeface="Arial" pitchFamily="34" charset="0"/>
                <a:ea typeface="Arial" pitchFamily="34" charset="-122"/>
                <a:cs typeface="Arial" pitchFamily="34" charset="-120"/>
              </a:rPr>
              <a:t>Hosting your own: the recipe</a:t>
            </a:r>
            <a:endParaRPr lang="en-US" sz="3000" dirty="0"/>
          </a:p>
        </p:txBody>
      </p:sp>
      <p:sp>
        <p:nvSpPr>
          <p:cNvPr id="5" name="Text 2"/>
          <p:cNvSpPr/>
          <p:nvPr/>
        </p:nvSpPr>
        <p:spPr>
          <a:xfrm>
            <a:off x="640080" y="2075688"/>
            <a:ext cx="457200" cy="457200"/>
          </a:xfrm>
          <a:prstGeom prst="rect">
            <a:avLst/>
          </a:prstGeom>
          <a:noFill/>
          <a:ln/>
        </p:spPr>
        <p:txBody>
          <a:bodyPr wrap="square" lIns="0" tIns="0" rIns="0" bIns="0" rtlCol="0" anchor="t"/>
          <a:lstStyle/>
          <a:p>
            <a:pPr algn="l" indent="0" marL="0">
              <a:buNone/>
            </a:pPr>
            <a:r>
              <a:rPr lang="en-US" sz="2600" b="1" dirty="0">
                <a:solidFill>
                  <a:srgbClr val="1D4ED8"/>
                </a:solidFill>
                <a:latin typeface="Arial" pitchFamily="34" charset="0"/>
                <a:ea typeface="Arial" pitchFamily="34" charset="-122"/>
                <a:cs typeface="Arial" pitchFamily="34" charset="-120"/>
              </a:rPr>
              <a:t>1</a:t>
            </a:r>
            <a:endParaRPr lang="en-US" sz="1500" dirty="0"/>
          </a:p>
        </p:txBody>
      </p:sp>
      <p:sp>
        <p:nvSpPr>
          <p:cNvPr id="6" name="Text 3"/>
          <p:cNvSpPr/>
          <p:nvPr/>
        </p:nvSpPr>
        <p:spPr>
          <a:xfrm>
            <a:off x="1234440" y="2103120"/>
            <a:ext cx="2651760" cy="411480"/>
          </a:xfrm>
          <a:prstGeom prst="rect">
            <a:avLst/>
          </a:prstGeom>
          <a:noFill/>
          <a:ln/>
        </p:spPr>
        <p:txBody>
          <a:bodyPr wrap="square" lIns="0" tIns="0" rIns="0" bIns="0" rtlCol="0" anchor="t"/>
          <a:lstStyle/>
          <a:p>
            <a:pPr algn="l" indent="0" marL="0">
              <a:buNone/>
            </a:pPr>
            <a:r>
              <a:rPr lang="en-US" sz="1700" b="1" dirty="0">
                <a:solidFill>
                  <a:srgbClr val="0F172A"/>
                </a:solidFill>
                <a:latin typeface="Arial" pitchFamily="34" charset="0"/>
                <a:ea typeface="Arial" pitchFamily="34" charset="-122"/>
                <a:cs typeface="Arial" pitchFamily="34" charset="-120"/>
              </a:rPr>
              <a:t>Put it on GitHub</a:t>
            </a:r>
            <a:endParaRPr lang="en-US" sz="1500" dirty="0"/>
          </a:p>
        </p:txBody>
      </p:sp>
      <p:sp>
        <p:nvSpPr>
          <p:cNvPr id="7" name="Text 4"/>
          <p:cNvSpPr/>
          <p:nvPr/>
        </p:nvSpPr>
        <p:spPr>
          <a:xfrm>
            <a:off x="4023360" y="2121408"/>
            <a:ext cx="7525512" cy="685800"/>
          </a:xfrm>
          <a:prstGeom prst="rect">
            <a:avLst/>
          </a:prstGeom>
          <a:noFill/>
          <a:ln/>
        </p:spPr>
        <p:txBody>
          <a:bodyPr wrap="square" lIns="0" tIns="0" rIns="0" bIns="0" rtlCol="0" anchor="t"/>
          <a:lstStyle/>
          <a:p>
            <a:pPr algn="l" indent="0" marL="0">
              <a:buNone/>
            </a:pPr>
            <a:r>
              <a:rPr lang="en-US" sz="1500" dirty="0">
                <a:solidFill>
                  <a:srgbClr val="64748B"/>
                </a:solidFill>
                <a:latin typeface="Arial" pitchFamily="34" charset="0"/>
                <a:ea typeface="Arial" pitchFamily="34" charset="-122"/>
                <a:cs typeface="Arial" pitchFamily="34" charset="-120"/>
              </a:rPr>
              <a:t>The repo is the deployment artifact. No servers to provision, nothing to SSH into.</a:t>
            </a:r>
            <a:endParaRPr lang="en-US" sz="1500" dirty="0"/>
          </a:p>
        </p:txBody>
      </p:sp>
      <p:sp>
        <p:nvSpPr>
          <p:cNvPr id="8" name="Shape 5"/>
          <p:cNvSpPr/>
          <p:nvPr/>
        </p:nvSpPr>
        <p:spPr>
          <a:xfrm>
            <a:off x="640080" y="2871216"/>
            <a:ext cx="10911535" cy="12802"/>
          </a:xfrm>
          <a:prstGeom prst="rect">
            <a:avLst/>
          </a:prstGeom>
          <a:solidFill>
            <a:srgbClr val="DDE5F2"/>
          </a:solidFill>
          <a:ln/>
        </p:spPr>
      </p:sp>
      <p:sp>
        <p:nvSpPr>
          <p:cNvPr id="9" name="Text 6"/>
          <p:cNvSpPr/>
          <p:nvPr/>
        </p:nvSpPr>
        <p:spPr>
          <a:xfrm>
            <a:off x="640080" y="3026664"/>
            <a:ext cx="457200" cy="457200"/>
          </a:xfrm>
          <a:prstGeom prst="rect">
            <a:avLst/>
          </a:prstGeom>
          <a:noFill/>
          <a:ln/>
        </p:spPr>
        <p:txBody>
          <a:bodyPr wrap="square" lIns="0" tIns="0" rIns="0" bIns="0" rtlCol="0" anchor="t"/>
          <a:lstStyle/>
          <a:p>
            <a:pPr algn="l" indent="0" marL="0">
              <a:buNone/>
            </a:pPr>
            <a:r>
              <a:rPr lang="en-US" sz="2600" b="1" dirty="0">
                <a:solidFill>
                  <a:srgbClr val="1D4ED8"/>
                </a:solidFill>
                <a:latin typeface="Arial" pitchFamily="34" charset="0"/>
                <a:ea typeface="Arial" pitchFamily="34" charset="-122"/>
                <a:cs typeface="Arial" pitchFamily="34" charset="-120"/>
              </a:rPr>
              <a:t>2</a:t>
            </a:r>
            <a:endParaRPr lang="en-US" sz="1500" dirty="0"/>
          </a:p>
        </p:txBody>
      </p:sp>
      <p:sp>
        <p:nvSpPr>
          <p:cNvPr id="10" name="Text 7"/>
          <p:cNvSpPr/>
          <p:nvPr/>
        </p:nvSpPr>
        <p:spPr>
          <a:xfrm>
            <a:off x="1234440" y="3054096"/>
            <a:ext cx="2651760" cy="411480"/>
          </a:xfrm>
          <a:prstGeom prst="rect">
            <a:avLst/>
          </a:prstGeom>
          <a:noFill/>
          <a:ln/>
        </p:spPr>
        <p:txBody>
          <a:bodyPr wrap="square" lIns="0" tIns="0" rIns="0" bIns="0" rtlCol="0" anchor="t"/>
          <a:lstStyle/>
          <a:p>
            <a:pPr algn="l" indent="0" marL="0">
              <a:buNone/>
            </a:pPr>
            <a:r>
              <a:rPr lang="en-US" sz="1700" b="1" dirty="0">
                <a:solidFill>
                  <a:srgbClr val="0F172A"/>
                </a:solidFill>
                <a:latin typeface="Arial" pitchFamily="34" charset="0"/>
                <a:ea typeface="Arial" pitchFamily="34" charset="-122"/>
                <a:cs typeface="Arial" pitchFamily="34" charset="-120"/>
              </a:rPr>
              <a:t>Connect AWS Amplify</a:t>
            </a:r>
            <a:endParaRPr lang="en-US" sz="1500" dirty="0"/>
          </a:p>
        </p:txBody>
      </p:sp>
      <p:sp>
        <p:nvSpPr>
          <p:cNvPr id="11" name="Text 8"/>
          <p:cNvSpPr/>
          <p:nvPr/>
        </p:nvSpPr>
        <p:spPr>
          <a:xfrm>
            <a:off x="4023360" y="3072384"/>
            <a:ext cx="7525512" cy="685800"/>
          </a:xfrm>
          <a:prstGeom prst="rect">
            <a:avLst/>
          </a:prstGeom>
          <a:noFill/>
          <a:ln/>
        </p:spPr>
        <p:txBody>
          <a:bodyPr wrap="square" lIns="0" tIns="0" rIns="0" bIns="0" rtlCol="0" anchor="t"/>
          <a:lstStyle/>
          <a:p>
            <a:pPr algn="l" indent="0" marL="0">
              <a:buNone/>
            </a:pPr>
            <a:r>
              <a:rPr lang="en-US" sz="1500" dirty="0">
                <a:solidFill>
                  <a:srgbClr val="64748B"/>
                </a:solidFill>
                <a:latin typeface="Arial" pitchFamily="34" charset="0"/>
                <a:ea typeface="Arial" pitchFamily="34" charset="-122"/>
                <a:cs typeface="Arial" pitchFamily="34" charset="-120"/>
              </a:rPr>
              <a:t>Point Amplify at the repo. From then on every push to main builds and deploys automatically.</a:t>
            </a:r>
            <a:endParaRPr lang="en-US" sz="1500" dirty="0"/>
          </a:p>
        </p:txBody>
      </p:sp>
      <p:sp>
        <p:nvSpPr>
          <p:cNvPr id="12" name="Shape 9"/>
          <p:cNvSpPr/>
          <p:nvPr/>
        </p:nvSpPr>
        <p:spPr>
          <a:xfrm>
            <a:off x="640080" y="3822192"/>
            <a:ext cx="10911535" cy="12802"/>
          </a:xfrm>
          <a:prstGeom prst="rect">
            <a:avLst/>
          </a:prstGeom>
          <a:solidFill>
            <a:srgbClr val="DDE5F2"/>
          </a:solidFill>
          <a:ln/>
        </p:spPr>
      </p:sp>
      <p:sp>
        <p:nvSpPr>
          <p:cNvPr id="13" name="Text 10"/>
          <p:cNvSpPr/>
          <p:nvPr/>
        </p:nvSpPr>
        <p:spPr>
          <a:xfrm>
            <a:off x="640080" y="3977640"/>
            <a:ext cx="457200" cy="457200"/>
          </a:xfrm>
          <a:prstGeom prst="rect">
            <a:avLst/>
          </a:prstGeom>
          <a:noFill/>
          <a:ln/>
        </p:spPr>
        <p:txBody>
          <a:bodyPr wrap="square" lIns="0" tIns="0" rIns="0" bIns="0" rtlCol="0" anchor="t"/>
          <a:lstStyle/>
          <a:p>
            <a:pPr algn="l" indent="0" marL="0">
              <a:buNone/>
            </a:pPr>
            <a:r>
              <a:rPr lang="en-US" sz="2600" b="1" dirty="0">
                <a:solidFill>
                  <a:srgbClr val="1D4ED8"/>
                </a:solidFill>
                <a:latin typeface="Arial" pitchFamily="34" charset="0"/>
                <a:ea typeface="Arial" pitchFamily="34" charset="-122"/>
                <a:cs typeface="Arial" pitchFamily="34" charset="-120"/>
              </a:rPr>
              <a:t>3</a:t>
            </a:r>
            <a:endParaRPr lang="en-US" sz="1500" dirty="0"/>
          </a:p>
        </p:txBody>
      </p:sp>
      <p:sp>
        <p:nvSpPr>
          <p:cNvPr id="14" name="Text 11"/>
          <p:cNvSpPr/>
          <p:nvPr/>
        </p:nvSpPr>
        <p:spPr>
          <a:xfrm>
            <a:off x="1234440" y="4005072"/>
            <a:ext cx="2651760" cy="411480"/>
          </a:xfrm>
          <a:prstGeom prst="rect">
            <a:avLst/>
          </a:prstGeom>
          <a:noFill/>
          <a:ln/>
        </p:spPr>
        <p:txBody>
          <a:bodyPr wrap="square" lIns="0" tIns="0" rIns="0" bIns="0" rtlCol="0" anchor="t"/>
          <a:lstStyle/>
          <a:p>
            <a:pPr algn="l" indent="0" marL="0">
              <a:buNone/>
            </a:pPr>
            <a:r>
              <a:rPr lang="en-US" sz="1700" b="1" dirty="0">
                <a:solidFill>
                  <a:srgbClr val="0F172A"/>
                </a:solidFill>
                <a:latin typeface="Arial" pitchFamily="34" charset="0"/>
                <a:ea typeface="Arial" pitchFamily="34" charset="-122"/>
                <a:cs typeface="Arial" pitchFamily="34" charset="-120"/>
              </a:rPr>
              <a:t>Add your domain</a:t>
            </a:r>
            <a:endParaRPr lang="en-US" sz="1500" dirty="0"/>
          </a:p>
        </p:txBody>
      </p:sp>
      <p:sp>
        <p:nvSpPr>
          <p:cNvPr id="15" name="Text 12"/>
          <p:cNvSpPr/>
          <p:nvPr/>
        </p:nvSpPr>
        <p:spPr>
          <a:xfrm>
            <a:off x="4023360" y="4023360"/>
            <a:ext cx="7525512" cy="685800"/>
          </a:xfrm>
          <a:prstGeom prst="rect">
            <a:avLst/>
          </a:prstGeom>
          <a:noFill/>
          <a:ln/>
        </p:spPr>
        <p:txBody>
          <a:bodyPr wrap="square" lIns="0" tIns="0" rIns="0" bIns="0" rtlCol="0" anchor="t"/>
          <a:lstStyle/>
          <a:p>
            <a:pPr algn="l" indent="0" marL="0">
              <a:buNone/>
            </a:pPr>
            <a:r>
              <a:rPr lang="en-US" sz="1500" dirty="0">
                <a:solidFill>
                  <a:srgbClr val="64748B"/>
                </a:solidFill>
                <a:latin typeface="Arial" pitchFamily="34" charset="0"/>
                <a:ea typeface="Arial" pitchFamily="34" charset="-122"/>
                <a:cs typeface="Arial" pitchFamily="34" charset="-120"/>
              </a:rPr>
              <a:t>Route 53 for DNS; Amplify provisions and renews the HTTPS certificate for you.</a:t>
            </a:r>
            <a:endParaRPr lang="en-US" sz="1500" dirty="0"/>
          </a:p>
        </p:txBody>
      </p:sp>
      <p:sp>
        <p:nvSpPr>
          <p:cNvPr id="16" name="Shape 13"/>
          <p:cNvSpPr/>
          <p:nvPr/>
        </p:nvSpPr>
        <p:spPr>
          <a:xfrm>
            <a:off x="640080" y="4773168"/>
            <a:ext cx="10911535" cy="12802"/>
          </a:xfrm>
          <a:prstGeom prst="rect">
            <a:avLst/>
          </a:prstGeom>
          <a:solidFill>
            <a:srgbClr val="DDE5F2"/>
          </a:solidFill>
          <a:ln/>
        </p:spPr>
      </p:sp>
      <p:sp>
        <p:nvSpPr>
          <p:cNvPr id="17" name="Text 14"/>
          <p:cNvSpPr/>
          <p:nvPr/>
        </p:nvSpPr>
        <p:spPr>
          <a:xfrm>
            <a:off x="640080" y="4928616"/>
            <a:ext cx="457200" cy="457200"/>
          </a:xfrm>
          <a:prstGeom prst="rect">
            <a:avLst/>
          </a:prstGeom>
          <a:noFill/>
          <a:ln/>
        </p:spPr>
        <p:txBody>
          <a:bodyPr wrap="square" lIns="0" tIns="0" rIns="0" bIns="0" rtlCol="0" anchor="t"/>
          <a:lstStyle/>
          <a:p>
            <a:pPr algn="l" indent="0" marL="0">
              <a:buNone/>
            </a:pPr>
            <a:r>
              <a:rPr lang="en-US" sz="2600" b="1" dirty="0">
                <a:solidFill>
                  <a:srgbClr val="1D4ED8"/>
                </a:solidFill>
                <a:latin typeface="Arial" pitchFamily="34" charset="0"/>
                <a:ea typeface="Arial" pitchFamily="34" charset="-122"/>
                <a:cs typeface="Arial" pitchFamily="34" charset="-120"/>
              </a:rPr>
              <a:t>4</a:t>
            </a:r>
            <a:endParaRPr lang="en-US" sz="1500" dirty="0"/>
          </a:p>
        </p:txBody>
      </p:sp>
      <p:sp>
        <p:nvSpPr>
          <p:cNvPr id="18" name="Text 15"/>
          <p:cNvSpPr/>
          <p:nvPr/>
        </p:nvSpPr>
        <p:spPr>
          <a:xfrm>
            <a:off x="1234440" y="4956048"/>
            <a:ext cx="2651760" cy="411480"/>
          </a:xfrm>
          <a:prstGeom prst="rect">
            <a:avLst/>
          </a:prstGeom>
          <a:noFill/>
          <a:ln/>
        </p:spPr>
        <p:txBody>
          <a:bodyPr wrap="square" lIns="0" tIns="0" rIns="0" bIns="0" rtlCol="0" anchor="t"/>
          <a:lstStyle/>
          <a:p>
            <a:pPr algn="l" indent="0" marL="0">
              <a:buNone/>
            </a:pPr>
            <a:r>
              <a:rPr lang="en-US" sz="1700" b="1" dirty="0">
                <a:solidFill>
                  <a:srgbClr val="0F172A"/>
                </a:solidFill>
                <a:latin typeface="Arial" pitchFamily="34" charset="0"/>
                <a:ea typeface="Arial" pitchFamily="34" charset="-122"/>
                <a:cs typeface="Arial" pitchFamily="34" charset="-120"/>
              </a:rPr>
              <a:t>Then trust nothing</a:t>
            </a:r>
            <a:endParaRPr lang="en-US" sz="1500" dirty="0"/>
          </a:p>
        </p:txBody>
      </p:sp>
      <p:sp>
        <p:nvSpPr>
          <p:cNvPr id="19" name="Text 16"/>
          <p:cNvSpPr/>
          <p:nvPr/>
        </p:nvSpPr>
        <p:spPr>
          <a:xfrm>
            <a:off x="4023360" y="4974336"/>
            <a:ext cx="7525512" cy="685800"/>
          </a:xfrm>
          <a:prstGeom prst="rect">
            <a:avLst/>
          </a:prstGeom>
          <a:noFill/>
          <a:ln/>
        </p:spPr>
        <p:txBody>
          <a:bodyPr wrap="square" lIns="0" tIns="0" rIns="0" bIns="0" rtlCol="0" anchor="t"/>
          <a:lstStyle/>
          <a:p>
            <a:pPr algn="l" indent="0" marL="0">
              <a:buNone/>
            </a:pPr>
            <a:r>
              <a:rPr lang="en-US" sz="1500" dirty="0">
                <a:solidFill>
                  <a:srgbClr val="64748B"/>
                </a:solidFill>
                <a:latin typeface="Arial" pitchFamily="34" charset="0"/>
                <a:ea typeface="Arial" pitchFamily="34" charset="-122"/>
                <a:cs typeface="Arial" pitchFamily="34" charset="-120"/>
              </a:rPr>
              <a:t>Verify from the outside, like an attacker would. My rate limiter passed every local test — and never fired once in production.</a:t>
            </a:r>
            <a:endParaRPr lang="en-US" sz="1500" dirty="0"/>
          </a:p>
        </p:txBody>
      </p:sp>
      <p:sp>
        <p:nvSpPr>
          <p:cNvPr id="20" name="Shape 17"/>
          <p:cNvSpPr/>
          <p:nvPr/>
        </p:nvSpPr>
        <p:spPr>
          <a:xfrm>
            <a:off x="640080" y="5724144"/>
            <a:ext cx="10911535" cy="12802"/>
          </a:xfrm>
          <a:prstGeom prst="rect">
            <a:avLst/>
          </a:prstGeom>
          <a:solidFill>
            <a:srgbClr val="DDE5F2"/>
          </a:solidFill>
          <a:ln/>
        </p:spPr>
      </p:sp>
      <p:sp>
        <p:nvSpPr>
          <p:cNvPr id="21" name="Text 18"/>
          <p:cNvSpPr/>
          <p:nvPr/>
        </p:nvSpPr>
        <p:spPr>
          <a:xfrm>
            <a:off x="640080" y="5989320"/>
            <a:ext cx="10911535" cy="411480"/>
          </a:xfrm>
          <a:prstGeom prst="rect">
            <a:avLst/>
          </a:prstGeom>
          <a:noFill/>
          <a:ln/>
        </p:spPr>
        <p:txBody>
          <a:bodyPr wrap="square" lIns="0" tIns="0" rIns="0" bIns="0" rtlCol="0" anchor="t"/>
          <a:lstStyle/>
          <a:p>
            <a:pPr algn="ctr" indent="0" marL="0">
              <a:buNone/>
            </a:pPr>
            <a:r>
              <a:rPr lang="en-US" sz="1700" b="1" dirty="0">
                <a:solidFill>
                  <a:srgbClr val="0F172A"/>
                </a:solidFill>
                <a:latin typeface="Arial" pitchFamily="34" charset="0"/>
                <a:ea typeface="Arial" pitchFamily="34" charset="-122"/>
                <a:cs typeface="Arial" pitchFamily="34" charset="-120"/>
              </a:rPr>
              <a:t>Deploying this taught me more AWS than the practice exams.</a:t>
            </a:r>
            <a:endParaRPr lang="en-US" sz="1500" dirty="0"/>
          </a:p>
        </p:txBody>
      </p:sp>
      <p:sp>
        <p:nvSpPr>
          <p:cNvPr id="22" name="Text 19"/>
          <p:cNvSpPr/>
          <p:nvPr/>
        </p:nvSpPr>
        <p:spPr>
          <a:xfrm>
            <a:off x="11548872" y="6419088"/>
            <a:ext cx="365760" cy="274320"/>
          </a:xfrm>
          <a:prstGeom prst="rect">
            <a:avLst/>
          </a:prstGeom>
          <a:noFill/>
          <a:ln/>
        </p:spPr>
        <p:txBody>
          <a:bodyPr wrap="square" lIns="0" tIns="0" rIns="0" bIns="0" rtlCol="0" anchor="ctr"/>
          <a:lstStyle/>
          <a:p>
            <a:pPr algn="r" indent="0" marL="0">
              <a:buNone/>
            </a:pPr>
            <a:r>
              <a:rPr lang="en-US" sz="1400" dirty="0">
                <a:solidFill>
                  <a:srgbClr val="64748B"/>
                </a:solidFill>
                <a:latin typeface="Arial" pitchFamily="34" charset="0"/>
                <a:ea typeface="Arial" pitchFamily="34" charset="-122"/>
                <a:cs typeface="Arial" pitchFamily="34" charset="-120"/>
              </a:rPr>
              <a:t>8</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40080" y="502920"/>
            <a:ext cx="201168" cy="210312"/>
          </a:xfrm>
          <a:prstGeom prst="rect">
            <a:avLst/>
          </a:prstGeom>
        </p:spPr>
      </p:pic>
      <p:sp>
        <p:nvSpPr>
          <p:cNvPr id="3" name="Text 0"/>
          <p:cNvSpPr/>
          <p:nvPr>
            <p:ph idx="100" type="title" hasCustomPrompt="1"/>
          </p:nvPr>
        </p:nvSpPr>
        <p:spPr>
          <a:xfrm>
            <a:off x="640080" y="841248"/>
            <a:ext cx="10908792" cy="914400"/>
          </a:xfrm>
          <a:prstGeom prst="rect">
            <a:avLst/>
          </a:prstGeom>
          <a:noFill/>
          <a:ln/>
        </p:spPr>
        <p:txBody>
          <a:bodyPr wrap="square" lIns="0" tIns="0" rIns="0" bIns="0" rtlCol="0"/>
          <a:lstStyle/>
          <a:p>
            <a:pPr algn="l" indent="0" marL="0">
              <a:buNone/>
            </a:pPr>
            <a:r>
              <a:rPr lang="en-US" sz="3000" b="1" dirty="0">
                <a:solidFill>
                  <a:srgbClr val="E8EEFC"/>
                </a:solidFill>
                <a:latin typeface="Arial" pitchFamily="34" charset="0"/>
                <a:ea typeface="Arial" pitchFamily="34" charset="-122"/>
                <a:cs typeface="Arial" pitchFamily="34" charset="-120"/>
              </a:rPr>
              <a:t>Closing thoughts: three things worth stealing</a:t>
            </a:r>
            <a:endParaRPr lang="en-US" sz="3000" dirty="0"/>
          </a:p>
        </p:txBody>
      </p:sp>
      <p:sp>
        <p:nvSpPr>
          <p:cNvPr id="4" name="Text 1"/>
          <p:cNvSpPr/>
          <p:nvPr/>
        </p:nvSpPr>
        <p:spPr>
          <a:xfrm>
            <a:off x="640080" y="2194560"/>
            <a:ext cx="6949440" cy="384048"/>
          </a:xfrm>
          <a:prstGeom prst="rect">
            <a:avLst/>
          </a:prstGeom>
          <a:noFill/>
          <a:ln/>
        </p:spPr>
        <p:txBody>
          <a:bodyPr wrap="square" lIns="0" tIns="0" rIns="0" bIns="0" rtlCol="0" anchor="t"/>
          <a:lstStyle/>
          <a:p>
            <a:pPr algn="l" indent="0" marL="0">
              <a:buNone/>
            </a:pPr>
            <a:r>
              <a:rPr lang="en-US" sz="2000" b="1" dirty="0">
                <a:solidFill>
                  <a:srgbClr val="E8EEFC"/>
                </a:solidFill>
                <a:latin typeface="Arial" pitchFamily="34" charset="0"/>
                <a:ea typeface="Arial" pitchFamily="34" charset="-122"/>
                <a:cs typeface="Arial" pitchFamily="34" charset="-120"/>
              </a:rPr>
              <a:t>Write the spec before the prompt</a:t>
            </a:r>
            <a:endParaRPr lang="en-US" sz="1500" dirty="0"/>
          </a:p>
        </p:txBody>
      </p:sp>
      <p:sp>
        <p:nvSpPr>
          <p:cNvPr id="5" name="Text 2"/>
          <p:cNvSpPr/>
          <p:nvPr/>
        </p:nvSpPr>
        <p:spPr>
          <a:xfrm>
            <a:off x="640080" y="2615184"/>
            <a:ext cx="6949440" cy="365760"/>
          </a:xfrm>
          <a:prstGeom prst="rect">
            <a:avLst/>
          </a:prstGeom>
          <a:noFill/>
          <a:ln/>
        </p:spPr>
        <p:txBody>
          <a:bodyPr wrap="square" lIns="0" tIns="0" rIns="0" bIns="0" rtlCol="0" anchor="t"/>
          <a:lstStyle/>
          <a:p>
            <a:pPr algn="l" indent="0" marL="0">
              <a:buNone/>
            </a:pPr>
            <a:r>
              <a:rPr lang="en-US" sz="1500" dirty="0">
                <a:solidFill>
                  <a:srgbClr val="9DB0D9"/>
                </a:solidFill>
                <a:latin typeface="Arial" pitchFamily="34" charset="0"/>
                <a:ea typeface="Arial" pitchFamily="34" charset="-122"/>
                <a:cs typeface="Arial" pitchFamily="34" charset="-120"/>
              </a:rPr>
              <a:t>the discipline, not the model, is what made this work</a:t>
            </a:r>
            <a:endParaRPr lang="en-US" sz="1500" dirty="0"/>
          </a:p>
        </p:txBody>
      </p:sp>
      <p:sp>
        <p:nvSpPr>
          <p:cNvPr id="6" name="Shape 3"/>
          <p:cNvSpPr/>
          <p:nvPr/>
        </p:nvSpPr>
        <p:spPr>
          <a:xfrm>
            <a:off x="640080" y="3108960"/>
            <a:ext cx="6949440" cy="12802"/>
          </a:xfrm>
          <a:prstGeom prst="rect">
            <a:avLst/>
          </a:prstGeom>
          <a:solidFill>
            <a:srgbClr val="24325C"/>
          </a:solidFill>
          <a:ln/>
        </p:spPr>
      </p:sp>
      <p:sp>
        <p:nvSpPr>
          <p:cNvPr id="7" name="Text 4"/>
          <p:cNvSpPr/>
          <p:nvPr/>
        </p:nvSpPr>
        <p:spPr>
          <a:xfrm>
            <a:off x="640080" y="3364992"/>
            <a:ext cx="6949440" cy="384048"/>
          </a:xfrm>
          <a:prstGeom prst="rect">
            <a:avLst/>
          </a:prstGeom>
          <a:noFill/>
          <a:ln/>
        </p:spPr>
        <p:txBody>
          <a:bodyPr wrap="square" lIns="0" tIns="0" rIns="0" bIns="0" rtlCol="0" anchor="t"/>
          <a:lstStyle/>
          <a:p>
            <a:pPr algn="l" indent="0" marL="0">
              <a:buNone/>
            </a:pPr>
            <a:r>
              <a:rPr lang="en-US" sz="2000" b="1" dirty="0">
                <a:solidFill>
                  <a:srgbClr val="E8EEFC"/>
                </a:solidFill>
                <a:latin typeface="Arial" pitchFamily="34" charset="0"/>
                <a:ea typeface="Arial" pitchFamily="34" charset="-122"/>
                <a:cs typeface="Arial" pitchFamily="34" charset="-120"/>
              </a:rPr>
              <a:t>Publish what your model gets wrong</a:t>
            </a:r>
            <a:endParaRPr lang="en-US" sz="1500" dirty="0"/>
          </a:p>
        </p:txBody>
      </p:sp>
      <p:sp>
        <p:nvSpPr>
          <p:cNvPr id="8" name="Text 5"/>
          <p:cNvSpPr/>
          <p:nvPr/>
        </p:nvSpPr>
        <p:spPr>
          <a:xfrm>
            <a:off x="640080" y="3785616"/>
            <a:ext cx="6949440" cy="365760"/>
          </a:xfrm>
          <a:prstGeom prst="rect">
            <a:avLst/>
          </a:prstGeom>
          <a:noFill/>
          <a:ln/>
        </p:spPr>
        <p:txBody>
          <a:bodyPr wrap="square" lIns="0" tIns="0" rIns="0" bIns="0" rtlCol="0" anchor="t"/>
          <a:lstStyle/>
          <a:p>
            <a:pPr algn="l" indent="0" marL="0">
              <a:buNone/>
            </a:pPr>
            <a:r>
              <a:rPr lang="en-US" sz="1500" dirty="0">
                <a:solidFill>
                  <a:srgbClr val="9DB0D9"/>
                </a:solidFill>
                <a:latin typeface="Arial" pitchFamily="34" charset="0"/>
                <a:ea typeface="Arial" pitchFamily="34" charset="-122"/>
                <a:cs typeface="Arial" pitchFamily="34" charset="-120"/>
              </a:rPr>
              <a:t>the awkward numbers bought more trust than the good ones</a:t>
            </a:r>
            <a:endParaRPr lang="en-US" sz="1500" dirty="0"/>
          </a:p>
        </p:txBody>
      </p:sp>
      <p:sp>
        <p:nvSpPr>
          <p:cNvPr id="9" name="Shape 6"/>
          <p:cNvSpPr/>
          <p:nvPr/>
        </p:nvSpPr>
        <p:spPr>
          <a:xfrm>
            <a:off x="640080" y="4279392"/>
            <a:ext cx="6949440" cy="12802"/>
          </a:xfrm>
          <a:prstGeom prst="rect">
            <a:avLst/>
          </a:prstGeom>
          <a:solidFill>
            <a:srgbClr val="24325C"/>
          </a:solidFill>
          <a:ln/>
        </p:spPr>
      </p:sp>
      <p:sp>
        <p:nvSpPr>
          <p:cNvPr id="10" name="Text 7"/>
          <p:cNvSpPr/>
          <p:nvPr/>
        </p:nvSpPr>
        <p:spPr>
          <a:xfrm>
            <a:off x="640080" y="4535424"/>
            <a:ext cx="6949440" cy="384048"/>
          </a:xfrm>
          <a:prstGeom prst="rect">
            <a:avLst/>
          </a:prstGeom>
          <a:noFill/>
          <a:ln/>
        </p:spPr>
        <p:txBody>
          <a:bodyPr wrap="square" lIns="0" tIns="0" rIns="0" bIns="0" rtlCol="0" anchor="t"/>
          <a:lstStyle/>
          <a:p>
            <a:pPr algn="l" indent="0" marL="0">
              <a:buNone/>
            </a:pPr>
            <a:r>
              <a:rPr lang="en-US" sz="2000" b="1" dirty="0">
                <a:solidFill>
                  <a:srgbClr val="E8EEFC"/>
                </a:solidFill>
                <a:latin typeface="Arial" pitchFamily="34" charset="0"/>
                <a:ea typeface="Arial" pitchFamily="34" charset="-122"/>
                <a:cs typeface="Arial" pitchFamily="34" charset="-120"/>
              </a:rPr>
              <a:t>Pick tools that make rigor fun — mine was BMAD</a:t>
            </a:r>
            <a:endParaRPr lang="en-US" sz="1500" dirty="0"/>
          </a:p>
        </p:txBody>
      </p:sp>
      <p:sp>
        <p:nvSpPr>
          <p:cNvPr id="11" name="Text 8"/>
          <p:cNvSpPr/>
          <p:nvPr/>
        </p:nvSpPr>
        <p:spPr>
          <a:xfrm>
            <a:off x="640080" y="4956048"/>
            <a:ext cx="6949440" cy="365760"/>
          </a:xfrm>
          <a:prstGeom prst="rect">
            <a:avLst/>
          </a:prstGeom>
          <a:noFill/>
          <a:ln/>
        </p:spPr>
        <p:txBody>
          <a:bodyPr wrap="square" lIns="0" tIns="0" rIns="0" bIns="0" rtlCol="0" anchor="t"/>
          <a:lstStyle/>
          <a:p>
            <a:pPr algn="l" indent="0" marL="0">
              <a:buNone/>
            </a:pPr>
            <a:r>
              <a:rPr lang="en-US" sz="1500" dirty="0">
                <a:solidFill>
                  <a:srgbClr val="9DB0D9"/>
                </a:solidFill>
                <a:latin typeface="Arial" pitchFamily="34" charset="0"/>
                <a:ea typeface="Arial" pitchFamily="34" charset="-122"/>
                <a:cs typeface="Arial" pitchFamily="34" charset="-120"/>
              </a:rPr>
              <a:t>fun is load-bearing — review you enjoy is review you run</a:t>
            </a:r>
            <a:endParaRPr lang="en-US" sz="1500" dirty="0"/>
          </a:p>
        </p:txBody>
      </p:sp>
      <p:sp>
        <p:nvSpPr>
          <p:cNvPr id="12" name="Shape 9"/>
          <p:cNvSpPr/>
          <p:nvPr/>
        </p:nvSpPr>
        <p:spPr>
          <a:xfrm>
            <a:off x="640080" y="5449824"/>
            <a:ext cx="6949440" cy="12802"/>
          </a:xfrm>
          <a:prstGeom prst="rect">
            <a:avLst/>
          </a:prstGeom>
          <a:solidFill>
            <a:srgbClr val="24325C"/>
          </a:solidFill>
          <a:ln/>
        </p:spPr>
      </p:sp>
      <p:sp>
        <p:nvSpPr>
          <p:cNvPr id="13" name="Text 10"/>
          <p:cNvSpPr/>
          <p:nvPr/>
        </p:nvSpPr>
        <p:spPr>
          <a:xfrm>
            <a:off x="8092440" y="2194560"/>
            <a:ext cx="3456432" cy="3108960"/>
          </a:xfrm>
          <a:prstGeom prst="roundRect">
            <a:avLst>
              <a:gd name="adj" fmla="val 2353"/>
            </a:avLst>
          </a:prstGeom>
          <a:solidFill>
            <a:srgbClr val="101A38"/>
          </a:solidFill>
          <a:ln w="12700">
            <a:solidFill>
              <a:srgbClr val="24325C"/>
            </a:solidFill>
          </a:ln>
        </p:spPr>
        <p:txBody>
          <a:bodyPr wrap="square" lIns="228600" tIns="228600" rIns="228600" bIns="228600" rtlCol="0" anchor="t"/>
          <a:lstStyle/>
          <a:p>
            <a:pPr algn="l" indent="0" marL="0">
              <a:buNone/>
            </a:pPr>
            <a:r>
              <a:rPr lang="en-US" sz="4400" b="1" dirty="0">
                <a:solidFill>
                  <a:srgbClr val="FFFFFF"/>
                </a:solidFill>
                <a:latin typeface="Arial" pitchFamily="34" charset="0"/>
                <a:ea typeface="Arial" pitchFamily="34" charset="-122"/>
                <a:cs typeface="Arial" pitchFamily="34" charset="-120"/>
              </a:rPr>
              <a:t>2034</a:t>
            </a:r>
            <a:endParaRPr lang="en-US" sz="1500" dirty="0"/>
          </a:p>
          <a:p>
            <a:pPr algn="l" indent="0" marL="0">
              <a:buNone/>
            </a:pPr>
            <a:endParaRPr lang="en-US" sz="1500" dirty="0"/>
          </a:p>
          <a:p>
            <a:pPr algn="l" indent="0" marL="0">
              <a:buNone/>
            </a:pPr>
            <a:r>
              <a:rPr lang="en-US" sz="1500" dirty="0">
                <a:solidFill>
                  <a:srgbClr val="9DB0D9"/>
                </a:solidFill>
                <a:latin typeface="Arial" pitchFamily="34" charset="0"/>
                <a:ea typeface="Arial" pitchFamily="34" charset="-122"/>
                <a:cs typeface="Arial" pitchFamily="34" charset="-120"/>
              </a:rPr>
              <a:t>I re-run the back-test on the 2024–34 decade and publish how my ratings aged.</a:t>
            </a:r>
            <a:endParaRPr lang="en-US" sz="1500" dirty="0"/>
          </a:p>
          <a:p>
            <a:pPr algn="l" indent="0" marL="0">
              <a:buNone/>
            </a:pPr>
            <a:endParaRPr lang="en-US" sz="1500" dirty="0"/>
          </a:p>
          <a:p>
            <a:pPr algn="l" indent="0" marL="0">
              <a:buNone/>
            </a:pPr>
            <a:r>
              <a:rPr lang="en-US" sz="1500" b="1" i="1" dirty="0">
                <a:solidFill>
                  <a:srgbClr val="6EE7B7"/>
                </a:solidFill>
                <a:latin typeface="Arial" pitchFamily="34" charset="0"/>
                <a:ea typeface="Arial" pitchFamily="34" charset="-122"/>
                <a:cs typeface="Arial" pitchFamily="34" charset="-120"/>
              </a:rPr>
              <a:t>Ratings agencies should eat their own cooking.</a:t>
            </a:r>
            <a:endParaRPr lang="en-US" sz="1500" dirty="0"/>
          </a:p>
        </p:txBody>
      </p:sp>
      <p:sp>
        <p:nvSpPr>
          <p:cNvPr id="14" name="Shape 11"/>
          <p:cNvSpPr/>
          <p:nvPr/>
        </p:nvSpPr>
        <p:spPr>
          <a:xfrm>
            <a:off x="640080" y="5806440"/>
            <a:ext cx="10911535" cy="12802"/>
          </a:xfrm>
          <a:prstGeom prst="rect">
            <a:avLst/>
          </a:prstGeom>
          <a:solidFill>
            <a:srgbClr val="4F74F0"/>
          </a:solidFill>
          <a:ln/>
        </p:spPr>
      </p:sp>
      <p:sp>
        <p:nvSpPr>
          <p:cNvPr id="15" name="Text 12"/>
          <p:cNvSpPr/>
          <p:nvPr/>
        </p:nvSpPr>
        <p:spPr>
          <a:xfrm>
            <a:off x="640080" y="6035040"/>
            <a:ext cx="10911535" cy="411480"/>
          </a:xfrm>
          <a:prstGeom prst="rect">
            <a:avLst/>
          </a:prstGeom>
          <a:noFill/>
          <a:ln/>
        </p:spPr>
        <p:txBody>
          <a:bodyPr wrap="square" lIns="0" tIns="0" rIns="0" bIns="0" rtlCol="0" anchor="t"/>
          <a:lstStyle/>
          <a:p>
            <a:pPr algn="ctr" indent="0" marL="0">
              <a:buNone/>
            </a:pPr>
            <a:r>
              <a:rPr lang="en-US" sz="1500" dirty="0">
                <a:solidFill>
                  <a:srgbClr val="E8EEFC"/>
                </a:solidFill>
                <a:latin typeface="Arial" pitchFamily="34" charset="0"/>
                <a:ea typeface="Arial" pitchFamily="34" charset="-122"/>
                <a:cs typeface="Arial" pitchFamily="34" charset="-120"/>
              </a:rPr>
              <a:t>Thanks — questions?    ashleylibasci.com  ·  github.com/ashleylibasci/careerstar</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40080" y="502920"/>
            <a:ext cx="173736" cy="182880"/>
          </a:xfrm>
          <a:prstGeom prst="rect">
            <a:avLst/>
          </a:prstGeom>
        </p:spPr>
      </p:pic>
      <p:sp>
        <p:nvSpPr>
          <p:cNvPr id="3" name="Text 0"/>
          <p:cNvSpPr/>
          <p:nvPr>
            <p:ph idx="100" type="body" hasCustomPrompt="1"/>
          </p:nvPr>
        </p:nvSpPr>
        <p:spPr>
          <a:xfrm>
            <a:off x="896112" y="475488"/>
            <a:ext cx="10515600" cy="292608"/>
          </a:xfrm>
          <a:prstGeom prst="rect">
            <a:avLst/>
          </a:prstGeom>
          <a:noFill/>
          <a:ln/>
        </p:spPr>
        <p:txBody>
          <a:bodyPr wrap="square" lIns="0" tIns="0" rIns="0" bIns="0" rtlCol="0"/>
          <a:lstStyle/>
          <a:p>
            <a:pPr indent="0" marL="0">
              <a:buNone/>
            </a:pPr>
            <a:r>
              <a:rPr lang="en-US" sz="1400" b="1" spc="250" kern="0" dirty="0">
                <a:solidFill>
                  <a:srgbClr val="1D4ED8"/>
                </a:solidFill>
                <a:latin typeface="Arial" pitchFamily="34" charset="0"/>
                <a:ea typeface="Arial" pitchFamily="34" charset="-122"/>
                <a:cs typeface="Arial" pitchFamily="34" charset="-120"/>
              </a:rPr>
              <a:t>BACKUP · WAR STORY</a:t>
            </a:r>
            <a:endParaRPr lang="en-US" sz="1400" dirty="0"/>
          </a:p>
        </p:txBody>
      </p:sp>
      <p:sp>
        <p:nvSpPr>
          <p:cNvPr id="4" name="Text 0"/>
          <p:cNvSpPr/>
          <p:nvPr>
            <p:ph idx="101" type="title" hasCustomPrompt="1"/>
          </p:nvPr>
        </p:nvSpPr>
        <p:spPr>
          <a:xfrm>
            <a:off x="640080" y="841248"/>
            <a:ext cx="10908792" cy="914400"/>
          </a:xfrm>
          <a:prstGeom prst="rect">
            <a:avLst/>
          </a:prstGeom>
          <a:noFill/>
          <a:ln/>
        </p:spPr>
        <p:txBody>
          <a:bodyPr wrap="square" lIns="0" tIns="0" rIns="0" bIns="0" rtlCol="0"/>
          <a:lstStyle/>
          <a:p>
            <a:pPr algn="l" indent="0" marL="0">
              <a:buNone/>
            </a:pPr>
            <a:r>
              <a:rPr lang="en-US" sz="3000" b="1" dirty="0">
                <a:solidFill>
                  <a:srgbClr val="0F172A"/>
                </a:solidFill>
                <a:latin typeface="Arial" pitchFamily="34" charset="0"/>
                <a:ea typeface="Arial" pitchFamily="34" charset="-122"/>
                <a:cs typeface="Arial" pitchFamily="34" charset="-120"/>
              </a:rPr>
              <a:t>The rate limiter that never fired</a:t>
            </a:r>
            <a:endParaRPr lang="en-US" sz="3000" dirty="0"/>
          </a:p>
        </p:txBody>
      </p:sp>
      <p:sp>
        <p:nvSpPr>
          <p:cNvPr id="5" name="Text 2"/>
          <p:cNvSpPr/>
          <p:nvPr/>
        </p:nvSpPr>
        <p:spPr>
          <a:xfrm>
            <a:off x="640080" y="2075688"/>
            <a:ext cx="457200" cy="457200"/>
          </a:xfrm>
          <a:prstGeom prst="rect">
            <a:avLst/>
          </a:prstGeom>
          <a:noFill/>
          <a:ln/>
        </p:spPr>
        <p:txBody>
          <a:bodyPr wrap="square" lIns="0" tIns="0" rIns="0" bIns="0" rtlCol="0" anchor="t"/>
          <a:lstStyle/>
          <a:p>
            <a:pPr algn="l" indent="0" marL="0">
              <a:buNone/>
            </a:pPr>
            <a:r>
              <a:rPr lang="en-US" sz="2600" b="1" dirty="0">
                <a:solidFill>
                  <a:srgbClr val="1D4ED8"/>
                </a:solidFill>
                <a:latin typeface="Arial" pitchFamily="34" charset="0"/>
                <a:ea typeface="Arial" pitchFamily="34" charset="-122"/>
                <a:cs typeface="Arial" pitchFamily="34" charset="-120"/>
              </a:rPr>
              <a:t>1</a:t>
            </a:r>
            <a:endParaRPr lang="en-US" sz="1500" dirty="0"/>
          </a:p>
        </p:txBody>
      </p:sp>
      <p:sp>
        <p:nvSpPr>
          <p:cNvPr id="6" name="Text 3"/>
          <p:cNvSpPr/>
          <p:nvPr/>
        </p:nvSpPr>
        <p:spPr>
          <a:xfrm>
            <a:off x="1234440" y="2103120"/>
            <a:ext cx="2651760" cy="411480"/>
          </a:xfrm>
          <a:prstGeom prst="rect">
            <a:avLst/>
          </a:prstGeom>
          <a:noFill/>
          <a:ln/>
        </p:spPr>
        <p:txBody>
          <a:bodyPr wrap="square" lIns="0" tIns="0" rIns="0" bIns="0" rtlCol="0" anchor="t"/>
          <a:lstStyle/>
          <a:p>
            <a:pPr algn="l" indent="0" marL="0">
              <a:buNone/>
            </a:pPr>
            <a:r>
              <a:rPr lang="en-US" sz="1700" b="1" dirty="0">
                <a:solidFill>
                  <a:srgbClr val="0F172A"/>
                </a:solidFill>
                <a:latin typeface="Arial" pitchFamily="34" charset="0"/>
                <a:ea typeface="Arial" pitchFamily="34" charset="-122"/>
                <a:cs typeface="Arial" pitchFamily="34" charset="-120"/>
              </a:rPr>
              <a:t>What I did</a:t>
            </a:r>
            <a:endParaRPr lang="en-US" sz="1500" dirty="0"/>
          </a:p>
        </p:txBody>
      </p:sp>
      <p:sp>
        <p:nvSpPr>
          <p:cNvPr id="7" name="Text 4"/>
          <p:cNvSpPr/>
          <p:nvPr/>
        </p:nvSpPr>
        <p:spPr>
          <a:xfrm>
            <a:off x="4023360" y="2121408"/>
            <a:ext cx="7525512" cy="685800"/>
          </a:xfrm>
          <a:prstGeom prst="rect">
            <a:avLst/>
          </a:prstGeom>
          <a:noFill/>
          <a:ln/>
        </p:spPr>
        <p:txBody>
          <a:bodyPr wrap="square" lIns="0" tIns="0" rIns="0" bIns="0" rtlCol="0" anchor="t"/>
          <a:lstStyle/>
          <a:p>
            <a:pPr algn="l" indent="0" marL="0">
              <a:buNone/>
            </a:pPr>
            <a:r>
              <a:rPr lang="en-US" sz="1500" dirty="0">
                <a:solidFill>
                  <a:srgbClr val="64748B"/>
                </a:solidFill>
                <a:latin typeface="Arial" pitchFamily="34" charset="0"/>
                <a:ea typeface="Arial" pitchFamily="34" charset="-122"/>
                <a:cs typeface="Arial" pitchFamily="34" charset="-120"/>
              </a:rPr>
              <a:t>Keyed rate limits on the last X-Forwarded-For hop — the textbook advice, since everything left of it is forgeable.</a:t>
            </a:r>
            <a:endParaRPr lang="en-US" sz="1500" dirty="0"/>
          </a:p>
        </p:txBody>
      </p:sp>
      <p:sp>
        <p:nvSpPr>
          <p:cNvPr id="8" name="Shape 5"/>
          <p:cNvSpPr/>
          <p:nvPr/>
        </p:nvSpPr>
        <p:spPr>
          <a:xfrm>
            <a:off x="640080" y="2871216"/>
            <a:ext cx="10911535" cy="12802"/>
          </a:xfrm>
          <a:prstGeom prst="rect">
            <a:avLst/>
          </a:prstGeom>
          <a:solidFill>
            <a:srgbClr val="DDE5F2"/>
          </a:solidFill>
          <a:ln/>
        </p:spPr>
      </p:sp>
      <p:sp>
        <p:nvSpPr>
          <p:cNvPr id="9" name="Text 6"/>
          <p:cNvSpPr/>
          <p:nvPr/>
        </p:nvSpPr>
        <p:spPr>
          <a:xfrm>
            <a:off x="640080" y="3026664"/>
            <a:ext cx="457200" cy="457200"/>
          </a:xfrm>
          <a:prstGeom prst="rect">
            <a:avLst/>
          </a:prstGeom>
          <a:noFill/>
          <a:ln/>
        </p:spPr>
        <p:txBody>
          <a:bodyPr wrap="square" lIns="0" tIns="0" rIns="0" bIns="0" rtlCol="0" anchor="t"/>
          <a:lstStyle/>
          <a:p>
            <a:pPr algn="l" indent="0" marL="0">
              <a:buNone/>
            </a:pPr>
            <a:r>
              <a:rPr lang="en-US" sz="2600" b="1" dirty="0">
                <a:solidFill>
                  <a:srgbClr val="1D4ED8"/>
                </a:solidFill>
                <a:latin typeface="Arial" pitchFamily="34" charset="0"/>
                <a:ea typeface="Arial" pitchFamily="34" charset="-122"/>
                <a:cs typeface="Arial" pitchFamily="34" charset="-120"/>
              </a:rPr>
              <a:t>2</a:t>
            </a:r>
            <a:endParaRPr lang="en-US" sz="1500" dirty="0"/>
          </a:p>
        </p:txBody>
      </p:sp>
      <p:sp>
        <p:nvSpPr>
          <p:cNvPr id="10" name="Text 7"/>
          <p:cNvSpPr/>
          <p:nvPr/>
        </p:nvSpPr>
        <p:spPr>
          <a:xfrm>
            <a:off x="1234440" y="3054096"/>
            <a:ext cx="2651760" cy="411480"/>
          </a:xfrm>
          <a:prstGeom prst="rect">
            <a:avLst/>
          </a:prstGeom>
          <a:noFill/>
          <a:ln/>
        </p:spPr>
        <p:txBody>
          <a:bodyPr wrap="square" lIns="0" tIns="0" rIns="0" bIns="0" rtlCol="0" anchor="t"/>
          <a:lstStyle/>
          <a:p>
            <a:pPr algn="l" indent="0" marL="0">
              <a:buNone/>
            </a:pPr>
            <a:r>
              <a:rPr lang="en-US" sz="1700" b="1" dirty="0">
                <a:solidFill>
                  <a:srgbClr val="0F172A"/>
                </a:solidFill>
                <a:latin typeface="Arial" pitchFamily="34" charset="0"/>
                <a:ea typeface="Arial" pitchFamily="34" charset="-122"/>
                <a:cs typeface="Arial" pitchFamily="34" charset="-120"/>
              </a:rPr>
              <a:t>What production did</a:t>
            </a:r>
            <a:endParaRPr lang="en-US" sz="1500" dirty="0"/>
          </a:p>
        </p:txBody>
      </p:sp>
      <p:sp>
        <p:nvSpPr>
          <p:cNvPr id="11" name="Text 8"/>
          <p:cNvSpPr/>
          <p:nvPr/>
        </p:nvSpPr>
        <p:spPr>
          <a:xfrm>
            <a:off x="4023360" y="3072384"/>
            <a:ext cx="7525512" cy="685800"/>
          </a:xfrm>
          <a:prstGeom prst="rect">
            <a:avLst/>
          </a:prstGeom>
          <a:noFill/>
          <a:ln/>
        </p:spPr>
        <p:txBody>
          <a:bodyPr wrap="square" lIns="0" tIns="0" rIns="0" bIns="0" rtlCol="0" anchor="t"/>
          <a:lstStyle/>
          <a:p>
            <a:pPr algn="l" indent="0" marL="0">
              <a:buNone/>
            </a:pPr>
            <a:r>
              <a:rPr lang="en-US" sz="1500" dirty="0">
                <a:solidFill>
                  <a:srgbClr val="64748B"/>
                </a:solidFill>
                <a:latin typeface="Arial" pitchFamily="34" charset="0"/>
                <a:ea typeface="Arial" pitchFamily="34" charset="-122"/>
                <a:cs typeface="Arial" pitchFamily="34" charset="-120"/>
              </a:rPr>
              <a:t>30 rapid requests. Zero rate-limit hits. Every request got a fresh bucket.</a:t>
            </a:r>
            <a:endParaRPr lang="en-US" sz="1500" dirty="0"/>
          </a:p>
        </p:txBody>
      </p:sp>
      <p:sp>
        <p:nvSpPr>
          <p:cNvPr id="12" name="Shape 9"/>
          <p:cNvSpPr/>
          <p:nvPr/>
        </p:nvSpPr>
        <p:spPr>
          <a:xfrm>
            <a:off x="640080" y="3822192"/>
            <a:ext cx="10911535" cy="12802"/>
          </a:xfrm>
          <a:prstGeom prst="rect">
            <a:avLst/>
          </a:prstGeom>
          <a:solidFill>
            <a:srgbClr val="DDE5F2"/>
          </a:solidFill>
          <a:ln/>
        </p:spPr>
      </p:sp>
      <p:sp>
        <p:nvSpPr>
          <p:cNvPr id="13" name="Text 10"/>
          <p:cNvSpPr/>
          <p:nvPr/>
        </p:nvSpPr>
        <p:spPr>
          <a:xfrm>
            <a:off x="640080" y="3977640"/>
            <a:ext cx="457200" cy="457200"/>
          </a:xfrm>
          <a:prstGeom prst="rect">
            <a:avLst/>
          </a:prstGeom>
          <a:noFill/>
          <a:ln/>
        </p:spPr>
        <p:txBody>
          <a:bodyPr wrap="square" lIns="0" tIns="0" rIns="0" bIns="0" rtlCol="0" anchor="t"/>
          <a:lstStyle/>
          <a:p>
            <a:pPr algn="l" indent="0" marL="0">
              <a:buNone/>
            </a:pPr>
            <a:r>
              <a:rPr lang="en-US" sz="2600" b="1" dirty="0">
                <a:solidFill>
                  <a:srgbClr val="1D4ED8"/>
                </a:solidFill>
                <a:latin typeface="Arial" pitchFamily="34" charset="0"/>
                <a:ea typeface="Arial" pitchFamily="34" charset="-122"/>
                <a:cs typeface="Arial" pitchFamily="34" charset="-120"/>
              </a:rPr>
              <a:t>3</a:t>
            </a:r>
            <a:endParaRPr lang="en-US" sz="1500" dirty="0"/>
          </a:p>
        </p:txBody>
      </p:sp>
      <p:sp>
        <p:nvSpPr>
          <p:cNvPr id="14" name="Text 11"/>
          <p:cNvSpPr/>
          <p:nvPr/>
        </p:nvSpPr>
        <p:spPr>
          <a:xfrm>
            <a:off x="1234440" y="4005072"/>
            <a:ext cx="2651760" cy="411480"/>
          </a:xfrm>
          <a:prstGeom prst="rect">
            <a:avLst/>
          </a:prstGeom>
          <a:noFill/>
          <a:ln/>
        </p:spPr>
        <p:txBody>
          <a:bodyPr wrap="square" lIns="0" tIns="0" rIns="0" bIns="0" rtlCol="0" anchor="t"/>
          <a:lstStyle/>
          <a:p>
            <a:pPr algn="l" indent="0" marL="0">
              <a:buNone/>
            </a:pPr>
            <a:r>
              <a:rPr lang="en-US" sz="1700" b="1" dirty="0">
                <a:solidFill>
                  <a:srgbClr val="0F172A"/>
                </a:solidFill>
                <a:latin typeface="Arial" pitchFamily="34" charset="0"/>
                <a:ea typeface="Arial" pitchFamily="34" charset="-122"/>
                <a:cs typeface="Arial" pitchFamily="34" charset="-120"/>
              </a:rPr>
              <a:t>Why</a:t>
            </a:r>
            <a:endParaRPr lang="en-US" sz="1500" dirty="0"/>
          </a:p>
        </p:txBody>
      </p:sp>
      <p:sp>
        <p:nvSpPr>
          <p:cNvPr id="15" name="Text 12"/>
          <p:cNvSpPr/>
          <p:nvPr/>
        </p:nvSpPr>
        <p:spPr>
          <a:xfrm>
            <a:off x="4023360" y="4023360"/>
            <a:ext cx="7525512" cy="685800"/>
          </a:xfrm>
          <a:prstGeom prst="rect">
            <a:avLst/>
          </a:prstGeom>
          <a:noFill/>
          <a:ln/>
        </p:spPr>
        <p:txBody>
          <a:bodyPr wrap="square" lIns="0" tIns="0" rIns="0" bIns="0" rtlCol="0" anchor="t"/>
          <a:lstStyle/>
          <a:p>
            <a:pPr algn="l" indent="0" marL="0">
              <a:buNone/>
            </a:pPr>
            <a:r>
              <a:rPr lang="en-US" sz="1500" dirty="0">
                <a:solidFill>
                  <a:srgbClr val="64748B"/>
                </a:solidFill>
                <a:latin typeface="Arial" pitchFamily="34" charset="0"/>
                <a:ea typeface="Arial" pitchFamily="34" charset="-122"/>
                <a:cs typeface="Arial" pitchFamily="34" charset="-120"/>
              </a:rPr>
              <a:t>Amplify’s router appends CloudFront’s own IP after the client’s. The “last hop” was never the client — it was Amazon.</a:t>
            </a:r>
            <a:endParaRPr lang="en-US" sz="1500" dirty="0"/>
          </a:p>
        </p:txBody>
      </p:sp>
      <p:sp>
        <p:nvSpPr>
          <p:cNvPr id="16" name="Shape 13"/>
          <p:cNvSpPr/>
          <p:nvPr/>
        </p:nvSpPr>
        <p:spPr>
          <a:xfrm>
            <a:off x="640080" y="4773168"/>
            <a:ext cx="10911535" cy="12802"/>
          </a:xfrm>
          <a:prstGeom prst="rect">
            <a:avLst/>
          </a:prstGeom>
          <a:solidFill>
            <a:srgbClr val="DDE5F2"/>
          </a:solidFill>
          <a:ln/>
        </p:spPr>
      </p:sp>
      <p:sp>
        <p:nvSpPr>
          <p:cNvPr id="17" name="Text 14"/>
          <p:cNvSpPr/>
          <p:nvPr/>
        </p:nvSpPr>
        <p:spPr>
          <a:xfrm>
            <a:off x="640080" y="4928616"/>
            <a:ext cx="457200" cy="457200"/>
          </a:xfrm>
          <a:prstGeom prst="rect">
            <a:avLst/>
          </a:prstGeom>
          <a:noFill/>
          <a:ln/>
        </p:spPr>
        <p:txBody>
          <a:bodyPr wrap="square" lIns="0" tIns="0" rIns="0" bIns="0" rtlCol="0" anchor="t"/>
          <a:lstStyle/>
          <a:p>
            <a:pPr algn="l" indent="0" marL="0">
              <a:buNone/>
            </a:pPr>
            <a:r>
              <a:rPr lang="en-US" sz="2600" b="1" dirty="0">
                <a:solidFill>
                  <a:srgbClr val="1D4ED8"/>
                </a:solidFill>
                <a:latin typeface="Arial" pitchFamily="34" charset="0"/>
                <a:ea typeface="Arial" pitchFamily="34" charset="-122"/>
                <a:cs typeface="Arial" pitchFamily="34" charset="-120"/>
              </a:rPr>
              <a:t>4</a:t>
            </a:r>
            <a:endParaRPr lang="en-US" sz="1500" dirty="0"/>
          </a:p>
        </p:txBody>
      </p:sp>
      <p:sp>
        <p:nvSpPr>
          <p:cNvPr id="18" name="Text 15"/>
          <p:cNvSpPr/>
          <p:nvPr/>
        </p:nvSpPr>
        <p:spPr>
          <a:xfrm>
            <a:off x="1234440" y="4956048"/>
            <a:ext cx="2651760" cy="411480"/>
          </a:xfrm>
          <a:prstGeom prst="rect">
            <a:avLst/>
          </a:prstGeom>
          <a:noFill/>
          <a:ln/>
        </p:spPr>
        <p:txBody>
          <a:bodyPr wrap="square" lIns="0" tIns="0" rIns="0" bIns="0" rtlCol="0" anchor="t"/>
          <a:lstStyle/>
          <a:p>
            <a:pPr algn="l" indent="0" marL="0">
              <a:buNone/>
            </a:pPr>
            <a:r>
              <a:rPr lang="en-US" sz="1700" b="1" dirty="0">
                <a:solidFill>
                  <a:srgbClr val="0F172A"/>
                </a:solidFill>
                <a:latin typeface="Arial" pitchFamily="34" charset="0"/>
                <a:ea typeface="Arial" pitchFamily="34" charset="-122"/>
                <a:cs typeface="Arial" pitchFamily="34" charset="-120"/>
              </a:rPr>
              <a:t>The fix</a:t>
            </a:r>
            <a:endParaRPr lang="en-US" sz="1500" dirty="0"/>
          </a:p>
        </p:txBody>
      </p:sp>
      <p:sp>
        <p:nvSpPr>
          <p:cNvPr id="19" name="Text 16"/>
          <p:cNvSpPr/>
          <p:nvPr/>
        </p:nvSpPr>
        <p:spPr>
          <a:xfrm>
            <a:off x="4023360" y="4974336"/>
            <a:ext cx="7525512" cy="685800"/>
          </a:xfrm>
          <a:prstGeom prst="rect">
            <a:avLst/>
          </a:prstGeom>
          <a:noFill/>
          <a:ln/>
        </p:spPr>
        <p:txBody>
          <a:bodyPr wrap="square" lIns="0" tIns="0" rIns="0" bIns="0" rtlCol="0" anchor="t"/>
          <a:lstStyle/>
          <a:p>
            <a:pPr algn="l" indent="0" marL="0">
              <a:buNone/>
            </a:pPr>
            <a:r>
              <a:rPr lang="en-US" sz="1500" dirty="0">
                <a:solidFill>
                  <a:srgbClr val="64748B"/>
                </a:solidFill>
                <a:latin typeface="Arial" pitchFamily="34" charset="0"/>
                <a:ea typeface="Arial" pitchFamily="34" charset="-122"/>
                <a:cs typeface="Arial" pitchFamily="34" charset="-120"/>
              </a:rPr>
              <a:t>Second-to-last hop, a global cap as backstop, and a regression test pinning the header shapes.</a:t>
            </a:r>
            <a:endParaRPr lang="en-US" sz="1500" dirty="0"/>
          </a:p>
        </p:txBody>
      </p:sp>
      <p:sp>
        <p:nvSpPr>
          <p:cNvPr id="20" name="Shape 17"/>
          <p:cNvSpPr/>
          <p:nvPr/>
        </p:nvSpPr>
        <p:spPr>
          <a:xfrm>
            <a:off x="640080" y="5724144"/>
            <a:ext cx="10911535" cy="12802"/>
          </a:xfrm>
          <a:prstGeom prst="rect">
            <a:avLst/>
          </a:prstGeom>
          <a:solidFill>
            <a:srgbClr val="DDE5F2"/>
          </a:solidFill>
          <a:ln/>
        </p:spPr>
      </p:sp>
      <p:sp>
        <p:nvSpPr>
          <p:cNvPr id="21" name="Text 18"/>
          <p:cNvSpPr/>
          <p:nvPr/>
        </p:nvSpPr>
        <p:spPr>
          <a:xfrm>
            <a:off x="640080" y="5989320"/>
            <a:ext cx="10911535" cy="411480"/>
          </a:xfrm>
          <a:prstGeom prst="rect">
            <a:avLst/>
          </a:prstGeom>
          <a:noFill/>
          <a:ln/>
        </p:spPr>
        <p:txBody>
          <a:bodyPr wrap="square" lIns="0" tIns="0" rIns="0" bIns="0" rtlCol="0" anchor="t"/>
          <a:lstStyle/>
          <a:p>
            <a:pPr algn="ctr" indent="0" marL="0">
              <a:buNone/>
            </a:pPr>
            <a:r>
              <a:rPr lang="en-US" sz="1800" b="1" i="1" dirty="0">
                <a:solidFill>
                  <a:srgbClr val="1D4ED8"/>
                </a:solidFill>
                <a:latin typeface="Arial" pitchFamily="34" charset="0"/>
                <a:ea typeface="Arial" pitchFamily="34" charset="-122"/>
                <a:cs typeface="Arial" pitchFamily="34" charset="-120"/>
              </a:rPr>
              <a:t>Practice exams don’t teach proxy chains. Production does.</a:t>
            </a:r>
            <a:endParaRPr lang="en-US" sz="1500" dirty="0"/>
          </a:p>
        </p:txBody>
      </p:sp>
      <p:sp>
        <p:nvSpPr>
          <p:cNvPr id="22" name="Text 19"/>
          <p:cNvSpPr/>
          <p:nvPr/>
        </p:nvSpPr>
        <p:spPr>
          <a:xfrm>
            <a:off x="11548872" y="6419088"/>
            <a:ext cx="365760" cy="274320"/>
          </a:xfrm>
          <a:prstGeom prst="rect">
            <a:avLst/>
          </a:prstGeom>
          <a:noFill/>
          <a:ln/>
        </p:spPr>
        <p:txBody>
          <a:bodyPr wrap="square" lIns="0" tIns="0" rIns="0" bIns="0" rtlCol="0" anchor="ctr"/>
          <a:lstStyle/>
          <a:p>
            <a:pPr algn="r" indent="0" marL="0">
              <a:buNone/>
            </a:pPr>
            <a:r>
              <a:rPr lang="en-US" sz="1400" dirty="0">
                <a:solidFill>
                  <a:srgbClr val="64748B"/>
                </a:solidFill>
                <a:latin typeface="Arial" pitchFamily="34" charset="0"/>
                <a:ea typeface="Arial" pitchFamily="34" charset="-122"/>
                <a:cs typeface="Arial" pitchFamily="34" charset="-120"/>
              </a:rPr>
              <a:t>10</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40080" y="502920"/>
            <a:ext cx="173736" cy="182880"/>
          </a:xfrm>
          <a:prstGeom prst="rect">
            <a:avLst/>
          </a:prstGeom>
        </p:spPr>
      </p:pic>
      <p:sp>
        <p:nvSpPr>
          <p:cNvPr id="3" name="Text 0"/>
          <p:cNvSpPr/>
          <p:nvPr>
            <p:ph idx="100" type="body" hasCustomPrompt="1"/>
          </p:nvPr>
        </p:nvSpPr>
        <p:spPr>
          <a:xfrm>
            <a:off x="896112" y="475488"/>
            <a:ext cx="10515600" cy="292608"/>
          </a:xfrm>
          <a:prstGeom prst="rect">
            <a:avLst/>
          </a:prstGeom>
          <a:noFill/>
          <a:ln/>
        </p:spPr>
        <p:txBody>
          <a:bodyPr wrap="square" lIns="0" tIns="0" rIns="0" bIns="0" rtlCol="0"/>
          <a:lstStyle/>
          <a:p>
            <a:pPr indent="0" marL="0">
              <a:buNone/>
            </a:pPr>
            <a:r>
              <a:rPr lang="en-US" sz="1400" b="1" spc="250" kern="0" dirty="0">
                <a:solidFill>
                  <a:srgbClr val="1D4ED8"/>
                </a:solidFill>
                <a:latin typeface="Arial" pitchFamily="34" charset="0"/>
                <a:ea typeface="Arial" pitchFamily="34" charset="-122"/>
                <a:cs typeface="Arial" pitchFamily="34" charset="-120"/>
              </a:rPr>
              <a:t>BACKUP · Q&amp;A</a:t>
            </a:r>
            <a:endParaRPr lang="en-US" sz="1400" dirty="0"/>
          </a:p>
        </p:txBody>
      </p:sp>
      <p:sp>
        <p:nvSpPr>
          <p:cNvPr id="4" name="Text 0"/>
          <p:cNvSpPr/>
          <p:nvPr>
            <p:ph idx="101" type="title" hasCustomPrompt="1"/>
          </p:nvPr>
        </p:nvSpPr>
        <p:spPr>
          <a:xfrm>
            <a:off x="640080" y="841248"/>
            <a:ext cx="10908792" cy="914400"/>
          </a:xfrm>
          <a:prstGeom prst="rect">
            <a:avLst/>
          </a:prstGeom>
          <a:noFill/>
          <a:ln/>
        </p:spPr>
        <p:txBody>
          <a:bodyPr wrap="square" lIns="0" tIns="0" rIns="0" bIns="0" rtlCol="0"/>
          <a:lstStyle/>
          <a:p>
            <a:pPr algn="l" indent="0" marL="0">
              <a:buNone/>
            </a:pPr>
            <a:r>
              <a:rPr lang="en-US" sz="2800" b="1" dirty="0">
                <a:solidFill>
                  <a:srgbClr val="0F172A"/>
                </a:solidFill>
                <a:latin typeface="Arial" pitchFamily="34" charset="0"/>
                <a:ea typeface="Arial" pitchFamily="34" charset="-122"/>
                <a:cs typeface="Arial" pitchFamily="34" charset="-120"/>
              </a:rPr>
              <a:t>Weights, stars, and robustness</a:t>
            </a:r>
            <a:endParaRPr lang="en-US" sz="2800" dirty="0"/>
          </a:p>
        </p:txBody>
      </p:sp>
      <p:sp>
        <p:nvSpPr>
          <p:cNvPr id="5" name="Text 2"/>
          <p:cNvSpPr/>
          <p:nvPr/>
        </p:nvSpPr>
        <p:spPr>
          <a:xfrm>
            <a:off x="640080" y="2148840"/>
            <a:ext cx="10911535" cy="365760"/>
          </a:xfrm>
          <a:prstGeom prst="rect">
            <a:avLst/>
          </a:prstGeom>
          <a:noFill/>
          <a:ln/>
        </p:spPr>
        <p:txBody>
          <a:bodyPr wrap="square" lIns="0" tIns="0" rIns="0" bIns="0" rtlCol="0" anchor="t"/>
          <a:lstStyle/>
          <a:p>
            <a:pPr algn="l" indent="0" marL="0">
              <a:buNone/>
            </a:pPr>
            <a:r>
              <a:rPr lang="en-US" sz="1700" b="1" dirty="0">
                <a:solidFill>
                  <a:srgbClr val="1D4ED8"/>
                </a:solidFill>
                <a:latin typeface="Arial" pitchFamily="34" charset="0"/>
                <a:ea typeface="Arial" pitchFamily="34" charset="-122"/>
                <a:cs typeface="Arial" pitchFamily="34" charset="-120"/>
              </a:rPr>
              <a:t>“Why 0.7 and not 0.6?”</a:t>
            </a:r>
            <a:endParaRPr lang="en-US" sz="1500" dirty="0"/>
          </a:p>
        </p:txBody>
      </p:sp>
      <p:sp>
        <p:nvSpPr>
          <p:cNvPr id="6" name="Text 3"/>
          <p:cNvSpPr/>
          <p:nvPr/>
        </p:nvSpPr>
        <p:spPr>
          <a:xfrm>
            <a:off x="640080" y="2560320"/>
            <a:ext cx="10911535" cy="731520"/>
          </a:xfrm>
          <a:prstGeom prst="rect">
            <a:avLst/>
          </a:prstGeom>
          <a:noFill/>
          <a:ln/>
        </p:spPr>
        <p:txBody>
          <a:bodyPr wrap="square" lIns="0" tIns="0" rIns="0" bIns="0" rtlCol="0" anchor="t"/>
          <a:lstStyle/>
          <a:p>
            <a:pPr algn="l" indent="0" marL="0">
              <a:buNone/>
            </a:pPr>
            <a:r>
              <a:rPr lang="en-US" sz="1500" dirty="0">
                <a:solidFill>
                  <a:srgbClr val="64748B"/>
                </a:solidFill>
                <a:latin typeface="Arial" pitchFamily="34" charset="0"/>
                <a:ea typeface="Arial" pitchFamily="34" charset="-122"/>
                <a:cs typeface="Arial" pitchFamily="34" charset="-120"/>
              </a:rPr>
              <a:t>Because I had to pick something and there’s nothing to fit on. So I say “prior” out loud and stress-test instead: 729 perturbations, five rival models, close calls labeled.</a:t>
            </a:r>
            <a:endParaRPr lang="en-US" sz="1500" dirty="0"/>
          </a:p>
        </p:txBody>
      </p:sp>
      <p:sp>
        <p:nvSpPr>
          <p:cNvPr id="7" name="Shape 4"/>
          <p:cNvSpPr/>
          <p:nvPr/>
        </p:nvSpPr>
        <p:spPr>
          <a:xfrm>
            <a:off x="640080" y="3337560"/>
            <a:ext cx="10911535" cy="12802"/>
          </a:xfrm>
          <a:prstGeom prst="rect">
            <a:avLst/>
          </a:prstGeom>
          <a:solidFill>
            <a:srgbClr val="DDE5F2"/>
          </a:solidFill>
          <a:ln/>
        </p:spPr>
      </p:sp>
      <p:sp>
        <p:nvSpPr>
          <p:cNvPr id="8" name="Text 5"/>
          <p:cNvSpPr/>
          <p:nvPr/>
        </p:nvSpPr>
        <p:spPr>
          <a:xfrm>
            <a:off x="640080" y="3538728"/>
            <a:ext cx="10911535" cy="365760"/>
          </a:xfrm>
          <a:prstGeom prst="rect">
            <a:avLst/>
          </a:prstGeom>
          <a:noFill/>
          <a:ln/>
        </p:spPr>
        <p:txBody>
          <a:bodyPr wrap="square" lIns="0" tIns="0" rIns="0" bIns="0" rtlCol="0" anchor="t"/>
          <a:lstStyle/>
          <a:p>
            <a:pPr algn="l" indent="0" marL="0">
              <a:buNone/>
            </a:pPr>
            <a:r>
              <a:rPr lang="en-US" sz="1700" b="1" dirty="0">
                <a:solidFill>
                  <a:srgbClr val="1D4ED8"/>
                </a:solidFill>
                <a:latin typeface="Arial" pitchFamily="34" charset="0"/>
                <a:ea typeface="Arial" pitchFamily="34" charset="-122"/>
                <a:cs typeface="Arial" pitchFamily="34" charset="-120"/>
              </a:rPr>
              <a:t>“How do the stars work?”</a:t>
            </a:r>
            <a:endParaRPr lang="en-US" sz="1500" dirty="0"/>
          </a:p>
        </p:txBody>
      </p:sp>
      <p:sp>
        <p:nvSpPr>
          <p:cNvPr id="9" name="Text 6"/>
          <p:cNvSpPr/>
          <p:nvPr/>
        </p:nvSpPr>
        <p:spPr>
          <a:xfrm>
            <a:off x="640080" y="3950208"/>
            <a:ext cx="10911535" cy="731520"/>
          </a:xfrm>
          <a:prstGeom prst="rect">
            <a:avLst/>
          </a:prstGeom>
          <a:noFill/>
          <a:ln/>
        </p:spPr>
        <p:txBody>
          <a:bodyPr wrap="square" lIns="0" tIns="0" rIns="0" bIns="0" rtlCol="0" anchor="t"/>
          <a:lstStyle/>
          <a:p>
            <a:pPr algn="l" indent="0" marL="0">
              <a:buNone/>
            </a:pPr>
            <a:r>
              <a:rPr lang="en-US" sz="1500" dirty="0">
                <a:solidFill>
                  <a:srgbClr val="64748B"/>
                </a:solidFill>
                <a:latin typeface="Arial" pitchFamily="34" charset="0"/>
                <a:ea typeface="Arial" pitchFamily="34" charset="-122"/>
                <a:cs typeface="Arial" pitchFamily="34" charset="-120"/>
              </a:rPr>
              <a:t>Forced relative curve, straight from Morningstar: top 10% get five stars, next 22.5% get four, and so on — recomputed live under the user’s own weights.</a:t>
            </a:r>
            <a:endParaRPr lang="en-US" sz="1500" dirty="0"/>
          </a:p>
        </p:txBody>
      </p:sp>
      <p:sp>
        <p:nvSpPr>
          <p:cNvPr id="10" name="Shape 7"/>
          <p:cNvSpPr/>
          <p:nvPr/>
        </p:nvSpPr>
        <p:spPr>
          <a:xfrm>
            <a:off x="640080" y="4727448"/>
            <a:ext cx="10911535" cy="12802"/>
          </a:xfrm>
          <a:prstGeom prst="rect">
            <a:avLst/>
          </a:prstGeom>
          <a:solidFill>
            <a:srgbClr val="DDE5F2"/>
          </a:solidFill>
          <a:ln/>
        </p:spPr>
      </p:sp>
      <p:sp>
        <p:nvSpPr>
          <p:cNvPr id="11" name="Text 8"/>
          <p:cNvSpPr/>
          <p:nvPr/>
        </p:nvSpPr>
        <p:spPr>
          <a:xfrm>
            <a:off x="640080" y="4928616"/>
            <a:ext cx="10911535" cy="365760"/>
          </a:xfrm>
          <a:prstGeom prst="rect">
            <a:avLst/>
          </a:prstGeom>
          <a:noFill/>
          <a:ln/>
        </p:spPr>
        <p:txBody>
          <a:bodyPr wrap="square" lIns="0" tIns="0" rIns="0" bIns="0" rtlCol="0" anchor="t"/>
          <a:lstStyle/>
          <a:p>
            <a:pPr algn="l" indent="0" marL="0">
              <a:buNone/>
            </a:pPr>
            <a:r>
              <a:rPr lang="en-US" sz="1700" b="1" dirty="0">
                <a:solidFill>
                  <a:srgbClr val="1D4ED8"/>
                </a:solidFill>
                <a:latin typeface="Arial" pitchFamily="34" charset="0"/>
                <a:ea typeface="Arial" pitchFamily="34" charset="-122"/>
                <a:cs typeface="Arial" pitchFamily="34" charset="-120"/>
              </a:rPr>
              <a:t>“Isn’t AI exposure just decline by another name?”</a:t>
            </a:r>
            <a:endParaRPr lang="en-US" sz="1500" dirty="0"/>
          </a:p>
        </p:txBody>
      </p:sp>
      <p:sp>
        <p:nvSpPr>
          <p:cNvPr id="12" name="Text 9"/>
          <p:cNvSpPr/>
          <p:nvPr/>
        </p:nvSpPr>
        <p:spPr>
          <a:xfrm>
            <a:off x="640080" y="5340096"/>
            <a:ext cx="10911535" cy="731520"/>
          </a:xfrm>
          <a:prstGeom prst="rect">
            <a:avLst/>
          </a:prstGeom>
          <a:noFill/>
          <a:ln/>
        </p:spPr>
        <p:txBody>
          <a:bodyPr wrap="square" lIns="0" tIns="0" rIns="0" bIns="0" rtlCol="0" anchor="t"/>
          <a:lstStyle/>
          <a:p>
            <a:pPr algn="l" indent="0" marL="0">
              <a:buNone/>
            </a:pPr>
            <a:r>
              <a:rPr lang="en-US" sz="1500" dirty="0">
                <a:solidFill>
                  <a:srgbClr val="64748B"/>
                </a:solidFill>
                <a:latin typeface="Arial" pitchFamily="34" charset="0"/>
                <a:ea typeface="Arial" pitchFamily="34" charset="-122"/>
                <a:cs typeface="Arial" pitchFamily="34" charset="-120"/>
              </a:rPr>
              <a:t>No. Across all 730, exposure and projected growth are nearly uncorrelated. Exposure knows something growth doesn’t.</a:t>
            </a:r>
            <a:endParaRPr lang="en-US" sz="1500" dirty="0"/>
          </a:p>
        </p:txBody>
      </p:sp>
      <p:sp>
        <p:nvSpPr>
          <p:cNvPr id="13" name="Shape 10"/>
          <p:cNvSpPr/>
          <p:nvPr/>
        </p:nvSpPr>
        <p:spPr>
          <a:xfrm>
            <a:off x="640080" y="6117336"/>
            <a:ext cx="10911535" cy="12802"/>
          </a:xfrm>
          <a:prstGeom prst="rect">
            <a:avLst/>
          </a:prstGeom>
          <a:solidFill>
            <a:srgbClr val="DDE5F2"/>
          </a:solidFill>
          <a:ln/>
        </p:spPr>
      </p:sp>
      <p:sp>
        <p:nvSpPr>
          <p:cNvPr id="14" name="Text 11"/>
          <p:cNvSpPr/>
          <p:nvPr/>
        </p:nvSpPr>
        <p:spPr>
          <a:xfrm>
            <a:off x="11548872" y="6419088"/>
            <a:ext cx="365760" cy="274320"/>
          </a:xfrm>
          <a:prstGeom prst="rect">
            <a:avLst/>
          </a:prstGeom>
          <a:noFill/>
          <a:ln/>
        </p:spPr>
        <p:txBody>
          <a:bodyPr wrap="square" lIns="0" tIns="0" rIns="0" bIns="0" rtlCol="0" anchor="ctr"/>
          <a:lstStyle/>
          <a:p>
            <a:pPr algn="r" indent="0" marL="0">
              <a:buNone/>
            </a:pPr>
            <a:r>
              <a:rPr lang="en-US" sz="1400" dirty="0">
                <a:solidFill>
                  <a:srgbClr val="64748B"/>
                </a:solidFill>
                <a:latin typeface="Arial" pitchFamily="34" charset="0"/>
                <a:ea typeface="Arial" pitchFamily="34" charset="-122"/>
                <a:cs typeface="Arial" pitchFamily="34" charset="-120"/>
              </a:rPr>
              <a:t>11</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40080" y="502920"/>
            <a:ext cx="173736" cy="182880"/>
          </a:xfrm>
          <a:prstGeom prst="rect">
            <a:avLst/>
          </a:prstGeom>
        </p:spPr>
      </p:pic>
      <p:sp>
        <p:nvSpPr>
          <p:cNvPr id="3" name="Text 0"/>
          <p:cNvSpPr/>
          <p:nvPr>
            <p:ph idx="100" type="body" hasCustomPrompt="1"/>
          </p:nvPr>
        </p:nvSpPr>
        <p:spPr>
          <a:xfrm>
            <a:off x="896112" y="475488"/>
            <a:ext cx="10515600" cy="292608"/>
          </a:xfrm>
          <a:prstGeom prst="rect">
            <a:avLst/>
          </a:prstGeom>
          <a:noFill/>
          <a:ln/>
        </p:spPr>
        <p:txBody>
          <a:bodyPr wrap="square" lIns="0" tIns="0" rIns="0" bIns="0" rtlCol="0"/>
          <a:lstStyle/>
          <a:p>
            <a:pPr indent="0" marL="0">
              <a:buNone/>
            </a:pPr>
            <a:r>
              <a:rPr lang="en-US" sz="1400" b="1" spc="250" kern="0" dirty="0">
                <a:solidFill>
                  <a:srgbClr val="1D4ED8"/>
                </a:solidFill>
                <a:latin typeface="Arial" pitchFamily="34" charset="0"/>
                <a:ea typeface="Arial" pitchFamily="34" charset="-122"/>
                <a:cs typeface="Arial" pitchFamily="34" charset="-120"/>
              </a:rPr>
              <a:t>BACKUP · Q&amp;A</a:t>
            </a:r>
            <a:endParaRPr lang="en-US" sz="1400" dirty="0"/>
          </a:p>
        </p:txBody>
      </p:sp>
      <p:sp>
        <p:nvSpPr>
          <p:cNvPr id="4" name="Text 0"/>
          <p:cNvSpPr/>
          <p:nvPr>
            <p:ph idx="101" type="title" hasCustomPrompt="1"/>
          </p:nvPr>
        </p:nvSpPr>
        <p:spPr>
          <a:xfrm>
            <a:off x="640080" y="841248"/>
            <a:ext cx="10908792" cy="914400"/>
          </a:xfrm>
          <a:prstGeom prst="rect">
            <a:avLst/>
          </a:prstGeom>
          <a:noFill/>
          <a:ln/>
        </p:spPr>
        <p:txBody>
          <a:bodyPr wrap="square" lIns="0" tIns="0" rIns="0" bIns="0" rtlCol="0"/>
          <a:lstStyle/>
          <a:p>
            <a:pPr algn="l" indent="0" marL="0">
              <a:buNone/>
            </a:pPr>
            <a:r>
              <a:rPr lang="en-US" sz="2800" b="1" dirty="0">
                <a:solidFill>
                  <a:srgbClr val="0F172A"/>
                </a:solidFill>
                <a:latin typeface="Arial" pitchFamily="34" charset="0"/>
                <a:ea typeface="Arial" pitchFamily="34" charset="-122"/>
                <a:cs typeface="Arial" pitchFamily="34" charset="-120"/>
              </a:rPr>
              <a:t>Back-test: I tested it on a decade that already happened</a:t>
            </a:r>
            <a:endParaRPr lang="en-US" sz="2800" dirty="0"/>
          </a:p>
        </p:txBody>
      </p:sp>
      <p:sp>
        <p:nvSpPr>
          <p:cNvPr id="5" name="Text 2"/>
          <p:cNvSpPr/>
          <p:nvPr/>
        </p:nvSpPr>
        <p:spPr>
          <a:xfrm>
            <a:off x="640080" y="2148840"/>
            <a:ext cx="10911535" cy="365760"/>
          </a:xfrm>
          <a:prstGeom prst="rect">
            <a:avLst/>
          </a:prstGeom>
          <a:noFill/>
          <a:ln/>
        </p:spPr>
        <p:txBody>
          <a:bodyPr wrap="square" lIns="0" tIns="0" rIns="0" bIns="0" rtlCol="0" anchor="t"/>
          <a:lstStyle/>
          <a:p>
            <a:pPr algn="l" indent="0" marL="0">
              <a:buNone/>
            </a:pPr>
            <a:r>
              <a:rPr lang="en-US" sz="1700" b="1" dirty="0">
                <a:solidFill>
                  <a:srgbClr val="1D4ED8"/>
                </a:solidFill>
                <a:latin typeface="Arial" pitchFamily="34" charset="0"/>
                <a:ea typeface="Arial" pitchFamily="34" charset="-122"/>
                <a:cs typeface="Arial" pitchFamily="34" charset="-120"/>
              </a:rPr>
              <a:t>“The headline numbers?”</a:t>
            </a:r>
            <a:endParaRPr lang="en-US" sz="1500" dirty="0"/>
          </a:p>
        </p:txBody>
      </p:sp>
      <p:sp>
        <p:nvSpPr>
          <p:cNvPr id="6" name="Text 3"/>
          <p:cNvSpPr/>
          <p:nvPr/>
        </p:nvSpPr>
        <p:spPr>
          <a:xfrm>
            <a:off x="640080" y="2560320"/>
            <a:ext cx="10911535" cy="731520"/>
          </a:xfrm>
          <a:prstGeom prst="rect">
            <a:avLst/>
          </a:prstGeom>
          <a:noFill/>
          <a:ln/>
        </p:spPr>
        <p:txBody>
          <a:bodyPr wrap="square" lIns="0" tIns="0" rIns="0" bIns="0" rtlCol="0" anchor="t"/>
          <a:lstStyle/>
          <a:p>
            <a:pPr algn="l" indent="0" marL="0">
              <a:buNone/>
            </a:pPr>
            <a:r>
              <a:rPr lang="en-US" sz="1500" dirty="0">
                <a:solidFill>
                  <a:srgbClr val="64748B"/>
                </a:solidFill>
                <a:latin typeface="Arial" pitchFamily="34" charset="0"/>
                <a:ea typeface="Arial" pitchFamily="34" charset="-122"/>
                <a:cs typeface="Arial" pitchFamily="34" charset="-120"/>
              </a:rPr>
              <a:t>Scored 2014’s job market with today’s formula, graded against what happened by 2024: rank correlation 0.39; 48% of real decliners flagged (33% by chance). Plain BLS beat the full model, 0.411 to 0.39 — expected, since the AI term had no LLMs to price in 2014. Never tuned to the test.</a:t>
            </a:r>
            <a:endParaRPr lang="en-US" sz="1500" dirty="0"/>
          </a:p>
        </p:txBody>
      </p:sp>
      <p:sp>
        <p:nvSpPr>
          <p:cNvPr id="7" name="Shape 4"/>
          <p:cNvSpPr/>
          <p:nvPr/>
        </p:nvSpPr>
        <p:spPr>
          <a:xfrm>
            <a:off x="640080" y="3337560"/>
            <a:ext cx="10911535" cy="12802"/>
          </a:xfrm>
          <a:prstGeom prst="rect">
            <a:avLst/>
          </a:prstGeom>
          <a:solidFill>
            <a:srgbClr val="DDE5F2"/>
          </a:solidFill>
          <a:ln/>
        </p:spPr>
      </p:sp>
      <p:sp>
        <p:nvSpPr>
          <p:cNvPr id="8" name="Text 5"/>
          <p:cNvSpPr/>
          <p:nvPr/>
        </p:nvSpPr>
        <p:spPr>
          <a:xfrm>
            <a:off x="640080" y="3538728"/>
            <a:ext cx="10911535" cy="365760"/>
          </a:xfrm>
          <a:prstGeom prst="rect">
            <a:avLst/>
          </a:prstGeom>
          <a:noFill/>
          <a:ln/>
        </p:spPr>
        <p:txBody>
          <a:bodyPr wrap="square" lIns="0" tIns="0" rIns="0" bIns="0" rtlCol="0" anchor="t"/>
          <a:lstStyle/>
          <a:p>
            <a:pPr algn="l" indent="0" marL="0">
              <a:buNone/>
            </a:pPr>
            <a:r>
              <a:rPr lang="en-US" sz="1700" b="1" dirty="0">
                <a:solidFill>
                  <a:srgbClr val="1D4ED8"/>
                </a:solidFill>
                <a:latin typeface="Arial" pitchFamily="34" charset="0"/>
                <a:ea typeface="Arial" pitchFamily="34" charset="-122"/>
                <a:cs typeface="Arial" pitchFamily="34" charset="-120"/>
              </a:rPr>
              <a:t>“Where did 2014 wages come from?”</a:t>
            </a:r>
            <a:endParaRPr lang="en-US" sz="1500" dirty="0"/>
          </a:p>
        </p:txBody>
      </p:sp>
      <p:sp>
        <p:nvSpPr>
          <p:cNvPr id="9" name="Text 6"/>
          <p:cNvSpPr/>
          <p:nvPr/>
        </p:nvSpPr>
        <p:spPr>
          <a:xfrm>
            <a:off x="640080" y="3950208"/>
            <a:ext cx="10911535" cy="731520"/>
          </a:xfrm>
          <a:prstGeom prst="rect">
            <a:avLst/>
          </a:prstGeom>
          <a:noFill/>
          <a:ln/>
        </p:spPr>
        <p:txBody>
          <a:bodyPr wrap="square" lIns="0" tIns="0" rIns="0" bIns="0" rtlCol="0" anchor="t"/>
          <a:lstStyle/>
          <a:p>
            <a:pPr algn="l" indent="0" marL="0">
              <a:buNone/>
            </a:pPr>
            <a:r>
              <a:rPr lang="en-US" sz="1500" dirty="0">
                <a:solidFill>
                  <a:srgbClr val="64748B"/>
                </a:solidFill>
                <a:latin typeface="Arial" pitchFamily="34" charset="0"/>
                <a:ea typeface="Arial" pitchFamily="34" charset="-122"/>
                <a:cs typeface="Arial" pitchFamily="34" charset="-120"/>
              </a:rPr>
              <a:t>The archived table has no 2015 wages, so pay percentiles use today’s ranking as a proxy — pay order barely moves. A growth-only variant shows the proxy changes almost nothing. All disclosed.</a:t>
            </a:r>
            <a:endParaRPr lang="en-US" sz="1500" dirty="0"/>
          </a:p>
        </p:txBody>
      </p:sp>
      <p:sp>
        <p:nvSpPr>
          <p:cNvPr id="10" name="Shape 7"/>
          <p:cNvSpPr/>
          <p:nvPr/>
        </p:nvSpPr>
        <p:spPr>
          <a:xfrm>
            <a:off x="640080" y="4727448"/>
            <a:ext cx="10911535" cy="12802"/>
          </a:xfrm>
          <a:prstGeom prst="rect">
            <a:avLst/>
          </a:prstGeom>
          <a:solidFill>
            <a:srgbClr val="DDE5F2"/>
          </a:solidFill>
          <a:ln/>
        </p:spPr>
      </p:sp>
      <p:sp>
        <p:nvSpPr>
          <p:cNvPr id="11" name="Text 8"/>
          <p:cNvSpPr/>
          <p:nvPr/>
        </p:nvSpPr>
        <p:spPr>
          <a:xfrm>
            <a:off x="640080" y="4928616"/>
            <a:ext cx="10911535" cy="365760"/>
          </a:xfrm>
          <a:prstGeom prst="rect">
            <a:avLst/>
          </a:prstGeom>
          <a:noFill/>
          <a:ln/>
        </p:spPr>
        <p:txBody>
          <a:bodyPr wrap="square" lIns="0" tIns="0" rIns="0" bIns="0" rtlCol="0" anchor="t"/>
          <a:lstStyle/>
          <a:p>
            <a:pPr algn="l" indent="0" marL="0">
              <a:buNone/>
            </a:pPr>
            <a:r>
              <a:rPr lang="en-US" sz="1700" b="1" dirty="0">
                <a:solidFill>
                  <a:srgbClr val="1D4ED8"/>
                </a:solidFill>
                <a:latin typeface="Arial" pitchFamily="34" charset="0"/>
                <a:ea typeface="Arial" pitchFamily="34" charset="-122"/>
                <a:cs typeface="Arial" pitchFamily="34" charset="-120"/>
              </a:rPr>
              <a:t>“Biggest misses? Survivorship?”</a:t>
            </a:r>
            <a:endParaRPr lang="en-US" sz="1500" dirty="0"/>
          </a:p>
        </p:txBody>
      </p:sp>
      <p:sp>
        <p:nvSpPr>
          <p:cNvPr id="12" name="Text 9"/>
          <p:cNvSpPr/>
          <p:nvPr/>
        </p:nvSpPr>
        <p:spPr>
          <a:xfrm>
            <a:off x="640080" y="5340096"/>
            <a:ext cx="10911535" cy="731520"/>
          </a:xfrm>
          <a:prstGeom prst="rect">
            <a:avLst/>
          </a:prstGeom>
          <a:noFill/>
          <a:ln/>
        </p:spPr>
        <p:txBody>
          <a:bodyPr wrap="square" lIns="0" tIns="0" rIns="0" bIns="0" rtlCol="0" anchor="t"/>
          <a:lstStyle/>
          <a:p>
            <a:pPr algn="l" indent="0" marL="0">
              <a:buNone/>
            </a:pPr>
            <a:r>
              <a:rPr lang="en-US" sz="1500" dirty="0">
                <a:solidFill>
                  <a:srgbClr val="64748B"/>
                </a:solidFill>
                <a:latin typeface="Arial" pitchFamily="34" charset="0"/>
                <a:ea typeface="Arial" pitchFamily="34" charset="-122"/>
                <a:cs typeface="Arial" pitchFamily="34" charset="-120"/>
              </a:rPr>
              <a:t>It liked oil-and-gas jobs; oil crashed. It underrated couriers; e-commerce boomed. Both named on the site. SOC-2010 joined to SOC-2018 on matching codes — 647 joined, counts published.</a:t>
            </a:r>
            <a:endParaRPr lang="en-US" sz="1500" dirty="0"/>
          </a:p>
        </p:txBody>
      </p:sp>
      <p:sp>
        <p:nvSpPr>
          <p:cNvPr id="13" name="Shape 10"/>
          <p:cNvSpPr/>
          <p:nvPr/>
        </p:nvSpPr>
        <p:spPr>
          <a:xfrm>
            <a:off x="640080" y="6117336"/>
            <a:ext cx="10911535" cy="12802"/>
          </a:xfrm>
          <a:prstGeom prst="rect">
            <a:avLst/>
          </a:prstGeom>
          <a:solidFill>
            <a:srgbClr val="DDE5F2"/>
          </a:solidFill>
          <a:ln/>
        </p:spPr>
      </p:sp>
      <p:sp>
        <p:nvSpPr>
          <p:cNvPr id="14" name="Text 11"/>
          <p:cNvSpPr/>
          <p:nvPr/>
        </p:nvSpPr>
        <p:spPr>
          <a:xfrm>
            <a:off x="11548872" y="6419088"/>
            <a:ext cx="365760" cy="274320"/>
          </a:xfrm>
          <a:prstGeom prst="rect">
            <a:avLst/>
          </a:prstGeom>
          <a:noFill/>
          <a:ln/>
        </p:spPr>
        <p:txBody>
          <a:bodyPr wrap="square" lIns="0" tIns="0" rIns="0" bIns="0" rtlCol="0" anchor="ctr"/>
          <a:lstStyle/>
          <a:p>
            <a:pPr algn="r" indent="0" marL="0">
              <a:buNone/>
            </a:pPr>
            <a:r>
              <a:rPr lang="en-US" sz="1400" dirty="0">
                <a:solidFill>
                  <a:srgbClr val="64748B"/>
                </a:solidFill>
                <a:latin typeface="Arial" pitchFamily="34" charset="0"/>
                <a:ea typeface="Arial" pitchFamily="34" charset="-122"/>
                <a:cs typeface="Arial" pitchFamily="34" charset="-120"/>
              </a:rPr>
              <a:t>12</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40080" y="502920"/>
            <a:ext cx="173736" cy="182880"/>
          </a:xfrm>
          <a:prstGeom prst="rect">
            <a:avLst/>
          </a:prstGeom>
        </p:spPr>
      </p:pic>
      <p:sp>
        <p:nvSpPr>
          <p:cNvPr id="3" name="Text 0"/>
          <p:cNvSpPr/>
          <p:nvPr>
            <p:ph idx="100" type="body" hasCustomPrompt="1"/>
          </p:nvPr>
        </p:nvSpPr>
        <p:spPr>
          <a:xfrm>
            <a:off x="896112" y="475488"/>
            <a:ext cx="10515600" cy="292608"/>
          </a:xfrm>
          <a:prstGeom prst="rect">
            <a:avLst/>
          </a:prstGeom>
          <a:noFill/>
          <a:ln/>
        </p:spPr>
        <p:txBody>
          <a:bodyPr wrap="square" lIns="0" tIns="0" rIns="0" bIns="0" rtlCol="0"/>
          <a:lstStyle/>
          <a:p>
            <a:pPr indent="0" marL="0">
              <a:buNone/>
            </a:pPr>
            <a:r>
              <a:rPr lang="en-US" sz="1400" b="1" spc="250" kern="0" dirty="0">
                <a:solidFill>
                  <a:srgbClr val="1D4ED8"/>
                </a:solidFill>
                <a:latin typeface="Arial" pitchFamily="34" charset="0"/>
                <a:ea typeface="Arial" pitchFamily="34" charset="-122"/>
                <a:cs typeface="Arial" pitchFamily="34" charset="-120"/>
              </a:rPr>
              <a:t>BACKUP · Q&amp;A</a:t>
            </a:r>
            <a:endParaRPr lang="en-US" sz="1400" dirty="0"/>
          </a:p>
        </p:txBody>
      </p:sp>
      <p:sp>
        <p:nvSpPr>
          <p:cNvPr id="4" name="Text 0"/>
          <p:cNvSpPr/>
          <p:nvPr>
            <p:ph idx="101" type="title" hasCustomPrompt="1"/>
          </p:nvPr>
        </p:nvSpPr>
        <p:spPr>
          <a:xfrm>
            <a:off x="640080" y="841248"/>
            <a:ext cx="10908792" cy="914400"/>
          </a:xfrm>
          <a:prstGeom prst="rect">
            <a:avLst/>
          </a:prstGeom>
          <a:noFill/>
          <a:ln/>
        </p:spPr>
        <p:txBody>
          <a:bodyPr wrap="square" lIns="0" tIns="0" rIns="0" bIns="0" rtlCol="0"/>
          <a:lstStyle/>
          <a:p>
            <a:pPr algn="l" indent="0" marL="0">
              <a:buNone/>
            </a:pPr>
            <a:r>
              <a:rPr lang="en-US" sz="2800" b="1" dirty="0">
                <a:solidFill>
                  <a:srgbClr val="0F172A"/>
                </a:solidFill>
                <a:latin typeface="Arial" pitchFamily="34" charset="0"/>
                <a:ea typeface="Arial" pitchFamily="34" charset="-122"/>
                <a:cs typeface="Arial" pitchFamily="34" charset="-120"/>
              </a:rPr>
              <a:t>Stack, and the Anthropic connection</a:t>
            </a:r>
            <a:endParaRPr lang="en-US" sz="2800" dirty="0"/>
          </a:p>
        </p:txBody>
      </p:sp>
      <p:sp>
        <p:nvSpPr>
          <p:cNvPr id="5" name="Text 2"/>
          <p:cNvSpPr/>
          <p:nvPr/>
        </p:nvSpPr>
        <p:spPr>
          <a:xfrm>
            <a:off x="640080" y="2148840"/>
            <a:ext cx="10911535" cy="365760"/>
          </a:xfrm>
          <a:prstGeom prst="rect">
            <a:avLst/>
          </a:prstGeom>
          <a:noFill/>
          <a:ln/>
        </p:spPr>
        <p:txBody>
          <a:bodyPr wrap="square" lIns="0" tIns="0" rIns="0" bIns="0" rtlCol="0" anchor="t"/>
          <a:lstStyle/>
          <a:p>
            <a:pPr algn="l" indent="0" marL="0">
              <a:buNone/>
            </a:pPr>
            <a:r>
              <a:rPr lang="en-US" sz="1700" b="1" dirty="0">
                <a:solidFill>
                  <a:srgbClr val="1D4ED8"/>
                </a:solidFill>
                <a:latin typeface="Arial" pitchFamily="34" charset="0"/>
                <a:ea typeface="Arial" pitchFamily="34" charset="-122"/>
                <a:cs typeface="Arial" pitchFamily="34" charset="-120"/>
              </a:rPr>
              <a:t>“Stack?”</a:t>
            </a:r>
            <a:endParaRPr lang="en-US" sz="1500" dirty="0"/>
          </a:p>
        </p:txBody>
      </p:sp>
      <p:sp>
        <p:nvSpPr>
          <p:cNvPr id="6" name="Text 3"/>
          <p:cNvSpPr/>
          <p:nvPr/>
        </p:nvSpPr>
        <p:spPr>
          <a:xfrm>
            <a:off x="640080" y="2560320"/>
            <a:ext cx="10911535" cy="731520"/>
          </a:xfrm>
          <a:prstGeom prst="rect">
            <a:avLst/>
          </a:prstGeom>
          <a:noFill/>
          <a:ln/>
        </p:spPr>
        <p:txBody>
          <a:bodyPr wrap="square" lIns="0" tIns="0" rIns="0" bIns="0" rtlCol="0" anchor="t"/>
          <a:lstStyle/>
          <a:p>
            <a:pPr algn="l" indent="0" marL="0">
              <a:buNone/>
            </a:pPr>
            <a:r>
              <a:rPr lang="en-US" sz="1500" dirty="0">
                <a:solidFill>
                  <a:srgbClr val="64748B"/>
                </a:solidFill>
                <a:latin typeface="Arial" pitchFamily="34" charset="0"/>
                <a:ea typeface="Arial" pitchFamily="34" charset="-122"/>
                <a:cs typeface="Arial" pitchFamily="34" charset="-120"/>
              </a:rPr>
              <a:t>Next.js 16, React 19, TypeScript, Tailwind 4, AWS Amplify. 35 unit tests on the scoring library, pipeline scripts rebuilding every dataset from source, open CSV and code on GitHub.</a:t>
            </a:r>
            <a:endParaRPr lang="en-US" sz="1500" dirty="0"/>
          </a:p>
        </p:txBody>
      </p:sp>
      <p:sp>
        <p:nvSpPr>
          <p:cNvPr id="7" name="Shape 4"/>
          <p:cNvSpPr/>
          <p:nvPr/>
        </p:nvSpPr>
        <p:spPr>
          <a:xfrm>
            <a:off x="640080" y="3337560"/>
            <a:ext cx="10911535" cy="12802"/>
          </a:xfrm>
          <a:prstGeom prst="rect">
            <a:avLst/>
          </a:prstGeom>
          <a:solidFill>
            <a:srgbClr val="DDE5F2"/>
          </a:solidFill>
          <a:ln/>
        </p:spPr>
      </p:sp>
      <p:sp>
        <p:nvSpPr>
          <p:cNvPr id="8" name="Text 5"/>
          <p:cNvSpPr/>
          <p:nvPr/>
        </p:nvSpPr>
        <p:spPr>
          <a:xfrm>
            <a:off x="640080" y="3538728"/>
            <a:ext cx="10911535" cy="365760"/>
          </a:xfrm>
          <a:prstGeom prst="rect">
            <a:avLst/>
          </a:prstGeom>
          <a:noFill/>
          <a:ln/>
        </p:spPr>
        <p:txBody>
          <a:bodyPr wrap="square" lIns="0" tIns="0" rIns="0" bIns="0" rtlCol="0" anchor="t"/>
          <a:lstStyle/>
          <a:p>
            <a:pPr algn="l" indent="0" marL="0">
              <a:buNone/>
            </a:pPr>
            <a:r>
              <a:rPr lang="en-US" sz="1700" b="1" dirty="0">
                <a:solidFill>
                  <a:srgbClr val="1D4ED8"/>
                </a:solidFill>
                <a:latin typeface="Arial" pitchFamily="34" charset="0"/>
                <a:ea typeface="Arial" pitchFamily="34" charset="-122"/>
                <a:cs typeface="Arial" pitchFamily="34" charset="-120"/>
              </a:rPr>
              <a:t>“What did the AI get wrong?”</a:t>
            </a:r>
            <a:endParaRPr lang="en-US" sz="1500" dirty="0"/>
          </a:p>
        </p:txBody>
      </p:sp>
      <p:sp>
        <p:nvSpPr>
          <p:cNvPr id="9" name="Text 6"/>
          <p:cNvSpPr/>
          <p:nvPr/>
        </p:nvSpPr>
        <p:spPr>
          <a:xfrm>
            <a:off x="640080" y="3950208"/>
            <a:ext cx="10911535" cy="731520"/>
          </a:xfrm>
          <a:prstGeom prst="rect">
            <a:avLst/>
          </a:prstGeom>
          <a:noFill/>
          <a:ln/>
        </p:spPr>
        <p:txBody>
          <a:bodyPr wrap="square" lIns="0" tIns="0" rIns="0" bIns="0" rtlCol="0" anchor="t"/>
          <a:lstStyle/>
          <a:p>
            <a:pPr algn="l" indent="0" marL="0">
              <a:buNone/>
            </a:pPr>
            <a:r>
              <a:rPr lang="en-US" sz="1500" dirty="0">
                <a:solidFill>
                  <a:srgbClr val="64748B"/>
                </a:solidFill>
                <a:latin typeface="Arial" pitchFamily="34" charset="0"/>
                <a:ea typeface="Arial" pitchFamily="34" charset="-122"/>
                <a:cs typeface="Arial" pitchFamily="34" charset="-120"/>
              </a:rPr>
              <a:t>Plenty — that’s what the review cast is for. Best one: the fit overclaim. Caught in review, rebuilt properly, published as the case study centerpiece.</a:t>
            </a:r>
            <a:endParaRPr lang="en-US" sz="1500" dirty="0"/>
          </a:p>
        </p:txBody>
      </p:sp>
      <p:sp>
        <p:nvSpPr>
          <p:cNvPr id="10" name="Shape 7"/>
          <p:cNvSpPr/>
          <p:nvPr/>
        </p:nvSpPr>
        <p:spPr>
          <a:xfrm>
            <a:off x="640080" y="4727448"/>
            <a:ext cx="10911535" cy="12802"/>
          </a:xfrm>
          <a:prstGeom prst="rect">
            <a:avLst/>
          </a:prstGeom>
          <a:solidFill>
            <a:srgbClr val="DDE5F2"/>
          </a:solidFill>
          <a:ln/>
        </p:spPr>
      </p:sp>
      <p:sp>
        <p:nvSpPr>
          <p:cNvPr id="11" name="Text 8"/>
          <p:cNvSpPr/>
          <p:nvPr/>
        </p:nvSpPr>
        <p:spPr>
          <a:xfrm>
            <a:off x="640080" y="4928616"/>
            <a:ext cx="10911535" cy="365760"/>
          </a:xfrm>
          <a:prstGeom prst="rect">
            <a:avLst/>
          </a:prstGeom>
          <a:noFill/>
          <a:ln/>
        </p:spPr>
        <p:txBody>
          <a:bodyPr wrap="square" lIns="0" tIns="0" rIns="0" bIns="0" rtlCol="0" anchor="t"/>
          <a:lstStyle/>
          <a:p>
            <a:pPr algn="l" indent="0" marL="0">
              <a:buNone/>
            </a:pPr>
            <a:r>
              <a:rPr lang="en-US" sz="1700" b="1" dirty="0">
                <a:solidFill>
                  <a:srgbClr val="1D4ED8"/>
                </a:solidFill>
                <a:latin typeface="Arial" pitchFamily="34" charset="0"/>
                <a:ea typeface="Arial" pitchFamily="34" charset="-122"/>
                <a:cs typeface="Arial" pitchFamily="34" charset="-120"/>
              </a:rPr>
              <a:t>“Anthropic’s labor research?”</a:t>
            </a:r>
            <a:endParaRPr lang="en-US" sz="1500" dirty="0"/>
          </a:p>
        </p:txBody>
      </p:sp>
      <p:sp>
        <p:nvSpPr>
          <p:cNvPr id="12" name="Text 9"/>
          <p:cNvSpPr/>
          <p:nvPr/>
        </p:nvSpPr>
        <p:spPr>
          <a:xfrm>
            <a:off x="640080" y="5340096"/>
            <a:ext cx="10911535" cy="731520"/>
          </a:xfrm>
          <a:prstGeom prst="rect">
            <a:avLst/>
          </a:prstGeom>
          <a:noFill/>
          <a:ln/>
        </p:spPr>
        <p:txBody>
          <a:bodyPr wrap="square" lIns="0" tIns="0" rIns="0" bIns="0" rtlCol="0" anchor="t"/>
          <a:lstStyle/>
          <a:p>
            <a:pPr algn="l" indent="0" marL="0">
              <a:buNone/>
            </a:pPr>
            <a:r>
              <a:rPr lang="en-US" sz="1500" dirty="0">
                <a:solidFill>
                  <a:srgbClr val="64748B"/>
                </a:solidFill>
                <a:latin typeface="Arial" pitchFamily="34" charset="0"/>
                <a:ea typeface="Arial" pitchFamily="34" charset="-122"/>
                <a:cs typeface="Arial" pitchFamily="34" charset="-120"/>
              </a:rPr>
              <a:t>Same upstream dataset (Eloundou 2023). Their 2026 work layered real usage on it: 97% of observed use inside tasks rated feasible — consistent with my exposure input.</a:t>
            </a:r>
            <a:endParaRPr lang="en-US" sz="1500" dirty="0"/>
          </a:p>
        </p:txBody>
      </p:sp>
      <p:sp>
        <p:nvSpPr>
          <p:cNvPr id="13" name="Shape 10"/>
          <p:cNvSpPr/>
          <p:nvPr/>
        </p:nvSpPr>
        <p:spPr>
          <a:xfrm>
            <a:off x="640080" y="6117336"/>
            <a:ext cx="10911535" cy="12802"/>
          </a:xfrm>
          <a:prstGeom prst="rect">
            <a:avLst/>
          </a:prstGeom>
          <a:solidFill>
            <a:srgbClr val="DDE5F2"/>
          </a:solidFill>
          <a:ln/>
        </p:spPr>
      </p:sp>
      <p:sp>
        <p:nvSpPr>
          <p:cNvPr id="14" name="Text 11"/>
          <p:cNvSpPr/>
          <p:nvPr/>
        </p:nvSpPr>
        <p:spPr>
          <a:xfrm>
            <a:off x="11548872" y="6419088"/>
            <a:ext cx="365760" cy="274320"/>
          </a:xfrm>
          <a:prstGeom prst="rect">
            <a:avLst/>
          </a:prstGeom>
          <a:noFill/>
          <a:ln/>
        </p:spPr>
        <p:txBody>
          <a:bodyPr wrap="square" lIns="0" tIns="0" rIns="0" bIns="0" rtlCol="0" anchor="ctr"/>
          <a:lstStyle/>
          <a:p>
            <a:pPr algn="r" indent="0" marL="0">
              <a:buNone/>
            </a:pPr>
            <a:r>
              <a:rPr lang="en-US" sz="1400" dirty="0">
                <a:solidFill>
                  <a:srgbClr val="64748B"/>
                </a:solidFill>
                <a:latin typeface="Arial" pitchFamily="34" charset="0"/>
                <a:ea typeface="Arial" pitchFamily="34" charset="-122"/>
                <a:cs typeface="Arial" pitchFamily="34" charset="-120"/>
              </a:rPr>
              <a:t>13</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40080" y="502920"/>
            <a:ext cx="173736" cy="182880"/>
          </a:xfrm>
          <a:prstGeom prst="rect">
            <a:avLst/>
          </a:prstGeom>
        </p:spPr>
      </p:pic>
      <p:sp>
        <p:nvSpPr>
          <p:cNvPr id="3" name="Text 0"/>
          <p:cNvSpPr/>
          <p:nvPr>
            <p:ph idx="100" type="body" hasCustomPrompt="1"/>
          </p:nvPr>
        </p:nvSpPr>
        <p:spPr>
          <a:xfrm>
            <a:off x="896112" y="475488"/>
            <a:ext cx="10515600" cy="292608"/>
          </a:xfrm>
          <a:prstGeom prst="rect">
            <a:avLst/>
          </a:prstGeom>
          <a:noFill/>
          <a:ln/>
        </p:spPr>
        <p:txBody>
          <a:bodyPr wrap="square" lIns="0" tIns="0" rIns="0" bIns="0" rtlCol="0"/>
          <a:lstStyle/>
          <a:p>
            <a:pPr indent="0" marL="0">
              <a:buNone/>
            </a:pPr>
            <a:r>
              <a:rPr lang="en-US" sz="1400" b="1" spc="250" kern="0" dirty="0">
                <a:solidFill>
                  <a:srgbClr val="1D4ED8"/>
                </a:solidFill>
                <a:latin typeface="Arial" pitchFamily="34" charset="0"/>
                <a:ea typeface="Arial" pitchFamily="34" charset="-122"/>
                <a:cs typeface="Arial" pitchFamily="34" charset="-120"/>
              </a:rPr>
              <a:t>BACKUP · Q&amp;A</a:t>
            </a:r>
            <a:endParaRPr lang="en-US" sz="1400" dirty="0"/>
          </a:p>
        </p:txBody>
      </p:sp>
      <p:sp>
        <p:nvSpPr>
          <p:cNvPr id="4" name="Text 0"/>
          <p:cNvSpPr/>
          <p:nvPr>
            <p:ph idx="101" type="title" hasCustomPrompt="1"/>
          </p:nvPr>
        </p:nvSpPr>
        <p:spPr>
          <a:xfrm>
            <a:off x="640080" y="841248"/>
            <a:ext cx="10908792" cy="914400"/>
          </a:xfrm>
          <a:prstGeom prst="rect">
            <a:avLst/>
          </a:prstGeom>
          <a:noFill/>
          <a:ln/>
        </p:spPr>
        <p:txBody>
          <a:bodyPr wrap="square" lIns="0" tIns="0" rIns="0" bIns="0" rtlCol="0"/>
          <a:lstStyle/>
          <a:p>
            <a:pPr algn="l" indent="0" marL="0">
              <a:buNone/>
            </a:pPr>
            <a:r>
              <a:rPr lang="en-US" sz="2800" b="1" dirty="0">
                <a:solidFill>
                  <a:srgbClr val="0F172A"/>
                </a:solidFill>
                <a:latin typeface="Arial" pitchFamily="34" charset="0"/>
                <a:ea typeface="Arial" pitchFamily="34" charset="-122"/>
                <a:cs typeface="Arial" pitchFamily="34" charset="-120"/>
              </a:rPr>
              <a:t>BMAD, up close</a:t>
            </a:r>
            <a:endParaRPr lang="en-US" sz="2800" dirty="0"/>
          </a:p>
        </p:txBody>
      </p:sp>
      <p:sp>
        <p:nvSpPr>
          <p:cNvPr id="5" name="Text 2"/>
          <p:cNvSpPr/>
          <p:nvPr/>
        </p:nvSpPr>
        <p:spPr>
          <a:xfrm>
            <a:off x="640080" y="2148840"/>
            <a:ext cx="10911535" cy="365760"/>
          </a:xfrm>
          <a:prstGeom prst="rect">
            <a:avLst/>
          </a:prstGeom>
          <a:noFill/>
          <a:ln/>
        </p:spPr>
        <p:txBody>
          <a:bodyPr wrap="square" lIns="0" tIns="0" rIns="0" bIns="0" rtlCol="0" anchor="t"/>
          <a:lstStyle/>
          <a:p>
            <a:pPr algn="l" indent="0" marL="0">
              <a:buNone/>
            </a:pPr>
            <a:r>
              <a:rPr lang="en-US" sz="1700" b="1" dirty="0">
                <a:solidFill>
                  <a:srgbClr val="1D4ED8"/>
                </a:solidFill>
                <a:latin typeface="Arial" pitchFamily="34" charset="0"/>
                <a:ea typeface="Arial" pitchFamily="34" charset="-122"/>
                <a:cs typeface="Arial" pitchFamily="34" charset="-120"/>
              </a:rPr>
              <a:t>“What does the framework actually produce?”</a:t>
            </a:r>
            <a:endParaRPr lang="en-US" sz="1500" dirty="0"/>
          </a:p>
        </p:txBody>
      </p:sp>
      <p:sp>
        <p:nvSpPr>
          <p:cNvPr id="6" name="Text 3"/>
          <p:cNvSpPr/>
          <p:nvPr/>
        </p:nvSpPr>
        <p:spPr>
          <a:xfrm>
            <a:off x="640080" y="2560320"/>
            <a:ext cx="10911535" cy="731520"/>
          </a:xfrm>
          <a:prstGeom prst="rect">
            <a:avLst/>
          </a:prstGeom>
          <a:noFill/>
          <a:ln/>
        </p:spPr>
        <p:txBody>
          <a:bodyPr wrap="square" lIns="0" tIns="0" rIns="0" bIns="0" rtlCol="0" anchor="t"/>
          <a:lstStyle/>
          <a:p>
            <a:pPr algn="l" indent="0" marL="0">
              <a:buNone/>
            </a:pPr>
            <a:r>
              <a:rPr lang="en-US" sz="1500" dirty="0">
                <a:solidFill>
                  <a:srgbClr val="64748B"/>
                </a:solidFill>
                <a:latin typeface="Arial" pitchFamily="34" charset="0"/>
                <a:ea typeface="Arial" pitchFamily="34" charset="-122"/>
                <a:cs typeface="Arial" pitchFamily="34" charset="-120"/>
              </a:rPr>
              <a:t>A paper trail in the repo: a PRD, an architecture doc holding the 7 invariants, epics.md with all 28 stories and acceptance criteria, sprint-status.yaml tracking every story to done, and the review transcripts.</a:t>
            </a:r>
            <a:endParaRPr lang="en-US" sz="1500" dirty="0"/>
          </a:p>
        </p:txBody>
      </p:sp>
      <p:sp>
        <p:nvSpPr>
          <p:cNvPr id="7" name="Shape 4"/>
          <p:cNvSpPr/>
          <p:nvPr/>
        </p:nvSpPr>
        <p:spPr>
          <a:xfrm>
            <a:off x="640080" y="3337560"/>
            <a:ext cx="10911535" cy="12802"/>
          </a:xfrm>
          <a:prstGeom prst="rect">
            <a:avLst/>
          </a:prstGeom>
          <a:solidFill>
            <a:srgbClr val="DDE5F2"/>
          </a:solidFill>
          <a:ln/>
        </p:spPr>
      </p:sp>
      <p:sp>
        <p:nvSpPr>
          <p:cNvPr id="8" name="Text 5"/>
          <p:cNvSpPr/>
          <p:nvPr/>
        </p:nvSpPr>
        <p:spPr>
          <a:xfrm>
            <a:off x="640080" y="3538728"/>
            <a:ext cx="10911535" cy="365760"/>
          </a:xfrm>
          <a:prstGeom prst="rect">
            <a:avLst/>
          </a:prstGeom>
          <a:noFill/>
          <a:ln/>
        </p:spPr>
        <p:txBody>
          <a:bodyPr wrap="square" lIns="0" tIns="0" rIns="0" bIns="0" rtlCol="0" anchor="t"/>
          <a:lstStyle/>
          <a:p>
            <a:pPr algn="l" indent="0" marL="0">
              <a:buNone/>
            </a:pPr>
            <a:r>
              <a:rPr lang="en-US" sz="1700" b="1" dirty="0">
                <a:solidFill>
                  <a:srgbClr val="1D4ED8"/>
                </a:solidFill>
                <a:latin typeface="Arial" pitchFamily="34" charset="0"/>
                <a:ea typeface="Arial" pitchFamily="34" charset="-122"/>
                <a:cs typeface="Arial" pitchFamily="34" charset="-120"/>
              </a:rPr>
              <a:t>“Where does the review cast live?”</a:t>
            </a:r>
            <a:endParaRPr lang="en-US" sz="1500" dirty="0"/>
          </a:p>
        </p:txBody>
      </p:sp>
      <p:sp>
        <p:nvSpPr>
          <p:cNvPr id="9" name="Text 6"/>
          <p:cNvSpPr/>
          <p:nvPr/>
        </p:nvSpPr>
        <p:spPr>
          <a:xfrm>
            <a:off x="640080" y="3950208"/>
            <a:ext cx="10911535" cy="731520"/>
          </a:xfrm>
          <a:prstGeom prst="rect">
            <a:avLst/>
          </a:prstGeom>
          <a:noFill/>
          <a:ln/>
        </p:spPr>
        <p:txBody>
          <a:bodyPr wrap="square" lIns="0" tIns="0" rIns="0" bIns="0" rtlCol="0" anchor="t"/>
          <a:lstStyle/>
          <a:p>
            <a:pPr algn="l" indent="0" marL="0">
              <a:buNone/>
            </a:pPr>
            <a:r>
              <a:rPr lang="en-US" sz="1500" dirty="0">
                <a:solidFill>
                  <a:srgbClr val="64748B"/>
                </a:solidFill>
                <a:latin typeface="Arial" pitchFamily="34" charset="0"/>
                <a:ea typeface="Arial" pitchFamily="34" charset="-122"/>
                <a:cs typeface="Arial" pitchFamily="34" charset="-120"/>
              </a:rPr>
              <a:t>As personas the framework convenes against every change — the hiring manager, the fact-checker, the copy chief, the QA lead, the design critic, the grump. Their arguments end up as files too — and this deck went through the same room.</a:t>
            </a:r>
            <a:endParaRPr lang="en-US" sz="1500" dirty="0"/>
          </a:p>
        </p:txBody>
      </p:sp>
      <p:sp>
        <p:nvSpPr>
          <p:cNvPr id="10" name="Shape 7"/>
          <p:cNvSpPr/>
          <p:nvPr/>
        </p:nvSpPr>
        <p:spPr>
          <a:xfrm>
            <a:off x="640080" y="4727448"/>
            <a:ext cx="10911535" cy="12802"/>
          </a:xfrm>
          <a:prstGeom prst="rect">
            <a:avLst/>
          </a:prstGeom>
          <a:solidFill>
            <a:srgbClr val="DDE5F2"/>
          </a:solidFill>
          <a:ln/>
        </p:spPr>
      </p:sp>
      <p:sp>
        <p:nvSpPr>
          <p:cNvPr id="11" name="Text 8"/>
          <p:cNvSpPr/>
          <p:nvPr/>
        </p:nvSpPr>
        <p:spPr>
          <a:xfrm>
            <a:off x="640080" y="4928616"/>
            <a:ext cx="10911535" cy="365760"/>
          </a:xfrm>
          <a:prstGeom prst="rect">
            <a:avLst/>
          </a:prstGeom>
          <a:noFill/>
          <a:ln/>
        </p:spPr>
        <p:txBody>
          <a:bodyPr wrap="square" lIns="0" tIns="0" rIns="0" bIns="0" rtlCol="0" anchor="t"/>
          <a:lstStyle/>
          <a:p>
            <a:pPr algn="l" indent="0" marL="0">
              <a:buNone/>
            </a:pPr>
            <a:r>
              <a:rPr lang="en-US" sz="1700" b="1" dirty="0">
                <a:solidFill>
                  <a:srgbClr val="1D4ED8"/>
                </a:solidFill>
                <a:latin typeface="Arial" pitchFamily="34" charset="0"/>
                <a:ea typeface="Arial" pitchFamily="34" charset="-122"/>
                <a:cs typeface="Arial" pitchFamily="34" charset="-120"/>
              </a:rPr>
              <a:t>“Would you use it again?”</a:t>
            </a:r>
            <a:endParaRPr lang="en-US" sz="1500" dirty="0"/>
          </a:p>
        </p:txBody>
      </p:sp>
      <p:sp>
        <p:nvSpPr>
          <p:cNvPr id="12" name="Text 9"/>
          <p:cNvSpPr/>
          <p:nvPr/>
        </p:nvSpPr>
        <p:spPr>
          <a:xfrm>
            <a:off x="640080" y="5340096"/>
            <a:ext cx="10911535" cy="731520"/>
          </a:xfrm>
          <a:prstGeom prst="rect">
            <a:avLst/>
          </a:prstGeom>
          <a:noFill/>
          <a:ln/>
        </p:spPr>
        <p:txBody>
          <a:bodyPr wrap="square" lIns="0" tIns="0" rIns="0" bIns="0" rtlCol="0" anchor="t"/>
          <a:lstStyle/>
          <a:p>
            <a:pPr algn="l" indent="0" marL="0">
              <a:buNone/>
            </a:pPr>
            <a:r>
              <a:rPr lang="en-US" sz="1500" dirty="0">
                <a:solidFill>
                  <a:srgbClr val="64748B"/>
                </a:solidFill>
                <a:latin typeface="Arial" pitchFamily="34" charset="0"/>
                <a:ea typeface="Arial" pitchFamily="34" charset="-122"/>
                <a:cs typeface="Arial" pitchFamily="34" charset="-120"/>
              </a:rPr>
              <a:t>Yes. The transferable part is the habit — spec before prompt, adversarial review before ship — and that works with any coding agent. The framework just made rigor the default instead of the chore.</a:t>
            </a:r>
            <a:endParaRPr lang="en-US" sz="1500" dirty="0"/>
          </a:p>
        </p:txBody>
      </p:sp>
      <p:sp>
        <p:nvSpPr>
          <p:cNvPr id="13" name="Shape 10"/>
          <p:cNvSpPr/>
          <p:nvPr/>
        </p:nvSpPr>
        <p:spPr>
          <a:xfrm>
            <a:off x="640080" y="6117336"/>
            <a:ext cx="10911535" cy="12802"/>
          </a:xfrm>
          <a:prstGeom prst="rect">
            <a:avLst/>
          </a:prstGeom>
          <a:solidFill>
            <a:srgbClr val="DDE5F2"/>
          </a:solidFill>
          <a:ln/>
        </p:spPr>
      </p:sp>
      <p:sp>
        <p:nvSpPr>
          <p:cNvPr id="14" name="Text 11"/>
          <p:cNvSpPr/>
          <p:nvPr/>
        </p:nvSpPr>
        <p:spPr>
          <a:xfrm>
            <a:off x="11548872" y="6419088"/>
            <a:ext cx="365760" cy="274320"/>
          </a:xfrm>
          <a:prstGeom prst="rect">
            <a:avLst/>
          </a:prstGeom>
          <a:noFill/>
          <a:ln/>
        </p:spPr>
        <p:txBody>
          <a:bodyPr wrap="square" lIns="0" tIns="0" rIns="0" bIns="0" rtlCol="0" anchor="ctr"/>
          <a:lstStyle/>
          <a:p>
            <a:pPr algn="r" indent="0" marL="0">
              <a:buNone/>
            </a:pPr>
            <a:r>
              <a:rPr lang="en-US" sz="1400" dirty="0">
                <a:solidFill>
                  <a:srgbClr val="64748B"/>
                </a:solidFill>
                <a:latin typeface="Arial" pitchFamily="34" charset="0"/>
                <a:ea typeface="Arial" pitchFamily="34" charset="-122"/>
                <a:cs typeface="Arial" pitchFamily="34" charset="-120"/>
              </a:rPr>
              <a:t>14</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Rating careers like stocks — BMAD + AWS</dc:title>
  <dc:subject>PptxGenJS Presentation</dc:subject>
  <dc:creator>Ashley Libasci</dc:creator>
  <cp:lastModifiedBy>Ashley Libasci</cp:lastModifiedBy>
  <cp:revision>1</cp:revision>
  <dcterms:created xsi:type="dcterms:W3CDTF">2026-08-04T23:09:06Z</dcterms:created>
  <dcterms:modified xsi:type="dcterms:W3CDTF">2026-08-04T23:09:06Z</dcterms:modified>
</cp:coreProperties>
</file>