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Ashley. This summer I built a ratings agency for careers. The site's fine — but the part I actually want to show you is how it got built, because the workflow is more interesting than the product. Quick tour of the thing, then the build.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so the rest makes sense. Every U.S. occupation gets a 0-100 score, same shape as a risk-adjusted return. Stars on a forced curve, moats borrowed from Morningstar, and you can swap the scoring model live. That's the product. Now the actual talk.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people hear 'AI wrote most of my code' they picture vibe coding: prompt, paste, pray. This is the other school, and it has a name: spec-driven development. You write the contract first, then the AI codes against it. BMAD is the open-source framework I used — first time, and it converted me. Next two slides are why.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phases. Plan: the PM agent keeps asking why — my fluffy answers died in that interview, and the PRD was better than anything I'd have written alone. The architect locked seven invariants, and the big one was: the LLM never computes a number. Build: seven epics, every story with acceptance criteria. Attack: next slide.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hooked me. Reviews aren't one agreeable AI saying 'great job' — they're personas with opposite priorities fighting it out, and I judge. Best catch: my own methodology page overclaimed how fit worked. Caught in review, rebuilt right, then published the story of the catch — now the strongest section of my case study. And it's fun, which is load-bearing.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won't pretend AI didn't type most of this — that's the point. The difference isn't the tool. It's whether a spec exists before the prompt, tests after it, an adversarial pass before shipping, and a human who can defend every decision.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formula, where it comes from. It's just how you'd size up a stock, asked about a career. What do you get: growth and pay, from BLS. What can kill it: AI, from published exposure research. Does it fit you: real skills data from O*NET. Three questions, three public datasets. The next slide is these sentences written down.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by line: return is growth plus pay, each ranked against all 730 — the real question is 'versus my alternatives.' Risk is mostly AI exposure. Value is return discounted by risk, multiplied not subtracted, because that's how you treat a return. Then blend in fit. The honest part: the weights are judgment calls with no ground truth to fit them on, so every ranking gets re-scored 729 times plus five rival formulas — including a plain average as the control.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I pulled the 2014 BLS projections from the Internet Archive, scored 2014's job market with today's formula, and graded it against what happened by 2024 — 647 occupations. It works: decliners flagged at 48% versus 33% by chance. Then I volunteer the awkward number before anyone asks: plain BLS beat my full model. And that's the model working — no LLMs existed, the AI term had nothing to price. Held out, never fitted.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 main, Amplify builds, CloudFront serves from the edge, Route 53 holds the domain. The whole pipeline is a git push. I'm studying for Cloud Practitioner, and this is where the flashcard concepts became real things I'd debugged. Speaking of shared responsibility — next slide is my favorite bug of the summer.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favorite bug. I did the textbook thing — trust the last X-Forwarded-For hop. Then production: thirty rapid requests, zero rate limits. Amplify's router was appending CloudFront's own edge IP after the real client IP, so the last hop was never the client. It was Amazon. Fix: second-to-last hop, global backstop, regression test pinning the exact header shapes. Forty seconds of story, a semester of networking.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worth stealing: write the spec before the prompt. Publish what your model gets wrong — the awkward numbers bought me more trust than the good ones. Pick tools that make rigor fun, because fun is load-bearing. And the model says its AI term is a bet about the next decade — so in 2034 I re-run the back-test and publish how my ratings aged. Ratings agencies should eat their own cooking. Thanks.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MAIN-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HERO-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LOS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04672" y="402336"/>
            <a:ext cx="10789920" cy="310896"/>
          </a:xfrm>
          <a:prstGeom prst="rect">
            <a:avLst/>
          </a:prstGeom>
          <a:noFill/>
          <a:ln/>
        </p:spPr>
        <p:txBody>
          <a:bodyPr wrap="square" rtlCol="0"/>
          <a:lstStyle>
            <a:lvl1pPr indent="0" marL="0">
              <a:buNone/>
              <a:defRPr lang="en-US" dirty="0"/>
            </a:lvl1pPr>
          </a:lstStyle>
          <a:p>
            <a:pPr indent="0" marL="0">
              <a:buNone/>
            </a:pPr>
            <a:endParaRPr lang="en-US" dirty="0"/>
          </a:p>
        </p:txBody>
      </p:sp>
      <p:sp>
        <p:nvSpPr>
          <p:cNvPr id="3" name="Text 0"/>
          <p:cNvSpPr/>
          <p:nvPr>
            <p:ph idx="101" type="title" hasCustomPrompt="1"/>
          </p:nvPr>
        </p:nvSpPr>
        <p:spPr>
          <a:xfrm>
            <a:off x="548640" y="749808"/>
            <a:ext cx="11091672" cy="96012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1527048" y="1874520"/>
            <a:ext cx="9144000" cy="11430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3" name="Text 0"/>
          <p:cNvSpPr/>
          <p:nvPr>
            <p:ph idx="101" type="body" hasCustomPrompt="1"/>
          </p:nvPr>
        </p:nvSpPr>
        <p:spPr>
          <a:xfrm>
            <a:off x="1527048" y="3063240"/>
            <a:ext cx="9144000" cy="54864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49808"/>
            <a:ext cx="11091672" cy="96012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69864" y="1298448"/>
            <a:ext cx="621792" cy="649224"/>
          </a:xfrm>
          <a:prstGeom prst="rect">
            <a:avLst/>
          </a:prstGeom>
        </p:spPr>
      </p:pic>
      <p:sp>
        <p:nvSpPr>
          <p:cNvPr id="3" name="Text 0"/>
          <p:cNvSpPr/>
          <p:nvPr>
            <p:ph idx="100" type="title" hasCustomPrompt="1"/>
          </p:nvPr>
        </p:nvSpPr>
        <p:spPr>
          <a:xfrm>
            <a:off x="1527048" y="1874520"/>
            <a:ext cx="9144000" cy="1143000"/>
          </a:xfrm>
          <a:prstGeom prst="rect">
            <a:avLst/>
          </a:prstGeom>
          <a:noFill/>
          <a:ln/>
        </p:spPr>
        <p:txBody>
          <a:bodyPr wrap="square" lIns="0" tIns="0" rIns="0" bIns="0" rtlCol="0"/>
          <a:lstStyle/>
          <a:p>
            <a:pPr algn="ctr" indent="0" marL="0">
              <a:buNone/>
            </a:pPr>
            <a:r>
              <a:rPr lang="en-US" sz="6000" b="1" dirty="0">
                <a:solidFill>
                  <a:srgbClr val="FFFFFF"/>
                </a:solidFill>
                <a:latin typeface="Arial" pitchFamily="34" charset="0"/>
                <a:ea typeface="Arial" pitchFamily="34" charset="-122"/>
                <a:cs typeface="Arial" pitchFamily="34" charset="-120"/>
              </a:rPr>
              <a:t>Career</a:t>
            </a:r>
            <a:pPr algn="ctr" indent="0" marL="0">
              <a:buNone/>
            </a:pPr>
            <a:r>
              <a:rPr lang="en-US" sz="6000" b="1" dirty="0">
                <a:solidFill>
                  <a:srgbClr val="4F74F0"/>
                </a:solidFill>
                <a:latin typeface="Arial" pitchFamily="34" charset="0"/>
                <a:ea typeface="Arial" pitchFamily="34" charset="-122"/>
                <a:cs typeface="Arial" pitchFamily="34" charset="-120"/>
              </a:rPr>
              <a:t>Star</a:t>
            </a:r>
            <a:endParaRPr lang="en-US" sz="6000" dirty="0"/>
          </a:p>
        </p:txBody>
      </p:sp>
      <p:sp>
        <p:nvSpPr>
          <p:cNvPr id="4" name="Text 0"/>
          <p:cNvSpPr/>
          <p:nvPr>
            <p:ph idx="101" type="body" hasCustomPrompt="1"/>
          </p:nvPr>
        </p:nvSpPr>
        <p:spPr>
          <a:xfrm>
            <a:off x="1527048" y="3063240"/>
            <a:ext cx="9144000" cy="548640"/>
          </a:xfrm>
          <a:prstGeom prst="rect">
            <a:avLst/>
          </a:prstGeom>
          <a:noFill/>
          <a:ln/>
        </p:spPr>
        <p:txBody>
          <a:bodyPr wrap="square" lIns="0" tIns="0" rIns="0" bIns="0" rtlCol="0"/>
          <a:lstStyle/>
          <a:p>
            <a:pPr algn="ctr" indent="0" marL="0">
              <a:buNone/>
            </a:pPr>
            <a:r>
              <a:rPr lang="en-US" sz="2000" dirty="0">
                <a:solidFill>
                  <a:srgbClr val="9DB0D9"/>
                </a:solidFill>
                <a:latin typeface="Arial" pitchFamily="34" charset="0"/>
                <a:ea typeface="Arial" pitchFamily="34" charset="-122"/>
                <a:cs typeface="Arial" pitchFamily="34" charset="-120"/>
              </a:rPr>
              <a:t>How I spec-built a ratings agency with a team of AI agents.</a:t>
            </a:r>
            <a:endParaRPr lang="en-US" sz="2000" dirty="0"/>
          </a:p>
        </p:txBody>
      </p:sp>
      <p:sp>
        <p:nvSpPr>
          <p:cNvPr id="5" name="Shape 2"/>
          <p:cNvSpPr/>
          <p:nvPr/>
        </p:nvSpPr>
        <p:spPr>
          <a:xfrm>
            <a:off x="4727448" y="4846320"/>
            <a:ext cx="2743200" cy="10973"/>
          </a:xfrm>
          <a:prstGeom prst="rect">
            <a:avLst/>
          </a:prstGeom>
          <a:solidFill>
            <a:srgbClr val="4F74F0"/>
          </a:solidFill>
          <a:ln/>
        </p:spPr>
      </p:sp>
      <p:sp>
        <p:nvSpPr>
          <p:cNvPr id="6" name="Text 3"/>
          <p:cNvSpPr/>
          <p:nvPr/>
        </p:nvSpPr>
        <p:spPr>
          <a:xfrm>
            <a:off x="2898648" y="5120640"/>
            <a:ext cx="6400800" cy="1097280"/>
          </a:xfrm>
          <a:prstGeom prst="rect">
            <a:avLst/>
          </a:prstGeom>
          <a:noFill/>
          <a:ln/>
        </p:spPr>
        <p:txBody>
          <a:bodyPr wrap="square" lIns="0" tIns="0" rIns="0" bIns="0" rtlCol="0" anchor="t"/>
          <a:lstStyle/>
          <a:p>
            <a:pPr algn="ctr" indent="0" marL="0">
              <a:buNone/>
            </a:pPr>
            <a:r>
              <a:rPr lang="en-US" sz="1600" b="1" dirty="0">
                <a:solidFill>
                  <a:srgbClr val="E8EEFC"/>
                </a:solidFill>
                <a:latin typeface="Arial" pitchFamily="34" charset="0"/>
                <a:ea typeface="Arial" pitchFamily="34" charset="-122"/>
                <a:cs typeface="Arial" pitchFamily="34" charset="-120"/>
              </a:rPr>
              <a:t>Ashley Libasci</a:t>
            </a:r>
            <a:endParaRPr lang="en-US" sz="1400" dirty="0"/>
          </a:p>
          <a:p>
            <a:pPr algn="ctr" indent="0" marL="0">
              <a:buNone/>
            </a:pPr>
            <a:r>
              <a:rPr lang="en-US" sz="1400" dirty="0">
                <a:solidFill>
                  <a:srgbClr val="9DB0D9"/>
                </a:solidFill>
                <a:latin typeface="Arial" pitchFamily="34" charset="0"/>
                <a:ea typeface="Arial" pitchFamily="34" charset="-122"/>
                <a:cs typeface="Arial" pitchFamily="34" charset="-120"/>
              </a:rPr>
              <a:t>Math + CS, UIUC ’27  ·  ashleylibasci.com</a:t>
            </a:r>
            <a:endParaRPr lang="en-US" sz="1400" dirty="0"/>
          </a:p>
          <a:p>
            <a:pPr algn="ctr" indent="0" marL="0">
              <a:buNone/>
            </a:pPr>
            <a:r>
              <a:rPr lang="en-US" sz="1400" dirty="0">
                <a:solidFill>
                  <a:srgbClr val="5E6F9E"/>
                </a:solidFill>
                <a:latin typeface="Arial" pitchFamily="34" charset="0"/>
                <a:ea typeface="Arial" pitchFamily="34" charset="-122"/>
                <a:cs typeface="Arial" pitchFamily="34" charset="-120"/>
              </a:rPr>
              <a:t>Capital One · August 6,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38912"/>
            <a:ext cx="182880" cy="192024"/>
          </a:xfrm>
          <a:prstGeom prst="rect">
            <a:avLst/>
          </a:prstGeom>
        </p:spPr>
      </p:pic>
      <p:sp>
        <p:nvSpPr>
          <p:cNvPr id="3" name="Text 0"/>
          <p:cNvSpPr/>
          <p:nvPr>
            <p:ph idx="100" type="body" hasCustomPrompt="1"/>
          </p:nvPr>
        </p:nvSpPr>
        <p:spPr>
          <a:xfrm>
            <a:off x="804672" y="402336"/>
            <a:ext cx="10789920" cy="310896"/>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01 · THE THING ITSELF</a:t>
            </a:r>
            <a:endParaRPr lang="en-US" sz="1400" dirty="0"/>
          </a:p>
        </p:txBody>
      </p:sp>
      <p:sp>
        <p:nvSpPr>
          <p:cNvPr id="4" name="Text 0"/>
          <p:cNvSpPr/>
          <p:nvPr>
            <p:ph idx="101" type="title" hasCustomPrompt="1"/>
          </p:nvPr>
        </p:nvSpPr>
        <p:spPr>
          <a:xfrm>
            <a:off x="548640" y="749808"/>
            <a:ext cx="11091672" cy="960120"/>
          </a:xfrm>
          <a:prstGeom prst="rect">
            <a:avLst/>
          </a:prstGeom>
          <a:noFill/>
          <a:ln/>
        </p:spPr>
        <p:txBody>
          <a:bodyPr wrap="square" lIns="0" tIns="0" rIns="0" bIns="0" rtlCol="0"/>
          <a:lstStyle/>
          <a:p>
            <a:pPr algn="l" indent="0" marL="0">
              <a:buNone/>
            </a:pPr>
            <a:r>
              <a:rPr lang="en-US" sz="3200" b="1" dirty="0">
                <a:solidFill>
                  <a:srgbClr val="E8EEFC"/>
                </a:solidFill>
                <a:latin typeface="Arial" pitchFamily="34" charset="0"/>
                <a:ea typeface="Arial" pitchFamily="34" charset="-122"/>
                <a:cs typeface="Arial" pitchFamily="34" charset="-120"/>
              </a:rPr>
              <a:t>CareerStar rates careers the way you rate assets</a:t>
            </a:r>
            <a:endParaRPr lang="en-US" sz="3200" dirty="0"/>
          </a:p>
        </p:txBody>
      </p:sp>
      <p:sp>
        <p:nvSpPr>
          <p:cNvPr id="5" name="Text 2"/>
          <p:cNvSpPr/>
          <p:nvPr/>
        </p:nvSpPr>
        <p:spPr>
          <a:xfrm>
            <a:off x="548640" y="2011680"/>
            <a:ext cx="5029200" cy="2606040"/>
          </a:xfrm>
          <a:prstGeom prst="roundRect">
            <a:avLst>
              <a:gd name="adj" fmla="val 3158"/>
            </a:avLst>
          </a:prstGeom>
          <a:solidFill>
            <a:srgbClr val="101A38"/>
          </a:solidFill>
          <a:ln w="9525">
            <a:solidFill>
              <a:srgbClr val="24325C"/>
            </a:solidFill>
          </a:ln>
        </p:spPr>
        <p:txBody>
          <a:bodyPr wrap="square" lIns="203200" tIns="203200" rIns="203200" bIns="203200" rtlCol="0" anchor="t"/>
          <a:lstStyle/>
          <a:p>
            <a:pPr algn="l" indent="0" marL="0">
              <a:buNone/>
            </a:pPr>
            <a:r>
              <a:rPr lang="en-US" sz="1400" b="1" dirty="0">
                <a:solidFill>
                  <a:srgbClr val="4F74F0"/>
                </a:solidFill>
                <a:latin typeface="Arial" pitchFamily="34" charset="0"/>
                <a:ea typeface="Arial" pitchFamily="34" charset="-122"/>
                <a:cs typeface="Arial" pitchFamily="34" charset="-120"/>
              </a:rPr>
              <a:t>★ BEST BET</a:t>
            </a:r>
            <a:endParaRPr lang="en-US" sz="1400" dirty="0"/>
          </a:p>
          <a:p>
            <a:pPr algn="l" indent="0" marL="0">
              <a:buNone/>
            </a:pPr>
            <a:r>
              <a:rPr lang="en-US" sz="2200" b="1" dirty="0">
                <a:solidFill>
                  <a:srgbClr val="E8EEFC"/>
                </a:solidFill>
                <a:latin typeface="Arial" pitchFamily="34" charset="0"/>
                <a:ea typeface="Arial" pitchFamily="34" charset="-122"/>
                <a:cs typeface="Arial" pitchFamily="34" charset="-120"/>
              </a:rPr>
              <a:t>Registered nurses</a:t>
            </a:r>
            <a:endParaRPr lang="en-US" sz="1400" dirty="0"/>
          </a:p>
          <a:p>
            <a:pPr algn="l" indent="0" marL="0">
              <a:buNone/>
            </a:pPr>
            <a:r>
              <a:rPr lang="en-US" sz="1400" dirty="0">
                <a:solidFill>
                  <a:srgbClr val="34D399"/>
                </a:solidFill>
                <a:latin typeface="Arial" pitchFamily="34" charset="0"/>
                <a:ea typeface="Arial" pitchFamily="34" charset="-122"/>
                <a:cs typeface="Arial" pitchFamily="34" charset="-120"/>
              </a:rPr>
              <a:t>Top tier · top 10% of careers · 🏰 wide moat</a:t>
            </a:r>
            <a:endParaRPr lang="en-US" sz="1400" dirty="0"/>
          </a:p>
          <a:p>
            <a:pPr algn="l" indent="0" marL="0">
              <a:buNone/>
            </a:pPr>
            <a:r>
              <a:rPr lang="en-US" sz="1400" dirty="0">
                <a:solidFill>
                  <a:srgbClr val="9DB0D9"/>
                </a:solidFill>
                <a:latin typeface="Courier New" pitchFamily="34" charset="0"/>
                <a:ea typeface="Courier New" pitchFamily="34" charset="-122"/>
                <a:cs typeface="Courier New" pitchFamily="34" charset="-120"/>
              </a:rPr>
              <a:t>Return 71 · Resilience 78 · Fit 62</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Bulls: strong growth, wide moat.</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Bears: pay trails other graduate paths.</a:t>
            </a:r>
            <a:endParaRPr lang="en-US" sz="1400" dirty="0"/>
          </a:p>
        </p:txBody>
      </p:sp>
      <p:pic>
        <p:nvPicPr>
          <p:cNvPr id="6" name="Image 1" descr="preencoded.png">    </p:cNvPr>
          <p:cNvPicPr>
            <a:picLocks noChangeAspect="1"/>
          </p:cNvPicPr>
          <p:nvPr/>
        </p:nvPicPr>
        <p:blipFill>
          <a:blip r:embed="rId2"/>
          <a:stretch>
            <a:fillRect/>
          </a:stretch>
        </p:blipFill>
        <p:spPr>
          <a:xfrm>
            <a:off x="3886200" y="3200400"/>
            <a:ext cx="1280160" cy="1280160"/>
          </a:xfrm>
          <a:prstGeom prst="rect">
            <a:avLst/>
          </a:prstGeom>
        </p:spPr>
      </p:pic>
      <p:sp>
        <p:nvSpPr>
          <p:cNvPr id="7" name="Text 3"/>
          <p:cNvSpPr/>
          <p:nvPr/>
        </p:nvSpPr>
        <p:spPr>
          <a:xfrm>
            <a:off x="6035040" y="1956816"/>
            <a:ext cx="1005840" cy="548640"/>
          </a:xfrm>
          <a:prstGeom prst="rect">
            <a:avLst/>
          </a:prstGeom>
          <a:noFill/>
          <a:ln/>
        </p:spPr>
        <p:txBody>
          <a:bodyPr wrap="square" lIns="0" tIns="0" rIns="0" bIns="0" rtlCol="0" anchor="t"/>
          <a:lstStyle/>
          <a:p>
            <a:pPr algn="l" indent="0" marL="0">
              <a:buNone/>
            </a:pPr>
            <a:r>
              <a:rPr lang="en-US" sz="3400" b="1" dirty="0">
                <a:solidFill>
                  <a:srgbClr val="4F74F0"/>
                </a:solidFill>
                <a:latin typeface="Courier New" pitchFamily="34" charset="0"/>
                <a:ea typeface="Courier New" pitchFamily="34" charset="-122"/>
                <a:cs typeface="Courier New" pitchFamily="34" charset="-120"/>
              </a:rPr>
              <a:t>730</a:t>
            </a:r>
            <a:endParaRPr lang="en-US" sz="1400" dirty="0"/>
          </a:p>
        </p:txBody>
      </p:sp>
      <p:sp>
        <p:nvSpPr>
          <p:cNvPr id="8" name="Text 4"/>
          <p:cNvSpPr/>
          <p:nvPr/>
        </p:nvSpPr>
        <p:spPr>
          <a:xfrm>
            <a:off x="7086600" y="2084832"/>
            <a:ext cx="4572000" cy="457200"/>
          </a:xfrm>
          <a:prstGeom prst="rect">
            <a:avLst/>
          </a:prstGeom>
          <a:noFill/>
          <a:ln/>
        </p:spPr>
        <p:txBody>
          <a:bodyPr wrap="square" lIns="0" tIns="0" rIns="0" bIns="0" rtlCol="0" anchor="t"/>
          <a:lstStyle/>
          <a:p>
            <a:pPr algn="l" indent="0" marL="0">
              <a:buNone/>
            </a:pPr>
            <a:r>
              <a:rPr lang="en-US" sz="1600" dirty="0">
                <a:solidFill>
                  <a:srgbClr val="E8EEFC"/>
                </a:solidFill>
                <a:latin typeface="Arial" pitchFamily="34" charset="0"/>
                <a:ea typeface="Arial" pitchFamily="34" charset="-122"/>
                <a:cs typeface="Arial" pitchFamily="34" charset="-120"/>
              </a:rPr>
              <a:t>U.S. occupations, every one rated</a:t>
            </a:r>
            <a:endParaRPr lang="en-US" sz="1400" dirty="0"/>
          </a:p>
        </p:txBody>
      </p:sp>
      <p:sp>
        <p:nvSpPr>
          <p:cNvPr id="9" name="Shape 5"/>
          <p:cNvSpPr/>
          <p:nvPr/>
        </p:nvSpPr>
        <p:spPr>
          <a:xfrm>
            <a:off x="6035040" y="2724912"/>
            <a:ext cx="5605272" cy="10973"/>
          </a:xfrm>
          <a:prstGeom prst="rect">
            <a:avLst/>
          </a:prstGeom>
          <a:solidFill>
            <a:srgbClr val="24325C"/>
          </a:solidFill>
          <a:ln/>
        </p:spPr>
      </p:sp>
      <p:sp>
        <p:nvSpPr>
          <p:cNvPr id="10" name="Text 6"/>
          <p:cNvSpPr/>
          <p:nvPr/>
        </p:nvSpPr>
        <p:spPr>
          <a:xfrm>
            <a:off x="6035040" y="2852928"/>
            <a:ext cx="1005840" cy="548640"/>
          </a:xfrm>
          <a:prstGeom prst="rect">
            <a:avLst/>
          </a:prstGeom>
          <a:noFill/>
          <a:ln/>
        </p:spPr>
        <p:txBody>
          <a:bodyPr wrap="square" lIns="0" tIns="0" rIns="0" bIns="0" rtlCol="0" anchor="t"/>
          <a:lstStyle/>
          <a:p>
            <a:pPr algn="l" indent="0" marL="0">
              <a:buNone/>
            </a:pPr>
            <a:r>
              <a:rPr lang="en-US" sz="3400" b="1" dirty="0">
                <a:solidFill>
                  <a:srgbClr val="4F74F0"/>
                </a:solidFill>
                <a:latin typeface="Courier New" pitchFamily="34" charset="0"/>
                <a:ea typeface="Courier New" pitchFamily="34" charset="-122"/>
                <a:cs typeface="Courier New" pitchFamily="34" charset="-120"/>
              </a:rPr>
              <a:t>5</a:t>
            </a:r>
            <a:endParaRPr lang="en-US" sz="1400" dirty="0"/>
          </a:p>
        </p:txBody>
      </p:sp>
      <p:sp>
        <p:nvSpPr>
          <p:cNvPr id="11" name="Text 7"/>
          <p:cNvSpPr/>
          <p:nvPr/>
        </p:nvSpPr>
        <p:spPr>
          <a:xfrm>
            <a:off x="7086600" y="2980944"/>
            <a:ext cx="4572000" cy="457200"/>
          </a:xfrm>
          <a:prstGeom prst="rect">
            <a:avLst/>
          </a:prstGeom>
          <a:noFill/>
          <a:ln/>
        </p:spPr>
        <p:txBody>
          <a:bodyPr wrap="square" lIns="0" tIns="0" rIns="0" bIns="0" rtlCol="0" anchor="t"/>
          <a:lstStyle/>
          <a:p>
            <a:pPr algn="l" indent="0" marL="0">
              <a:buNone/>
            </a:pPr>
            <a:r>
              <a:rPr lang="en-US" sz="1600" dirty="0">
                <a:solidFill>
                  <a:srgbClr val="E8EEFC"/>
                </a:solidFill>
                <a:latin typeface="Arial" pitchFamily="34" charset="0"/>
                <a:ea typeface="Arial" pitchFamily="34" charset="-122"/>
                <a:cs typeface="Arial" pitchFamily="34" charset="-120"/>
              </a:rPr>
              <a:t>rival scoring models, swappable live</a:t>
            </a:r>
            <a:endParaRPr lang="en-US" sz="1400" dirty="0"/>
          </a:p>
        </p:txBody>
      </p:sp>
      <p:sp>
        <p:nvSpPr>
          <p:cNvPr id="12" name="Shape 8"/>
          <p:cNvSpPr/>
          <p:nvPr/>
        </p:nvSpPr>
        <p:spPr>
          <a:xfrm>
            <a:off x="6035040" y="3621024"/>
            <a:ext cx="5605272" cy="10973"/>
          </a:xfrm>
          <a:prstGeom prst="rect">
            <a:avLst/>
          </a:prstGeom>
          <a:solidFill>
            <a:srgbClr val="24325C"/>
          </a:solidFill>
          <a:ln/>
        </p:spPr>
      </p:sp>
      <p:sp>
        <p:nvSpPr>
          <p:cNvPr id="13" name="Text 9"/>
          <p:cNvSpPr/>
          <p:nvPr/>
        </p:nvSpPr>
        <p:spPr>
          <a:xfrm>
            <a:off x="6035040" y="3749040"/>
            <a:ext cx="1005840" cy="548640"/>
          </a:xfrm>
          <a:prstGeom prst="rect">
            <a:avLst/>
          </a:prstGeom>
          <a:noFill/>
          <a:ln/>
        </p:spPr>
        <p:txBody>
          <a:bodyPr wrap="square" lIns="0" tIns="0" rIns="0" bIns="0" rtlCol="0" anchor="t"/>
          <a:lstStyle/>
          <a:p>
            <a:pPr algn="l" indent="0" marL="0">
              <a:buNone/>
            </a:pPr>
            <a:r>
              <a:rPr lang="en-US" sz="3400" b="1" dirty="0">
                <a:solidFill>
                  <a:srgbClr val="4F74F0"/>
                </a:solidFill>
                <a:latin typeface="Courier New" pitchFamily="34" charset="0"/>
                <a:ea typeface="Courier New" pitchFamily="34" charset="-122"/>
                <a:cs typeface="Courier New" pitchFamily="34" charset="-120"/>
              </a:rPr>
              <a:t>★</a:t>
            </a:r>
            <a:endParaRPr lang="en-US" sz="1400" dirty="0"/>
          </a:p>
        </p:txBody>
      </p:sp>
      <p:sp>
        <p:nvSpPr>
          <p:cNvPr id="14" name="Text 10"/>
          <p:cNvSpPr/>
          <p:nvPr/>
        </p:nvSpPr>
        <p:spPr>
          <a:xfrm>
            <a:off x="7086600" y="3877056"/>
            <a:ext cx="4572000" cy="457200"/>
          </a:xfrm>
          <a:prstGeom prst="rect">
            <a:avLst/>
          </a:prstGeom>
          <a:noFill/>
          <a:ln/>
        </p:spPr>
        <p:txBody>
          <a:bodyPr wrap="square" lIns="0" tIns="0" rIns="0" bIns="0" rtlCol="0" anchor="t"/>
          <a:lstStyle/>
          <a:p>
            <a:pPr algn="l" indent="0" marL="0">
              <a:buNone/>
            </a:pPr>
            <a:r>
              <a:rPr lang="en-US" sz="1600" dirty="0">
                <a:solidFill>
                  <a:srgbClr val="E8EEFC"/>
                </a:solidFill>
                <a:latin typeface="Arial" pitchFamily="34" charset="0"/>
                <a:ea typeface="Arial" pitchFamily="34" charset="-122"/>
                <a:cs typeface="Arial" pitchFamily="34" charset="-120"/>
              </a:rPr>
              <a:t>stars on a forced curve, moats on the side</a:t>
            </a:r>
            <a:endParaRPr lang="en-US" sz="1400" dirty="0"/>
          </a:p>
        </p:txBody>
      </p:sp>
      <p:sp>
        <p:nvSpPr>
          <p:cNvPr id="15" name="Shape 11"/>
          <p:cNvSpPr/>
          <p:nvPr/>
        </p:nvSpPr>
        <p:spPr>
          <a:xfrm>
            <a:off x="6035040" y="4517136"/>
            <a:ext cx="5605272" cy="10973"/>
          </a:xfrm>
          <a:prstGeom prst="rect">
            <a:avLst/>
          </a:prstGeom>
          <a:solidFill>
            <a:srgbClr val="24325C"/>
          </a:solidFill>
          <a:ln/>
        </p:spPr>
      </p:sp>
      <p:sp>
        <p:nvSpPr>
          <p:cNvPr id="16" name="Text 12"/>
          <p:cNvSpPr/>
          <p:nvPr/>
        </p:nvSpPr>
        <p:spPr>
          <a:xfrm>
            <a:off x="548640" y="5074920"/>
            <a:ext cx="11091672" cy="640080"/>
          </a:xfrm>
          <a:prstGeom prst="rect">
            <a:avLst/>
          </a:prstGeom>
          <a:noFill/>
          <a:ln/>
        </p:spPr>
        <p:txBody>
          <a:bodyPr wrap="square" lIns="0" tIns="0" rIns="0" bIns="0" rtlCol="0" anchor="t"/>
          <a:lstStyle/>
          <a:p>
            <a:pPr algn="l" indent="0" marL="0">
              <a:buNone/>
            </a:pPr>
            <a:r>
              <a:rPr lang="en-US" sz="1400" dirty="0">
                <a:solidFill>
                  <a:srgbClr val="5E6F9E"/>
                </a:solidFill>
                <a:latin typeface="Arial" pitchFamily="34" charset="0"/>
                <a:ea typeface="Arial" pitchFamily="34" charset="-122"/>
                <a:cs typeface="Arial" pitchFamily="34" charset="-120"/>
              </a:rPr>
              <a:t>Data: BLS projections, O*NET skills, published AI-exposure research.  </a:t>
            </a:r>
            <a:pPr algn="l" indent="0" marL="0">
              <a:buNone/>
            </a:pPr>
            <a:r>
              <a:rPr lang="en-US" sz="1400" b="1" dirty="0">
                <a:solidFill>
                  <a:srgbClr val="E8EEFC"/>
                </a:solidFill>
                <a:latin typeface="Arial" pitchFamily="34" charset="0"/>
                <a:ea typeface="Arial" pitchFamily="34" charset="-122"/>
                <a:cs typeface="Arial" pitchFamily="34" charset="-120"/>
              </a:rPr>
              <a:t>Live at ashleylibasci.com — the build is today’s story.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38912"/>
            <a:ext cx="182880" cy="192024"/>
          </a:xfrm>
          <a:prstGeom prst="rect">
            <a:avLst/>
          </a:prstGeom>
        </p:spPr>
      </p:pic>
      <p:sp>
        <p:nvSpPr>
          <p:cNvPr id="3" name="Text 0"/>
          <p:cNvSpPr/>
          <p:nvPr>
            <p:ph idx="100" type="body" hasCustomPrompt="1"/>
          </p:nvPr>
        </p:nvSpPr>
        <p:spPr>
          <a:xfrm>
            <a:off x="804672" y="402336"/>
            <a:ext cx="10789920" cy="310896"/>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02 · THE METHOD</a:t>
            </a:r>
            <a:endParaRPr lang="en-US" sz="1400" dirty="0"/>
          </a:p>
        </p:txBody>
      </p:sp>
      <p:sp>
        <p:nvSpPr>
          <p:cNvPr id="4" name="Text 0"/>
          <p:cNvSpPr/>
          <p:nvPr>
            <p:ph idx="101" type="title" hasCustomPrompt="1"/>
          </p:nvPr>
        </p:nvSpPr>
        <p:spPr>
          <a:xfrm>
            <a:off x="548640" y="749808"/>
            <a:ext cx="11091672" cy="960120"/>
          </a:xfrm>
          <a:prstGeom prst="rect">
            <a:avLst/>
          </a:prstGeom>
          <a:noFill/>
          <a:ln/>
        </p:spPr>
        <p:txBody>
          <a:bodyPr wrap="square" lIns="0" tIns="0" rIns="0" bIns="0" rtlCol="0"/>
          <a:lstStyle/>
          <a:p>
            <a:pPr algn="l" indent="0" marL="0">
              <a:buNone/>
            </a:pPr>
            <a:r>
              <a:rPr lang="en-US" sz="3200" b="1" dirty="0">
                <a:solidFill>
                  <a:srgbClr val="E8EEFC"/>
                </a:solidFill>
                <a:latin typeface="Arial" pitchFamily="34" charset="0"/>
                <a:ea typeface="Arial" pitchFamily="34" charset="-122"/>
                <a:cs typeface="Arial" pitchFamily="34" charset="-120"/>
              </a:rPr>
              <a:t>There’s a name for how this was built</a:t>
            </a:r>
            <a:endParaRPr lang="en-US" sz="3200" dirty="0"/>
          </a:p>
        </p:txBody>
      </p:sp>
      <p:sp>
        <p:nvSpPr>
          <p:cNvPr id="5" name="Text 2"/>
          <p:cNvSpPr/>
          <p:nvPr/>
        </p:nvSpPr>
        <p:spPr>
          <a:xfrm>
            <a:off x="548640" y="1965960"/>
            <a:ext cx="11091672" cy="777240"/>
          </a:xfrm>
          <a:prstGeom prst="rect">
            <a:avLst/>
          </a:prstGeom>
          <a:noFill/>
          <a:ln/>
        </p:spPr>
        <p:txBody>
          <a:bodyPr wrap="square" lIns="0" tIns="0" rIns="0" bIns="0" rtlCol="0" anchor="t"/>
          <a:lstStyle/>
          <a:p>
            <a:pPr algn="l" indent="0" marL="0">
              <a:buNone/>
            </a:pPr>
            <a:r>
              <a:rPr lang="en-US" sz="4600" b="1" dirty="0">
                <a:solidFill>
                  <a:srgbClr val="4F74F0"/>
                </a:solidFill>
                <a:latin typeface="Arial" pitchFamily="34" charset="0"/>
                <a:ea typeface="Arial" pitchFamily="34" charset="-122"/>
                <a:cs typeface="Arial" pitchFamily="34" charset="-120"/>
              </a:rPr>
              <a:t>Spec-driven development</a:t>
            </a:r>
            <a:endParaRPr lang="en-US" sz="1400" dirty="0"/>
          </a:p>
        </p:txBody>
      </p:sp>
      <p:sp>
        <p:nvSpPr>
          <p:cNvPr id="6" name="Text 3"/>
          <p:cNvSpPr/>
          <p:nvPr/>
        </p:nvSpPr>
        <p:spPr>
          <a:xfrm>
            <a:off x="548640" y="2743200"/>
            <a:ext cx="11091672" cy="502920"/>
          </a:xfrm>
          <a:prstGeom prst="rect">
            <a:avLst/>
          </a:prstGeom>
          <a:noFill/>
          <a:ln/>
        </p:spPr>
        <p:txBody>
          <a:bodyPr wrap="square" lIns="0" tIns="0" rIns="0" bIns="0" rtlCol="0" anchor="t"/>
          <a:lstStyle/>
          <a:p>
            <a:pPr algn="l" indent="0" marL="0">
              <a:buNone/>
            </a:pPr>
            <a:r>
              <a:rPr lang="en-US" sz="2200" dirty="0">
                <a:solidFill>
                  <a:srgbClr val="E8EEFC"/>
                </a:solidFill>
                <a:latin typeface="Arial" pitchFamily="34" charset="0"/>
                <a:ea typeface="Arial" pitchFamily="34" charset="-122"/>
                <a:cs typeface="Arial" pitchFamily="34" charset="-120"/>
              </a:rPr>
              <a:t>Write the spec first. The AI codes to the contract.</a:t>
            </a:r>
            <a:endParaRPr lang="en-US" sz="1400" dirty="0"/>
          </a:p>
        </p:txBody>
      </p:sp>
      <p:sp>
        <p:nvSpPr>
          <p:cNvPr id="7" name="Shape 4"/>
          <p:cNvSpPr/>
          <p:nvPr/>
        </p:nvSpPr>
        <p:spPr>
          <a:xfrm>
            <a:off x="548640" y="3429000"/>
            <a:ext cx="11091672" cy="10973"/>
          </a:xfrm>
          <a:prstGeom prst="rect">
            <a:avLst/>
          </a:prstGeom>
          <a:solidFill>
            <a:srgbClr val="24325C"/>
          </a:solidFill>
          <a:ln/>
        </p:spPr>
      </p:sp>
      <p:sp>
        <p:nvSpPr>
          <p:cNvPr id="8" name="Text 5"/>
          <p:cNvSpPr/>
          <p:nvPr/>
        </p:nvSpPr>
        <p:spPr>
          <a:xfrm>
            <a:off x="548640" y="3703320"/>
            <a:ext cx="5212080" cy="1463040"/>
          </a:xfrm>
          <a:prstGeom prst="rect">
            <a:avLst/>
          </a:prstGeom>
          <a:noFill/>
          <a:ln/>
        </p:spPr>
        <p:txBody>
          <a:bodyPr wrap="square" lIns="0" tIns="0" rIns="0" bIns="0" rtlCol="0" anchor="t"/>
          <a:lstStyle/>
          <a:p>
            <a:pPr algn="l" indent="0" marL="0">
              <a:buNone/>
            </a:pPr>
            <a:r>
              <a:rPr lang="en-US" sz="1600" b="1" dirty="0">
                <a:solidFill>
                  <a:srgbClr val="E8EEFC"/>
                </a:solidFill>
                <a:latin typeface="Arial" pitchFamily="34" charset="0"/>
                <a:ea typeface="Arial" pitchFamily="34" charset="-122"/>
                <a:cs typeface="Arial" pitchFamily="34" charset="-120"/>
              </a:rPr>
              <a:t>What that means in practice</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Requirements, architecture, and acceptance criteria exist before any code does — and every agent works against them.</a:t>
            </a:r>
            <a:endParaRPr lang="en-US" sz="1400" dirty="0"/>
          </a:p>
        </p:txBody>
      </p:sp>
      <p:sp>
        <p:nvSpPr>
          <p:cNvPr id="9" name="Text 6"/>
          <p:cNvSpPr/>
          <p:nvPr/>
        </p:nvSpPr>
        <p:spPr>
          <a:xfrm>
            <a:off x="6400800" y="3703320"/>
            <a:ext cx="5239512" cy="1463040"/>
          </a:xfrm>
          <a:prstGeom prst="rect">
            <a:avLst/>
          </a:prstGeom>
          <a:noFill/>
          <a:ln/>
        </p:spPr>
        <p:txBody>
          <a:bodyPr wrap="square" lIns="0" tIns="0" rIns="0" bIns="0" rtlCol="0" anchor="t"/>
          <a:lstStyle/>
          <a:p>
            <a:pPr algn="l" indent="0" marL="0">
              <a:buNone/>
            </a:pPr>
            <a:r>
              <a:rPr lang="en-US" sz="1600" b="1" dirty="0">
                <a:solidFill>
                  <a:srgbClr val="5E6F9E"/>
                </a:solidFill>
                <a:latin typeface="Arial" pitchFamily="34" charset="0"/>
                <a:ea typeface="Arial" pitchFamily="34" charset="-122"/>
                <a:cs typeface="Arial" pitchFamily="34" charset="-120"/>
              </a:rPr>
              <a:t>What it isn’t: vibe coding</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Prompt as you go, context evaporates. Fine for a weekend hack, fatal for a real system.</a:t>
            </a:r>
            <a:endParaRPr lang="en-US" sz="1400" dirty="0"/>
          </a:p>
        </p:txBody>
      </p:sp>
      <p:sp>
        <p:nvSpPr>
          <p:cNvPr id="10" name="Text 7"/>
          <p:cNvSpPr/>
          <p:nvPr/>
        </p:nvSpPr>
        <p:spPr>
          <a:xfrm>
            <a:off x="548640" y="5349240"/>
            <a:ext cx="11091672" cy="822960"/>
          </a:xfrm>
          <a:prstGeom prst="roundRect">
            <a:avLst>
              <a:gd name="adj" fmla="val 10000"/>
            </a:avLst>
          </a:prstGeom>
          <a:solidFill>
            <a:srgbClr val="0C1530"/>
          </a:solidFill>
          <a:ln w="9525">
            <a:solidFill>
              <a:srgbClr val="24325C"/>
            </a:solidFill>
          </a:ln>
        </p:spPr>
        <p:txBody>
          <a:bodyPr wrap="square" lIns="152400" tIns="152400" rIns="152400" bIns="152400" rtlCol="0" anchor="ctr"/>
          <a:lstStyle/>
          <a:p>
            <a:pPr algn="l" indent="0" marL="0">
              <a:buNone/>
            </a:pPr>
            <a:r>
              <a:rPr lang="en-US" sz="1500" b="1" dirty="0">
                <a:solidFill>
                  <a:srgbClr val="4F74F0"/>
                </a:solidFill>
                <a:latin typeface="Arial" pitchFamily="34" charset="0"/>
                <a:ea typeface="Arial" pitchFamily="34" charset="-122"/>
                <a:cs typeface="Arial" pitchFamily="34" charset="-120"/>
              </a:rPr>
              <a:t>My framework: BMAD </a:t>
            </a:r>
            <a:pPr algn="l" indent="0" marL="0">
              <a:buNone/>
            </a:pPr>
            <a:r>
              <a:rPr lang="en-US" sz="1400" dirty="0">
                <a:solidFill>
                  <a:srgbClr val="9DB0D9"/>
                </a:solidFill>
                <a:latin typeface="Arial" pitchFamily="34" charset="0"/>
                <a:ea typeface="Arial" pitchFamily="34" charset="-122"/>
                <a:cs typeface="Arial" pitchFamily="34" charset="-120"/>
              </a:rPr>
              <a:t>(Breakthrough Method for Agile AI-Driven Development) — open source, agent-based. First project with it. It converted me.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38912"/>
            <a:ext cx="182880" cy="192024"/>
          </a:xfrm>
          <a:prstGeom prst="rect">
            <a:avLst/>
          </a:prstGeom>
        </p:spPr>
      </p:pic>
      <p:sp>
        <p:nvSpPr>
          <p:cNvPr id="3" name="Text 0"/>
          <p:cNvSpPr/>
          <p:nvPr>
            <p:ph idx="100" type="body" hasCustomPrompt="1"/>
          </p:nvPr>
        </p:nvSpPr>
        <p:spPr>
          <a:xfrm>
            <a:off x="804672" y="402336"/>
            <a:ext cx="10789920" cy="310896"/>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03 · BMAD</a:t>
            </a:r>
            <a:endParaRPr lang="en-US" sz="1400" dirty="0"/>
          </a:p>
        </p:txBody>
      </p:sp>
      <p:sp>
        <p:nvSpPr>
          <p:cNvPr id="4" name="Text 0"/>
          <p:cNvSpPr/>
          <p:nvPr>
            <p:ph idx="101" type="title" hasCustomPrompt="1"/>
          </p:nvPr>
        </p:nvSpPr>
        <p:spPr>
          <a:xfrm>
            <a:off x="548640" y="749808"/>
            <a:ext cx="11091672" cy="960120"/>
          </a:xfrm>
          <a:prstGeom prst="rect">
            <a:avLst/>
          </a:prstGeom>
          <a:noFill/>
          <a:ln/>
        </p:spPr>
        <p:txBody>
          <a:bodyPr wrap="square" lIns="0" tIns="0" rIns="0" bIns="0" rtlCol="0"/>
          <a:lstStyle/>
          <a:p>
            <a:pPr algn="l" indent="0" marL="0">
              <a:buNone/>
            </a:pPr>
            <a:r>
              <a:rPr lang="en-US" sz="3200" b="1" dirty="0">
                <a:solidFill>
                  <a:srgbClr val="E8EEFC"/>
                </a:solidFill>
                <a:latin typeface="Arial" pitchFamily="34" charset="0"/>
                <a:ea typeface="Arial" pitchFamily="34" charset="-122"/>
                <a:cs typeface="Arial" pitchFamily="34" charset="-120"/>
              </a:rPr>
              <a:t>The pipeline: plan it, build it, attack it</a:t>
            </a:r>
            <a:endParaRPr lang="en-US" sz="3200" dirty="0"/>
          </a:p>
        </p:txBody>
      </p:sp>
      <p:sp>
        <p:nvSpPr>
          <p:cNvPr id="5" name="Text 2"/>
          <p:cNvSpPr/>
          <p:nvPr/>
        </p:nvSpPr>
        <p:spPr>
          <a:xfrm>
            <a:off x="548640" y="2057400"/>
            <a:ext cx="3392424" cy="2286000"/>
          </a:xfrm>
          <a:prstGeom prst="roundRect">
            <a:avLst>
              <a:gd name="adj" fmla="val 3600"/>
            </a:avLst>
          </a:prstGeom>
          <a:solidFill>
            <a:srgbClr val="101A38"/>
          </a:solidFill>
          <a:ln w="9525">
            <a:solidFill>
              <a:srgbClr val="24325C"/>
            </a:solidFill>
          </a:ln>
        </p:spPr>
        <p:txBody>
          <a:bodyPr wrap="square" lIns="203200" tIns="203200" rIns="203200" bIns="203200" rtlCol="0" anchor="t"/>
          <a:lstStyle/>
          <a:p>
            <a:pPr algn="l" indent="0" marL="0">
              <a:buNone/>
            </a:pPr>
            <a:r>
              <a:rPr lang="en-US" sz="2000" b="1" spc="200" kern="0" dirty="0">
                <a:solidFill>
                  <a:srgbClr val="4F74F0"/>
                </a:solidFill>
                <a:latin typeface="Arial" pitchFamily="34" charset="0"/>
                <a:ea typeface="Arial" pitchFamily="34" charset="-122"/>
                <a:cs typeface="Arial" pitchFamily="34" charset="-120"/>
              </a:rPr>
              <a:t>PLAN</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A PM agent interrogates the requirements into a PRD.</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An architect locks the invariants — mine has seven.</a:t>
            </a:r>
            <a:endParaRPr lang="en-US" sz="1400" dirty="0"/>
          </a:p>
        </p:txBody>
      </p:sp>
      <p:sp>
        <p:nvSpPr>
          <p:cNvPr id="6" name="Text 3"/>
          <p:cNvSpPr/>
          <p:nvPr/>
        </p:nvSpPr>
        <p:spPr>
          <a:xfrm>
            <a:off x="4398264" y="2057400"/>
            <a:ext cx="3392424" cy="2286000"/>
          </a:xfrm>
          <a:prstGeom prst="roundRect">
            <a:avLst>
              <a:gd name="adj" fmla="val 3600"/>
            </a:avLst>
          </a:prstGeom>
          <a:solidFill>
            <a:srgbClr val="101A38"/>
          </a:solidFill>
          <a:ln w="9525">
            <a:solidFill>
              <a:srgbClr val="24325C"/>
            </a:solidFill>
          </a:ln>
        </p:spPr>
        <p:txBody>
          <a:bodyPr wrap="square" lIns="203200" tIns="203200" rIns="203200" bIns="203200" rtlCol="0" anchor="t"/>
          <a:lstStyle/>
          <a:p>
            <a:pPr algn="l" indent="0" marL="0">
              <a:buNone/>
            </a:pPr>
            <a:r>
              <a:rPr lang="en-US" sz="2000" b="1" spc="200" kern="0" dirty="0">
                <a:solidFill>
                  <a:srgbClr val="4F74F0"/>
                </a:solidFill>
                <a:latin typeface="Arial" pitchFamily="34" charset="0"/>
                <a:ea typeface="Arial" pitchFamily="34" charset="-122"/>
                <a:cs typeface="Arial" pitchFamily="34" charset="-120"/>
              </a:rPr>
              <a:t>BUILD</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Work splits into 7 epics of stories, each with acceptance criteria.</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A dev agent codes each story, tests included.</a:t>
            </a:r>
            <a:endParaRPr lang="en-US" sz="1400" dirty="0"/>
          </a:p>
        </p:txBody>
      </p:sp>
      <p:sp>
        <p:nvSpPr>
          <p:cNvPr id="7" name="Text 4"/>
          <p:cNvSpPr/>
          <p:nvPr/>
        </p:nvSpPr>
        <p:spPr>
          <a:xfrm>
            <a:off x="8247888" y="2057400"/>
            <a:ext cx="3392424" cy="2286000"/>
          </a:xfrm>
          <a:prstGeom prst="roundRect">
            <a:avLst>
              <a:gd name="adj" fmla="val 3600"/>
            </a:avLst>
          </a:prstGeom>
          <a:solidFill>
            <a:srgbClr val="101A38"/>
          </a:solidFill>
          <a:ln w="9525">
            <a:solidFill>
              <a:srgbClr val="24325C"/>
            </a:solidFill>
          </a:ln>
        </p:spPr>
        <p:txBody>
          <a:bodyPr wrap="square" lIns="203200" tIns="203200" rIns="203200" bIns="203200" rtlCol="0" anchor="t"/>
          <a:lstStyle/>
          <a:p>
            <a:pPr algn="l" indent="0" marL="0">
              <a:buNone/>
            </a:pPr>
            <a:r>
              <a:rPr lang="en-US" sz="2000" b="1" spc="200" kern="0" dirty="0">
                <a:solidFill>
                  <a:srgbClr val="4F74F0"/>
                </a:solidFill>
                <a:latin typeface="Arial" pitchFamily="34" charset="0"/>
                <a:ea typeface="Arial" pitchFamily="34" charset="-122"/>
                <a:cs typeface="Arial" pitchFamily="34" charset="-120"/>
              </a:rPr>
              <a:t>ATTACK</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A cast of reviewer personas tears into every change.</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A retro after each epic feeds the next.</a:t>
            </a:r>
            <a:endParaRPr lang="en-US" sz="1400" dirty="0"/>
          </a:p>
        </p:txBody>
      </p:sp>
      <p:sp>
        <p:nvSpPr>
          <p:cNvPr id="8" name="Text 5"/>
          <p:cNvSpPr/>
          <p:nvPr/>
        </p:nvSpPr>
        <p:spPr>
          <a:xfrm>
            <a:off x="3895344" y="2971800"/>
            <a:ext cx="365760" cy="457200"/>
          </a:xfrm>
          <a:prstGeom prst="rect">
            <a:avLst/>
          </a:prstGeom>
          <a:noFill/>
          <a:ln/>
        </p:spPr>
        <p:txBody>
          <a:bodyPr wrap="square" lIns="0" tIns="0" rIns="0" bIns="0" rtlCol="0" anchor="ctr"/>
          <a:lstStyle/>
          <a:p>
            <a:pPr algn="ctr" indent="0" marL="0">
              <a:buNone/>
            </a:pPr>
            <a:r>
              <a:rPr lang="en-US" sz="2200" b="1" dirty="0">
                <a:solidFill>
                  <a:srgbClr val="4F74F0"/>
                </a:solidFill>
                <a:latin typeface="Arial" pitchFamily="34" charset="0"/>
                <a:ea typeface="Arial" pitchFamily="34" charset="-122"/>
                <a:cs typeface="Arial" pitchFamily="34" charset="-120"/>
              </a:rPr>
              <a:t>→</a:t>
            </a:r>
            <a:endParaRPr lang="en-US" sz="2200" dirty="0"/>
          </a:p>
        </p:txBody>
      </p:sp>
      <p:sp>
        <p:nvSpPr>
          <p:cNvPr id="9" name="Text 6"/>
          <p:cNvSpPr/>
          <p:nvPr/>
        </p:nvSpPr>
        <p:spPr>
          <a:xfrm>
            <a:off x="7744968" y="2971800"/>
            <a:ext cx="365760" cy="457200"/>
          </a:xfrm>
          <a:prstGeom prst="rect">
            <a:avLst/>
          </a:prstGeom>
          <a:noFill/>
          <a:ln/>
        </p:spPr>
        <p:txBody>
          <a:bodyPr wrap="square" lIns="0" tIns="0" rIns="0" bIns="0" rtlCol="0" anchor="ctr"/>
          <a:lstStyle/>
          <a:p>
            <a:pPr algn="ctr" indent="0" marL="0">
              <a:buNone/>
            </a:pPr>
            <a:r>
              <a:rPr lang="en-US" sz="2200" b="1" dirty="0">
                <a:solidFill>
                  <a:srgbClr val="4F74F0"/>
                </a:solidFill>
                <a:latin typeface="Arial" pitchFamily="34" charset="0"/>
                <a:ea typeface="Arial" pitchFamily="34" charset="-122"/>
                <a:cs typeface="Arial" pitchFamily="34" charset="-120"/>
              </a:rPr>
              <a:t>→</a:t>
            </a:r>
            <a:endParaRPr lang="en-US" sz="2200" dirty="0"/>
          </a:p>
        </p:txBody>
      </p:sp>
      <p:sp>
        <p:nvSpPr>
          <p:cNvPr id="10" name="Shape 7"/>
          <p:cNvSpPr/>
          <p:nvPr/>
        </p:nvSpPr>
        <p:spPr>
          <a:xfrm>
            <a:off x="548640" y="4892040"/>
            <a:ext cx="11091672" cy="10973"/>
          </a:xfrm>
          <a:prstGeom prst="rect">
            <a:avLst/>
          </a:prstGeom>
          <a:solidFill>
            <a:srgbClr val="4F74F0"/>
          </a:solidFill>
          <a:ln/>
        </p:spPr>
      </p:sp>
      <p:sp>
        <p:nvSpPr>
          <p:cNvPr id="11" name="Text 8"/>
          <p:cNvSpPr/>
          <p:nvPr/>
        </p:nvSpPr>
        <p:spPr>
          <a:xfrm>
            <a:off x="548640" y="5120640"/>
            <a:ext cx="11091672" cy="8229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The invariant that mattered most:  </a:t>
            </a:r>
            <a:pPr algn="l" indent="0" marL="0">
              <a:buNone/>
            </a:pPr>
            <a:r>
              <a:rPr lang="en-US" sz="1700" b="1" dirty="0">
                <a:solidFill>
                  <a:srgbClr val="4F74F0"/>
                </a:solidFill>
                <a:latin typeface="Arial" pitchFamily="34" charset="0"/>
                <a:ea typeface="Arial" pitchFamily="34" charset="-122"/>
                <a:cs typeface="Arial" pitchFamily="34" charset="-120"/>
              </a:rPr>
              <a:t>“the LLM never computes a number.”</a:t>
            </a:r>
            <a:pPr algn="l" indent="0" marL="0">
              <a:buNone/>
            </a:pPr>
            <a:r>
              <a:rPr lang="en-US" sz="1500" dirty="0">
                <a:solidFill>
                  <a:srgbClr val="9DB0D9"/>
                </a:solidFill>
                <a:latin typeface="Arial" pitchFamily="34" charset="0"/>
                <a:ea typeface="Arial" pitchFamily="34" charset="-122"/>
                <a:cs typeface="Arial" pitchFamily="34" charset="-120"/>
              </a:rPr>
              <a:t>  Locked in the architecture doc before a line of scoring code existed.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38912"/>
            <a:ext cx="182880" cy="192024"/>
          </a:xfrm>
          <a:prstGeom prst="rect">
            <a:avLst/>
          </a:prstGeom>
        </p:spPr>
      </p:pic>
      <p:sp>
        <p:nvSpPr>
          <p:cNvPr id="3" name="Text 0"/>
          <p:cNvSpPr/>
          <p:nvPr>
            <p:ph idx="100" type="body" hasCustomPrompt="1"/>
          </p:nvPr>
        </p:nvSpPr>
        <p:spPr>
          <a:xfrm>
            <a:off x="804672" y="402336"/>
            <a:ext cx="10789920" cy="310896"/>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04 · BMAD, CONTINUED</a:t>
            </a:r>
            <a:endParaRPr lang="en-US" sz="1400" dirty="0"/>
          </a:p>
        </p:txBody>
      </p:sp>
      <p:sp>
        <p:nvSpPr>
          <p:cNvPr id="4" name="Text 0"/>
          <p:cNvSpPr/>
          <p:nvPr>
            <p:ph idx="101" type="title" hasCustomPrompt="1"/>
          </p:nvPr>
        </p:nvSpPr>
        <p:spPr>
          <a:xfrm>
            <a:off x="548640" y="749808"/>
            <a:ext cx="11091672" cy="960120"/>
          </a:xfrm>
          <a:prstGeom prst="rect">
            <a:avLst/>
          </a:prstGeom>
          <a:noFill/>
          <a:ln/>
        </p:spPr>
        <p:txBody>
          <a:bodyPr wrap="square" lIns="0" tIns="0" rIns="0" bIns="0" rtlCol="0"/>
          <a:lstStyle/>
          <a:p>
            <a:pPr algn="l" indent="0" marL="0">
              <a:buNone/>
            </a:pPr>
            <a:r>
              <a:rPr lang="en-US" sz="3200" b="1" dirty="0">
                <a:solidFill>
                  <a:srgbClr val="E8EEFC"/>
                </a:solidFill>
                <a:latin typeface="Arial" pitchFamily="34" charset="0"/>
                <a:ea typeface="Arial" pitchFamily="34" charset="-122"/>
                <a:cs typeface="Arial" pitchFamily="34" charset="-120"/>
              </a:rPr>
              <a:t>My code reviews are a room full of arguing characters</a:t>
            </a:r>
            <a:endParaRPr lang="en-US" sz="3200" dirty="0"/>
          </a:p>
        </p:txBody>
      </p:sp>
      <p:sp>
        <p:nvSpPr>
          <p:cNvPr id="5" name="Text 2"/>
          <p:cNvSpPr/>
          <p:nvPr/>
        </p:nvSpPr>
        <p:spPr>
          <a:xfrm>
            <a:off x="548640" y="2011680"/>
            <a:ext cx="5212080" cy="320040"/>
          </a:xfrm>
          <a:prstGeom prst="rect">
            <a:avLst/>
          </a:prstGeom>
          <a:noFill/>
          <a:ln/>
        </p:spPr>
        <p:txBody>
          <a:bodyPr wrap="square" lIns="0" tIns="0" rIns="0" bIns="0" rtlCol="0" anchor="t"/>
          <a:lstStyle/>
          <a:p>
            <a:pPr algn="l" indent="0" marL="0">
              <a:buNone/>
            </a:pPr>
            <a:r>
              <a:rPr lang="en-US" sz="1600" b="1" dirty="0">
                <a:solidFill>
                  <a:srgbClr val="4F74F0"/>
                </a:solidFill>
                <a:latin typeface="Arial" pitchFamily="34" charset="0"/>
                <a:ea typeface="Arial" pitchFamily="34" charset="-122"/>
                <a:cs typeface="Arial" pitchFamily="34" charset="-120"/>
              </a:rPr>
              <a:t>The cast</a:t>
            </a:r>
            <a:endParaRPr lang="en-US" sz="1400" dirty="0"/>
          </a:p>
        </p:txBody>
      </p:sp>
      <p:sp>
        <p:nvSpPr>
          <p:cNvPr id="6" name="Shape 3"/>
          <p:cNvSpPr/>
          <p:nvPr/>
        </p:nvSpPr>
        <p:spPr>
          <a:xfrm>
            <a:off x="548640" y="2377440"/>
            <a:ext cx="5212080" cy="10973"/>
          </a:xfrm>
          <a:prstGeom prst="rect">
            <a:avLst/>
          </a:prstGeom>
          <a:solidFill>
            <a:srgbClr val="24325C"/>
          </a:solidFill>
          <a:ln/>
        </p:spPr>
      </p:sp>
      <p:sp>
        <p:nvSpPr>
          <p:cNvPr id="7" name="Text 4"/>
          <p:cNvSpPr/>
          <p:nvPr/>
        </p:nvSpPr>
        <p:spPr>
          <a:xfrm>
            <a:off x="548640" y="2560320"/>
            <a:ext cx="5212080" cy="2377440"/>
          </a:xfrm>
          <a:prstGeom prst="rect">
            <a:avLst/>
          </a:prstGeom>
          <a:noFill/>
          <a:ln/>
        </p:spPr>
        <p:txBody>
          <a:bodyPr wrap="square" lIns="0" tIns="0" rIns="0" bIns="0" rtlCol="0" anchor="t"/>
          <a:lstStyle/>
          <a:p>
            <a:pPr algn="l" indent="0" marL="0">
              <a:lnSpc>
                <a:spcPts val="2600"/>
              </a:lnSpc>
              <a:buNone/>
            </a:pPr>
            <a:r>
              <a:rPr lang="en-US" sz="1400" dirty="0">
                <a:solidFill>
                  <a:srgbClr val="9DB0D9"/>
                </a:solidFill>
                <a:latin typeface="Arial" pitchFamily="34" charset="0"/>
                <a:ea typeface="Arial" pitchFamily="34" charset="-122"/>
                <a:cs typeface="Arial" pitchFamily="34" charset="-120"/>
              </a:rPr>
              <a:t>a hiring-manager persona asking what an interviewer would</a:t>
            </a:r>
            <a:endParaRPr lang="en-US" sz="1400" dirty="0"/>
          </a:p>
          <a:p>
            <a:pPr algn="l" indent="0" marL="0">
              <a:lnSpc>
                <a:spcPts val="2600"/>
              </a:lnSpc>
              <a:buNone/>
            </a:pPr>
            <a:r>
              <a:rPr lang="en-US" sz="1400" dirty="0">
                <a:solidFill>
                  <a:srgbClr val="9DB0D9"/>
                </a:solidFill>
                <a:latin typeface="Arial" pitchFamily="34" charset="0"/>
                <a:ea typeface="Arial" pitchFamily="34" charset="-122"/>
                <a:cs typeface="Arial" pitchFamily="34" charset="-120"/>
              </a:rPr>
              <a:t>a fact-checker tracing every published number to a file</a:t>
            </a:r>
            <a:endParaRPr lang="en-US" sz="1400" dirty="0"/>
          </a:p>
          <a:p>
            <a:pPr algn="l" indent="0" marL="0">
              <a:lnSpc>
                <a:spcPts val="2600"/>
              </a:lnSpc>
              <a:buNone/>
            </a:pPr>
            <a:r>
              <a:rPr lang="en-US" sz="1400" dirty="0">
                <a:solidFill>
                  <a:srgbClr val="9DB0D9"/>
                </a:solidFill>
                <a:latin typeface="Arial" pitchFamily="34" charset="0"/>
                <a:ea typeface="Arial" pitchFamily="34" charset="-122"/>
                <a:cs typeface="Arial" pitchFamily="34" charset="-120"/>
              </a:rPr>
              <a:t>a copy chief deleting anything that sounds machine-written</a:t>
            </a:r>
            <a:endParaRPr lang="en-US" sz="1400" dirty="0"/>
          </a:p>
          <a:p>
            <a:pPr algn="l" indent="0" marL="0">
              <a:lnSpc>
                <a:spcPts val="2600"/>
              </a:lnSpc>
              <a:buNone/>
            </a:pPr>
            <a:r>
              <a:rPr lang="en-US" sz="1400" dirty="0">
                <a:solidFill>
                  <a:srgbClr val="9DB0D9"/>
                </a:solidFill>
                <a:latin typeface="Arial" pitchFamily="34" charset="0"/>
                <a:ea typeface="Arial" pitchFamily="34" charset="-122"/>
                <a:cs typeface="Arial" pitchFamily="34" charset="-120"/>
              </a:rPr>
              <a:t>a QA lead, a design critic, one professional grump</a:t>
            </a:r>
            <a:endParaRPr lang="en-US" sz="1400" dirty="0"/>
          </a:p>
          <a:p>
            <a:pPr algn="l" indent="0" marL="0">
              <a:lnSpc>
                <a:spcPts val="2600"/>
              </a:lnSpc>
              <a:buNone/>
            </a:pPr>
            <a:r>
              <a:rPr lang="en-US" sz="1500" b="1" dirty="0">
                <a:solidFill>
                  <a:srgbClr val="4F74F0"/>
                </a:solidFill>
                <a:latin typeface="Arial" pitchFamily="34" charset="0"/>
                <a:ea typeface="Arial" pitchFamily="34" charset="-122"/>
                <a:cs typeface="Arial" pitchFamily="34" charset="-120"/>
              </a:rPr>
              <a:t>They argue with each other. I judge.</a:t>
            </a:r>
            <a:endParaRPr lang="en-US" sz="1400" dirty="0"/>
          </a:p>
        </p:txBody>
      </p:sp>
      <p:sp>
        <p:nvSpPr>
          <p:cNvPr id="8" name="Text 5"/>
          <p:cNvSpPr/>
          <p:nvPr/>
        </p:nvSpPr>
        <p:spPr>
          <a:xfrm>
            <a:off x="6400800" y="2011680"/>
            <a:ext cx="5239512" cy="320040"/>
          </a:xfrm>
          <a:prstGeom prst="rect">
            <a:avLst/>
          </a:prstGeom>
          <a:noFill/>
          <a:ln/>
        </p:spPr>
        <p:txBody>
          <a:bodyPr wrap="square" lIns="0" tIns="0" rIns="0" bIns="0" rtlCol="0" anchor="t"/>
          <a:lstStyle/>
          <a:p>
            <a:pPr algn="l" indent="0" marL="0">
              <a:buNone/>
            </a:pPr>
            <a:r>
              <a:rPr lang="en-US" sz="1600" b="1" dirty="0">
                <a:solidFill>
                  <a:srgbClr val="34D399"/>
                </a:solidFill>
                <a:latin typeface="Arial" pitchFamily="34" charset="0"/>
                <a:ea typeface="Arial" pitchFamily="34" charset="-122"/>
                <a:cs typeface="Arial" pitchFamily="34" charset="-120"/>
              </a:rPr>
              <a:t>What they caught</a:t>
            </a:r>
            <a:endParaRPr lang="en-US" sz="1400" dirty="0"/>
          </a:p>
        </p:txBody>
      </p:sp>
      <p:sp>
        <p:nvSpPr>
          <p:cNvPr id="9" name="Shape 6"/>
          <p:cNvSpPr/>
          <p:nvPr/>
        </p:nvSpPr>
        <p:spPr>
          <a:xfrm>
            <a:off x="6400800" y="2377440"/>
            <a:ext cx="5239512" cy="10973"/>
          </a:xfrm>
          <a:prstGeom prst="rect">
            <a:avLst/>
          </a:prstGeom>
          <a:solidFill>
            <a:srgbClr val="24325C"/>
          </a:solidFill>
          <a:ln/>
        </p:spPr>
      </p:sp>
      <p:sp>
        <p:nvSpPr>
          <p:cNvPr id="10" name="Text 7"/>
          <p:cNvSpPr/>
          <p:nvPr/>
        </p:nvSpPr>
        <p:spPr>
          <a:xfrm>
            <a:off x="6400800" y="2560320"/>
            <a:ext cx="5239512" cy="2377440"/>
          </a:xfrm>
          <a:prstGeom prst="rect">
            <a:avLst/>
          </a:prstGeom>
          <a:noFill/>
          <a:ln/>
        </p:spPr>
        <p:txBody>
          <a:bodyPr wrap="square" lIns="0" tIns="0" rIns="0" bIns="0" rtlCol="0" anchor="t"/>
          <a:lstStyle/>
          <a:p>
            <a:pPr algn="l" indent="0" marL="0">
              <a:buNone/>
            </a:pPr>
            <a:r>
              <a:rPr lang="en-US" sz="1400" b="1" dirty="0">
                <a:solidFill>
                  <a:srgbClr val="E8EEFC"/>
                </a:solidFill>
                <a:latin typeface="Arial" pitchFamily="34" charset="0"/>
                <a:ea typeface="Arial" pitchFamily="34" charset="-122"/>
                <a:cs typeface="Arial" pitchFamily="34" charset="-120"/>
              </a:rPr>
              <a:t>The fit overclaim. </a:t>
            </a:r>
            <a:pPr algn="l" indent="0" marL="0">
              <a:buNone/>
            </a:pPr>
            <a:r>
              <a:rPr lang="en-US" sz="1400" dirty="0">
                <a:solidFill>
                  <a:srgbClr val="9DB0D9"/>
                </a:solidFill>
                <a:latin typeface="Arial" pitchFamily="34" charset="0"/>
                <a:ea typeface="Arial" pitchFamily="34" charset="-122"/>
                <a:cs typeface="Arial" pitchFamily="34" charset="-120"/>
              </a:rPr>
              <a:t>My methodology page described skill-vector matching before the vectors were wired in. Caught, rebuilt, then published as the story of the catch.</a:t>
            </a:r>
            <a:endParaRPr lang="en-US" sz="1400" dirty="0"/>
          </a:p>
          <a:p>
            <a:pPr algn="l" indent="0" marL="0">
              <a:buNone/>
            </a:pPr>
            <a:endParaRPr lang="en-US" sz="1400" dirty="0"/>
          </a:p>
          <a:p>
            <a:pPr algn="l" indent="0" marL="0">
              <a:buNone/>
            </a:pPr>
            <a:r>
              <a:rPr lang="en-US" sz="1400" b="1" dirty="0">
                <a:solidFill>
                  <a:srgbClr val="E8EEFC"/>
                </a:solidFill>
                <a:latin typeface="Arial" pitchFamily="34" charset="0"/>
                <a:ea typeface="Arial" pitchFamily="34" charset="-122"/>
                <a:cs typeface="Arial" pitchFamily="34" charset="-120"/>
              </a:rPr>
              <a:t>The buried back-test. </a:t>
            </a:r>
            <a:pPr algn="l" indent="0" marL="0">
              <a:buNone/>
            </a:pPr>
            <a:r>
              <a:rPr lang="en-US" sz="1400" dirty="0">
                <a:solidFill>
                  <a:srgbClr val="9DB0D9"/>
                </a:solidFill>
                <a:latin typeface="Arial" pitchFamily="34" charset="0"/>
                <a:ea typeface="Arial" pitchFamily="34" charset="-122"/>
                <a:cs typeface="Arial" pitchFamily="34" charset="-120"/>
              </a:rPr>
              <a:t>The hiring-manager persona fought twice to keep my strongest evidence above the fold. It was right.</a:t>
            </a:r>
            <a:endParaRPr lang="en-US" sz="1400" dirty="0"/>
          </a:p>
        </p:txBody>
      </p:sp>
      <p:sp>
        <p:nvSpPr>
          <p:cNvPr id="11" name="Shape 8"/>
          <p:cNvSpPr/>
          <p:nvPr/>
        </p:nvSpPr>
        <p:spPr>
          <a:xfrm>
            <a:off x="548640" y="5166360"/>
            <a:ext cx="11091672" cy="10973"/>
          </a:xfrm>
          <a:prstGeom prst="rect">
            <a:avLst/>
          </a:prstGeom>
          <a:solidFill>
            <a:srgbClr val="4F74F0"/>
          </a:solidFill>
          <a:ln/>
        </p:spPr>
      </p:sp>
      <p:sp>
        <p:nvSpPr>
          <p:cNvPr id="12" name="Text 9"/>
          <p:cNvSpPr/>
          <p:nvPr/>
        </p:nvSpPr>
        <p:spPr>
          <a:xfrm>
            <a:off x="548640" y="5394960"/>
            <a:ext cx="11091672" cy="457200"/>
          </a:xfrm>
          <a:prstGeom prst="rect">
            <a:avLst/>
          </a:prstGeom>
          <a:noFill/>
          <a:ln/>
        </p:spPr>
        <p:txBody>
          <a:bodyPr wrap="square" lIns="0" tIns="0" rIns="0" bIns="0" rtlCol="0" anchor="t"/>
          <a:lstStyle/>
          <a:p>
            <a:pPr algn="ctr" indent="0" marL="0">
              <a:buNone/>
            </a:pPr>
            <a:r>
              <a:rPr lang="en-US" sz="1600" i="1" dirty="0">
                <a:solidFill>
                  <a:srgbClr val="4F74F0"/>
                </a:solidFill>
                <a:latin typeface="Arial" pitchFamily="34" charset="0"/>
                <a:ea typeface="Arial" pitchFamily="34" charset="-122"/>
                <a:cs typeface="Arial" pitchFamily="34" charset="-120"/>
              </a:rPr>
              <a:t>Honest review: this was fun. That matters — review you enjoy is review you actually run.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38912"/>
            <a:ext cx="182880" cy="192024"/>
          </a:xfrm>
          <a:prstGeom prst="rect">
            <a:avLst/>
          </a:prstGeom>
        </p:spPr>
      </p:pic>
      <p:sp>
        <p:nvSpPr>
          <p:cNvPr id="3" name="Text 0"/>
          <p:cNvSpPr/>
          <p:nvPr>
            <p:ph idx="100" type="body" hasCustomPrompt="1"/>
          </p:nvPr>
        </p:nvSpPr>
        <p:spPr>
          <a:xfrm>
            <a:off x="804672" y="402336"/>
            <a:ext cx="10789920" cy="310896"/>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05 · THE DIFFERENCE</a:t>
            </a:r>
            <a:endParaRPr lang="en-US" sz="1400" dirty="0"/>
          </a:p>
        </p:txBody>
      </p:sp>
      <p:sp>
        <p:nvSpPr>
          <p:cNvPr id="4" name="Text 0"/>
          <p:cNvSpPr/>
          <p:nvPr>
            <p:ph idx="101" type="title" hasCustomPrompt="1"/>
          </p:nvPr>
        </p:nvSpPr>
        <p:spPr>
          <a:xfrm>
            <a:off x="548640" y="749808"/>
            <a:ext cx="11091672" cy="960120"/>
          </a:xfrm>
          <a:prstGeom prst="rect">
            <a:avLst/>
          </a:prstGeom>
          <a:noFill/>
          <a:ln/>
        </p:spPr>
        <p:txBody>
          <a:bodyPr wrap="square" lIns="0" tIns="0" rIns="0" bIns="0" rtlCol="0"/>
          <a:lstStyle/>
          <a:p>
            <a:pPr algn="l" indent="0" marL="0">
              <a:buNone/>
            </a:pPr>
            <a:r>
              <a:rPr lang="en-US" sz="3200" b="1" dirty="0">
                <a:solidFill>
                  <a:srgbClr val="E8EEFC"/>
                </a:solidFill>
                <a:latin typeface="Arial" pitchFamily="34" charset="0"/>
                <a:ea typeface="Arial" pitchFamily="34" charset="-122"/>
                <a:cs typeface="Arial" pitchFamily="34" charset="-120"/>
              </a:rPr>
              <a:t>Same AI. Opposite discipline.</a:t>
            </a:r>
            <a:endParaRPr lang="en-US" sz="3200" dirty="0"/>
          </a:p>
        </p:txBody>
      </p:sp>
      <p:sp>
        <p:nvSpPr>
          <p:cNvPr id="5" name="Text 2"/>
          <p:cNvSpPr/>
          <p:nvPr/>
        </p:nvSpPr>
        <p:spPr>
          <a:xfrm>
            <a:off x="548640" y="2011680"/>
            <a:ext cx="5212080" cy="320040"/>
          </a:xfrm>
          <a:prstGeom prst="rect">
            <a:avLst/>
          </a:prstGeom>
          <a:noFill/>
          <a:ln/>
        </p:spPr>
        <p:txBody>
          <a:bodyPr wrap="square" lIns="0" tIns="0" rIns="0" bIns="0" rtlCol="0" anchor="t"/>
          <a:lstStyle/>
          <a:p>
            <a:pPr algn="l" indent="0" marL="0">
              <a:buNone/>
            </a:pPr>
            <a:r>
              <a:rPr lang="en-US" sz="1500" b="1" spc="250" kern="0" dirty="0">
                <a:solidFill>
                  <a:srgbClr val="5E6F9E"/>
                </a:solidFill>
                <a:latin typeface="Arial" pitchFamily="34" charset="0"/>
                <a:ea typeface="Arial" pitchFamily="34" charset="-122"/>
                <a:cs typeface="Arial" pitchFamily="34" charset="-120"/>
              </a:rPr>
              <a:t>VIBE CODING</a:t>
            </a:r>
            <a:endParaRPr lang="en-US" sz="1400" dirty="0"/>
          </a:p>
        </p:txBody>
      </p:sp>
      <p:sp>
        <p:nvSpPr>
          <p:cNvPr id="6" name="Text 3"/>
          <p:cNvSpPr/>
          <p:nvPr/>
        </p:nvSpPr>
        <p:spPr>
          <a:xfrm>
            <a:off x="6400800" y="2011680"/>
            <a:ext cx="5239512" cy="320040"/>
          </a:xfrm>
          <a:prstGeom prst="rect">
            <a:avLst/>
          </a:prstGeom>
          <a:noFill/>
          <a:ln/>
        </p:spPr>
        <p:txBody>
          <a:bodyPr wrap="square" lIns="0" tIns="0" rIns="0" bIns="0" rtlCol="0" anchor="t"/>
          <a:lstStyle/>
          <a:p>
            <a:pPr algn="l" indent="0" marL="0">
              <a:buNone/>
            </a:pPr>
            <a:r>
              <a:rPr lang="en-US" sz="1500" b="1" spc="250" kern="0" dirty="0">
                <a:solidFill>
                  <a:srgbClr val="4F74F0"/>
                </a:solidFill>
                <a:latin typeface="Arial" pitchFamily="34" charset="0"/>
                <a:ea typeface="Arial" pitchFamily="34" charset="-122"/>
                <a:cs typeface="Arial" pitchFamily="34" charset="-120"/>
              </a:rPr>
              <a:t>SPEC-DRIVEN</a:t>
            </a:r>
            <a:endParaRPr lang="en-US" sz="1400" dirty="0"/>
          </a:p>
        </p:txBody>
      </p:sp>
      <p:sp>
        <p:nvSpPr>
          <p:cNvPr id="7" name="Shape 4"/>
          <p:cNvSpPr/>
          <p:nvPr/>
        </p:nvSpPr>
        <p:spPr>
          <a:xfrm>
            <a:off x="548640" y="2377440"/>
            <a:ext cx="5212080" cy="10973"/>
          </a:xfrm>
          <a:prstGeom prst="rect">
            <a:avLst/>
          </a:prstGeom>
          <a:solidFill>
            <a:srgbClr val="24325C"/>
          </a:solidFill>
          <a:ln/>
        </p:spPr>
      </p:sp>
      <p:sp>
        <p:nvSpPr>
          <p:cNvPr id="8" name="Shape 5"/>
          <p:cNvSpPr/>
          <p:nvPr/>
        </p:nvSpPr>
        <p:spPr>
          <a:xfrm>
            <a:off x="6400800" y="2377440"/>
            <a:ext cx="5239512" cy="10973"/>
          </a:xfrm>
          <a:prstGeom prst="rect">
            <a:avLst/>
          </a:prstGeom>
          <a:solidFill>
            <a:srgbClr val="4F74F0"/>
          </a:solidFill>
          <a:ln/>
        </p:spPr>
      </p:sp>
      <p:sp>
        <p:nvSpPr>
          <p:cNvPr id="9" name="Text 6"/>
          <p:cNvSpPr/>
          <p:nvPr/>
        </p:nvSpPr>
        <p:spPr>
          <a:xfrm>
            <a:off x="548640" y="2606040"/>
            <a:ext cx="5212080" cy="411480"/>
          </a:xfrm>
          <a:prstGeom prst="rect">
            <a:avLst/>
          </a:prstGeom>
          <a:noFill/>
          <a:ln/>
        </p:spPr>
        <p:txBody>
          <a:bodyPr wrap="square" lIns="0" tIns="0" rIns="0" bIns="0" rtlCol="0" anchor="ctr"/>
          <a:lstStyle/>
          <a:p>
            <a:pPr algn="l" indent="0" marL="0">
              <a:buNone/>
            </a:pPr>
            <a:r>
              <a:rPr lang="en-US" sz="1500" dirty="0">
                <a:solidFill>
                  <a:srgbClr val="5E6F9E"/>
                </a:solidFill>
                <a:latin typeface="Arial" pitchFamily="34" charset="0"/>
                <a:ea typeface="Arial" pitchFamily="34" charset="-122"/>
                <a:cs typeface="Arial" pitchFamily="34" charset="-120"/>
              </a:rPr>
              <a:t>Prompt, paste, pray</a:t>
            </a:r>
            <a:endParaRPr lang="en-US" sz="1400" dirty="0"/>
          </a:p>
        </p:txBody>
      </p:sp>
      <p:sp>
        <p:nvSpPr>
          <p:cNvPr id="10" name="Text 7"/>
          <p:cNvSpPr/>
          <p:nvPr/>
        </p:nvSpPr>
        <p:spPr>
          <a:xfrm>
            <a:off x="6400800" y="2606040"/>
            <a:ext cx="5239512" cy="411480"/>
          </a:xfrm>
          <a:prstGeom prst="rect">
            <a:avLst/>
          </a:prstGeom>
          <a:noFill/>
          <a:ln/>
        </p:spPr>
        <p:txBody>
          <a:bodyPr wrap="square" lIns="0" tIns="0" rIns="0" bIns="0" rtlCol="0" anchor="ctr"/>
          <a:lstStyle/>
          <a:p>
            <a:pPr algn="l" indent="0" marL="0">
              <a:buNone/>
            </a:pPr>
            <a:r>
              <a:rPr lang="en-US" sz="1500" b="1" dirty="0">
                <a:solidFill>
                  <a:srgbClr val="E8EEFC"/>
                </a:solidFill>
                <a:latin typeface="Arial" pitchFamily="34" charset="0"/>
                <a:ea typeface="Arial" pitchFamily="34" charset="-122"/>
                <a:cs typeface="Arial" pitchFamily="34" charset="-120"/>
              </a:rPr>
              <a:t>Spec first: PRD, architecture, stories</a:t>
            </a:r>
            <a:endParaRPr lang="en-US" sz="1400" dirty="0"/>
          </a:p>
        </p:txBody>
      </p:sp>
      <p:sp>
        <p:nvSpPr>
          <p:cNvPr id="11" name="Text 8"/>
          <p:cNvSpPr/>
          <p:nvPr/>
        </p:nvSpPr>
        <p:spPr>
          <a:xfrm>
            <a:off x="548640" y="3154680"/>
            <a:ext cx="5212080" cy="411480"/>
          </a:xfrm>
          <a:prstGeom prst="rect">
            <a:avLst/>
          </a:prstGeom>
          <a:noFill/>
          <a:ln/>
        </p:spPr>
        <p:txBody>
          <a:bodyPr wrap="square" lIns="0" tIns="0" rIns="0" bIns="0" rtlCol="0" anchor="ctr"/>
          <a:lstStyle/>
          <a:p>
            <a:pPr algn="l" indent="0" marL="0">
              <a:buNone/>
            </a:pPr>
            <a:r>
              <a:rPr lang="en-US" sz="1500" dirty="0">
                <a:solidFill>
                  <a:srgbClr val="5E6F9E"/>
                </a:solidFill>
                <a:latin typeface="Arial" pitchFamily="34" charset="0"/>
                <a:ea typeface="Arial" pitchFamily="34" charset="-122"/>
                <a:cs typeface="Arial" pitchFamily="34" charset="-120"/>
              </a:rPr>
              <a:t>Accept whatever runs</a:t>
            </a:r>
            <a:endParaRPr lang="en-US" sz="1400" dirty="0"/>
          </a:p>
        </p:txBody>
      </p:sp>
      <p:sp>
        <p:nvSpPr>
          <p:cNvPr id="12" name="Text 9"/>
          <p:cNvSpPr/>
          <p:nvPr/>
        </p:nvSpPr>
        <p:spPr>
          <a:xfrm>
            <a:off x="6400800" y="3154680"/>
            <a:ext cx="5239512" cy="411480"/>
          </a:xfrm>
          <a:prstGeom prst="rect">
            <a:avLst/>
          </a:prstGeom>
          <a:noFill/>
          <a:ln/>
        </p:spPr>
        <p:txBody>
          <a:bodyPr wrap="square" lIns="0" tIns="0" rIns="0" bIns="0" rtlCol="0" anchor="ctr"/>
          <a:lstStyle/>
          <a:p>
            <a:pPr algn="l" indent="0" marL="0">
              <a:buNone/>
            </a:pPr>
            <a:r>
              <a:rPr lang="en-US" sz="1500" b="1" dirty="0">
                <a:solidFill>
                  <a:srgbClr val="E8EEFC"/>
                </a:solidFill>
                <a:latin typeface="Arial" pitchFamily="34" charset="0"/>
                <a:ea typeface="Arial" pitchFamily="34" charset="-122"/>
                <a:cs typeface="Arial" pitchFamily="34" charset="-120"/>
              </a:rPr>
              <a:t>35 deterministic tests, CI on every push</a:t>
            </a:r>
            <a:endParaRPr lang="en-US" sz="1400" dirty="0"/>
          </a:p>
        </p:txBody>
      </p:sp>
      <p:sp>
        <p:nvSpPr>
          <p:cNvPr id="13" name="Text 10"/>
          <p:cNvSpPr/>
          <p:nvPr/>
        </p:nvSpPr>
        <p:spPr>
          <a:xfrm>
            <a:off x="548640" y="3703320"/>
            <a:ext cx="5212080" cy="411480"/>
          </a:xfrm>
          <a:prstGeom prst="rect">
            <a:avLst/>
          </a:prstGeom>
          <a:noFill/>
          <a:ln/>
        </p:spPr>
        <p:txBody>
          <a:bodyPr wrap="square" lIns="0" tIns="0" rIns="0" bIns="0" rtlCol="0" anchor="ctr"/>
          <a:lstStyle/>
          <a:p>
            <a:pPr algn="l" indent="0" marL="0">
              <a:buNone/>
            </a:pPr>
            <a:r>
              <a:rPr lang="en-US" sz="1500" dirty="0">
                <a:solidFill>
                  <a:srgbClr val="5E6F9E"/>
                </a:solidFill>
                <a:latin typeface="Arial" pitchFamily="34" charset="0"/>
                <a:ea typeface="Arial" pitchFamily="34" charset="-122"/>
                <a:cs typeface="Arial" pitchFamily="34" charset="-120"/>
              </a:rPr>
              <a:t>One agreeable assistant</a:t>
            </a:r>
            <a:endParaRPr lang="en-US" sz="1400" dirty="0"/>
          </a:p>
        </p:txBody>
      </p:sp>
      <p:sp>
        <p:nvSpPr>
          <p:cNvPr id="14" name="Text 11"/>
          <p:cNvSpPr/>
          <p:nvPr/>
        </p:nvSpPr>
        <p:spPr>
          <a:xfrm>
            <a:off x="6400800" y="3703320"/>
            <a:ext cx="5239512" cy="411480"/>
          </a:xfrm>
          <a:prstGeom prst="rect">
            <a:avLst/>
          </a:prstGeom>
          <a:noFill/>
          <a:ln/>
        </p:spPr>
        <p:txBody>
          <a:bodyPr wrap="square" lIns="0" tIns="0" rIns="0" bIns="0" rtlCol="0" anchor="ctr"/>
          <a:lstStyle/>
          <a:p>
            <a:pPr algn="l" indent="0" marL="0">
              <a:buNone/>
            </a:pPr>
            <a:r>
              <a:rPr lang="en-US" sz="1500" b="1" dirty="0">
                <a:solidFill>
                  <a:srgbClr val="E8EEFC"/>
                </a:solidFill>
                <a:latin typeface="Arial" pitchFamily="34" charset="0"/>
                <a:ea typeface="Arial" pitchFamily="34" charset="-122"/>
                <a:cs typeface="Arial" pitchFamily="34" charset="-120"/>
              </a:rPr>
              <a:t>A cast of adversarial reviewers</a:t>
            </a:r>
            <a:endParaRPr lang="en-US" sz="1400" dirty="0"/>
          </a:p>
        </p:txBody>
      </p:sp>
      <p:sp>
        <p:nvSpPr>
          <p:cNvPr id="15" name="Text 12"/>
          <p:cNvSpPr/>
          <p:nvPr/>
        </p:nvSpPr>
        <p:spPr>
          <a:xfrm>
            <a:off x="548640" y="4251960"/>
            <a:ext cx="5212080" cy="411480"/>
          </a:xfrm>
          <a:prstGeom prst="rect">
            <a:avLst/>
          </a:prstGeom>
          <a:noFill/>
          <a:ln/>
        </p:spPr>
        <p:txBody>
          <a:bodyPr wrap="square" lIns="0" tIns="0" rIns="0" bIns="0" rtlCol="0" anchor="ctr"/>
          <a:lstStyle/>
          <a:p>
            <a:pPr algn="l" indent="0" marL="0">
              <a:buNone/>
            </a:pPr>
            <a:r>
              <a:rPr lang="en-US" sz="1500" dirty="0">
                <a:solidFill>
                  <a:srgbClr val="5E6F9E"/>
                </a:solidFill>
                <a:latin typeface="Arial" pitchFamily="34" charset="0"/>
                <a:ea typeface="Arial" pitchFamily="34" charset="-122"/>
                <a:cs typeface="Arial" pitchFamily="34" charset="-120"/>
              </a:rPr>
              <a:t>The LLM does the math</a:t>
            </a:r>
            <a:endParaRPr lang="en-US" sz="1400" dirty="0"/>
          </a:p>
        </p:txBody>
      </p:sp>
      <p:sp>
        <p:nvSpPr>
          <p:cNvPr id="16" name="Text 13"/>
          <p:cNvSpPr/>
          <p:nvPr/>
        </p:nvSpPr>
        <p:spPr>
          <a:xfrm>
            <a:off x="6400800" y="4251960"/>
            <a:ext cx="5239512" cy="411480"/>
          </a:xfrm>
          <a:prstGeom prst="rect">
            <a:avLst/>
          </a:prstGeom>
          <a:noFill/>
          <a:ln/>
        </p:spPr>
        <p:txBody>
          <a:bodyPr wrap="square" lIns="0" tIns="0" rIns="0" bIns="0" rtlCol="0" anchor="ctr"/>
          <a:lstStyle/>
          <a:p>
            <a:pPr algn="l" indent="0" marL="0">
              <a:buNone/>
            </a:pPr>
            <a:r>
              <a:rPr lang="en-US" sz="1500" b="1" dirty="0">
                <a:solidFill>
                  <a:srgbClr val="E8EEFC"/>
                </a:solidFill>
                <a:latin typeface="Arial" pitchFamily="34" charset="0"/>
                <a:ea typeface="Arial" pitchFamily="34" charset="-122"/>
                <a:cs typeface="Arial" pitchFamily="34" charset="-120"/>
              </a:rPr>
              <a:t>The LLM never computes a number</a:t>
            </a:r>
            <a:endParaRPr lang="en-US" sz="1400" dirty="0"/>
          </a:p>
        </p:txBody>
      </p:sp>
      <p:sp>
        <p:nvSpPr>
          <p:cNvPr id="17" name="Text 14"/>
          <p:cNvSpPr/>
          <p:nvPr/>
        </p:nvSpPr>
        <p:spPr>
          <a:xfrm>
            <a:off x="548640" y="4800600"/>
            <a:ext cx="5212080" cy="411480"/>
          </a:xfrm>
          <a:prstGeom prst="rect">
            <a:avLst/>
          </a:prstGeom>
          <a:noFill/>
          <a:ln/>
        </p:spPr>
        <p:txBody>
          <a:bodyPr wrap="square" lIns="0" tIns="0" rIns="0" bIns="0" rtlCol="0" anchor="ctr"/>
          <a:lstStyle/>
          <a:p>
            <a:pPr algn="l" indent="0" marL="0">
              <a:buNone/>
            </a:pPr>
            <a:r>
              <a:rPr lang="en-US" sz="1500" dirty="0">
                <a:solidFill>
                  <a:srgbClr val="5E6F9E"/>
                </a:solidFill>
                <a:latin typeface="Arial" pitchFamily="34" charset="0"/>
                <a:ea typeface="Arial" pitchFamily="34" charset="-122"/>
                <a:cs typeface="Arial" pitchFamily="34" charset="-120"/>
              </a:rPr>
              <a:t>Claims</a:t>
            </a:r>
            <a:endParaRPr lang="en-US" sz="1400" dirty="0"/>
          </a:p>
        </p:txBody>
      </p:sp>
      <p:sp>
        <p:nvSpPr>
          <p:cNvPr id="18" name="Text 15"/>
          <p:cNvSpPr/>
          <p:nvPr/>
        </p:nvSpPr>
        <p:spPr>
          <a:xfrm>
            <a:off x="6400800" y="4800600"/>
            <a:ext cx="5239512" cy="411480"/>
          </a:xfrm>
          <a:prstGeom prst="rect">
            <a:avLst/>
          </a:prstGeom>
          <a:noFill/>
          <a:ln/>
        </p:spPr>
        <p:txBody>
          <a:bodyPr wrap="square" lIns="0" tIns="0" rIns="0" bIns="0" rtlCol="0" anchor="ctr"/>
          <a:lstStyle/>
          <a:p>
            <a:pPr algn="l" indent="0" marL="0">
              <a:buNone/>
            </a:pPr>
            <a:r>
              <a:rPr lang="en-US" sz="1500" b="1" dirty="0">
                <a:solidFill>
                  <a:srgbClr val="E8EEFC"/>
                </a:solidFill>
                <a:latin typeface="Arial" pitchFamily="34" charset="0"/>
                <a:ea typeface="Arial" pitchFamily="34" charset="-122"/>
                <a:cs typeface="Arial" pitchFamily="34" charset="-120"/>
              </a:rPr>
              <a:t>A back-test, a robustness grid, an open CSV</a:t>
            </a:r>
            <a:endParaRPr lang="en-US" sz="1400" dirty="0"/>
          </a:p>
        </p:txBody>
      </p:sp>
      <p:sp>
        <p:nvSpPr>
          <p:cNvPr id="19" name="Shape 16"/>
          <p:cNvSpPr/>
          <p:nvPr/>
        </p:nvSpPr>
        <p:spPr>
          <a:xfrm>
            <a:off x="548640" y="5440680"/>
            <a:ext cx="11091672" cy="10973"/>
          </a:xfrm>
          <a:prstGeom prst="rect">
            <a:avLst/>
          </a:prstGeom>
          <a:solidFill>
            <a:srgbClr val="4F74F0"/>
          </a:solidFill>
          <a:ln/>
        </p:spPr>
      </p:sp>
      <p:sp>
        <p:nvSpPr>
          <p:cNvPr id="20" name="Text 17"/>
          <p:cNvSpPr/>
          <p:nvPr/>
        </p:nvSpPr>
        <p:spPr>
          <a:xfrm>
            <a:off x="548640" y="5669280"/>
            <a:ext cx="11091672" cy="457200"/>
          </a:xfrm>
          <a:prstGeom prst="rect">
            <a:avLst/>
          </a:prstGeom>
          <a:noFill/>
          <a:ln/>
        </p:spPr>
        <p:txBody>
          <a:bodyPr wrap="square" lIns="0" tIns="0" rIns="0" bIns="0" rtlCol="0" anchor="t"/>
          <a:lstStyle/>
          <a:p>
            <a:pPr algn="ctr" indent="0" marL="0">
              <a:buNone/>
            </a:pPr>
            <a:r>
              <a:rPr lang="en-US" sz="1700" i="1" dirty="0">
                <a:solidFill>
                  <a:srgbClr val="4F74F0"/>
                </a:solidFill>
                <a:latin typeface="Arial" pitchFamily="34" charset="0"/>
                <a:ea typeface="Arial" pitchFamily="34" charset="-122"/>
                <a:cs typeface="Arial" pitchFamily="34" charset="-120"/>
              </a:rPr>
              <a:t>AI typed most of this project. The discipline is the difference.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38912"/>
            <a:ext cx="182880" cy="192024"/>
          </a:xfrm>
          <a:prstGeom prst="rect">
            <a:avLst/>
          </a:prstGeom>
        </p:spPr>
      </p:pic>
      <p:sp>
        <p:nvSpPr>
          <p:cNvPr id="3" name="Text 0"/>
          <p:cNvSpPr/>
          <p:nvPr>
            <p:ph idx="100" type="body" hasCustomPrompt="1"/>
          </p:nvPr>
        </p:nvSpPr>
        <p:spPr>
          <a:xfrm>
            <a:off x="804672" y="402336"/>
            <a:ext cx="10789920" cy="310896"/>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06 · THE IDEA</a:t>
            </a:r>
            <a:endParaRPr lang="en-US" sz="1400" dirty="0"/>
          </a:p>
        </p:txBody>
      </p:sp>
      <p:sp>
        <p:nvSpPr>
          <p:cNvPr id="4" name="Text 0"/>
          <p:cNvSpPr/>
          <p:nvPr>
            <p:ph idx="101" type="title" hasCustomPrompt="1"/>
          </p:nvPr>
        </p:nvSpPr>
        <p:spPr>
          <a:xfrm>
            <a:off x="548640" y="749808"/>
            <a:ext cx="11091672" cy="960120"/>
          </a:xfrm>
          <a:prstGeom prst="rect">
            <a:avLst/>
          </a:prstGeom>
          <a:noFill/>
          <a:ln/>
        </p:spPr>
        <p:txBody>
          <a:bodyPr wrap="square" lIns="0" tIns="0" rIns="0" bIns="0" rtlCol="0"/>
          <a:lstStyle/>
          <a:p>
            <a:pPr algn="l" indent="0" marL="0">
              <a:buNone/>
            </a:pPr>
            <a:r>
              <a:rPr lang="en-US" sz="3200" b="1" dirty="0">
                <a:solidFill>
                  <a:srgbClr val="E8EEFC"/>
                </a:solidFill>
                <a:latin typeface="Arial" pitchFamily="34" charset="0"/>
                <a:ea typeface="Arial" pitchFamily="34" charset="-122"/>
                <a:cs typeface="Arial" pitchFamily="34" charset="-120"/>
              </a:rPr>
              <a:t>The model is just how you’d size up a stock</a:t>
            </a:r>
            <a:endParaRPr lang="en-US" sz="3200" dirty="0"/>
          </a:p>
        </p:txBody>
      </p:sp>
      <p:sp>
        <p:nvSpPr>
          <p:cNvPr id="5" name="Text 2"/>
          <p:cNvSpPr/>
          <p:nvPr/>
        </p:nvSpPr>
        <p:spPr>
          <a:xfrm>
            <a:off x="548640" y="2057400"/>
            <a:ext cx="3931920" cy="457200"/>
          </a:xfrm>
          <a:prstGeom prst="rect">
            <a:avLst/>
          </a:prstGeom>
          <a:noFill/>
          <a:ln/>
        </p:spPr>
        <p:txBody>
          <a:bodyPr wrap="square" lIns="0" tIns="0" rIns="0" bIns="0" rtlCol="0" anchor="t"/>
          <a:lstStyle/>
          <a:p>
            <a:pPr algn="l" indent="0" marL="0">
              <a:buNone/>
            </a:pPr>
            <a:r>
              <a:rPr lang="en-US" sz="2400" b="1" dirty="0">
                <a:solidFill>
                  <a:srgbClr val="4F74F0"/>
                </a:solidFill>
                <a:latin typeface="Arial" pitchFamily="34" charset="0"/>
                <a:ea typeface="Arial" pitchFamily="34" charset="-122"/>
                <a:cs typeface="Arial" pitchFamily="34" charset="-120"/>
              </a:rPr>
              <a:t>What do you get?</a:t>
            </a:r>
            <a:endParaRPr lang="en-US" sz="1400" dirty="0"/>
          </a:p>
        </p:txBody>
      </p:sp>
      <p:sp>
        <p:nvSpPr>
          <p:cNvPr id="6" name="Text 3"/>
          <p:cNvSpPr/>
          <p:nvPr/>
        </p:nvSpPr>
        <p:spPr>
          <a:xfrm>
            <a:off x="4663440" y="2103120"/>
            <a:ext cx="5120640" cy="548640"/>
          </a:xfrm>
          <a:prstGeom prst="rect">
            <a:avLst/>
          </a:prstGeom>
          <a:noFill/>
          <a:ln/>
        </p:spPr>
        <p:txBody>
          <a:bodyPr wrap="square" lIns="0" tIns="0" rIns="0" bIns="0" rtlCol="0" anchor="t"/>
          <a:lstStyle/>
          <a:p>
            <a:pPr algn="l" indent="0" marL="0">
              <a:buNone/>
            </a:pPr>
            <a:r>
              <a:rPr lang="en-US" sz="1600" dirty="0">
                <a:solidFill>
                  <a:srgbClr val="E8EEFC"/>
                </a:solidFill>
                <a:latin typeface="Arial" pitchFamily="34" charset="0"/>
                <a:ea typeface="Arial" pitchFamily="34" charset="-122"/>
                <a:cs typeface="Arial" pitchFamily="34" charset="-120"/>
              </a:rPr>
              <a:t>Growth and pay — how fast the career is growing, and what it pays.</a:t>
            </a:r>
            <a:endParaRPr lang="en-US" sz="1400" dirty="0"/>
          </a:p>
        </p:txBody>
      </p:sp>
      <p:sp>
        <p:nvSpPr>
          <p:cNvPr id="7" name="Text 4"/>
          <p:cNvSpPr/>
          <p:nvPr/>
        </p:nvSpPr>
        <p:spPr>
          <a:xfrm>
            <a:off x="9966960" y="2130552"/>
            <a:ext cx="1737360" cy="457200"/>
          </a:xfrm>
          <a:prstGeom prst="rect">
            <a:avLst/>
          </a:prstGeom>
          <a:noFill/>
          <a:ln/>
        </p:spPr>
        <p:txBody>
          <a:bodyPr wrap="square" lIns="0" tIns="0" rIns="0" bIns="0" rtlCol="0" anchor="t"/>
          <a:lstStyle/>
          <a:p>
            <a:pPr algn="l" indent="0" marL="0">
              <a:buNone/>
            </a:pPr>
            <a:r>
              <a:rPr lang="en-US" sz="1400" i="1" dirty="0">
                <a:solidFill>
                  <a:srgbClr val="5E6F9E"/>
                </a:solidFill>
                <a:latin typeface="Arial" pitchFamily="34" charset="0"/>
                <a:ea typeface="Arial" pitchFamily="34" charset="-122"/>
                <a:cs typeface="Arial" pitchFamily="34" charset="-120"/>
              </a:rPr>
              <a:t>BLS projections</a:t>
            </a:r>
            <a:endParaRPr lang="en-US" sz="1400" dirty="0"/>
          </a:p>
        </p:txBody>
      </p:sp>
      <p:sp>
        <p:nvSpPr>
          <p:cNvPr id="8" name="Shape 5"/>
          <p:cNvSpPr/>
          <p:nvPr/>
        </p:nvSpPr>
        <p:spPr>
          <a:xfrm>
            <a:off x="548640" y="2807208"/>
            <a:ext cx="11091672" cy="10973"/>
          </a:xfrm>
          <a:prstGeom prst="rect">
            <a:avLst/>
          </a:prstGeom>
          <a:solidFill>
            <a:srgbClr val="24325C"/>
          </a:solidFill>
          <a:ln/>
        </p:spPr>
      </p:sp>
      <p:sp>
        <p:nvSpPr>
          <p:cNvPr id="9" name="Text 6"/>
          <p:cNvSpPr/>
          <p:nvPr/>
        </p:nvSpPr>
        <p:spPr>
          <a:xfrm>
            <a:off x="548640" y="3108960"/>
            <a:ext cx="3931920" cy="457200"/>
          </a:xfrm>
          <a:prstGeom prst="rect">
            <a:avLst/>
          </a:prstGeom>
          <a:noFill/>
          <a:ln/>
        </p:spPr>
        <p:txBody>
          <a:bodyPr wrap="square" lIns="0" tIns="0" rIns="0" bIns="0" rtlCol="0" anchor="t"/>
          <a:lstStyle/>
          <a:p>
            <a:pPr algn="l" indent="0" marL="0">
              <a:buNone/>
            </a:pPr>
            <a:r>
              <a:rPr lang="en-US" sz="2400" b="1" dirty="0">
                <a:solidFill>
                  <a:srgbClr val="4F74F0"/>
                </a:solidFill>
                <a:latin typeface="Arial" pitchFamily="34" charset="0"/>
                <a:ea typeface="Arial" pitchFamily="34" charset="-122"/>
                <a:cs typeface="Arial" pitchFamily="34" charset="-120"/>
              </a:rPr>
              <a:t>What can kill it?</a:t>
            </a:r>
            <a:endParaRPr lang="en-US" sz="1400" dirty="0"/>
          </a:p>
        </p:txBody>
      </p:sp>
      <p:sp>
        <p:nvSpPr>
          <p:cNvPr id="10" name="Text 7"/>
          <p:cNvSpPr/>
          <p:nvPr/>
        </p:nvSpPr>
        <p:spPr>
          <a:xfrm>
            <a:off x="4663440" y="3154680"/>
            <a:ext cx="5120640" cy="548640"/>
          </a:xfrm>
          <a:prstGeom prst="rect">
            <a:avLst/>
          </a:prstGeom>
          <a:noFill/>
          <a:ln/>
        </p:spPr>
        <p:txBody>
          <a:bodyPr wrap="square" lIns="0" tIns="0" rIns="0" bIns="0" rtlCol="0" anchor="t"/>
          <a:lstStyle/>
          <a:p>
            <a:pPr algn="l" indent="0" marL="0">
              <a:buNone/>
            </a:pPr>
            <a:r>
              <a:rPr lang="en-US" sz="1600" dirty="0">
                <a:solidFill>
                  <a:srgbClr val="E8EEFC"/>
                </a:solidFill>
                <a:latin typeface="Arial" pitchFamily="34" charset="0"/>
                <a:ea typeface="Arial" pitchFamily="34" charset="-122"/>
                <a:cs typeface="Arial" pitchFamily="34" charset="-120"/>
              </a:rPr>
              <a:t>How much of the day-to-day work AI can already do.</a:t>
            </a:r>
            <a:endParaRPr lang="en-US" sz="1400" dirty="0"/>
          </a:p>
        </p:txBody>
      </p:sp>
      <p:sp>
        <p:nvSpPr>
          <p:cNvPr id="11" name="Text 8"/>
          <p:cNvSpPr/>
          <p:nvPr/>
        </p:nvSpPr>
        <p:spPr>
          <a:xfrm>
            <a:off x="9966960" y="3182112"/>
            <a:ext cx="1737360" cy="457200"/>
          </a:xfrm>
          <a:prstGeom prst="rect">
            <a:avLst/>
          </a:prstGeom>
          <a:noFill/>
          <a:ln/>
        </p:spPr>
        <p:txBody>
          <a:bodyPr wrap="square" lIns="0" tIns="0" rIns="0" bIns="0" rtlCol="0" anchor="t"/>
          <a:lstStyle/>
          <a:p>
            <a:pPr algn="l" indent="0" marL="0">
              <a:buNone/>
            </a:pPr>
            <a:r>
              <a:rPr lang="en-US" sz="1400" i="1" dirty="0">
                <a:solidFill>
                  <a:srgbClr val="5E6F9E"/>
                </a:solidFill>
                <a:latin typeface="Arial" pitchFamily="34" charset="0"/>
                <a:ea typeface="Arial" pitchFamily="34" charset="-122"/>
                <a:cs typeface="Arial" pitchFamily="34" charset="-120"/>
              </a:rPr>
              <a:t>AI-exposure research</a:t>
            </a:r>
            <a:endParaRPr lang="en-US" sz="1400" dirty="0"/>
          </a:p>
        </p:txBody>
      </p:sp>
      <p:sp>
        <p:nvSpPr>
          <p:cNvPr id="12" name="Shape 9"/>
          <p:cNvSpPr/>
          <p:nvPr/>
        </p:nvSpPr>
        <p:spPr>
          <a:xfrm>
            <a:off x="548640" y="3858768"/>
            <a:ext cx="11091672" cy="10973"/>
          </a:xfrm>
          <a:prstGeom prst="rect">
            <a:avLst/>
          </a:prstGeom>
          <a:solidFill>
            <a:srgbClr val="24325C"/>
          </a:solidFill>
          <a:ln/>
        </p:spPr>
      </p:sp>
      <p:sp>
        <p:nvSpPr>
          <p:cNvPr id="13" name="Text 10"/>
          <p:cNvSpPr/>
          <p:nvPr/>
        </p:nvSpPr>
        <p:spPr>
          <a:xfrm>
            <a:off x="548640" y="4160520"/>
            <a:ext cx="3931920" cy="457200"/>
          </a:xfrm>
          <a:prstGeom prst="rect">
            <a:avLst/>
          </a:prstGeom>
          <a:noFill/>
          <a:ln/>
        </p:spPr>
        <p:txBody>
          <a:bodyPr wrap="square" lIns="0" tIns="0" rIns="0" bIns="0" rtlCol="0" anchor="t"/>
          <a:lstStyle/>
          <a:p>
            <a:pPr algn="l" indent="0" marL="0">
              <a:buNone/>
            </a:pPr>
            <a:r>
              <a:rPr lang="en-US" sz="2400" b="1" dirty="0">
                <a:solidFill>
                  <a:srgbClr val="4F74F0"/>
                </a:solidFill>
                <a:latin typeface="Arial" pitchFamily="34" charset="0"/>
                <a:ea typeface="Arial" pitchFamily="34" charset="-122"/>
                <a:cs typeface="Arial" pitchFamily="34" charset="-120"/>
              </a:rPr>
              <a:t>Does it fit you?</a:t>
            </a:r>
            <a:endParaRPr lang="en-US" sz="1400" dirty="0"/>
          </a:p>
        </p:txBody>
      </p:sp>
      <p:sp>
        <p:nvSpPr>
          <p:cNvPr id="14" name="Text 11"/>
          <p:cNvSpPr/>
          <p:nvPr/>
        </p:nvSpPr>
        <p:spPr>
          <a:xfrm>
            <a:off x="4663440" y="4206240"/>
            <a:ext cx="5120640" cy="548640"/>
          </a:xfrm>
          <a:prstGeom prst="rect">
            <a:avLst/>
          </a:prstGeom>
          <a:noFill/>
          <a:ln/>
        </p:spPr>
        <p:txBody>
          <a:bodyPr wrap="square" lIns="0" tIns="0" rIns="0" bIns="0" rtlCol="0" anchor="t"/>
          <a:lstStyle/>
          <a:p>
            <a:pPr algn="l" indent="0" marL="0">
              <a:buNone/>
            </a:pPr>
            <a:r>
              <a:rPr lang="en-US" sz="1600" dirty="0">
                <a:solidFill>
                  <a:srgbClr val="E8EEFC"/>
                </a:solidFill>
                <a:latin typeface="Arial" pitchFamily="34" charset="0"/>
                <a:ea typeface="Arial" pitchFamily="34" charset="-122"/>
                <a:cs typeface="Arial" pitchFamily="34" charset="-120"/>
              </a:rPr>
              <a:t>The job’s real skill profile, matched to your interests.</a:t>
            </a:r>
            <a:endParaRPr lang="en-US" sz="1400" dirty="0"/>
          </a:p>
        </p:txBody>
      </p:sp>
      <p:sp>
        <p:nvSpPr>
          <p:cNvPr id="15" name="Text 12"/>
          <p:cNvSpPr/>
          <p:nvPr/>
        </p:nvSpPr>
        <p:spPr>
          <a:xfrm>
            <a:off x="9966960" y="4233672"/>
            <a:ext cx="1737360" cy="457200"/>
          </a:xfrm>
          <a:prstGeom prst="rect">
            <a:avLst/>
          </a:prstGeom>
          <a:noFill/>
          <a:ln/>
        </p:spPr>
        <p:txBody>
          <a:bodyPr wrap="square" lIns="0" tIns="0" rIns="0" bIns="0" rtlCol="0" anchor="t"/>
          <a:lstStyle/>
          <a:p>
            <a:pPr algn="l" indent="0" marL="0">
              <a:buNone/>
            </a:pPr>
            <a:r>
              <a:rPr lang="en-US" sz="1400" i="1" dirty="0">
                <a:solidFill>
                  <a:srgbClr val="5E6F9E"/>
                </a:solidFill>
                <a:latin typeface="Arial" pitchFamily="34" charset="0"/>
                <a:ea typeface="Arial" pitchFamily="34" charset="-122"/>
                <a:cs typeface="Arial" pitchFamily="34" charset="-120"/>
              </a:rPr>
              <a:t>O*NET skills database</a:t>
            </a:r>
            <a:endParaRPr lang="en-US" sz="1400" dirty="0"/>
          </a:p>
        </p:txBody>
      </p:sp>
      <p:sp>
        <p:nvSpPr>
          <p:cNvPr id="16" name="Shape 13"/>
          <p:cNvSpPr/>
          <p:nvPr/>
        </p:nvSpPr>
        <p:spPr>
          <a:xfrm>
            <a:off x="548640" y="4910328"/>
            <a:ext cx="11091672" cy="10973"/>
          </a:xfrm>
          <a:prstGeom prst="rect">
            <a:avLst/>
          </a:prstGeom>
          <a:solidFill>
            <a:srgbClr val="24325C"/>
          </a:solidFill>
          <a:ln/>
        </p:spPr>
      </p:sp>
      <p:sp>
        <p:nvSpPr>
          <p:cNvPr id="17" name="Text 14"/>
          <p:cNvSpPr/>
          <p:nvPr/>
        </p:nvSpPr>
        <p:spPr>
          <a:xfrm>
            <a:off x="548640" y="5486400"/>
            <a:ext cx="11091672" cy="457200"/>
          </a:xfrm>
          <a:prstGeom prst="rect">
            <a:avLst/>
          </a:prstGeom>
          <a:noFill/>
          <a:ln/>
        </p:spPr>
        <p:txBody>
          <a:bodyPr wrap="square" lIns="0" tIns="0" rIns="0" bIns="0" rtlCol="0" anchor="t"/>
          <a:lstStyle/>
          <a:p>
            <a:pPr algn="ctr" indent="0" marL="0">
              <a:buNone/>
            </a:pPr>
            <a:r>
              <a:rPr lang="en-US" sz="1600" i="1" dirty="0">
                <a:solidFill>
                  <a:srgbClr val="9DB0D9"/>
                </a:solidFill>
                <a:latin typeface="Arial" pitchFamily="34" charset="0"/>
                <a:ea typeface="Arial" pitchFamily="34" charset="-122"/>
                <a:cs typeface="Arial" pitchFamily="34" charset="-120"/>
              </a:rPr>
              <a:t>Answer the three questions with data, discount the reward by the risk — that’s the whole model.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38912"/>
            <a:ext cx="182880" cy="192024"/>
          </a:xfrm>
          <a:prstGeom prst="rect">
            <a:avLst/>
          </a:prstGeom>
        </p:spPr>
      </p:pic>
      <p:sp>
        <p:nvSpPr>
          <p:cNvPr id="3" name="Text 0"/>
          <p:cNvSpPr/>
          <p:nvPr>
            <p:ph idx="100" type="body" hasCustomPrompt="1"/>
          </p:nvPr>
        </p:nvSpPr>
        <p:spPr>
          <a:xfrm>
            <a:off x="804672" y="402336"/>
            <a:ext cx="10789920" cy="310896"/>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07 · THE FORMULA</a:t>
            </a:r>
            <a:endParaRPr lang="en-US" sz="1400" dirty="0"/>
          </a:p>
        </p:txBody>
      </p:sp>
      <p:sp>
        <p:nvSpPr>
          <p:cNvPr id="4" name="Text 0"/>
          <p:cNvSpPr/>
          <p:nvPr>
            <p:ph idx="101" type="title" hasCustomPrompt="1"/>
          </p:nvPr>
        </p:nvSpPr>
        <p:spPr>
          <a:xfrm>
            <a:off x="548640" y="749808"/>
            <a:ext cx="11091672" cy="960120"/>
          </a:xfrm>
          <a:prstGeom prst="rect">
            <a:avLst/>
          </a:prstGeom>
          <a:noFill/>
          <a:ln/>
        </p:spPr>
        <p:txBody>
          <a:bodyPr wrap="square" lIns="0" tIns="0" rIns="0" bIns="0" rtlCol="0"/>
          <a:lstStyle/>
          <a:p>
            <a:pPr algn="l" indent="0" marL="0">
              <a:buNone/>
            </a:pPr>
            <a:r>
              <a:rPr lang="en-US" sz="3200" b="1" dirty="0">
                <a:solidFill>
                  <a:srgbClr val="E8EEFC"/>
                </a:solidFill>
                <a:latin typeface="Arial" pitchFamily="34" charset="0"/>
                <a:ea typeface="Arial" pitchFamily="34" charset="-122"/>
                <a:cs typeface="Arial" pitchFamily="34" charset="-120"/>
              </a:rPr>
              <a:t>Those three sentences, written down</a:t>
            </a:r>
            <a:endParaRPr lang="en-US" sz="3200" dirty="0"/>
          </a:p>
        </p:txBody>
      </p:sp>
      <p:sp>
        <p:nvSpPr>
          <p:cNvPr id="5" name="Text 2"/>
          <p:cNvSpPr/>
          <p:nvPr/>
        </p:nvSpPr>
        <p:spPr>
          <a:xfrm>
            <a:off x="548640" y="2057400"/>
            <a:ext cx="5943600" cy="457200"/>
          </a:xfrm>
          <a:prstGeom prst="rect">
            <a:avLst/>
          </a:prstGeom>
          <a:noFill/>
          <a:ln/>
        </p:spPr>
        <p:txBody>
          <a:bodyPr wrap="square" lIns="0" tIns="0" rIns="0" bIns="0" rtlCol="0" anchor="t"/>
          <a:lstStyle/>
          <a:p>
            <a:pPr algn="l" indent="0" marL="0">
              <a:buNone/>
            </a:pPr>
            <a:r>
              <a:rPr lang="en-US" sz="2000" b="1" dirty="0">
                <a:solidFill>
                  <a:srgbClr val="4F74F0"/>
                </a:solidFill>
                <a:latin typeface="Courier New" pitchFamily="34" charset="0"/>
                <a:ea typeface="Courier New" pitchFamily="34" charset="-122"/>
                <a:cs typeface="Courier New" pitchFamily="34" charset="-120"/>
              </a:rPr>
              <a:t>Return = ½·growth + ½·pay</a:t>
            </a:r>
            <a:endParaRPr lang="en-US" sz="1400" dirty="0"/>
          </a:p>
        </p:txBody>
      </p:sp>
      <p:sp>
        <p:nvSpPr>
          <p:cNvPr id="6" name="Text 3"/>
          <p:cNvSpPr/>
          <p:nvPr/>
        </p:nvSpPr>
        <p:spPr>
          <a:xfrm>
            <a:off x="6675120" y="2103120"/>
            <a:ext cx="4965192" cy="45720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what you get — each as a rank against all 730</a:t>
            </a:r>
            <a:endParaRPr lang="en-US" sz="1400" dirty="0"/>
          </a:p>
        </p:txBody>
      </p:sp>
      <p:sp>
        <p:nvSpPr>
          <p:cNvPr id="7" name="Shape 4"/>
          <p:cNvSpPr/>
          <p:nvPr/>
        </p:nvSpPr>
        <p:spPr>
          <a:xfrm>
            <a:off x="548640" y="2679192"/>
            <a:ext cx="11091672" cy="10973"/>
          </a:xfrm>
          <a:prstGeom prst="rect">
            <a:avLst/>
          </a:prstGeom>
          <a:solidFill>
            <a:srgbClr val="24325C"/>
          </a:solidFill>
          <a:ln/>
        </p:spPr>
      </p:sp>
      <p:sp>
        <p:nvSpPr>
          <p:cNvPr id="8" name="Text 5"/>
          <p:cNvSpPr/>
          <p:nvPr/>
        </p:nvSpPr>
        <p:spPr>
          <a:xfrm>
            <a:off x="548640" y="2926080"/>
            <a:ext cx="5943600" cy="457200"/>
          </a:xfrm>
          <a:prstGeom prst="rect">
            <a:avLst/>
          </a:prstGeom>
          <a:noFill/>
          <a:ln/>
        </p:spPr>
        <p:txBody>
          <a:bodyPr wrap="square" lIns="0" tIns="0" rIns="0" bIns="0" rtlCol="0" anchor="t"/>
          <a:lstStyle/>
          <a:p>
            <a:pPr algn="l" indent="0" marL="0">
              <a:buNone/>
            </a:pPr>
            <a:r>
              <a:rPr lang="en-US" sz="2000" b="1" dirty="0">
                <a:solidFill>
                  <a:srgbClr val="4F74F0"/>
                </a:solidFill>
                <a:latin typeface="Courier New" pitchFamily="34" charset="0"/>
                <a:ea typeface="Courier New" pitchFamily="34" charset="-122"/>
                <a:cs typeface="Courier New" pitchFamily="34" charset="-120"/>
              </a:rPr>
              <a:t>Risk = 0.7·AI + 0.3·volatility</a:t>
            </a:r>
            <a:endParaRPr lang="en-US" sz="1400" dirty="0"/>
          </a:p>
        </p:txBody>
      </p:sp>
      <p:sp>
        <p:nvSpPr>
          <p:cNvPr id="9" name="Text 6"/>
          <p:cNvSpPr/>
          <p:nvPr/>
        </p:nvSpPr>
        <p:spPr>
          <a:xfrm>
            <a:off x="6675120" y="2971800"/>
            <a:ext cx="4965192" cy="45720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what can kill it</a:t>
            </a:r>
            <a:endParaRPr lang="en-US" sz="1400" dirty="0"/>
          </a:p>
        </p:txBody>
      </p:sp>
      <p:sp>
        <p:nvSpPr>
          <p:cNvPr id="10" name="Shape 7"/>
          <p:cNvSpPr/>
          <p:nvPr/>
        </p:nvSpPr>
        <p:spPr>
          <a:xfrm>
            <a:off x="548640" y="3547872"/>
            <a:ext cx="11091672" cy="10973"/>
          </a:xfrm>
          <a:prstGeom prst="rect">
            <a:avLst/>
          </a:prstGeom>
          <a:solidFill>
            <a:srgbClr val="24325C"/>
          </a:solidFill>
          <a:ln/>
        </p:spPr>
      </p:sp>
      <p:sp>
        <p:nvSpPr>
          <p:cNvPr id="11" name="Text 8"/>
          <p:cNvSpPr/>
          <p:nvPr/>
        </p:nvSpPr>
        <p:spPr>
          <a:xfrm>
            <a:off x="548640" y="3794760"/>
            <a:ext cx="5943600" cy="457200"/>
          </a:xfrm>
          <a:prstGeom prst="rect">
            <a:avLst/>
          </a:prstGeom>
          <a:noFill/>
          <a:ln/>
        </p:spPr>
        <p:txBody>
          <a:bodyPr wrap="square" lIns="0" tIns="0" rIns="0" bIns="0" rtlCol="0" anchor="t"/>
          <a:lstStyle/>
          <a:p>
            <a:pPr algn="l" indent="0" marL="0">
              <a:buNone/>
            </a:pPr>
            <a:r>
              <a:rPr lang="en-US" sz="2000" b="1" dirty="0">
                <a:solidFill>
                  <a:srgbClr val="4F74F0"/>
                </a:solidFill>
                <a:latin typeface="Courier New" pitchFamily="34" charset="0"/>
                <a:ea typeface="Courier New" pitchFamily="34" charset="-122"/>
                <a:cs typeface="Courier New" pitchFamily="34" charset="-120"/>
              </a:rPr>
              <a:t>Value = Return × (1 − 0.6·Risk)</a:t>
            </a:r>
            <a:endParaRPr lang="en-US" sz="1400" dirty="0"/>
          </a:p>
        </p:txBody>
      </p:sp>
      <p:sp>
        <p:nvSpPr>
          <p:cNvPr id="12" name="Text 9"/>
          <p:cNvSpPr/>
          <p:nvPr/>
        </p:nvSpPr>
        <p:spPr>
          <a:xfrm>
            <a:off x="6675120" y="3840480"/>
            <a:ext cx="4965192" cy="45720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reward, discounted by risk</a:t>
            </a:r>
            <a:endParaRPr lang="en-US" sz="1400" dirty="0"/>
          </a:p>
        </p:txBody>
      </p:sp>
      <p:sp>
        <p:nvSpPr>
          <p:cNvPr id="13" name="Shape 10"/>
          <p:cNvSpPr/>
          <p:nvPr/>
        </p:nvSpPr>
        <p:spPr>
          <a:xfrm>
            <a:off x="548640" y="4416552"/>
            <a:ext cx="11091672" cy="10973"/>
          </a:xfrm>
          <a:prstGeom prst="rect">
            <a:avLst/>
          </a:prstGeom>
          <a:solidFill>
            <a:srgbClr val="24325C"/>
          </a:solidFill>
          <a:ln/>
        </p:spPr>
      </p:sp>
      <p:sp>
        <p:nvSpPr>
          <p:cNvPr id="14" name="Text 11"/>
          <p:cNvSpPr/>
          <p:nvPr/>
        </p:nvSpPr>
        <p:spPr>
          <a:xfrm>
            <a:off x="548640" y="4663440"/>
            <a:ext cx="5943600" cy="457200"/>
          </a:xfrm>
          <a:prstGeom prst="rect">
            <a:avLst/>
          </a:prstGeom>
          <a:noFill/>
          <a:ln/>
        </p:spPr>
        <p:txBody>
          <a:bodyPr wrap="square" lIns="0" tIns="0" rIns="0" bIns="0" rtlCol="0" anchor="t"/>
          <a:lstStyle/>
          <a:p>
            <a:pPr algn="l" indent="0" marL="0">
              <a:buNone/>
            </a:pPr>
            <a:r>
              <a:rPr lang="en-US" sz="2000" b="1" dirty="0">
                <a:solidFill>
                  <a:srgbClr val="4F74F0"/>
                </a:solidFill>
                <a:latin typeface="Courier New" pitchFamily="34" charset="0"/>
                <a:ea typeface="Courier New" pitchFamily="34" charset="-122"/>
                <a:cs typeface="Courier New" pitchFamily="34" charset="-120"/>
              </a:rPr>
              <a:t>Score = 70% Value + 30% Fit</a:t>
            </a:r>
            <a:endParaRPr lang="en-US" sz="1400" dirty="0"/>
          </a:p>
        </p:txBody>
      </p:sp>
      <p:sp>
        <p:nvSpPr>
          <p:cNvPr id="15" name="Text 12"/>
          <p:cNvSpPr/>
          <p:nvPr/>
        </p:nvSpPr>
        <p:spPr>
          <a:xfrm>
            <a:off x="6675120" y="4709160"/>
            <a:ext cx="4965192" cy="45720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blend in the match to you. Out of 100.</a:t>
            </a:r>
            <a:endParaRPr lang="en-US" sz="1400" dirty="0"/>
          </a:p>
        </p:txBody>
      </p:sp>
      <p:sp>
        <p:nvSpPr>
          <p:cNvPr id="16" name="Shape 13"/>
          <p:cNvSpPr/>
          <p:nvPr/>
        </p:nvSpPr>
        <p:spPr>
          <a:xfrm>
            <a:off x="548640" y="5285232"/>
            <a:ext cx="11091672" cy="10973"/>
          </a:xfrm>
          <a:prstGeom prst="rect">
            <a:avLst/>
          </a:prstGeom>
          <a:solidFill>
            <a:srgbClr val="24325C"/>
          </a:solidFill>
          <a:ln/>
        </p:spPr>
      </p:sp>
      <p:sp>
        <p:nvSpPr>
          <p:cNvPr id="17" name="Text 14"/>
          <p:cNvSpPr/>
          <p:nvPr/>
        </p:nvSpPr>
        <p:spPr>
          <a:xfrm>
            <a:off x="548640" y="5532120"/>
            <a:ext cx="11091672" cy="777240"/>
          </a:xfrm>
          <a:prstGeom prst="rect">
            <a:avLst/>
          </a:prstGeom>
          <a:noFill/>
          <a:ln/>
        </p:spPr>
        <p:txBody>
          <a:bodyPr wrap="square" lIns="0" tIns="0" rIns="0" bIns="0" rtlCol="0" anchor="t"/>
          <a:lstStyle/>
          <a:p>
            <a:pPr algn="l" indent="0" marL="0">
              <a:buNone/>
            </a:pPr>
            <a:r>
              <a:rPr lang="en-US" sz="1600" b="1" dirty="0">
                <a:solidFill>
                  <a:srgbClr val="E8EEFC"/>
                </a:solidFill>
                <a:latin typeface="Arial" pitchFamily="34" charset="0"/>
                <a:ea typeface="Arial" pitchFamily="34" charset="-122"/>
                <a:cs typeface="Arial" pitchFamily="34" charset="-120"/>
              </a:rPr>
              <a:t>The 0.7s and 0.6s are judgment calls, and I say so.  </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Every ranking is re-scored 729 times with the weights shaken ±20%, plus by five rival formulas. If the answer flips, the site says “close call.”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38912"/>
            <a:ext cx="182880" cy="192024"/>
          </a:xfrm>
          <a:prstGeom prst="rect">
            <a:avLst/>
          </a:prstGeom>
        </p:spPr>
      </p:pic>
      <p:sp>
        <p:nvSpPr>
          <p:cNvPr id="3" name="Text 0"/>
          <p:cNvSpPr/>
          <p:nvPr>
            <p:ph idx="100" type="body" hasCustomPrompt="1"/>
          </p:nvPr>
        </p:nvSpPr>
        <p:spPr>
          <a:xfrm>
            <a:off x="804672" y="402336"/>
            <a:ext cx="10789920" cy="310896"/>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08 · THE RECEIPTS</a:t>
            </a:r>
            <a:endParaRPr lang="en-US" sz="1400" dirty="0"/>
          </a:p>
        </p:txBody>
      </p:sp>
      <p:sp>
        <p:nvSpPr>
          <p:cNvPr id="4" name="Text 0"/>
          <p:cNvSpPr/>
          <p:nvPr>
            <p:ph idx="101" type="title" hasCustomPrompt="1"/>
          </p:nvPr>
        </p:nvSpPr>
        <p:spPr>
          <a:xfrm>
            <a:off x="548640" y="749808"/>
            <a:ext cx="11091672" cy="960120"/>
          </a:xfrm>
          <a:prstGeom prst="rect">
            <a:avLst/>
          </a:prstGeom>
          <a:noFill/>
          <a:ln/>
        </p:spPr>
        <p:txBody>
          <a:bodyPr wrap="square" lIns="0" tIns="0" rIns="0" bIns="0" rtlCol="0"/>
          <a:lstStyle/>
          <a:p>
            <a:pPr algn="l" indent="0" marL="0">
              <a:buNone/>
            </a:pPr>
            <a:r>
              <a:rPr lang="en-US" sz="3200" b="1" dirty="0">
                <a:solidFill>
                  <a:srgbClr val="E8EEFC"/>
                </a:solidFill>
                <a:latin typeface="Arial" pitchFamily="34" charset="0"/>
                <a:ea typeface="Arial" pitchFamily="34" charset="-122"/>
                <a:cs typeface="Arial" pitchFamily="34" charset="-120"/>
              </a:rPr>
              <a:t>I tested it on a decade that already happened</a:t>
            </a:r>
            <a:endParaRPr lang="en-US" sz="3200" dirty="0"/>
          </a:p>
        </p:txBody>
      </p:sp>
      <p:sp>
        <p:nvSpPr>
          <p:cNvPr id="5" name="Text 2"/>
          <p:cNvSpPr/>
          <p:nvPr/>
        </p:nvSpPr>
        <p:spPr>
          <a:xfrm>
            <a:off x="548640" y="2103120"/>
            <a:ext cx="2697480" cy="777240"/>
          </a:xfrm>
          <a:prstGeom prst="rect">
            <a:avLst/>
          </a:prstGeom>
          <a:noFill/>
          <a:ln/>
        </p:spPr>
        <p:txBody>
          <a:bodyPr wrap="square" lIns="0" tIns="0" rIns="0" bIns="0" rtlCol="0" anchor="t"/>
          <a:lstStyle/>
          <a:p>
            <a:pPr algn="l" indent="0" marL="0">
              <a:buNone/>
            </a:pPr>
            <a:r>
              <a:rPr lang="en-US" sz="4400" b="1" dirty="0">
                <a:solidFill>
                  <a:srgbClr val="4F74F0"/>
                </a:solidFill>
                <a:latin typeface="Courier New" pitchFamily="34" charset="0"/>
                <a:ea typeface="Courier New" pitchFamily="34" charset="-122"/>
                <a:cs typeface="Courier New" pitchFamily="34" charset="-120"/>
              </a:rPr>
              <a:t>0.39</a:t>
            </a:r>
            <a:endParaRPr lang="en-US" sz="1400" dirty="0"/>
          </a:p>
        </p:txBody>
      </p:sp>
      <p:sp>
        <p:nvSpPr>
          <p:cNvPr id="6" name="Text 3"/>
          <p:cNvSpPr/>
          <p:nvPr/>
        </p:nvSpPr>
        <p:spPr>
          <a:xfrm>
            <a:off x="548640" y="2926080"/>
            <a:ext cx="2606040" cy="777240"/>
          </a:xfrm>
          <a:prstGeom prst="rect">
            <a:avLst/>
          </a:prstGeom>
          <a:noFill/>
          <a:ln/>
        </p:spPr>
        <p:txBody>
          <a:bodyPr wrap="square" lIns="0" tIns="0" rIns="0" bIns="0" rtlCol="0" anchor="t"/>
          <a:lstStyle/>
          <a:p>
            <a:pPr algn="l" indent="0" marL="0">
              <a:lnSpc>
                <a:spcPts val="1900"/>
              </a:lnSpc>
              <a:buNone/>
            </a:pPr>
            <a:r>
              <a:rPr lang="en-US" sz="1400" dirty="0">
                <a:solidFill>
                  <a:srgbClr val="9DB0D9"/>
                </a:solidFill>
                <a:latin typeface="Arial" pitchFamily="34" charset="0"/>
                <a:ea typeface="Arial" pitchFamily="34" charset="-122"/>
                <a:cs typeface="Arial" pitchFamily="34" charset="-120"/>
              </a:rPr>
              <a:t>rank correlation vs</a:t>
            </a:r>
            <a:endParaRPr lang="en-US" sz="1400" dirty="0"/>
          </a:p>
          <a:p>
            <a:pPr algn="l" indent="0" marL="0">
              <a:lnSpc>
                <a:spcPts val="1900"/>
              </a:lnSpc>
              <a:buNone/>
            </a:pPr>
            <a:r>
              <a:rPr lang="en-US" sz="1400" dirty="0">
                <a:solidFill>
                  <a:srgbClr val="9DB0D9"/>
                </a:solidFill>
                <a:latin typeface="Arial" pitchFamily="34" charset="0"/>
                <a:ea typeface="Arial" pitchFamily="34" charset="-122"/>
                <a:cs typeface="Arial" pitchFamily="34" charset="-120"/>
              </a:rPr>
              <a:t>what really happened</a:t>
            </a:r>
            <a:endParaRPr lang="en-US" sz="1400" dirty="0"/>
          </a:p>
        </p:txBody>
      </p:sp>
      <p:sp>
        <p:nvSpPr>
          <p:cNvPr id="7" name="Text 4"/>
          <p:cNvSpPr/>
          <p:nvPr/>
        </p:nvSpPr>
        <p:spPr>
          <a:xfrm>
            <a:off x="3364992" y="2103120"/>
            <a:ext cx="2697480" cy="777240"/>
          </a:xfrm>
          <a:prstGeom prst="rect">
            <a:avLst/>
          </a:prstGeom>
          <a:noFill/>
          <a:ln/>
        </p:spPr>
        <p:txBody>
          <a:bodyPr wrap="square" lIns="0" tIns="0" rIns="0" bIns="0" rtlCol="0" anchor="t"/>
          <a:lstStyle/>
          <a:p>
            <a:pPr algn="l" indent="0" marL="0">
              <a:buNone/>
            </a:pPr>
            <a:r>
              <a:rPr lang="en-US" sz="4400" b="1" dirty="0">
                <a:solidFill>
                  <a:srgbClr val="4F74F0"/>
                </a:solidFill>
                <a:latin typeface="Courier New" pitchFamily="34" charset="0"/>
                <a:ea typeface="Courier New" pitchFamily="34" charset="-122"/>
                <a:cs typeface="Courier New" pitchFamily="34" charset="-120"/>
              </a:rPr>
              <a:t>48%</a:t>
            </a:r>
            <a:endParaRPr lang="en-US" sz="1400" dirty="0"/>
          </a:p>
        </p:txBody>
      </p:sp>
      <p:sp>
        <p:nvSpPr>
          <p:cNvPr id="8" name="Text 5"/>
          <p:cNvSpPr/>
          <p:nvPr/>
        </p:nvSpPr>
        <p:spPr>
          <a:xfrm>
            <a:off x="3364992" y="2926080"/>
            <a:ext cx="2606040" cy="777240"/>
          </a:xfrm>
          <a:prstGeom prst="rect">
            <a:avLst/>
          </a:prstGeom>
          <a:noFill/>
          <a:ln/>
        </p:spPr>
        <p:txBody>
          <a:bodyPr wrap="square" lIns="0" tIns="0" rIns="0" bIns="0" rtlCol="0" anchor="t"/>
          <a:lstStyle/>
          <a:p>
            <a:pPr algn="l" indent="0" marL="0">
              <a:lnSpc>
                <a:spcPts val="1900"/>
              </a:lnSpc>
              <a:buNone/>
            </a:pPr>
            <a:r>
              <a:rPr lang="en-US" sz="1400" dirty="0">
                <a:solidFill>
                  <a:srgbClr val="9DB0D9"/>
                </a:solidFill>
                <a:latin typeface="Arial" pitchFamily="34" charset="0"/>
                <a:ea typeface="Arial" pitchFamily="34" charset="-122"/>
                <a:cs typeface="Arial" pitchFamily="34" charset="-120"/>
              </a:rPr>
              <a:t>of real decliners flagged</a:t>
            </a:r>
            <a:endParaRPr lang="en-US" sz="1400" dirty="0"/>
          </a:p>
          <a:p>
            <a:pPr algn="l" indent="0" marL="0">
              <a:lnSpc>
                <a:spcPts val="1900"/>
              </a:lnSpc>
              <a:buNone/>
            </a:pPr>
            <a:r>
              <a:rPr lang="en-US" sz="1400" dirty="0">
                <a:solidFill>
                  <a:srgbClr val="9DB0D9"/>
                </a:solidFill>
                <a:latin typeface="Arial" pitchFamily="34" charset="0"/>
                <a:ea typeface="Arial" pitchFamily="34" charset="-122"/>
                <a:cs typeface="Arial" pitchFamily="34" charset="-120"/>
              </a:rPr>
              <a:t>(33% by chance)</a:t>
            </a:r>
            <a:endParaRPr lang="en-US" sz="1400" dirty="0"/>
          </a:p>
        </p:txBody>
      </p:sp>
      <p:sp>
        <p:nvSpPr>
          <p:cNvPr id="9" name="Text 6"/>
          <p:cNvSpPr/>
          <p:nvPr/>
        </p:nvSpPr>
        <p:spPr>
          <a:xfrm>
            <a:off x="6181344" y="2103120"/>
            <a:ext cx="2697480" cy="777240"/>
          </a:xfrm>
          <a:prstGeom prst="rect">
            <a:avLst/>
          </a:prstGeom>
          <a:noFill/>
          <a:ln/>
        </p:spPr>
        <p:txBody>
          <a:bodyPr wrap="square" lIns="0" tIns="0" rIns="0" bIns="0" rtlCol="0" anchor="t"/>
          <a:lstStyle/>
          <a:p>
            <a:pPr algn="l" indent="0" marL="0">
              <a:buNone/>
            </a:pPr>
            <a:r>
              <a:rPr lang="en-US" sz="4400" b="1" dirty="0">
                <a:solidFill>
                  <a:srgbClr val="4F74F0"/>
                </a:solidFill>
                <a:latin typeface="Courier New" pitchFamily="34" charset="0"/>
                <a:ea typeface="Courier New" pitchFamily="34" charset="-122"/>
                <a:cs typeface="Courier New" pitchFamily="34" charset="-120"/>
              </a:rPr>
              <a:t>37|46</a:t>
            </a:r>
            <a:endParaRPr lang="en-US" sz="1400" dirty="0"/>
          </a:p>
        </p:txBody>
      </p:sp>
      <p:sp>
        <p:nvSpPr>
          <p:cNvPr id="10" name="Text 7"/>
          <p:cNvSpPr/>
          <p:nvPr/>
        </p:nvSpPr>
        <p:spPr>
          <a:xfrm>
            <a:off x="6181344" y="2926080"/>
            <a:ext cx="2606040" cy="777240"/>
          </a:xfrm>
          <a:prstGeom prst="rect">
            <a:avLst/>
          </a:prstGeom>
          <a:noFill/>
          <a:ln/>
        </p:spPr>
        <p:txBody>
          <a:bodyPr wrap="square" lIns="0" tIns="0" rIns="0" bIns="0" rtlCol="0" anchor="t"/>
          <a:lstStyle/>
          <a:p>
            <a:pPr algn="l" indent="0" marL="0">
              <a:lnSpc>
                <a:spcPts val="1900"/>
              </a:lnSpc>
              <a:buNone/>
            </a:pPr>
            <a:r>
              <a:rPr lang="en-US" sz="1400" dirty="0">
                <a:solidFill>
                  <a:srgbClr val="9DB0D9"/>
                </a:solidFill>
                <a:latin typeface="Arial" pitchFamily="34" charset="0"/>
                <a:ea typeface="Arial" pitchFamily="34" charset="-122"/>
                <a:cs typeface="Arial" pitchFamily="34" charset="-120"/>
              </a:rPr>
              <a:t>median 2014 score:</a:t>
            </a:r>
            <a:endParaRPr lang="en-US" sz="1400" dirty="0"/>
          </a:p>
          <a:p>
            <a:pPr algn="l" indent="0" marL="0">
              <a:lnSpc>
                <a:spcPts val="1900"/>
              </a:lnSpc>
              <a:buNone/>
            </a:pPr>
            <a:r>
              <a:rPr lang="en-US" sz="1400" dirty="0">
                <a:solidFill>
                  <a:srgbClr val="9DB0D9"/>
                </a:solidFill>
                <a:latin typeface="Arial" pitchFamily="34" charset="0"/>
                <a:ea typeface="Arial" pitchFamily="34" charset="-122"/>
                <a:cs typeface="Arial" pitchFamily="34" charset="-120"/>
              </a:rPr>
              <a:t>decliners vs growers</a:t>
            </a:r>
            <a:endParaRPr lang="en-US" sz="1400" dirty="0"/>
          </a:p>
        </p:txBody>
      </p:sp>
      <p:sp>
        <p:nvSpPr>
          <p:cNvPr id="11" name="Text 8"/>
          <p:cNvSpPr/>
          <p:nvPr/>
        </p:nvSpPr>
        <p:spPr>
          <a:xfrm>
            <a:off x="8997696" y="2103120"/>
            <a:ext cx="2697480" cy="777240"/>
          </a:xfrm>
          <a:prstGeom prst="rect">
            <a:avLst/>
          </a:prstGeom>
          <a:noFill/>
          <a:ln/>
        </p:spPr>
        <p:txBody>
          <a:bodyPr wrap="square" lIns="0" tIns="0" rIns="0" bIns="0" rtlCol="0" anchor="t"/>
          <a:lstStyle/>
          <a:p>
            <a:pPr algn="l" indent="0" marL="0">
              <a:buNone/>
            </a:pPr>
            <a:r>
              <a:rPr lang="en-US" sz="4400" b="1" dirty="0">
                <a:solidFill>
                  <a:srgbClr val="4F74F0"/>
                </a:solidFill>
                <a:latin typeface="Courier New" pitchFamily="34" charset="0"/>
                <a:ea typeface="Courier New" pitchFamily="34" charset="-122"/>
                <a:cs typeface="Courier New" pitchFamily="34" charset="-120"/>
              </a:rPr>
              <a:t>~0</a:t>
            </a:r>
            <a:endParaRPr lang="en-US" sz="1400" dirty="0"/>
          </a:p>
        </p:txBody>
      </p:sp>
      <p:sp>
        <p:nvSpPr>
          <p:cNvPr id="12" name="Text 9"/>
          <p:cNvSpPr/>
          <p:nvPr/>
        </p:nvSpPr>
        <p:spPr>
          <a:xfrm>
            <a:off x="8997696" y="2926080"/>
            <a:ext cx="2606040" cy="777240"/>
          </a:xfrm>
          <a:prstGeom prst="rect">
            <a:avLst/>
          </a:prstGeom>
          <a:noFill/>
          <a:ln/>
        </p:spPr>
        <p:txBody>
          <a:bodyPr wrap="square" lIns="0" tIns="0" rIns="0" bIns="0" rtlCol="0" anchor="t"/>
          <a:lstStyle/>
          <a:p>
            <a:pPr algn="l" indent="0" marL="0">
              <a:lnSpc>
                <a:spcPts val="1900"/>
              </a:lnSpc>
              <a:buNone/>
            </a:pPr>
            <a:r>
              <a:rPr lang="en-US" sz="1400" dirty="0">
                <a:solidFill>
                  <a:srgbClr val="9DB0D9"/>
                </a:solidFill>
                <a:latin typeface="Arial" pitchFamily="34" charset="0"/>
                <a:ea typeface="Arial" pitchFamily="34" charset="-122"/>
                <a:cs typeface="Arial" pitchFamily="34" charset="-120"/>
              </a:rPr>
              <a:t>AI exposure’s signal —</a:t>
            </a:r>
            <a:endParaRPr lang="en-US" sz="1400" dirty="0"/>
          </a:p>
          <a:p>
            <a:pPr algn="l" indent="0" marL="0">
              <a:lnSpc>
                <a:spcPts val="1900"/>
              </a:lnSpc>
              <a:buNone/>
            </a:pPr>
            <a:r>
              <a:rPr lang="en-US" sz="1400" dirty="0">
                <a:solidFill>
                  <a:srgbClr val="9DB0D9"/>
                </a:solidFill>
                <a:latin typeface="Arial" pitchFamily="34" charset="0"/>
                <a:ea typeface="Arial" pitchFamily="34" charset="-122"/>
                <a:cs typeface="Arial" pitchFamily="34" charset="-120"/>
              </a:rPr>
              <a:t>expected: no LLMs yet</a:t>
            </a:r>
            <a:endParaRPr lang="en-US" sz="1400" dirty="0"/>
          </a:p>
        </p:txBody>
      </p:sp>
      <p:sp>
        <p:nvSpPr>
          <p:cNvPr id="13" name="Shape 10"/>
          <p:cNvSpPr/>
          <p:nvPr/>
        </p:nvSpPr>
        <p:spPr>
          <a:xfrm>
            <a:off x="548640" y="3886200"/>
            <a:ext cx="11091672" cy="10973"/>
          </a:xfrm>
          <a:prstGeom prst="rect">
            <a:avLst/>
          </a:prstGeom>
          <a:solidFill>
            <a:srgbClr val="24325C"/>
          </a:solidFill>
          <a:ln/>
        </p:spPr>
      </p:sp>
      <p:sp>
        <p:nvSpPr>
          <p:cNvPr id="14" name="Text 11"/>
          <p:cNvSpPr/>
          <p:nvPr/>
        </p:nvSpPr>
        <p:spPr>
          <a:xfrm>
            <a:off x="548640" y="4206240"/>
            <a:ext cx="11091672" cy="1691640"/>
          </a:xfrm>
          <a:prstGeom prst="roundRect">
            <a:avLst>
              <a:gd name="adj" fmla="val 4865"/>
            </a:avLst>
          </a:prstGeom>
          <a:solidFill>
            <a:srgbClr val="101A38"/>
          </a:solidFill>
          <a:ln w="9525">
            <a:solidFill>
              <a:srgbClr val="FBBF24"/>
            </a:solidFill>
          </a:ln>
        </p:spPr>
        <p:txBody>
          <a:bodyPr wrap="square" lIns="203200" tIns="203200" rIns="203200" bIns="203200" rtlCol="0" anchor="ctr"/>
          <a:lstStyle/>
          <a:p>
            <a:pPr algn="l" indent="0" marL="0">
              <a:buNone/>
            </a:pPr>
            <a:r>
              <a:rPr lang="en-US" sz="1600" b="1" dirty="0">
                <a:solidFill>
                  <a:srgbClr val="FBBF24"/>
                </a:solidFill>
                <a:latin typeface="Arial" pitchFamily="34" charset="0"/>
                <a:ea typeface="Arial" pitchFamily="34" charset="-122"/>
                <a:cs typeface="Arial" pitchFamily="34" charset="-120"/>
              </a:rPr>
              <a:t>Me, volunteering the awkward number:  </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The government’s plain projections beat my full model on that decade, 0.411 to 0.39. That’s the model working — the AI term is a bet about the coming decade, and the tested one had no LLMs in it.</a:t>
            </a:r>
            <a:endParaRPr lang="en-US" sz="1400" dirty="0"/>
          </a:p>
          <a:p>
            <a:pPr algn="l" indent="0" marL="0">
              <a:buNone/>
            </a:pPr>
            <a:r>
              <a:rPr lang="en-US" sz="1400" b="1" dirty="0">
                <a:solidFill>
                  <a:srgbClr val="E8EEFC"/>
                </a:solidFill>
                <a:latin typeface="Arial" pitchFamily="34" charset="0"/>
                <a:ea typeface="Arial" pitchFamily="34" charset="-122"/>
                <a:cs typeface="Arial" pitchFamily="34" charset="-120"/>
              </a:rPr>
              <a:t>And the back-test never tunes the weights: fit to the test and it stops being a test.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38912"/>
            <a:ext cx="182880" cy="192024"/>
          </a:xfrm>
          <a:prstGeom prst="rect">
            <a:avLst/>
          </a:prstGeom>
        </p:spPr>
      </p:pic>
      <p:sp>
        <p:nvSpPr>
          <p:cNvPr id="3" name="Text 0"/>
          <p:cNvSpPr/>
          <p:nvPr>
            <p:ph idx="100" type="body" hasCustomPrompt="1"/>
          </p:nvPr>
        </p:nvSpPr>
        <p:spPr>
          <a:xfrm>
            <a:off x="804672" y="402336"/>
            <a:ext cx="10789920" cy="310896"/>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09 · THE INFRASTRUCTURE</a:t>
            </a:r>
            <a:endParaRPr lang="en-US" sz="1400" dirty="0"/>
          </a:p>
        </p:txBody>
      </p:sp>
      <p:sp>
        <p:nvSpPr>
          <p:cNvPr id="4" name="Text 0"/>
          <p:cNvSpPr/>
          <p:nvPr>
            <p:ph idx="101" type="title" hasCustomPrompt="1"/>
          </p:nvPr>
        </p:nvSpPr>
        <p:spPr>
          <a:xfrm>
            <a:off x="548640" y="749808"/>
            <a:ext cx="11091672" cy="960120"/>
          </a:xfrm>
          <a:prstGeom prst="rect">
            <a:avLst/>
          </a:prstGeom>
          <a:noFill/>
          <a:ln/>
        </p:spPr>
        <p:txBody>
          <a:bodyPr wrap="square" lIns="0" tIns="0" rIns="0" bIns="0" rtlCol="0"/>
          <a:lstStyle/>
          <a:p>
            <a:pPr algn="l" indent="0" marL="0">
              <a:buNone/>
            </a:pPr>
            <a:r>
              <a:rPr lang="en-US" sz="3200" b="1" dirty="0">
                <a:solidFill>
                  <a:srgbClr val="E8EEFC"/>
                </a:solidFill>
                <a:latin typeface="Arial" pitchFamily="34" charset="0"/>
                <a:ea typeface="Arial" pitchFamily="34" charset="-122"/>
                <a:cs typeface="Arial" pitchFamily="34" charset="-120"/>
              </a:rPr>
              <a:t>Deploying it taught me more AWS than the practice exams</a:t>
            </a:r>
            <a:endParaRPr lang="en-US" sz="3200" dirty="0"/>
          </a:p>
        </p:txBody>
      </p:sp>
      <p:sp>
        <p:nvSpPr>
          <p:cNvPr id="5" name="Text 2"/>
          <p:cNvSpPr/>
          <p:nvPr/>
        </p:nvSpPr>
        <p:spPr>
          <a:xfrm>
            <a:off x="548640" y="2057400"/>
            <a:ext cx="3392424" cy="1737360"/>
          </a:xfrm>
          <a:prstGeom prst="roundRect">
            <a:avLst>
              <a:gd name="adj" fmla="val 4737"/>
            </a:avLst>
          </a:prstGeom>
          <a:solidFill>
            <a:srgbClr val="101A38"/>
          </a:solidFill>
          <a:ln w="9525">
            <a:solidFill>
              <a:srgbClr val="24325C"/>
            </a:solidFill>
          </a:ln>
        </p:spPr>
        <p:txBody>
          <a:bodyPr wrap="square" lIns="203200" tIns="203200" rIns="203200" bIns="203200" rtlCol="0" anchor="t"/>
          <a:lstStyle/>
          <a:p>
            <a:pPr algn="l" indent="0" marL="0">
              <a:buNone/>
            </a:pPr>
            <a:r>
              <a:rPr lang="en-US" sz="2000" b="1" spc="200" kern="0" dirty="0">
                <a:solidFill>
                  <a:srgbClr val="4F74F0"/>
                </a:solidFill>
                <a:latin typeface="Arial" pitchFamily="34" charset="0"/>
                <a:ea typeface="Arial" pitchFamily="34" charset="-122"/>
                <a:cs typeface="Arial" pitchFamily="34" charset="-120"/>
              </a:rPr>
              <a:t>CODE</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GitHub. Push to main — that’s the whole release process.</a:t>
            </a:r>
            <a:endParaRPr lang="en-US" sz="1400" dirty="0"/>
          </a:p>
        </p:txBody>
      </p:sp>
      <p:sp>
        <p:nvSpPr>
          <p:cNvPr id="6" name="Text 3"/>
          <p:cNvSpPr/>
          <p:nvPr/>
        </p:nvSpPr>
        <p:spPr>
          <a:xfrm>
            <a:off x="4398264" y="2057400"/>
            <a:ext cx="3392424" cy="1737360"/>
          </a:xfrm>
          <a:prstGeom prst="roundRect">
            <a:avLst>
              <a:gd name="adj" fmla="val 4737"/>
            </a:avLst>
          </a:prstGeom>
          <a:solidFill>
            <a:srgbClr val="101A38"/>
          </a:solidFill>
          <a:ln w="9525">
            <a:solidFill>
              <a:srgbClr val="24325C"/>
            </a:solidFill>
          </a:ln>
        </p:spPr>
        <p:txBody>
          <a:bodyPr wrap="square" lIns="203200" tIns="203200" rIns="203200" bIns="203200" rtlCol="0" anchor="t"/>
          <a:lstStyle/>
          <a:p>
            <a:pPr algn="l" indent="0" marL="0">
              <a:buNone/>
            </a:pPr>
            <a:r>
              <a:rPr lang="en-US" sz="2000" b="1" spc="200" kern="0" dirty="0">
                <a:solidFill>
                  <a:srgbClr val="4F74F0"/>
                </a:solidFill>
                <a:latin typeface="Arial" pitchFamily="34" charset="0"/>
                <a:ea typeface="Arial" pitchFamily="34" charset="-122"/>
                <a:cs typeface="Arial" pitchFamily="34" charset="-120"/>
              </a:rPr>
              <a:t>ENGINE</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AWS Amplify builds the Next.js app and runs the server-rendered parts.</a:t>
            </a:r>
            <a:endParaRPr lang="en-US" sz="1400" dirty="0"/>
          </a:p>
        </p:txBody>
      </p:sp>
      <p:sp>
        <p:nvSpPr>
          <p:cNvPr id="7" name="Text 4"/>
          <p:cNvSpPr/>
          <p:nvPr/>
        </p:nvSpPr>
        <p:spPr>
          <a:xfrm>
            <a:off x="8247888" y="2057400"/>
            <a:ext cx="3392424" cy="1737360"/>
          </a:xfrm>
          <a:prstGeom prst="roundRect">
            <a:avLst>
              <a:gd name="adj" fmla="val 4737"/>
            </a:avLst>
          </a:prstGeom>
          <a:solidFill>
            <a:srgbClr val="101A38"/>
          </a:solidFill>
          <a:ln w="9525">
            <a:solidFill>
              <a:srgbClr val="24325C"/>
            </a:solidFill>
          </a:ln>
        </p:spPr>
        <p:txBody>
          <a:bodyPr wrap="square" lIns="203200" tIns="203200" rIns="203200" bIns="203200" rtlCol="0" anchor="t"/>
          <a:lstStyle/>
          <a:p>
            <a:pPr algn="l" indent="0" marL="0">
              <a:buNone/>
            </a:pPr>
            <a:r>
              <a:rPr lang="en-US" sz="2000" b="1" spc="200" kern="0" dirty="0">
                <a:solidFill>
                  <a:srgbClr val="4F74F0"/>
                </a:solidFill>
                <a:latin typeface="Arial" pitchFamily="34" charset="0"/>
                <a:ea typeface="Arial" pitchFamily="34" charset="-122"/>
                <a:cs typeface="Arial" pitchFamily="34" charset="-120"/>
              </a:rPr>
              <a:t>EDGE</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CloudFront serves it worldwide; Route 53 holds ashleylibasci.com.</a:t>
            </a:r>
            <a:endParaRPr lang="en-US" sz="1400" dirty="0"/>
          </a:p>
        </p:txBody>
      </p:sp>
      <p:sp>
        <p:nvSpPr>
          <p:cNvPr id="8" name="Text 5"/>
          <p:cNvSpPr/>
          <p:nvPr/>
        </p:nvSpPr>
        <p:spPr>
          <a:xfrm>
            <a:off x="3895344" y="2697480"/>
            <a:ext cx="365760" cy="457200"/>
          </a:xfrm>
          <a:prstGeom prst="rect">
            <a:avLst/>
          </a:prstGeom>
          <a:noFill/>
          <a:ln/>
        </p:spPr>
        <p:txBody>
          <a:bodyPr wrap="square" lIns="0" tIns="0" rIns="0" bIns="0" rtlCol="0" anchor="ctr"/>
          <a:lstStyle/>
          <a:p>
            <a:pPr algn="ctr" indent="0" marL="0">
              <a:buNone/>
            </a:pPr>
            <a:r>
              <a:rPr lang="en-US" sz="2200" b="1" dirty="0">
                <a:solidFill>
                  <a:srgbClr val="4F74F0"/>
                </a:solidFill>
                <a:latin typeface="Arial" pitchFamily="34" charset="0"/>
                <a:ea typeface="Arial" pitchFamily="34" charset="-122"/>
                <a:cs typeface="Arial" pitchFamily="34" charset="-120"/>
              </a:rPr>
              <a:t>→</a:t>
            </a:r>
            <a:endParaRPr lang="en-US" sz="2200" dirty="0"/>
          </a:p>
        </p:txBody>
      </p:sp>
      <p:sp>
        <p:nvSpPr>
          <p:cNvPr id="9" name="Text 6"/>
          <p:cNvSpPr/>
          <p:nvPr/>
        </p:nvSpPr>
        <p:spPr>
          <a:xfrm>
            <a:off x="7744968" y="2697480"/>
            <a:ext cx="365760" cy="457200"/>
          </a:xfrm>
          <a:prstGeom prst="rect">
            <a:avLst/>
          </a:prstGeom>
          <a:noFill/>
          <a:ln/>
        </p:spPr>
        <p:txBody>
          <a:bodyPr wrap="square" lIns="0" tIns="0" rIns="0" bIns="0" rtlCol="0" anchor="ctr"/>
          <a:lstStyle/>
          <a:p>
            <a:pPr algn="ctr" indent="0" marL="0">
              <a:buNone/>
            </a:pPr>
            <a:r>
              <a:rPr lang="en-US" sz="2200" b="1" dirty="0">
                <a:solidFill>
                  <a:srgbClr val="4F74F0"/>
                </a:solidFill>
                <a:latin typeface="Arial" pitchFamily="34" charset="0"/>
                <a:ea typeface="Arial" pitchFamily="34" charset="-122"/>
                <a:cs typeface="Arial" pitchFamily="34" charset="-120"/>
              </a:rPr>
              <a:t>→</a:t>
            </a:r>
            <a:endParaRPr lang="en-US" sz="2200" dirty="0"/>
          </a:p>
        </p:txBody>
      </p:sp>
      <p:sp>
        <p:nvSpPr>
          <p:cNvPr id="10" name="Shape 7"/>
          <p:cNvSpPr/>
          <p:nvPr/>
        </p:nvSpPr>
        <p:spPr>
          <a:xfrm>
            <a:off x="548640" y="4206240"/>
            <a:ext cx="11091672" cy="10973"/>
          </a:xfrm>
          <a:prstGeom prst="rect">
            <a:avLst/>
          </a:prstGeom>
          <a:solidFill>
            <a:srgbClr val="24325C"/>
          </a:solidFill>
          <a:ln/>
        </p:spPr>
      </p:sp>
      <p:sp>
        <p:nvSpPr>
          <p:cNvPr id="11" name="Text 8"/>
          <p:cNvSpPr/>
          <p:nvPr/>
        </p:nvSpPr>
        <p:spPr>
          <a:xfrm>
            <a:off x="548640" y="4434840"/>
            <a:ext cx="11091672" cy="365760"/>
          </a:xfrm>
          <a:prstGeom prst="rect">
            <a:avLst/>
          </a:prstGeom>
          <a:noFill/>
          <a:ln/>
        </p:spPr>
        <p:txBody>
          <a:bodyPr wrap="square" lIns="0" tIns="0" rIns="0" bIns="0" rtlCol="0" anchor="t"/>
          <a:lstStyle/>
          <a:p>
            <a:pPr algn="l" indent="0" marL="0">
              <a:buNone/>
            </a:pPr>
            <a:r>
              <a:rPr lang="en-US" sz="1600" b="1" dirty="0">
                <a:solidFill>
                  <a:srgbClr val="E8EEFC"/>
                </a:solidFill>
                <a:latin typeface="Arial" pitchFamily="34" charset="0"/>
                <a:ea typeface="Arial" pitchFamily="34" charset="-122"/>
                <a:cs typeface="Arial" pitchFamily="34" charset="-120"/>
              </a:rPr>
              <a:t>Cloud Practitioner concepts this made real</a:t>
            </a:r>
            <a:endParaRPr lang="en-US" sz="1400" dirty="0"/>
          </a:p>
        </p:txBody>
      </p:sp>
      <p:sp>
        <p:nvSpPr>
          <p:cNvPr id="12" name="Text 9"/>
          <p:cNvSpPr/>
          <p:nvPr/>
        </p:nvSpPr>
        <p:spPr>
          <a:xfrm>
            <a:off x="548640" y="4892040"/>
            <a:ext cx="2743200" cy="3657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  managed services</a:t>
            </a:r>
            <a:endParaRPr lang="en-US" sz="1400" dirty="0"/>
          </a:p>
        </p:txBody>
      </p:sp>
      <p:sp>
        <p:nvSpPr>
          <p:cNvPr id="13" name="Text 10"/>
          <p:cNvSpPr/>
          <p:nvPr/>
        </p:nvSpPr>
        <p:spPr>
          <a:xfrm>
            <a:off x="3364992" y="4892040"/>
            <a:ext cx="2743200" cy="3657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  edge caching</a:t>
            </a:r>
            <a:endParaRPr lang="en-US" sz="1400" dirty="0"/>
          </a:p>
        </p:txBody>
      </p:sp>
      <p:sp>
        <p:nvSpPr>
          <p:cNvPr id="14" name="Text 11"/>
          <p:cNvSpPr/>
          <p:nvPr/>
        </p:nvSpPr>
        <p:spPr>
          <a:xfrm>
            <a:off x="6181344" y="4892040"/>
            <a:ext cx="2743200" cy="3657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  shared responsibility</a:t>
            </a:r>
            <a:endParaRPr lang="en-US" sz="1400" dirty="0"/>
          </a:p>
        </p:txBody>
      </p:sp>
      <p:sp>
        <p:nvSpPr>
          <p:cNvPr id="15" name="Text 12"/>
          <p:cNvSpPr/>
          <p:nvPr/>
        </p:nvSpPr>
        <p:spPr>
          <a:xfrm>
            <a:off x="8997696" y="4892040"/>
            <a:ext cx="2743200" cy="3657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  DNS + certificates</a:t>
            </a:r>
            <a:endParaRPr lang="en-US" sz="1400" dirty="0"/>
          </a:p>
        </p:txBody>
      </p:sp>
      <p:sp>
        <p:nvSpPr>
          <p:cNvPr id="16" name="Text 13"/>
          <p:cNvSpPr/>
          <p:nvPr/>
        </p:nvSpPr>
        <p:spPr>
          <a:xfrm>
            <a:off x="548640" y="5440680"/>
            <a:ext cx="11091672" cy="411480"/>
          </a:xfrm>
          <a:prstGeom prst="rect">
            <a:avLst/>
          </a:prstGeom>
          <a:noFill/>
          <a:ln/>
        </p:spPr>
        <p:txBody>
          <a:bodyPr wrap="square" lIns="0" tIns="0" rIns="0" bIns="0" rtlCol="0" anchor="t"/>
          <a:lstStyle/>
          <a:p>
            <a:pPr algn="l" indent="0" marL="0">
              <a:buNone/>
            </a:pPr>
            <a:r>
              <a:rPr lang="en-US" sz="1400" i="1" dirty="0">
                <a:solidFill>
                  <a:srgbClr val="5E6F9E"/>
                </a:solidFill>
                <a:latin typeface="Arial" pitchFamily="34" charset="0"/>
                <a:ea typeface="Arial" pitchFamily="34" charset="-122"/>
                <a:cs typeface="Arial" pitchFamily="34" charset="-120"/>
              </a:rPr>
              <a:t>I’m studying for the cert now — this is where the flashcards became things I’d actually debugged.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38912"/>
            <a:ext cx="182880" cy="192024"/>
          </a:xfrm>
          <a:prstGeom prst="rect">
            <a:avLst/>
          </a:prstGeom>
        </p:spPr>
      </p:pic>
      <p:sp>
        <p:nvSpPr>
          <p:cNvPr id="3" name="Text 0"/>
          <p:cNvSpPr/>
          <p:nvPr>
            <p:ph idx="100" type="body" hasCustomPrompt="1"/>
          </p:nvPr>
        </p:nvSpPr>
        <p:spPr>
          <a:xfrm>
            <a:off x="804672" y="402336"/>
            <a:ext cx="10789920" cy="310896"/>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10 · WAR STORY</a:t>
            </a:r>
            <a:endParaRPr lang="en-US" sz="1400" dirty="0"/>
          </a:p>
        </p:txBody>
      </p:sp>
      <p:sp>
        <p:nvSpPr>
          <p:cNvPr id="4" name="Text 0"/>
          <p:cNvSpPr/>
          <p:nvPr>
            <p:ph idx="101" type="title" hasCustomPrompt="1"/>
          </p:nvPr>
        </p:nvSpPr>
        <p:spPr>
          <a:xfrm>
            <a:off x="548640" y="749808"/>
            <a:ext cx="11091672" cy="960120"/>
          </a:xfrm>
          <a:prstGeom prst="rect">
            <a:avLst/>
          </a:prstGeom>
          <a:noFill/>
          <a:ln/>
        </p:spPr>
        <p:txBody>
          <a:bodyPr wrap="square" lIns="0" tIns="0" rIns="0" bIns="0" rtlCol="0"/>
          <a:lstStyle/>
          <a:p>
            <a:pPr algn="l" indent="0" marL="0">
              <a:buNone/>
            </a:pPr>
            <a:r>
              <a:rPr lang="en-US" sz="3200" b="1" dirty="0">
                <a:solidFill>
                  <a:srgbClr val="E8EEFC"/>
                </a:solidFill>
                <a:latin typeface="Arial" pitchFamily="34" charset="0"/>
                <a:ea typeface="Arial" pitchFamily="34" charset="-122"/>
                <a:cs typeface="Arial" pitchFamily="34" charset="-120"/>
              </a:rPr>
              <a:t>The rate limiter that never fired</a:t>
            </a:r>
            <a:endParaRPr lang="en-US" sz="3200" dirty="0"/>
          </a:p>
        </p:txBody>
      </p:sp>
      <p:sp>
        <p:nvSpPr>
          <p:cNvPr id="5" name="Text 2"/>
          <p:cNvSpPr/>
          <p:nvPr/>
        </p:nvSpPr>
        <p:spPr>
          <a:xfrm>
            <a:off x="548640" y="2039112"/>
            <a:ext cx="502920" cy="457200"/>
          </a:xfrm>
          <a:prstGeom prst="rect">
            <a:avLst/>
          </a:prstGeom>
          <a:noFill/>
          <a:ln/>
        </p:spPr>
        <p:txBody>
          <a:bodyPr wrap="square" lIns="0" tIns="0" rIns="0" bIns="0" rtlCol="0" anchor="t"/>
          <a:lstStyle/>
          <a:p>
            <a:pPr algn="l" indent="0" marL="0">
              <a:buNone/>
            </a:pPr>
            <a:r>
              <a:rPr lang="en-US" sz="2600" b="1" dirty="0">
                <a:solidFill>
                  <a:srgbClr val="4F74F0"/>
                </a:solidFill>
                <a:latin typeface="Courier New" pitchFamily="34" charset="0"/>
                <a:ea typeface="Courier New" pitchFamily="34" charset="-122"/>
                <a:cs typeface="Courier New" pitchFamily="34" charset="-120"/>
              </a:rPr>
              <a:t>1</a:t>
            </a:r>
            <a:endParaRPr lang="en-US" sz="1400" dirty="0"/>
          </a:p>
        </p:txBody>
      </p:sp>
      <p:sp>
        <p:nvSpPr>
          <p:cNvPr id="6" name="Text 3"/>
          <p:cNvSpPr/>
          <p:nvPr/>
        </p:nvSpPr>
        <p:spPr>
          <a:xfrm>
            <a:off x="1143000" y="2057400"/>
            <a:ext cx="2743200" cy="411480"/>
          </a:xfrm>
          <a:prstGeom prst="rect">
            <a:avLst/>
          </a:prstGeom>
          <a:noFill/>
          <a:ln/>
        </p:spPr>
        <p:txBody>
          <a:bodyPr wrap="square" lIns="0" tIns="0" rIns="0" bIns="0" rtlCol="0" anchor="t"/>
          <a:lstStyle/>
          <a:p>
            <a:pPr algn="l" indent="0" marL="0">
              <a:buNone/>
            </a:pPr>
            <a:r>
              <a:rPr lang="en-US" sz="1700" b="1" dirty="0">
                <a:solidFill>
                  <a:srgbClr val="E8EEFC"/>
                </a:solidFill>
                <a:latin typeface="Arial" pitchFamily="34" charset="0"/>
                <a:ea typeface="Arial" pitchFamily="34" charset="-122"/>
                <a:cs typeface="Arial" pitchFamily="34" charset="-120"/>
              </a:rPr>
              <a:t>What I did</a:t>
            </a:r>
            <a:endParaRPr lang="en-US" sz="1400" dirty="0"/>
          </a:p>
        </p:txBody>
      </p:sp>
      <p:sp>
        <p:nvSpPr>
          <p:cNvPr id="7" name="Text 4"/>
          <p:cNvSpPr/>
          <p:nvPr/>
        </p:nvSpPr>
        <p:spPr>
          <a:xfrm>
            <a:off x="3977640" y="2057400"/>
            <a:ext cx="7662672" cy="68580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Keyed rate limits on the last X-Forwarded-For hop — the textbook advice, since everything left of it is forgeable.</a:t>
            </a:r>
            <a:endParaRPr lang="en-US" sz="1400" dirty="0"/>
          </a:p>
        </p:txBody>
      </p:sp>
      <p:sp>
        <p:nvSpPr>
          <p:cNvPr id="8" name="Shape 5"/>
          <p:cNvSpPr/>
          <p:nvPr/>
        </p:nvSpPr>
        <p:spPr>
          <a:xfrm>
            <a:off x="548640" y="2880360"/>
            <a:ext cx="11091672" cy="10973"/>
          </a:xfrm>
          <a:prstGeom prst="rect">
            <a:avLst/>
          </a:prstGeom>
          <a:solidFill>
            <a:srgbClr val="24325C"/>
          </a:solidFill>
          <a:ln/>
        </p:spPr>
      </p:sp>
      <p:sp>
        <p:nvSpPr>
          <p:cNvPr id="9" name="Text 6"/>
          <p:cNvSpPr/>
          <p:nvPr/>
        </p:nvSpPr>
        <p:spPr>
          <a:xfrm>
            <a:off x="548640" y="2999232"/>
            <a:ext cx="502920" cy="457200"/>
          </a:xfrm>
          <a:prstGeom prst="rect">
            <a:avLst/>
          </a:prstGeom>
          <a:noFill/>
          <a:ln/>
        </p:spPr>
        <p:txBody>
          <a:bodyPr wrap="square" lIns="0" tIns="0" rIns="0" bIns="0" rtlCol="0" anchor="t"/>
          <a:lstStyle/>
          <a:p>
            <a:pPr algn="l" indent="0" marL="0">
              <a:buNone/>
            </a:pPr>
            <a:r>
              <a:rPr lang="en-US" sz="2600" b="1" dirty="0">
                <a:solidFill>
                  <a:srgbClr val="4F74F0"/>
                </a:solidFill>
                <a:latin typeface="Courier New" pitchFamily="34" charset="0"/>
                <a:ea typeface="Courier New" pitchFamily="34" charset="-122"/>
                <a:cs typeface="Courier New" pitchFamily="34" charset="-120"/>
              </a:rPr>
              <a:t>2</a:t>
            </a:r>
            <a:endParaRPr lang="en-US" sz="1400" dirty="0"/>
          </a:p>
        </p:txBody>
      </p:sp>
      <p:sp>
        <p:nvSpPr>
          <p:cNvPr id="10" name="Text 7"/>
          <p:cNvSpPr/>
          <p:nvPr/>
        </p:nvSpPr>
        <p:spPr>
          <a:xfrm>
            <a:off x="1143000" y="3017520"/>
            <a:ext cx="2743200" cy="411480"/>
          </a:xfrm>
          <a:prstGeom prst="rect">
            <a:avLst/>
          </a:prstGeom>
          <a:noFill/>
          <a:ln/>
        </p:spPr>
        <p:txBody>
          <a:bodyPr wrap="square" lIns="0" tIns="0" rIns="0" bIns="0" rtlCol="0" anchor="t"/>
          <a:lstStyle/>
          <a:p>
            <a:pPr algn="l" indent="0" marL="0">
              <a:buNone/>
            </a:pPr>
            <a:r>
              <a:rPr lang="en-US" sz="1700" b="1" dirty="0">
                <a:solidFill>
                  <a:srgbClr val="E8EEFC"/>
                </a:solidFill>
                <a:latin typeface="Arial" pitchFamily="34" charset="0"/>
                <a:ea typeface="Arial" pitchFamily="34" charset="-122"/>
                <a:cs typeface="Arial" pitchFamily="34" charset="-120"/>
              </a:rPr>
              <a:t>What production did</a:t>
            </a:r>
            <a:endParaRPr lang="en-US" sz="1400" dirty="0"/>
          </a:p>
        </p:txBody>
      </p:sp>
      <p:sp>
        <p:nvSpPr>
          <p:cNvPr id="11" name="Text 8"/>
          <p:cNvSpPr/>
          <p:nvPr/>
        </p:nvSpPr>
        <p:spPr>
          <a:xfrm>
            <a:off x="3977640" y="3017520"/>
            <a:ext cx="7662672" cy="68580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30 rapid requests. Zero rate-limit hits. Every request got a fresh bucket.</a:t>
            </a:r>
            <a:endParaRPr lang="en-US" sz="1400" dirty="0"/>
          </a:p>
        </p:txBody>
      </p:sp>
      <p:sp>
        <p:nvSpPr>
          <p:cNvPr id="12" name="Shape 9"/>
          <p:cNvSpPr/>
          <p:nvPr/>
        </p:nvSpPr>
        <p:spPr>
          <a:xfrm>
            <a:off x="548640" y="3840480"/>
            <a:ext cx="11091672" cy="10973"/>
          </a:xfrm>
          <a:prstGeom prst="rect">
            <a:avLst/>
          </a:prstGeom>
          <a:solidFill>
            <a:srgbClr val="24325C"/>
          </a:solidFill>
          <a:ln/>
        </p:spPr>
      </p:sp>
      <p:sp>
        <p:nvSpPr>
          <p:cNvPr id="13" name="Text 10"/>
          <p:cNvSpPr/>
          <p:nvPr/>
        </p:nvSpPr>
        <p:spPr>
          <a:xfrm>
            <a:off x="548640" y="3959352"/>
            <a:ext cx="502920" cy="457200"/>
          </a:xfrm>
          <a:prstGeom prst="rect">
            <a:avLst/>
          </a:prstGeom>
          <a:noFill/>
          <a:ln/>
        </p:spPr>
        <p:txBody>
          <a:bodyPr wrap="square" lIns="0" tIns="0" rIns="0" bIns="0" rtlCol="0" anchor="t"/>
          <a:lstStyle/>
          <a:p>
            <a:pPr algn="l" indent="0" marL="0">
              <a:buNone/>
            </a:pPr>
            <a:r>
              <a:rPr lang="en-US" sz="2600" b="1" dirty="0">
                <a:solidFill>
                  <a:srgbClr val="4F74F0"/>
                </a:solidFill>
                <a:latin typeface="Courier New" pitchFamily="34" charset="0"/>
                <a:ea typeface="Courier New" pitchFamily="34" charset="-122"/>
                <a:cs typeface="Courier New" pitchFamily="34" charset="-120"/>
              </a:rPr>
              <a:t>3</a:t>
            </a:r>
            <a:endParaRPr lang="en-US" sz="1400" dirty="0"/>
          </a:p>
        </p:txBody>
      </p:sp>
      <p:sp>
        <p:nvSpPr>
          <p:cNvPr id="14" name="Text 11"/>
          <p:cNvSpPr/>
          <p:nvPr/>
        </p:nvSpPr>
        <p:spPr>
          <a:xfrm>
            <a:off x="1143000" y="3977640"/>
            <a:ext cx="2743200" cy="411480"/>
          </a:xfrm>
          <a:prstGeom prst="rect">
            <a:avLst/>
          </a:prstGeom>
          <a:noFill/>
          <a:ln/>
        </p:spPr>
        <p:txBody>
          <a:bodyPr wrap="square" lIns="0" tIns="0" rIns="0" bIns="0" rtlCol="0" anchor="t"/>
          <a:lstStyle/>
          <a:p>
            <a:pPr algn="l" indent="0" marL="0">
              <a:buNone/>
            </a:pPr>
            <a:r>
              <a:rPr lang="en-US" sz="1700" b="1" dirty="0">
                <a:solidFill>
                  <a:srgbClr val="E8EEFC"/>
                </a:solidFill>
                <a:latin typeface="Arial" pitchFamily="34" charset="0"/>
                <a:ea typeface="Arial" pitchFamily="34" charset="-122"/>
                <a:cs typeface="Arial" pitchFamily="34" charset="-120"/>
              </a:rPr>
              <a:t>Why</a:t>
            </a:r>
            <a:endParaRPr lang="en-US" sz="1400" dirty="0"/>
          </a:p>
        </p:txBody>
      </p:sp>
      <p:sp>
        <p:nvSpPr>
          <p:cNvPr id="15" name="Text 12"/>
          <p:cNvSpPr/>
          <p:nvPr/>
        </p:nvSpPr>
        <p:spPr>
          <a:xfrm>
            <a:off x="3977640" y="3977640"/>
            <a:ext cx="7662672" cy="68580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Amplify’s router appends CloudFront’s own IP after the client’s. The “last hop” was never the client — it was Amazon.</a:t>
            </a:r>
            <a:endParaRPr lang="en-US" sz="1400" dirty="0"/>
          </a:p>
        </p:txBody>
      </p:sp>
      <p:sp>
        <p:nvSpPr>
          <p:cNvPr id="16" name="Shape 13"/>
          <p:cNvSpPr/>
          <p:nvPr/>
        </p:nvSpPr>
        <p:spPr>
          <a:xfrm>
            <a:off x="548640" y="4800600"/>
            <a:ext cx="11091672" cy="10973"/>
          </a:xfrm>
          <a:prstGeom prst="rect">
            <a:avLst/>
          </a:prstGeom>
          <a:solidFill>
            <a:srgbClr val="24325C"/>
          </a:solidFill>
          <a:ln/>
        </p:spPr>
      </p:sp>
      <p:sp>
        <p:nvSpPr>
          <p:cNvPr id="17" name="Text 14"/>
          <p:cNvSpPr/>
          <p:nvPr/>
        </p:nvSpPr>
        <p:spPr>
          <a:xfrm>
            <a:off x="548640" y="4919472"/>
            <a:ext cx="502920" cy="457200"/>
          </a:xfrm>
          <a:prstGeom prst="rect">
            <a:avLst/>
          </a:prstGeom>
          <a:noFill/>
          <a:ln/>
        </p:spPr>
        <p:txBody>
          <a:bodyPr wrap="square" lIns="0" tIns="0" rIns="0" bIns="0" rtlCol="0" anchor="t"/>
          <a:lstStyle/>
          <a:p>
            <a:pPr algn="l" indent="0" marL="0">
              <a:buNone/>
            </a:pPr>
            <a:r>
              <a:rPr lang="en-US" sz="2600" b="1" dirty="0">
                <a:solidFill>
                  <a:srgbClr val="4F74F0"/>
                </a:solidFill>
                <a:latin typeface="Courier New" pitchFamily="34" charset="0"/>
                <a:ea typeface="Courier New" pitchFamily="34" charset="-122"/>
                <a:cs typeface="Courier New" pitchFamily="34" charset="-120"/>
              </a:rPr>
              <a:t>4</a:t>
            </a:r>
            <a:endParaRPr lang="en-US" sz="1400" dirty="0"/>
          </a:p>
        </p:txBody>
      </p:sp>
      <p:sp>
        <p:nvSpPr>
          <p:cNvPr id="18" name="Text 15"/>
          <p:cNvSpPr/>
          <p:nvPr/>
        </p:nvSpPr>
        <p:spPr>
          <a:xfrm>
            <a:off x="1143000" y="4937760"/>
            <a:ext cx="2743200" cy="411480"/>
          </a:xfrm>
          <a:prstGeom prst="rect">
            <a:avLst/>
          </a:prstGeom>
          <a:noFill/>
          <a:ln/>
        </p:spPr>
        <p:txBody>
          <a:bodyPr wrap="square" lIns="0" tIns="0" rIns="0" bIns="0" rtlCol="0" anchor="t"/>
          <a:lstStyle/>
          <a:p>
            <a:pPr algn="l" indent="0" marL="0">
              <a:buNone/>
            </a:pPr>
            <a:r>
              <a:rPr lang="en-US" sz="1700" b="1" dirty="0">
                <a:solidFill>
                  <a:srgbClr val="E8EEFC"/>
                </a:solidFill>
                <a:latin typeface="Arial" pitchFamily="34" charset="0"/>
                <a:ea typeface="Arial" pitchFamily="34" charset="-122"/>
                <a:cs typeface="Arial" pitchFamily="34" charset="-120"/>
              </a:rPr>
              <a:t>The fix</a:t>
            </a:r>
            <a:endParaRPr lang="en-US" sz="1400" dirty="0"/>
          </a:p>
        </p:txBody>
      </p:sp>
      <p:sp>
        <p:nvSpPr>
          <p:cNvPr id="19" name="Text 16"/>
          <p:cNvSpPr/>
          <p:nvPr/>
        </p:nvSpPr>
        <p:spPr>
          <a:xfrm>
            <a:off x="3977640" y="4937760"/>
            <a:ext cx="7662672" cy="68580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Key on the second-to-last hop, a global cap as backstop, and a regression test pinning the header shapes.</a:t>
            </a:r>
            <a:endParaRPr lang="en-US" sz="1400" dirty="0"/>
          </a:p>
        </p:txBody>
      </p:sp>
      <p:sp>
        <p:nvSpPr>
          <p:cNvPr id="20" name="Shape 17"/>
          <p:cNvSpPr/>
          <p:nvPr/>
        </p:nvSpPr>
        <p:spPr>
          <a:xfrm>
            <a:off x="548640" y="5760720"/>
            <a:ext cx="11091672" cy="10973"/>
          </a:xfrm>
          <a:prstGeom prst="rect">
            <a:avLst/>
          </a:prstGeom>
          <a:solidFill>
            <a:srgbClr val="24325C"/>
          </a:solidFill>
          <a:ln/>
        </p:spPr>
      </p:sp>
      <p:sp>
        <p:nvSpPr>
          <p:cNvPr id="21" name="Text 18"/>
          <p:cNvSpPr/>
          <p:nvPr/>
        </p:nvSpPr>
        <p:spPr>
          <a:xfrm>
            <a:off x="548640" y="5989320"/>
            <a:ext cx="11091672" cy="457200"/>
          </a:xfrm>
          <a:prstGeom prst="rect">
            <a:avLst/>
          </a:prstGeom>
          <a:noFill/>
          <a:ln/>
        </p:spPr>
        <p:txBody>
          <a:bodyPr wrap="square" lIns="0" tIns="0" rIns="0" bIns="0" rtlCol="0" anchor="t"/>
          <a:lstStyle/>
          <a:p>
            <a:pPr algn="ctr" indent="0" marL="0">
              <a:buNone/>
            </a:pPr>
            <a:r>
              <a:rPr lang="en-US" sz="1800" b="1" i="1" dirty="0">
                <a:solidFill>
                  <a:srgbClr val="4F74F0"/>
                </a:solidFill>
                <a:latin typeface="Arial" pitchFamily="34" charset="0"/>
                <a:ea typeface="Arial" pitchFamily="34" charset="-122"/>
                <a:cs typeface="Arial" pitchFamily="34" charset="-120"/>
              </a:rPr>
              <a:t>Practice exams don’t teach proxy chains. Production does.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749808"/>
            <a:ext cx="11091672" cy="960120"/>
          </a:xfrm>
          <a:prstGeom prst="rect">
            <a:avLst/>
          </a:prstGeom>
          <a:noFill/>
          <a:ln/>
        </p:spPr>
        <p:txBody>
          <a:bodyPr wrap="square" lIns="0" tIns="0" rIns="0" bIns="0" rtlCol="0"/>
          <a:lstStyle/>
          <a:p>
            <a:pPr algn="l" indent="0" marL="0">
              <a:buNone/>
            </a:pPr>
            <a:r>
              <a:rPr lang="en-US" sz="3200" b="1" dirty="0">
                <a:solidFill>
                  <a:srgbClr val="E8EEFC"/>
                </a:solidFill>
                <a:latin typeface="Arial" pitchFamily="34" charset="0"/>
                <a:ea typeface="Arial" pitchFamily="34" charset="-122"/>
                <a:cs typeface="Arial" pitchFamily="34" charset="-120"/>
              </a:rPr>
              <a:t>Three things worth stealing</a:t>
            </a:r>
            <a:endParaRPr lang="en-US" sz="3200" dirty="0"/>
          </a:p>
        </p:txBody>
      </p:sp>
      <p:pic>
        <p:nvPicPr>
          <p:cNvPr id="3" name="Image 0" descr="preencoded.png">    </p:cNvPr>
          <p:cNvPicPr>
            <a:picLocks noChangeAspect="1"/>
          </p:cNvPicPr>
          <p:nvPr/>
        </p:nvPicPr>
        <p:blipFill>
          <a:blip r:embed="rId1"/>
          <a:stretch>
            <a:fillRect/>
          </a:stretch>
        </p:blipFill>
        <p:spPr>
          <a:xfrm>
            <a:off x="566928" y="2157984"/>
            <a:ext cx="219456" cy="228600"/>
          </a:xfrm>
          <a:prstGeom prst="rect">
            <a:avLst/>
          </a:prstGeom>
        </p:spPr>
      </p:pic>
      <p:sp>
        <p:nvSpPr>
          <p:cNvPr id="4" name="Text 1"/>
          <p:cNvSpPr/>
          <p:nvPr/>
        </p:nvSpPr>
        <p:spPr>
          <a:xfrm>
            <a:off x="1005840" y="2103120"/>
            <a:ext cx="6766560" cy="384048"/>
          </a:xfrm>
          <a:prstGeom prst="rect">
            <a:avLst/>
          </a:prstGeom>
          <a:noFill/>
          <a:ln/>
        </p:spPr>
        <p:txBody>
          <a:bodyPr wrap="square" lIns="0" tIns="0" rIns="0" bIns="0" rtlCol="0" anchor="t"/>
          <a:lstStyle/>
          <a:p>
            <a:pPr algn="l" indent="0" marL="0">
              <a:buNone/>
            </a:pPr>
            <a:r>
              <a:rPr lang="en-US" sz="2000" b="1" dirty="0">
                <a:solidFill>
                  <a:srgbClr val="E8EEFC"/>
                </a:solidFill>
                <a:latin typeface="Arial" pitchFamily="34" charset="0"/>
                <a:ea typeface="Arial" pitchFamily="34" charset="-122"/>
                <a:cs typeface="Arial" pitchFamily="34" charset="-120"/>
              </a:rPr>
              <a:t>Write the spec before the prompt</a:t>
            </a:r>
            <a:endParaRPr lang="en-US" sz="1400" dirty="0"/>
          </a:p>
        </p:txBody>
      </p:sp>
      <p:sp>
        <p:nvSpPr>
          <p:cNvPr id="5" name="Text 2"/>
          <p:cNvSpPr/>
          <p:nvPr/>
        </p:nvSpPr>
        <p:spPr>
          <a:xfrm>
            <a:off x="1005840" y="2514600"/>
            <a:ext cx="6766560" cy="384048"/>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the discipline, not the model, is what made this work</a:t>
            </a:r>
            <a:endParaRPr lang="en-US" sz="1400" dirty="0"/>
          </a:p>
        </p:txBody>
      </p:sp>
      <p:sp>
        <p:nvSpPr>
          <p:cNvPr id="6" name="Shape 3"/>
          <p:cNvSpPr/>
          <p:nvPr/>
        </p:nvSpPr>
        <p:spPr>
          <a:xfrm>
            <a:off x="548640" y="3035808"/>
            <a:ext cx="7315200" cy="10973"/>
          </a:xfrm>
          <a:prstGeom prst="rect">
            <a:avLst/>
          </a:prstGeom>
          <a:solidFill>
            <a:srgbClr val="24325C"/>
          </a:solidFill>
          <a:ln/>
        </p:spPr>
      </p:sp>
      <p:pic>
        <p:nvPicPr>
          <p:cNvPr id="7" name="Image 1" descr="preencoded.png">    </p:cNvPr>
          <p:cNvPicPr>
            <a:picLocks noChangeAspect="1"/>
          </p:cNvPicPr>
          <p:nvPr/>
        </p:nvPicPr>
        <p:blipFill>
          <a:blip r:embed="rId2"/>
          <a:stretch>
            <a:fillRect/>
          </a:stretch>
        </p:blipFill>
        <p:spPr>
          <a:xfrm>
            <a:off x="566928" y="3346704"/>
            <a:ext cx="219456" cy="228600"/>
          </a:xfrm>
          <a:prstGeom prst="rect">
            <a:avLst/>
          </a:prstGeom>
        </p:spPr>
      </p:pic>
      <p:sp>
        <p:nvSpPr>
          <p:cNvPr id="8" name="Text 4"/>
          <p:cNvSpPr/>
          <p:nvPr/>
        </p:nvSpPr>
        <p:spPr>
          <a:xfrm>
            <a:off x="1005840" y="3291840"/>
            <a:ext cx="6766560" cy="384048"/>
          </a:xfrm>
          <a:prstGeom prst="rect">
            <a:avLst/>
          </a:prstGeom>
          <a:noFill/>
          <a:ln/>
        </p:spPr>
        <p:txBody>
          <a:bodyPr wrap="square" lIns="0" tIns="0" rIns="0" bIns="0" rtlCol="0" anchor="t"/>
          <a:lstStyle/>
          <a:p>
            <a:pPr algn="l" indent="0" marL="0">
              <a:buNone/>
            </a:pPr>
            <a:r>
              <a:rPr lang="en-US" sz="2000" b="1" dirty="0">
                <a:solidFill>
                  <a:srgbClr val="E8EEFC"/>
                </a:solidFill>
                <a:latin typeface="Arial" pitchFamily="34" charset="0"/>
                <a:ea typeface="Arial" pitchFamily="34" charset="-122"/>
                <a:cs typeface="Arial" pitchFamily="34" charset="-120"/>
              </a:rPr>
              <a:t>Publish what your model gets wrong</a:t>
            </a:r>
            <a:endParaRPr lang="en-US" sz="1400" dirty="0"/>
          </a:p>
        </p:txBody>
      </p:sp>
      <p:sp>
        <p:nvSpPr>
          <p:cNvPr id="9" name="Text 5"/>
          <p:cNvSpPr/>
          <p:nvPr/>
        </p:nvSpPr>
        <p:spPr>
          <a:xfrm>
            <a:off x="1005840" y="3703320"/>
            <a:ext cx="6766560" cy="384048"/>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the awkward numbers bought more trust than the good ones</a:t>
            </a:r>
            <a:endParaRPr lang="en-US" sz="1400" dirty="0"/>
          </a:p>
        </p:txBody>
      </p:sp>
      <p:sp>
        <p:nvSpPr>
          <p:cNvPr id="10" name="Shape 6"/>
          <p:cNvSpPr/>
          <p:nvPr/>
        </p:nvSpPr>
        <p:spPr>
          <a:xfrm>
            <a:off x="548640" y="4224528"/>
            <a:ext cx="7315200" cy="10973"/>
          </a:xfrm>
          <a:prstGeom prst="rect">
            <a:avLst/>
          </a:prstGeom>
          <a:solidFill>
            <a:srgbClr val="24325C"/>
          </a:solidFill>
          <a:ln/>
        </p:spPr>
      </p:sp>
      <p:pic>
        <p:nvPicPr>
          <p:cNvPr id="11" name="Image 2" descr="preencoded.png">    </p:cNvPr>
          <p:cNvPicPr>
            <a:picLocks noChangeAspect="1"/>
          </p:cNvPicPr>
          <p:nvPr/>
        </p:nvPicPr>
        <p:blipFill>
          <a:blip r:embed="rId3"/>
          <a:stretch>
            <a:fillRect/>
          </a:stretch>
        </p:blipFill>
        <p:spPr>
          <a:xfrm>
            <a:off x="566928" y="4535424"/>
            <a:ext cx="219456" cy="228600"/>
          </a:xfrm>
          <a:prstGeom prst="rect">
            <a:avLst/>
          </a:prstGeom>
        </p:spPr>
      </p:pic>
      <p:sp>
        <p:nvSpPr>
          <p:cNvPr id="12" name="Text 7"/>
          <p:cNvSpPr/>
          <p:nvPr/>
        </p:nvSpPr>
        <p:spPr>
          <a:xfrm>
            <a:off x="1005840" y="4480560"/>
            <a:ext cx="6766560" cy="384048"/>
          </a:xfrm>
          <a:prstGeom prst="rect">
            <a:avLst/>
          </a:prstGeom>
          <a:noFill/>
          <a:ln/>
        </p:spPr>
        <p:txBody>
          <a:bodyPr wrap="square" lIns="0" tIns="0" rIns="0" bIns="0" rtlCol="0" anchor="t"/>
          <a:lstStyle/>
          <a:p>
            <a:pPr algn="l" indent="0" marL="0">
              <a:buNone/>
            </a:pPr>
            <a:r>
              <a:rPr lang="en-US" sz="2000" b="1" dirty="0">
                <a:solidFill>
                  <a:srgbClr val="E8EEFC"/>
                </a:solidFill>
                <a:latin typeface="Arial" pitchFamily="34" charset="0"/>
                <a:ea typeface="Arial" pitchFamily="34" charset="-122"/>
                <a:cs typeface="Arial" pitchFamily="34" charset="-120"/>
              </a:rPr>
              <a:t>Pick tools that make rigor fun</a:t>
            </a:r>
            <a:endParaRPr lang="en-US" sz="1400" dirty="0"/>
          </a:p>
        </p:txBody>
      </p:sp>
      <p:sp>
        <p:nvSpPr>
          <p:cNvPr id="13" name="Text 8"/>
          <p:cNvSpPr/>
          <p:nvPr/>
        </p:nvSpPr>
        <p:spPr>
          <a:xfrm>
            <a:off x="1005840" y="4892040"/>
            <a:ext cx="6766560" cy="384048"/>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fun is load-bearing — review you enjoy is review you run</a:t>
            </a:r>
            <a:endParaRPr lang="en-US" sz="1400" dirty="0"/>
          </a:p>
        </p:txBody>
      </p:sp>
      <p:sp>
        <p:nvSpPr>
          <p:cNvPr id="14" name="Shape 9"/>
          <p:cNvSpPr/>
          <p:nvPr/>
        </p:nvSpPr>
        <p:spPr>
          <a:xfrm>
            <a:off x="548640" y="5413248"/>
            <a:ext cx="7315200" cy="10973"/>
          </a:xfrm>
          <a:prstGeom prst="rect">
            <a:avLst/>
          </a:prstGeom>
          <a:solidFill>
            <a:srgbClr val="24325C"/>
          </a:solidFill>
          <a:ln/>
        </p:spPr>
      </p:sp>
      <p:sp>
        <p:nvSpPr>
          <p:cNvPr id="15" name="Text 10"/>
          <p:cNvSpPr/>
          <p:nvPr/>
        </p:nvSpPr>
        <p:spPr>
          <a:xfrm>
            <a:off x="8229600" y="2103120"/>
            <a:ext cx="3410712" cy="2880360"/>
          </a:xfrm>
          <a:prstGeom prst="roundRect">
            <a:avLst>
              <a:gd name="adj" fmla="val 2857"/>
            </a:avLst>
          </a:prstGeom>
          <a:solidFill>
            <a:srgbClr val="0C1530"/>
          </a:solidFill>
          <a:ln w="9525">
            <a:solidFill>
              <a:srgbClr val="24325C"/>
            </a:solidFill>
          </a:ln>
        </p:spPr>
        <p:txBody>
          <a:bodyPr wrap="square" lIns="228600" tIns="228600" rIns="228600" bIns="228600" rtlCol="0" anchor="t"/>
          <a:lstStyle/>
          <a:p>
            <a:pPr algn="l" indent="0" marL="0">
              <a:buNone/>
            </a:pPr>
            <a:r>
              <a:rPr lang="en-US" sz="4400" b="1" dirty="0">
                <a:solidFill>
                  <a:srgbClr val="FFFFFF"/>
                </a:solidFill>
                <a:latin typeface="Courier New" pitchFamily="34" charset="0"/>
                <a:ea typeface="Courier New" pitchFamily="34" charset="-122"/>
                <a:cs typeface="Courier New" pitchFamily="34" charset="-120"/>
              </a:rPr>
              <a:t>2034</a:t>
            </a:r>
            <a:endParaRPr lang="en-US" sz="1400" dirty="0"/>
          </a:p>
          <a:p>
            <a:pPr algn="l" indent="0" marL="0">
              <a:buNone/>
            </a:pPr>
            <a:r>
              <a:rPr lang="en-US" sz="1400" dirty="0">
                <a:solidFill>
                  <a:srgbClr val="9DB0D9"/>
                </a:solidFill>
                <a:latin typeface="Arial" pitchFamily="34" charset="0"/>
                <a:ea typeface="Arial" pitchFamily="34" charset="-122"/>
                <a:cs typeface="Arial" pitchFamily="34" charset="-120"/>
              </a:rPr>
              <a:t>I re-run the back-test on the 2024–34 decade and publish how my ratings aged.</a:t>
            </a:r>
            <a:endParaRPr lang="en-US" sz="1400" dirty="0"/>
          </a:p>
          <a:p>
            <a:pPr algn="l" indent="0" marL="0">
              <a:buNone/>
            </a:pPr>
            <a:endParaRPr lang="en-US" sz="1400" dirty="0"/>
          </a:p>
          <a:p>
            <a:pPr algn="l" indent="0" marL="0">
              <a:buNone/>
            </a:pPr>
            <a:r>
              <a:rPr lang="en-US" sz="1400" b="1" i="1" dirty="0">
                <a:solidFill>
                  <a:srgbClr val="34D399"/>
                </a:solidFill>
                <a:latin typeface="Arial" pitchFamily="34" charset="0"/>
                <a:ea typeface="Arial" pitchFamily="34" charset="-122"/>
                <a:cs typeface="Arial" pitchFamily="34" charset="-120"/>
              </a:rPr>
              <a:t>Ratings agencies should eat their own cooking.</a:t>
            </a:r>
            <a:endParaRPr lang="en-US" sz="1400" dirty="0"/>
          </a:p>
        </p:txBody>
      </p:sp>
      <p:sp>
        <p:nvSpPr>
          <p:cNvPr id="16" name="Shape 11"/>
          <p:cNvSpPr/>
          <p:nvPr/>
        </p:nvSpPr>
        <p:spPr>
          <a:xfrm>
            <a:off x="548640" y="5669280"/>
            <a:ext cx="11091672" cy="10973"/>
          </a:xfrm>
          <a:prstGeom prst="rect">
            <a:avLst/>
          </a:prstGeom>
          <a:solidFill>
            <a:srgbClr val="4F74F0"/>
          </a:solidFill>
          <a:ln/>
        </p:spPr>
      </p:sp>
      <p:sp>
        <p:nvSpPr>
          <p:cNvPr id="17" name="Text 12"/>
          <p:cNvSpPr/>
          <p:nvPr/>
        </p:nvSpPr>
        <p:spPr>
          <a:xfrm>
            <a:off x="548640" y="5897880"/>
            <a:ext cx="11091672" cy="457200"/>
          </a:xfrm>
          <a:prstGeom prst="rect">
            <a:avLst/>
          </a:prstGeom>
          <a:noFill/>
          <a:ln/>
        </p:spPr>
        <p:txBody>
          <a:bodyPr wrap="square" lIns="0" tIns="0" rIns="0" bIns="0" rtlCol="0" anchor="t"/>
          <a:lstStyle/>
          <a:p>
            <a:pPr algn="ctr" indent="0" marL="0">
              <a:buNone/>
            </a:pPr>
            <a:r>
              <a:rPr lang="en-US" sz="1500" dirty="0">
                <a:solidFill>
                  <a:srgbClr val="E8EEFC"/>
                </a:solidFill>
                <a:latin typeface="Arial" pitchFamily="34" charset="0"/>
                <a:ea typeface="Arial" pitchFamily="34" charset="-122"/>
                <a:cs typeface="Arial" pitchFamily="34" charset="-120"/>
              </a:rPr>
              <a:t>Thanks — questions?   ·   ashleylibasci.com   ·   github.com/ashleylibasci/careerstar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38912"/>
            <a:ext cx="182880" cy="192024"/>
          </a:xfrm>
          <a:prstGeom prst="rect">
            <a:avLst/>
          </a:prstGeom>
        </p:spPr>
      </p:pic>
      <p:sp>
        <p:nvSpPr>
          <p:cNvPr id="3" name="Text 0"/>
          <p:cNvSpPr/>
          <p:nvPr>
            <p:ph idx="100" type="body" hasCustomPrompt="1"/>
          </p:nvPr>
        </p:nvSpPr>
        <p:spPr>
          <a:xfrm>
            <a:off x="804672" y="402336"/>
            <a:ext cx="10789920" cy="310896"/>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BACKUP · Q&amp;A</a:t>
            </a:r>
            <a:endParaRPr lang="en-US" sz="1400" dirty="0"/>
          </a:p>
        </p:txBody>
      </p:sp>
      <p:sp>
        <p:nvSpPr>
          <p:cNvPr id="4" name="Text 0"/>
          <p:cNvSpPr/>
          <p:nvPr>
            <p:ph idx="101" type="title" hasCustomPrompt="1"/>
          </p:nvPr>
        </p:nvSpPr>
        <p:spPr>
          <a:xfrm>
            <a:off x="548640" y="749808"/>
            <a:ext cx="11091672" cy="960120"/>
          </a:xfrm>
          <a:prstGeom prst="rect">
            <a:avLst/>
          </a:prstGeom>
          <a:noFill/>
          <a:ln/>
        </p:spPr>
        <p:txBody>
          <a:bodyPr wrap="square" lIns="0" tIns="0" rIns="0" bIns="0" rtlCol="0"/>
          <a:lstStyle/>
          <a:p>
            <a:pPr algn="l" indent="0" marL="0">
              <a:buNone/>
            </a:pPr>
            <a:r>
              <a:rPr lang="en-US" sz="2800" b="1" dirty="0">
                <a:solidFill>
                  <a:srgbClr val="E8EEFC"/>
                </a:solidFill>
                <a:latin typeface="Arial" pitchFamily="34" charset="0"/>
                <a:ea typeface="Arial" pitchFamily="34" charset="-122"/>
                <a:cs typeface="Arial" pitchFamily="34" charset="-120"/>
              </a:rPr>
              <a:t>Weights, stars, and robustness</a:t>
            </a:r>
            <a:endParaRPr lang="en-US" sz="2800" dirty="0"/>
          </a:p>
        </p:txBody>
      </p:sp>
      <p:sp>
        <p:nvSpPr>
          <p:cNvPr id="5" name="Text 2"/>
          <p:cNvSpPr/>
          <p:nvPr/>
        </p:nvSpPr>
        <p:spPr>
          <a:xfrm>
            <a:off x="548640" y="2057400"/>
            <a:ext cx="11091672" cy="365760"/>
          </a:xfrm>
          <a:prstGeom prst="rect">
            <a:avLst/>
          </a:prstGeom>
          <a:noFill/>
          <a:ln/>
        </p:spPr>
        <p:txBody>
          <a:bodyPr wrap="square" lIns="0" tIns="0" rIns="0" bIns="0" rtlCol="0" anchor="t"/>
          <a:lstStyle/>
          <a:p>
            <a:pPr algn="l" indent="0" marL="0">
              <a:buNone/>
            </a:pPr>
            <a:r>
              <a:rPr lang="en-US" sz="1700" b="1" dirty="0">
                <a:solidFill>
                  <a:srgbClr val="4F74F0"/>
                </a:solidFill>
                <a:latin typeface="Arial" pitchFamily="34" charset="0"/>
                <a:ea typeface="Arial" pitchFamily="34" charset="-122"/>
                <a:cs typeface="Arial" pitchFamily="34" charset="-120"/>
              </a:rPr>
              <a:t>“Why 0.7 and not 0.6?”</a:t>
            </a:r>
            <a:endParaRPr lang="en-US" sz="1400" dirty="0"/>
          </a:p>
        </p:txBody>
      </p:sp>
      <p:sp>
        <p:nvSpPr>
          <p:cNvPr id="6" name="Text 3"/>
          <p:cNvSpPr/>
          <p:nvPr/>
        </p:nvSpPr>
        <p:spPr>
          <a:xfrm>
            <a:off x="548640" y="2441448"/>
            <a:ext cx="11091672" cy="731520"/>
          </a:xfrm>
          <a:prstGeom prst="rect">
            <a:avLst/>
          </a:prstGeom>
          <a:noFill/>
          <a:ln/>
        </p:spPr>
        <p:txBody>
          <a:bodyPr wrap="square" lIns="0" tIns="0" rIns="0" bIns="0" rtlCol="0" anchor="t"/>
          <a:lstStyle/>
          <a:p>
            <a:pPr algn="l" indent="0" marL="0">
              <a:buNone/>
            </a:pPr>
            <a:r>
              <a:rPr lang="en-US" sz="1400" dirty="0">
                <a:solidFill>
                  <a:srgbClr val="9DB0D9"/>
                </a:solidFill>
                <a:latin typeface="Arial" pitchFamily="34" charset="0"/>
                <a:ea typeface="Arial" pitchFamily="34" charset="-122"/>
                <a:cs typeface="Arial" pitchFamily="34" charset="-120"/>
              </a:rPr>
              <a:t>Because I had to pick something and there’s nothing to fit on. So I say “prior” out loud and stress-test instead: 729 perturbations, five rival models, close calls labeled.</a:t>
            </a:r>
            <a:endParaRPr lang="en-US" sz="1400" dirty="0"/>
          </a:p>
        </p:txBody>
      </p:sp>
      <p:sp>
        <p:nvSpPr>
          <p:cNvPr id="7" name="Shape 4"/>
          <p:cNvSpPr/>
          <p:nvPr/>
        </p:nvSpPr>
        <p:spPr>
          <a:xfrm>
            <a:off x="548640" y="3227832"/>
            <a:ext cx="11091672" cy="10973"/>
          </a:xfrm>
          <a:prstGeom prst="rect">
            <a:avLst/>
          </a:prstGeom>
          <a:solidFill>
            <a:srgbClr val="24325C"/>
          </a:solidFill>
          <a:ln/>
        </p:spPr>
      </p:sp>
      <p:sp>
        <p:nvSpPr>
          <p:cNvPr id="8" name="Text 5"/>
          <p:cNvSpPr/>
          <p:nvPr/>
        </p:nvSpPr>
        <p:spPr>
          <a:xfrm>
            <a:off x="548640" y="3429000"/>
            <a:ext cx="11091672" cy="365760"/>
          </a:xfrm>
          <a:prstGeom prst="rect">
            <a:avLst/>
          </a:prstGeom>
          <a:noFill/>
          <a:ln/>
        </p:spPr>
        <p:txBody>
          <a:bodyPr wrap="square" lIns="0" tIns="0" rIns="0" bIns="0" rtlCol="0" anchor="t"/>
          <a:lstStyle/>
          <a:p>
            <a:pPr algn="l" indent="0" marL="0">
              <a:buNone/>
            </a:pPr>
            <a:r>
              <a:rPr lang="en-US" sz="1700" b="1" dirty="0">
                <a:solidFill>
                  <a:srgbClr val="4F74F0"/>
                </a:solidFill>
                <a:latin typeface="Arial" pitchFamily="34" charset="0"/>
                <a:ea typeface="Arial" pitchFamily="34" charset="-122"/>
                <a:cs typeface="Arial" pitchFamily="34" charset="-120"/>
              </a:rPr>
              <a:t>“How do the stars work?”</a:t>
            </a:r>
            <a:endParaRPr lang="en-US" sz="1400" dirty="0"/>
          </a:p>
        </p:txBody>
      </p:sp>
      <p:sp>
        <p:nvSpPr>
          <p:cNvPr id="9" name="Text 6"/>
          <p:cNvSpPr/>
          <p:nvPr/>
        </p:nvSpPr>
        <p:spPr>
          <a:xfrm>
            <a:off x="548640" y="3813048"/>
            <a:ext cx="11091672" cy="731520"/>
          </a:xfrm>
          <a:prstGeom prst="rect">
            <a:avLst/>
          </a:prstGeom>
          <a:noFill/>
          <a:ln/>
        </p:spPr>
        <p:txBody>
          <a:bodyPr wrap="square" lIns="0" tIns="0" rIns="0" bIns="0" rtlCol="0" anchor="t"/>
          <a:lstStyle/>
          <a:p>
            <a:pPr algn="l" indent="0" marL="0">
              <a:buNone/>
            </a:pPr>
            <a:r>
              <a:rPr lang="en-US" sz="1400" dirty="0">
                <a:solidFill>
                  <a:srgbClr val="9DB0D9"/>
                </a:solidFill>
                <a:latin typeface="Arial" pitchFamily="34" charset="0"/>
                <a:ea typeface="Arial" pitchFamily="34" charset="-122"/>
                <a:cs typeface="Arial" pitchFamily="34" charset="-120"/>
              </a:rPr>
              <a:t>Forced relative curve, straight from Morningstar: top 10% get 5 stars, next 22.5% get 4, and so on — recomputed live under the user’s own weights.</a:t>
            </a:r>
            <a:endParaRPr lang="en-US" sz="1400" dirty="0"/>
          </a:p>
        </p:txBody>
      </p:sp>
      <p:sp>
        <p:nvSpPr>
          <p:cNvPr id="10" name="Shape 7"/>
          <p:cNvSpPr/>
          <p:nvPr/>
        </p:nvSpPr>
        <p:spPr>
          <a:xfrm>
            <a:off x="548640" y="4599432"/>
            <a:ext cx="11091672" cy="10973"/>
          </a:xfrm>
          <a:prstGeom prst="rect">
            <a:avLst/>
          </a:prstGeom>
          <a:solidFill>
            <a:srgbClr val="24325C"/>
          </a:solidFill>
          <a:ln/>
        </p:spPr>
      </p:sp>
      <p:sp>
        <p:nvSpPr>
          <p:cNvPr id="11" name="Text 8"/>
          <p:cNvSpPr/>
          <p:nvPr/>
        </p:nvSpPr>
        <p:spPr>
          <a:xfrm>
            <a:off x="548640" y="4800600"/>
            <a:ext cx="11091672" cy="365760"/>
          </a:xfrm>
          <a:prstGeom prst="rect">
            <a:avLst/>
          </a:prstGeom>
          <a:noFill/>
          <a:ln/>
        </p:spPr>
        <p:txBody>
          <a:bodyPr wrap="square" lIns="0" tIns="0" rIns="0" bIns="0" rtlCol="0" anchor="t"/>
          <a:lstStyle/>
          <a:p>
            <a:pPr algn="l" indent="0" marL="0">
              <a:buNone/>
            </a:pPr>
            <a:r>
              <a:rPr lang="en-US" sz="1700" b="1" dirty="0">
                <a:solidFill>
                  <a:srgbClr val="4F74F0"/>
                </a:solidFill>
                <a:latin typeface="Arial" pitchFamily="34" charset="0"/>
                <a:ea typeface="Arial" pitchFamily="34" charset="-122"/>
                <a:cs typeface="Arial" pitchFamily="34" charset="-120"/>
              </a:rPr>
              <a:t>“Isn’t AI exposure just decline by another name?”</a:t>
            </a:r>
            <a:endParaRPr lang="en-US" sz="1400" dirty="0"/>
          </a:p>
        </p:txBody>
      </p:sp>
      <p:sp>
        <p:nvSpPr>
          <p:cNvPr id="12" name="Text 9"/>
          <p:cNvSpPr/>
          <p:nvPr/>
        </p:nvSpPr>
        <p:spPr>
          <a:xfrm>
            <a:off x="548640" y="5184648"/>
            <a:ext cx="11091672" cy="731520"/>
          </a:xfrm>
          <a:prstGeom prst="rect">
            <a:avLst/>
          </a:prstGeom>
          <a:noFill/>
          <a:ln/>
        </p:spPr>
        <p:txBody>
          <a:bodyPr wrap="square" lIns="0" tIns="0" rIns="0" bIns="0" rtlCol="0" anchor="t"/>
          <a:lstStyle/>
          <a:p>
            <a:pPr algn="l" indent="0" marL="0">
              <a:buNone/>
            </a:pPr>
            <a:r>
              <a:rPr lang="en-US" sz="1400" dirty="0">
                <a:solidFill>
                  <a:srgbClr val="9DB0D9"/>
                </a:solidFill>
                <a:latin typeface="Arial" pitchFamily="34" charset="0"/>
                <a:ea typeface="Arial" pitchFamily="34" charset="-122"/>
                <a:cs typeface="Arial" pitchFamily="34" charset="-120"/>
              </a:rPr>
              <a:t>No. Across all 730, exposure and projected growth are nearly uncorrelated. Exposure knows something growth doesn’t.</a:t>
            </a:r>
            <a:endParaRPr lang="en-US" sz="1400" dirty="0"/>
          </a:p>
        </p:txBody>
      </p:sp>
      <p:sp>
        <p:nvSpPr>
          <p:cNvPr id="13" name="Shape 10"/>
          <p:cNvSpPr/>
          <p:nvPr/>
        </p:nvSpPr>
        <p:spPr>
          <a:xfrm>
            <a:off x="548640" y="5971032"/>
            <a:ext cx="11091672" cy="10973"/>
          </a:xfrm>
          <a:prstGeom prst="rect">
            <a:avLst/>
          </a:prstGeom>
          <a:solidFill>
            <a:srgbClr val="24325C"/>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38912"/>
            <a:ext cx="182880" cy="192024"/>
          </a:xfrm>
          <a:prstGeom prst="rect">
            <a:avLst/>
          </a:prstGeom>
        </p:spPr>
      </p:pic>
      <p:sp>
        <p:nvSpPr>
          <p:cNvPr id="3" name="Text 0"/>
          <p:cNvSpPr/>
          <p:nvPr>
            <p:ph idx="100" type="body" hasCustomPrompt="1"/>
          </p:nvPr>
        </p:nvSpPr>
        <p:spPr>
          <a:xfrm>
            <a:off x="804672" y="402336"/>
            <a:ext cx="10789920" cy="310896"/>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BACKUP · Q&amp;A</a:t>
            </a:r>
            <a:endParaRPr lang="en-US" sz="1400" dirty="0"/>
          </a:p>
        </p:txBody>
      </p:sp>
      <p:sp>
        <p:nvSpPr>
          <p:cNvPr id="4" name="Text 0"/>
          <p:cNvSpPr/>
          <p:nvPr>
            <p:ph idx="101" type="title" hasCustomPrompt="1"/>
          </p:nvPr>
        </p:nvSpPr>
        <p:spPr>
          <a:xfrm>
            <a:off x="548640" y="749808"/>
            <a:ext cx="11091672" cy="960120"/>
          </a:xfrm>
          <a:prstGeom prst="rect">
            <a:avLst/>
          </a:prstGeom>
          <a:noFill/>
          <a:ln/>
        </p:spPr>
        <p:txBody>
          <a:bodyPr wrap="square" lIns="0" tIns="0" rIns="0" bIns="0" rtlCol="0"/>
          <a:lstStyle/>
          <a:p>
            <a:pPr algn="l" indent="0" marL="0">
              <a:buNone/>
            </a:pPr>
            <a:r>
              <a:rPr lang="en-US" sz="2800" b="1" dirty="0">
                <a:solidFill>
                  <a:srgbClr val="E8EEFC"/>
                </a:solidFill>
                <a:latin typeface="Arial" pitchFamily="34" charset="0"/>
                <a:ea typeface="Arial" pitchFamily="34" charset="-122"/>
                <a:cs typeface="Arial" pitchFamily="34" charset="-120"/>
              </a:rPr>
              <a:t>Back-test details</a:t>
            </a:r>
            <a:endParaRPr lang="en-US" sz="2800" dirty="0"/>
          </a:p>
        </p:txBody>
      </p:sp>
      <p:sp>
        <p:nvSpPr>
          <p:cNvPr id="5" name="Text 2"/>
          <p:cNvSpPr/>
          <p:nvPr/>
        </p:nvSpPr>
        <p:spPr>
          <a:xfrm>
            <a:off x="548640" y="2057400"/>
            <a:ext cx="11091672" cy="365760"/>
          </a:xfrm>
          <a:prstGeom prst="rect">
            <a:avLst/>
          </a:prstGeom>
          <a:noFill/>
          <a:ln/>
        </p:spPr>
        <p:txBody>
          <a:bodyPr wrap="square" lIns="0" tIns="0" rIns="0" bIns="0" rtlCol="0" anchor="t"/>
          <a:lstStyle/>
          <a:p>
            <a:pPr algn="l" indent="0" marL="0">
              <a:buNone/>
            </a:pPr>
            <a:r>
              <a:rPr lang="en-US" sz="1700" b="1" dirty="0">
                <a:solidFill>
                  <a:srgbClr val="4F74F0"/>
                </a:solidFill>
                <a:latin typeface="Arial" pitchFamily="34" charset="0"/>
                <a:ea typeface="Arial" pitchFamily="34" charset="-122"/>
                <a:cs typeface="Arial" pitchFamily="34" charset="-120"/>
              </a:rPr>
              <a:t>“Where did 2014 wages come from?”</a:t>
            </a:r>
            <a:endParaRPr lang="en-US" sz="1400" dirty="0"/>
          </a:p>
        </p:txBody>
      </p:sp>
      <p:sp>
        <p:nvSpPr>
          <p:cNvPr id="6" name="Text 3"/>
          <p:cNvSpPr/>
          <p:nvPr/>
        </p:nvSpPr>
        <p:spPr>
          <a:xfrm>
            <a:off x="548640" y="2441448"/>
            <a:ext cx="11091672" cy="731520"/>
          </a:xfrm>
          <a:prstGeom prst="rect">
            <a:avLst/>
          </a:prstGeom>
          <a:noFill/>
          <a:ln/>
        </p:spPr>
        <p:txBody>
          <a:bodyPr wrap="square" lIns="0" tIns="0" rIns="0" bIns="0" rtlCol="0" anchor="t"/>
          <a:lstStyle/>
          <a:p>
            <a:pPr algn="l" indent="0" marL="0">
              <a:buNone/>
            </a:pPr>
            <a:r>
              <a:rPr lang="en-US" sz="1400" dirty="0">
                <a:solidFill>
                  <a:srgbClr val="9DB0D9"/>
                </a:solidFill>
                <a:latin typeface="Arial" pitchFamily="34" charset="0"/>
                <a:ea typeface="Arial" pitchFamily="34" charset="-122"/>
                <a:cs typeface="Arial" pitchFamily="34" charset="-120"/>
              </a:rPr>
              <a:t>The archived table has no 2015 wages, so pay percentiles use today’s ranking as a proxy — pay order barely moves. A growth-only variant shows the proxy changes almost nothing. All disclosed.</a:t>
            </a:r>
            <a:endParaRPr lang="en-US" sz="1400" dirty="0"/>
          </a:p>
        </p:txBody>
      </p:sp>
      <p:sp>
        <p:nvSpPr>
          <p:cNvPr id="7" name="Shape 4"/>
          <p:cNvSpPr/>
          <p:nvPr/>
        </p:nvSpPr>
        <p:spPr>
          <a:xfrm>
            <a:off x="548640" y="3227832"/>
            <a:ext cx="11091672" cy="10973"/>
          </a:xfrm>
          <a:prstGeom prst="rect">
            <a:avLst/>
          </a:prstGeom>
          <a:solidFill>
            <a:srgbClr val="24325C"/>
          </a:solidFill>
          <a:ln/>
        </p:spPr>
      </p:sp>
      <p:sp>
        <p:nvSpPr>
          <p:cNvPr id="8" name="Text 5"/>
          <p:cNvSpPr/>
          <p:nvPr/>
        </p:nvSpPr>
        <p:spPr>
          <a:xfrm>
            <a:off x="548640" y="3429000"/>
            <a:ext cx="11091672" cy="365760"/>
          </a:xfrm>
          <a:prstGeom prst="rect">
            <a:avLst/>
          </a:prstGeom>
          <a:noFill/>
          <a:ln/>
        </p:spPr>
        <p:txBody>
          <a:bodyPr wrap="square" lIns="0" tIns="0" rIns="0" bIns="0" rtlCol="0" anchor="t"/>
          <a:lstStyle/>
          <a:p>
            <a:pPr algn="l" indent="0" marL="0">
              <a:buNone/>
            </a:pPr>
            <a:r>
              <a:rPr lang="en-US" sz="1700" b="1" dirty="0">
                <a:solidFill>
                  <a:srgbClr val="4F74F0"/>
                </a:solidFill>
                <a:latin typeface="Arial" pitchFamily="34" charset="0"/>
                <a:ea typeface="Arial" pitchFamily="34" charset="-122"/>
                <a:cs typeface="Arial" pitchFamily="34" charset="-120"/>
              </a:rPr>
              <a:t>“Biggest misses?”</a:t>
            </a:r>
            <a:endParaRPr lang="en-US" sz="1400" dirty="0"/>
          </a:p>
        </p:txBody>
      </p:sp>
      <p:sp>
        <p:nvSpPr>
          <p:cNvPr id="9" name="Text 6"/>
          <p:cNvSpPr/>
          <p:nvPr/>
        </p:nvSpPr>
        <p:spPr>
          <a:xfrm>
            <a:off x="548640" y="3813048"/>
            <a:ext cx="11091672" cy="731520"/>
          </a:xfrm>
          <a:prstGeom prst="rect">
            <a:avLst/>
          </a:prstGeom>
          <a:noFill/>
          <a:ln/>
        </p:spPr>
        <p:txBody>
          <a:bodyPr wrap="square" lIns="0" tIns="0" rIns="0" bIns="0" rtlCol="0" anchor="t"/>
          <a:lstStyle/>
          <a:p>
            <a:pPr algn="l" indent="0" marL="0">
              <a:buNone/>
            </a:pPr>
            <a:r>
              <a:rPr lang="en-US" sz="1400" dirty="0">
                <a:solidFill>
                  <a:srgbClr val="9DB0D9"/>
                </a:solidFill>
                <a:latin typeface="Arial" pitchFamily="34" charset="0"/>
                <a:ea typeface="Arial" pitchFamily="34" charset="-122"/>
                <a:cs typeface="Arial" pitchFamily="34" charset="-120"/>
              </a:rPr>
              <a:t>It liked oil-and-gas jobs in 2014; oil crashed. It underrated couriers; e-commerce boomed. Both named on the site, raw data downloadable.</a:t>
            </a:r>
            <a:endParaRPr lang="en-US" sz="1400" dirty="0"/>
          </a:p>
        </p:txBody>
      </p:sp>
      <p:sp>
        <p:nvSpPr>
          <p:cNvPr id="10" name="Shape 7"/>
          <p:cNvSpPr/>
          <p:nvPr/>
        </p:nvSpPr>
        <p:spPr>
          <a:xfrm>
            <a:off x="548640" y="4599432"/>
            <a:ext cx="11091672" cy="10973"/>
          </a:xfrm>
          <a:prstGeom prst="rect">
            <a:avLst/>
          </a:prstGeom>
          <a:solidFill>
            <a:srgbClr val="24325C"/>
          </a:solidFill>
          <a:ln/>
        </p:spPr>
      </p:sp>
      <p:sp>
        <p:nvSpPr>
          <p:cNvPr id="11" name="Text 8"/>
          <p:cNvSpPr/>
          <p:nvPr/>
        </p:nvSpPr>
        <p:spPr>
          <a:xfrm>
            <a:off x="548640" y="4800600"/>
            <a:ext cx="11091672" cy="365760"/>
          </a:xfrm>
          <a:prstGeom prst="rect">
            <a:avLst/>
          </a:prstGeom>
          <a:noFill/>
          <a:ln/>
        </p:spPr>
        <p:txBody>
          <a:bodyPr wrap="square" lIns="0" tIns="0" rIns="0" bIns="0" rtlCol="0" anchor="t"/>
          <a:lstStyle/>
          <a:p>
            <a:pPr algn="l" indent="0" marL="0">
              <a:buNone/>
            </a:pPr>
            <a:r>
              <a:rPr lang="en-US" sz="1700" b="1" dirty="0">
                <a:solidFill>
                  <a:srgbClr val="4F74F0"/>
                </a:solidFill>
                <a:latin typeface="Arial" pitchFamily="34" charset="0"/>
                <a:ea typeface="Arial" pitchFamily="34" charset="-122"/>
                <a:cs typeface="Arial" pitchFamily="34" charset="-120"/>
              </a:rPr>
              <a:t>“Survivorship?”</a:t>
            </a:r>
            <a:endParaRPr lang="en-US" sz="1400" dirty="0"/>
          </a:p>
        </p:txBody>
      </p:sp>
      <p:sp>
        <p:nvSpPr>
          <p:cNvPr id="12" name="Text 9"/>
          <p:cNvSpPr/>
          <p:nvPr/>
        </p:nvSpPr>
        <p:spPr>
          <a:xfrm>
            <a:off x="548640" y="5184648"/>
            <a:ext cx="11091672" cy="731520"/>
          </a:xfrm>
          <a:prstGeom prst="rect">
            <a:avLst/>
          </a:prstGeom>
          <a:noFill/>
          <a:ln/>
        </p:spPr>
        <p:txBody>
          <a:bodyPr wrap="square" lIns="0" tIns="0" rIns="0" bIns="0" rtlCol="0" anchor="t"/>
          <a:lstStyle/>
          <a:p>
            <a:pPr algn="l" indent="0" marL="0">
              <a:buNone/>
            </a:pPr>
            <a:r>
              <a:rPr lang="en-US" sz="1400" dirty="0">
                <a:solidFill>
                  <a:srgbClr val="9DB0D9"/>
                </a:solidFill>
                <a:latin typeface="Arial" pitchFamily="34" charset="0"/>
                <a:ea typeface="Arial" pitchFamily="34" charset="-122"/>
                <a:cs typeface="Arial" pitchFamily="34" charset="-120"/>
              </a:rPr>
              <a:t>SOC-2010 joined to SOC-2018 on matching codes; reorganized occupations drop out and the counts are published — 647 joined.</a:t>
            </a:r>
            <a:endParaRPr lang="en-US" sz="1400" dirty="0"/>
          </a:p>
        </p:txBody>
      </p:sp>
      <p:sp>
        <p:nvSpPr>
          <p:cNvPr id="13" name="Shape 10"/>
          <p:cNvSpPr/>
          <p:nvPr/>
        </p:nvSpPr>
        <p:spPr>
          <a:xfrm>
            <a:off x="548640" y="5971032"/>
            <a:ext cx="11091672" cy="10973"/>
          </a:xfrm>
          <a:prstGeom prst="rect">
            <a:avLst/>
          </a:prstGeom>
          <a:solidFill>
            <a:srgbClr val="24325C"/>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38912"/>
            <a:ext cx="182880" cy="192024"/>
          </a:xfrm>
          <a:prstGeom prst="rect">
            <a:avLst/>
          </a:prstGeom>
        </p:spPr>
      </p:pic>
      <p:sp>
        <p:nvSpPr>
          <p:cNvPr id="3" name="Text 0"/>
          <p:cNvSpPr/>
          <p:nvPr>
            <p:ph idx="100" type="body" hasCustomPrompt="1"/>
          </p:nvPr>
        </p:nvSpPr>
        <p:spPr>
          <a:xfrm>
            <a:off x="804672" y="402336"/>
            <a:ext cx="10789920" cy="310896"/>
          </a:xfrm>
          <a:prstGeom prst="rect">
            <a:avLst/>
          </a:prstGeom>
          <a:noFill/>
          <a:ln/>
        </p:spPr>
        <p:txBody>
          <a:bodyPr wrap="square" lIns="0" tIns="0" rIns="0" bIns="0" rtlCol="0"/>
          <a:lstStyle/>
          <a:p>
            <a:pPr indent="0" marL="0">
              <a:buNone/>
            </a:pPr>
            <a:r>
              <a:rPr lang="en-US" sz="1400" b="1" spc="250" kern="0" dirty="0">
                <a:solidFill>
                  <a:srgbClr val="4F74F0"/>
                </a:solidFill>
                <a:latin typeface="Arial" pitchFamily="34" charset="0"/>
                <a:ea typeface="Arial" pitchFamily="34" charset="-122"/>
                <a:cs typeface="Arial" pitchFamily="34" charset="-120"/>
              </a:rPr>
              <a:t>BACKUP · Q&amp;A</a:t>
            </a:r>
            <a:endParaRPr lang="en-US" sz="1400" dirty="0"/>
          </a:p>
        </p:txBody>
      </p:sp>
      <p:sp>
        <p:nvSpPr>
          <p:cNvPr id="4" name="Text 0"/>
          <p:cNvSpPr/>
          <p:nvPr>
            <p:ph idx="101" type="title" hasCustomPrompt="1"/>
          </p:nvPr>
        </p:nvSpPr>
        <p:spPr>
          <a:xfrm>
            <a:off x="548640" y="749808"/>
            <a:ext cx="11091672" cy="960120"/>
          </a:xfrm>
          <a:prstGeom prst="rect">
            <a:avLst/>
          </a:prstGeom>
          <a:noFill/>
          <a:ln/>
        </p:spPr>
        <p:txBody>
          <a:bodyPr wrap="square" lIns="0" tIns="0" rIns="0" bIns="0" rtlCol="0"/>
          <a:lstStyle/>
          <a:p>
            <a:pPr algn="l" indent="0" marL="0">
              <a:buNone/>
            </a:pPr>
            <a:r>
              <a:rPr lang="en-US" sz="2800" b="1" dirty="0">
                <a:solidFill>
                  <a:srgbClr val="E8EEFC"/>
                </a:solidFill>
                <a:latin typeface="Arial" pitchFamily="34" charset="0"/>
                <a:ea typeface="Arial" pitchFamily="34" charset="-122"/>
                <a:cs typeface="Arial" pitchFamily="34" charset="-120"/>
              </a:rPr>
              <a:t>Stack, and the Anthropic connection</a:t>
            </a:r>
            <a:endParaRPr lang="en-US" sz="2800" dirty="0"/>
          </a:p>
        </p:txBody>
      </p:sp>
      <p:sp>
        <p:nvSpPr>
          <p:cNvPr id="5" name="Text 2"/>
          <p:cNvSpPr/>
          <p:nvPr/>
        </p:nvSpPr>
        <p:spPr>
          <a:xfrm>
            <a:off x="548640" y="2057400"/>
            <a:ext cx="11091672" cy="365760"/>
          </a:xfrm>
          <a:prstGeom prst="rect">
            <a:avLst/>
          </a:prstGeom>
          <a:noFill/>
          <a:ln/>
        </p:spPr>
        <p:txBody>
          <a:bodyPr wrap="square" lIns="0" tIns="0" rIns="0" bIns="0" rtlCol="0" anchor="t"/>
          <a:lstStyle/>
          <a:p>
            <a:pPr algn="l" indent="0" marL="0">
              <a:buNone/>
            </a:pPr>
            <a:r>
              <a:rPr lang="en-US" sz="1700" b="1" dirty="0">
                <a:solidFill>
                  <a:srgbClr val="4F74F0"/>
                </a:solidFill>
                <a:latin typeface="Arial" pitchFamily="34" charset="0"/>
                <a:ea typeface="Arial" pitchFamily="34" charset="-122"/>
                <a:cs typeface="Arial" pitchFamily="34" charset="-120"/>
              </a:rPr>
              <a:t>“Stack?”</a:t>
            </a:r>
            <a:endParaRPr lang="en-US" sz="1400" dirty="0"/>
          </a:p>
        </p:txBody>
      </p:sp>
      <p:sp>
        <p:nvSpPr>
          <p:cNvPr id="6" name="Text 3"/>
          <p:cNvSpPr/>
          <p:nvPr/>
        </p:nvSpPr>
        <p:spPr>
          <a:xfrm>
            <a:off x="548640" y="2441448"/>
            <a:ext cx="11091672" cy="731520"/>
          </a:xfrm>
          <a:prstGeom prst="rect">
            <a:avLst/>
          </a:prstGeom>
          <a:noFill/>
          <a:ln/>
        </p:spPr>
        <p:txBody>
          <a:bodyPr wrap="square" lIns="0" tIns="0" rIns="0" bIns="0" rtlCol="0" anchor="t"/>
          <a:lstStyle/>
          <a:p>
            <a:pPr algn="l" indent="0" marL="0">
              <a:buNone/>
            </a:pPr>
            <a:r>
              <a:rPr lang="en-US" sz="1400" dirty="0">
                <a:solidFill>
                  <a:srgbClr val="9DB0D9"/>
                </a:solidFill>
                <a:latin typeface="Arial" pitchFamily="34" charset="0"/>
                <a:ea typeface="Arial" pitchFamily="34" charset="-122"/>
                <a:cs typeface="Arial" pitchFamily="34" charset="-120"/>
              </a:rPr>
              <a:t>Next.js 16, React 19, TypeScript, Tailwind 4, AWS Amplify. ~35 unit tests on the scoring library, pipeline scripts rebuilding every dataset from source, open CSV and code on GitHub.</a:t>
            </a:r>
            <a:endParaRPr lang="en-US" sz="1400" dirty="0"/>
          </a:p>
        </p:txBody>
      </p:sp>
      <p:sp>
        <p:nvSpPr>
          <p:cNvPr id="7" name="Shape 4"/>
          <p:cNvSpPr/>
          <p:nvPr/>
        </p:nvSpPr>
        <p:spPr>
          <a:xfrm>
            <a:off x="548640" y="3227832"/>
            <a:ext cx="11091672" cy="10973"/>
          </a:xfrm>
          <a:prstGeom prst="rect">
            <a:avLst/>
          </a:prstGeom>
          <a:solidFill>
            <a:srgbClr val="24325C"/>
          </a:solidFill>
          <a:ln/>
        </p:spPr>
      </p:sp>
      <p:sp>
        <p:nvSpPr>
          <p:cNvPr id="8" name="Text 5"/>
          <p:cNvSpPr/>
          <p:nvPr/>
        </p:nvSpPr>
        <p:spPr>
          <a:xfrm>
            <a:off x="548640" y="3429000"/>
            <a:ext cx="11091672" cy="365760"/>
          </a:xfrm>
          <a:prstGeom prst="rect">
            <a:avLst/>
          </a:prstGeom>
          <a:noFill/>
          <a:ln/>
        </p:spPr>
        <p:txBody>
          <a:bodyPr wrap="square" lIns="0" tIns="0" rIns="0" bIns="0" rtlCol="0" anchor="t"/>
          <a:lstStyle/>
          <a:p>
            <a:pPr algn="l" indent="0" marL="0">
              <a:buNone/>
            </a:pPr>
            <a:r>
              <a:rPr lang="en-US" sz="1700" b="1" dirty="0">
                <a:solidFill>
                  <a:srgbClr val="4F74F0"/>
                </a:solidFill>
                <a:latin typeface="Arial" pitchFamily="34" charset="0"/>
                <a:ea typeface="Arial" pitchFamily="34" charset="-122"/>
                <a:cs typeface="Arial" pitchFamily="34" charset="-120"/>
              </a:rPr>
              <a:t>“What did the AI get wrong?”</a:t>
            </a:r>
            <a:endParaRPr lang="en-US" sz="1400" dirty="0"/>
          </a:p>
        </p:txBody>
      </p:sp>
      <p:sp>
        <p:nvSpPr>
          <p:cNvPr id="9" name="Text 6"/>
          <p:cNvSpPr/>
          <p:nvPr/>
        </p:nvSpPr>
        <p:spPr>
          <a:xfrm>
            <a:off x="548640" y="3813048"/>
            <a:ext cx="11091672" cy="731520"/>
          </a:xfrm>
          <a:prstGeom prst="rect">
            <a:avLst/>
          </a:prstGeom>
          <a:noFill/>
          <a:ln/>
        </p:spPr>
        <p:txBody>
          <a:bodyPr wrap="square" lIns="0" tIns="0" rIns="0" bIns="0" rtlCol="0" anchor="t"/>
          <a:lstStyle/>
          <a:p>
            <a:pPr algn="l" indent="0" marL="0">
              <a:buNone/>
            </a:pPr>
            <a:r>
              <a:rPr lang="en-US" sz="1400" dirty="0">
                <a:solidFill>
                  <a:srgbClr val="9DB0D9"/>
                </a:solidFill>
                <a:latin typeface="Arial" pitchFamily="34" charset="0"/>
                <a:ea typeface="Arial" pitchFamily="34" charset="-122"/>
                <a:cs typeface="Arial" pitchFamily="34" charset="-120"/>
              </a:rPr>
              <a:t>Plenty — that’s what the review cast is for. Best one: the fit overclaim. Caught in review, rebuilt properly, published as the case study centerpiece.</a:t>
            </a:r>
            <a:endParaRPr lang="en-US" sz="1400" dirty="0"/>
          </a:p>
        </p:txBody>
      </p:sp>
      <p:sp>
        <p:nvSpPr>
          <p:cNvPr id="10" name="Shape 7"/>
          <p:cNvSpPr/>
          <p:nvPr/>
        </p:nvSpPr>
        <p:spPr>
          <a:xfrm>
            <a:off x="548640" y="4599432"/>
            <a:ext cx="11091672" cy="10973"/>
          </a:xfrm>
          <a:prstGeom prst="rect">
            <a:avLst/>
          </a:prstGeom>
          <a:solidFill>
            <a:srgbClr val="24325C"/>
          </a:solidFill>
          <a:ln/>
        </p:spPr>
      </p:sp>
      <p:sp>
        <p:nvSpPr>
          <p:cNvPr id="11" name="Text 8"/>
          <p:cNvSpPr/>
          <p:nvPr/>
        </p:nvSpPr>
        <p:spPr>
          <a:xfrm>
            <a:off x="548640" y="4800600"/>
            <a:ext cx="11091672" cy="365760"/>
          </a:xfrm>
          <a:prstGeom prst="rect">
            <a:avLst/>
          </a:prstGeom>
          <a:noFill/>
          <a:ln/>
        </p:spPr>
        <p:txBody>
          <a:bodyPr wrap="square" lIns="0" tIns="0" rIns="0" bIns="0" rtlCol="0" anchor="t"/>
          <a:lstStyle/>
          <a:p>
            <a:pPr algn="l" indent="0" marL="0">
              <a:buNone/>
            </a:pPr>
            <a:r>
              <a:rPr lang="en-US" sz="1700" b="1" dirty="0">
                <a:solidFill>
                  <a:srgbClr val="4F74F0"/>
                </a:solidFill>
                <a:latin typeface="Arial" pitchFamily="34" charset="0"/>
                <a:ea typeface="Arial" pitchFamily="34" charset="-122"/>
                <a:cs typeface="Arial" pitchFamily="34" charset="-120"/>
              </a:rPr>
              <a:t>“Anthropic’s labor research?”</a:t>
            </a:r>
            <a:endParaRPr lang="en-US" sz="1400" dirty="0"/>
          </a:p>
        </p:txBody>
      </p:sp>
      <p:sp>
        <p:nvSpPr>
          <p:cNvPr id="12" name="Text 9"/>
          <p:cNvSpPr/>
          <p:nvPr/>
        </p:nvSpPr>
        <p:spPr>
          <a:xfrm>
            <a:off x="548640" y="5184648"/>
            <a:ext cx="11091672" cy="731520"/>
          </a:xfrm>
          <a:prstGeom prst="rect">
            <a:avLst/>
          </a:prstGeom>
          <a:noFill/>
          <a:ln/>
        </p:spPr>
        <p:txBody>
          <a:bodyPr wrap="square" lIns="0" tIns="0" rIns="0" bIns="0" rtlCol="0" anchor="t"/>
          <a:lstStyle/>
          <a:p>
            <a:pPr algn="l" indent="0" marL="0">
              <a:buNone/>
            </a:pPr>
            <a:r>
              <a:rPr lang="en-US" sz="1400" dirty="0">
                <a:solidFill>
                  <a:srgbClr val="9DB0D9"/>
                </a:solidFill>
                <a:latin typeface="Arial" pitchFamily="34" charset="0"/>
                <a:ea typeface="Arial" pitchFamily="34" charset="-122"/>
                <a:cs typeface="Arial" pitchFamily="34" charset="-120"/>
              </a:rPr>
              <a:t>Same upstream dataset (Eloundou 2023). Their 2026 work layered real usage on it: 97% of observed use inside tasks rated feasible — independent validation of my exposure input.</a:t>
            </a:r>
            <a:endParaRPr lang="en-US" sz="1400" dirty="0"/>
          </a:p>
        </p:txBody>
      </p:sp>
      <p:sp>
        <p:nvSpPr>
          <p:cNvPr id="13" name="Shape 10"/>
          <p:cNvSpPr/>
          <p:nvPr/>
        </p:nvSpPr>
        <p:spPr>
          <a:xfrm>
            <a:off x="548640" y="5971032"/>
            <a:ext cx="11091672" cy="10973"/>
          </a:xfrm>
          <a:prstGeom prst="rect">
            <a:avLst/>
          </a:prstGeom>
          <a:solidFill>
            <a:srgbClr val="24325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CareerStar — Rate career paths like stocks</dc:title>
  <dc:subject>PptxGenJS Presentation</dc:subject>
  <dc:creator>Ashley Libasci</dc:creator>
  <cp:lastModifiedBy>Ashley Libasci</cp:lastModifiedBy>
  <cp:revision>1</cp:revision>
  <dcterms:created xsi:type="dcterms:W3CDTF">2026-08-04T01:52:55Z</dcterms:created>
  <dcterms:modified xsi:type="dcterms:W3CDTF">2026-08-04T01:52:55Z</dcterms:modified>
</cp:coreProperties>
</file>